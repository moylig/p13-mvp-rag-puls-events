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Cadrer en 30s : le POC P11 a prouve la faisabilite du RAG. P13 le fait passer en MVP production en couvrant 4 defis non traites. Annoncer le plan : existant, besoins, architecture, choix justifies, delais et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 cle : le POC valide la mecanique RAG mais reste une demo stateless. Les 4 limites de droite ne sont pas des bugs, ce sont les 4 defis du cahier des charges P13. Transition : voyons ces besoins en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Poser les 4 defis comme la commande. Insister : chaque choix techno qui suit repond a UN de ces defis. Les 3 contraintes du bas sont les criteres de tri transverses (souverainete, scalabilite, budget) - elles expliquent Scaleway et pgvector.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 schema de gauche a droite : l'utilisateur tape sur FastAPI, qui delegue a l'orchestration RAG (coeur herite). Celle-ci appelle Mistral (generation), Tavily (web), et lit/ecrit dans Redis (court terme) et PostgreSQL (vecteurs + geo + memoire longue). Kestra alimente Postgres en amont. En bas, deux preoccupations transverses : monitoring et hebergement souverain. Le teal = ce que je construis, le navy = ce que je reutilise.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coeur de l'eval. Pour chaque carte, derouler : voici le besoin, voici l'option retenue, voici LE critere qui a tranche, et voici la limite que j'assume. Ne pas reciter les 4 a l'identique : appuyer sur #1 (deux stores = deux besoins) et #3 (agentique). La ligne ambre = je connais les faiblesses de mes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Ici on passe du temps : ce sont les 3 arbitrages ouverts du rapport. Montrer qu'on a considere les alternatives serieusement (ligne 'ecarte') et qu'on connait la limite de notre choix (ligne ambre). Le bandeau du bas = on n'argumente PAS le socle herite, une phrase suffit. Dosage : 70% sur les 3 cartes, 30s sur le bandeau.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Repondre a la 'Vigilance' de la slide choix : voici les metriques, classees par les 3 piliers du brief (qualite, cout, satisfaction) + technique. Insister sur 2 choses : 1) certaines metriques coutent un appel LLM (faithfulness via LLM-juge) donc on les echantillonne ; 2) le recall@k offline existe deja depuis le POC, il devient une brique de monitoring. Repartition nette : Langfuse pour le LLM/RAG, Cockpit pour l'infra. Ne pas tout lancer d'un coup : le starter de 6 metriques en bas suffit pour demarrer.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Etre transparent : les durees sont des estimations, pas un engagement. Les montants ne sont pas encore chiffres - dire explicitement que ca depend de la volumetrie et que les grilles Scaleway/Mistral seront appliquees sur des hypotheses (X req/jour). Point cle : le cout dominant sera l'usage LLM, pas l'infra fixe. Langfuse + Cockpit = 0 euro.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Cloturer sans resumer platement : rappeler le fil rouge (chaque choix repond a un defi), la coherence souveraine, et finir sur une action concrete (valider budget -&gt; Phase 0). Ouvrir aux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E9C8A"/>
                </a:solidFill>
                <a:latin typeface="Calibri"/>
              </a:rPr>
              <a:t>SOUTENANCE D'ARCHITECTURE  ·  PROJET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D'un POC RAG à un MVP scalable</a:t>
            </a:r>
          </a:p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Agent conversationnel culturel — Pays de la Loire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77639"/>
            <a:ext cx="134874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348740" cy="457200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RAG hybride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0300" y="3977639"/>
            <a:ext cx="964692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0300" y="3977639"/>
            <a:ext cx="964692" cy="457200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Mémoire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1" y="3977639"/>
            <a:ext cx="580644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1" y="3977639"/>
            <a:ext cx="580644" cy="457200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Géo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2836" y="3977639"/>
            <a:ext cx="1636776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2836" y="3977639"/>
            <a:ext cx="1636776" cy="457200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Web temps réel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8212" y="3977639"/>
            <a:ext cx="1252728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8212" y="3977639"/>
            <a:ext cx="1252728" cy="457200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Morgan Le Gall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    ·    24 juin 2026    ·    Héritage POC P11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0E9C8A"/>
                </a:solidFill>
                <a:latin typeface="Calibri"/>
              </a:rPr>
              <a:t>POINT DE DÉPART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L'existant — le POC P11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212080" cy="502920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2763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  <a:latin typeface="Cambria"/>
              </a:rPr>
              <a:t>Ce qui fonctionne déjà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2295144"/>
            <a:ext cx="146304" cy="14630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67128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2A3A"/>
                </a:solidFill>
                <a:latin typeface="Calibri"/>
              </a:rPr>
              <a:t>RAG fonctionnel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LangChain + Mistral + FAISS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3227832"/>
            <a:ext cx="146304" cy="14630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99816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2A3A"/>
                </a:solidFill>
                <a:latin typeface="Calibri"/>
              </a:rPr>
              <a:t>Retriever hybride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BM25 (lexical) + dense (embeddings)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4160520"/>
            <a:ext cx="146304" cy="14630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32504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2A3A"/>
                </a:solidFill>
                <a:latin typeface="Calibri"/>
              </a:rPr>
              <a:t>Périmètre cadré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événements Pays de la Loire &lt; 1 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5093207"/>
            <a:ext cx="146304" cy="14630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965192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2A3A"/>
                </a:solidFill>
                <a:latin typeface="Calibri"/>
              </a:rPr>
              <a:t>Réponses sourcées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citations des documents récupérés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48132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  <a:latin typeface="Cambria"/>
              </a:rPr>
              <a:t>Ses limites </a:t>
            </a:r>
            <a:r>
              <a:rPr sz="1900" b="1" i="0">
                <a:solidFill>
                  <a:srgbClr val="0E9C8A"/>
                </a:solidFill>
                <a:latin typeface="Cambria"/>
              </a:rPr>
              <a:t>= nos 4 défis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0312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80" y="2350008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249424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Stateless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aucune mémoire de conversation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45535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5080" y="3392423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2918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Pas de contexte géographique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impossible de filtrer par distance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187951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5080" y="443484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4334255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Connaissance figée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pas d'accès web temps réel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5230367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5080" y="5477255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5376671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Aucun monitoring</a:t>
            </a:r>
          </a:p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ni qualité, ni coût, ni satisfaction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0E9C8A"/>
                </a:solidFill>
                <a:latin typeface="Calibri"/>
              </a:rPr>
              <a:t>LE BESOIN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Quatre défis + des contraintes transverses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" y="1636776"/>
            <a:ext cx="548640" cy="548640"/>
          </a:xfrm>
          <a:prstGeom prst="ellipse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36776"/>
            <a:ext cx="4251960" cy="13258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Mémoire conversationnelle</a:t>
            </a:r>
          </a:p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Historique de session + personnalisation persistante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325880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47688" y="1636776"/>
            <a:ext cx="548640" cy="548640"/>
          </a:xfrm>
          <a:prstGeom prst="ellipse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636776"/>
            <a:ext cx="4251960" cy="13258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Contexte géographique</a:t>
            </a:r>
          </a:p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Recherche par rayon / distance (« à 20 km de moi »)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83280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3694176"/>
            <a:ext cx="548640" cy="548640"/>
          </a:xfrm>
          <a:prstGeom prst="ellipse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694176"/>
            <a:ext cx="4251960" cy="13258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Recherche web temps réel</a:t>
            </a:r>
          </a:p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Compléter le RAG sur l'actualité la plus fraîche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3383280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47688" y="3694176"/>
            <a:ext cx="548640" cy="548640"/>
          </a:xfrm>
          <a:prstGeom prst="ellipse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694176"/>
            <a:ext cx="4251960" cy="13258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Monitoring</a:t>
            </a:r>
          </a:p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Qualité du RAG, coût par requête, satisfaction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330951"/>
            <a:ext cx="11183112" cy="84124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449823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Contraintes transverses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Souveraineté FR / RGPD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      Scalabilité multi-instances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      Budget MVP maîtrisé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0E9C8A"/>
                </a:solidFill>
                <a:latin typeface="Calibri"/>
              </a:rPr>
              <a:t>DU POC AU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Le schéma du POC P11, augmenté par les besoins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25880"/>
            <a:ext cx="201168" cy="20116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72784" y="129844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050" b="0" i="0">
                <a:solidFill>
                  <a:srgbClr val="222A3A"/>
                </a:solidFill>
                <a:latin typeface="Calibri"/>
              </a:rPr>
              <a:t>hérité (POC P11)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325880"/>
            <a:ext cx="201168" cy="201168"/>
          </a:xfrm>
          <a:prstGeom prst="rect">
            <a:avLst/>
          </a:prstGeom>
          <a:solidFill>
            <a:srgbClr val="E3F3F0"/>
          </a:solidFill>
          <a:ln w="1587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13064" y="129844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050" b="0" i="0">
                <a:solidFill>
                  <a:srgbClr val="222A3A"/>
                </a:solidFill>
                <a:latin typeface="Calibri"/>
              </a:rPr>
              <a:t>nouveau (P13)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29844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300" b="1" i="0">
                <a:solidFill>
                  <a:srgbClr val="0E9C8A"/>
                </a:solidFill>
                <a:latin typeface="Calibri"/>
              </a:rPr>
              <a:t>→ </a:t>
            </a:r>
            <a:r>
              <a:rPr sz="1050" b="0" i="0">
                <a:solidFill>
                  <a:srgbClr val="222A3A"/>
                </a:solidFill>
                <a:latin typeface="Calibri"/>
              </a:rPr>
              <a:t>fait évoluer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64208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64208"/>
            <a:ext cx="3246120" cy="292608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BATCH — construction de l'index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993392"/>
            <a:ext cx="224028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93392"/>
            <a:ext cx="2167128" cy="530352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Open Agenda</a:t>
            </a:r>
          </a:p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API Opendatasoft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993392"/>
            <a:ext cx="2240280" cy="530352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993392"/>
            <a:ext cx="2167128" cy="530352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Ingestion</a:t>
            </a:r>
          </a:p>
          <a:p>
            <a:pPr algn="ctr">
              <a:spcBef>
                <a:spcPts val="100"/>
              </a:spcBef>
            </a:pPr>
            <a:r>
              <a:rPr sz="900" b="0" i="1">
                <a:solidFill>
                  <a:srgbClr val="CADCFC"/>
                </a:solidFill>
                <a:latin typeface="Calibri"/>
              </a:rPr>
              <a:t>script Python  </a:t>
            </a:r>
            <a:r>
              <a:rPr sz="950" b="1" i="0">
                <a:solidFill>
                  <a:srgbClr val="4FD1C5"/>
                </a:solidFill>
                <a:latin typeface="Calibri"/>
              </a:rPr>
              <a:t>→ Kestra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993392"/>
            <a:ext cx="2240280" cy="530352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93392"/>
            <a:ext cx="2167128" cy="530352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Embeddings</a:t>
            </a:r>
          </a:p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mistral-embed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993392"/>
            <a:ext cx="2240280" cy="530352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1993392"/>
            <a:ext cx="2167128" cy="530352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Index vectoriel</a:t>
            </a:r>
          </a:p>
          <a:p>
            <a:pPr algn="ctr">
              <a:spcBef>
                <a:spcPts val="100"/>
              </a:spcBef>
            </a:pPr>
            <a:r>
              <a:rPr sz="900" b="0" i="1">
                <a:solidFill>
                  <a:srgbClr val="CADCFC"/>
                </a:solidFill>
                <a:latin typeface="Calibri"/>
              </a:rPr>
              <a:t>FAISS local  </a:t>
            </a:r>
            <a:r>
              <a:rPr sz="950" b="1" i="0">
                <a:solidFill>
                  <a:srgbClr val="4FD1C5"/>
                </a:solidFill>
                <a:latin typeface="Calibri"/>
              </a:rPr>
              <a:t>→ pgvector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2258568"/>
            <a:ext cx="457200" cy="0"/>
          </a:xfrm>
          <a:prstGeom prst="line">
            <a:avLst/>
          </a:prstGeom>
          <a:ln w="1778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06440" y="2258568"/>
            <a:ext cx="457200" cy="0"/>
          </a:xfrm>
          <a:prstGeom prst="line">
            <a:avLst/>
          </a:prstGeom>
          <a:ln w="1778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03920" y="2258568"/>
            <a:ext cx="457200" cy="0"/>
          </a:xfrm>
          <a:prstGeom prst="line">
            <a:avLst/>
          </a:prstGeom>
          <a:ln w="1778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2560320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560320"/>
            <a:ext cx="3246120" cy="292608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RUNTIME — réponse à une question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889504"/>
            <a:ext cx="18288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2889504"/>
            <a:ext cx="1755648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Utilisateur</a:t>
            </a:r>
          </a:p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question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2889504"/>
            <a:ext cx="1828800" cy="8229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16936" y="2889504"/>
            <a:ext cx="1755648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Interface</a:t>
            </a:r>
          </a:p>
          <a:p>
            <a:pPr algn="ctr">
              <a:spcBef>
                <a:spcPts val="100"/>
              </a:spcBef>
            </a:pPr>
            <a:r>
              <a:rPr sz="900" b="0" i="1">
                <a:solidFill>
                  <a:srgbClr val="CADCFC"/>
                </a:solidFill>
                <a:latin typeface="Calibri"/>
              </a:rPr>
              <a:t>Streamlit / CLI  </a:t>
            </a:r>
            <a:r>
              <a:rPr sz="950" b="1" i="0">
                <a:solidFill>
                  <a:srgbClr val="4FD1C5"/>
                </a:solidFill>
                <a:latin typeface="Calibri"/>
              </a:rPr>
              <a:t>→ FastAPI · SSE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2889504"/>
            <a:ext cx="1828800" cy="8229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7216" y="2889504"/>
            <a:ext cx="1755648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Retriever hybride</a:t>
            </a:r>
          </a:p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BM25 + dense (MMR)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2889504"/>
            <a:ext cx="1828800" cy="8229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97496" y="2889504"/>
            <a:ext cx="1755648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mistral-small</a:t>
            </a:r>
          </a:p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génération · sources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2889504"/>
            <a:ext cx="1828800" cy="8229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37776" y="2889504"/>
            <a:ext cx="1755648" cy="8229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Réponse + sources</a:t>
            </a:r>
          </a:p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citations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468880" y="3300984"/>
            <a:ext cx="411480" cy="0"/>
          </a:xfrm>
          <a:prstGeom prst="line">
            <a:avLst/>
          </a:prstGeom>
          <a:ln w="1778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709160" y="3300984"/>
            <a:ext cx="411480" cy="0"/>
          </a:xfrm>
          <a:prstGeom prst="line">
            <a:avLst/>
          </a:prstGeom>
          <a:ln w="1778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949440" y="3300984"/>
            <a:ext cx="411480" cy="0"/>
          </a:xfrm>
          <a:prstGeom prst="line">
            <a:avLst/>
          </a:prstGeom>
          <a:ln w="1778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189720" y="3300984"/>
            <a:ext cx="411480" cy="0"/>
          </a:xfrm>
          <a:prstGeom prst="line">
            <a:avLst/>
          </a:prstGeom>
          <a:ln w="1778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035040" y="2523744"/>
            <a:ext cx="4046220" cy="365760"/>
          </a:xfrm>
          <a:prstGeom prst="line">
            <a:avLst/>
          </a:prstGeom>
          <a:ln w="20320">
            <a:solidFill>
              <a:srgbClr val="0E9C8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0" y="259689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embeddings + métadonnées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3950208"/>
            <a:ext cx="2587752" cy="1115568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875">
            <a:solidFill>
              <a:srgbClr val="0E9C8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2376" y="4133088"/>
            <a:ext cx="384048" cy="384048"/>
          </a:xfrm>
          <a:prstGeom prst="ellipse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2728" y="4114800"/>
            <a:ext cx="1673352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BESOIN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52728" y="4334256"/>
            <a:ext cx="1673352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mbria"/>
              </a:rPr>
              <a:t>Mémoire conversationnelle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4681728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200" b="1" i="0">
                <a:solidFill>
                  <a:srgbClr val="0B6F62"/>
                </a:solidFill>
                <a:latin typeface="Calibri"/>
              </a:rPr>
              <a:t>Redis + PostgreSQL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796796" y="3712464"/>
            <a:ext cx="0" cy="237744"/>
          </a:xfrm>
          <a:prstGeom prst="line">
            <a:avLst/>
          </a:prstGeom>
          <a:ln w="17780">
            <a:solidFill>
              <a:srgbClr val="0E9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364992" y="3950208"/>
            <a:ext cx="2587752" cy="1115568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875">
            <a:solidFill>
              <a:srgbClr val="0E9C8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84448" y="4133088"/>
            <a:ext cx="384048" cy="384048"/>
          </a:xfrm>
          <a:prstGeom prst="ellipse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4114800"/>
            <a:ext cx="1673352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BESOIN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4334256"/>
            <a:ext cx="1673352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mbria"/>
              </a:rPr>
              <a:t>Contexte géographique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4681728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200" b="1" i="0">
                <a:solidFill>
                  <a:srgbClr val="0B6F62"/>
                </a:solidFill>
                <a:latin typeface="Calibri"/>
              </a:rPr>
              <a:t>PostGIS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658868" y="3712464"/>
            <a:ext cx="0" cy="237744"/>
          </a:xfrm>
          <a:prstGeom prst="line">
            <a:avLst/>
          </a:prstGeom>
          <a:ln w="17780">
            <a:solidFill>
              <a:srgbClr val="0E9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227064" y="3950208"/>
            <a:ext cx="2587752" cy="1115568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875">
            <a:solidFill>
              <a:srgbClr val="0E9C8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46520" y="4133088"/>
            <a:ext cx="384048" cy="384048"/>
          </a:xfrm>
          <a:prstGeom prst="ellipse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76872" y="4114800"/>
            <a:ext cx="1673352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BESOIN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76872" y="4334256"/>
            <a:ext cx="1673352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mbria"/>
              </a:rPr>
              <a:t>Web temps réel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4681728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200" b="1" i="0">
                <a:solidFill>
                  <a:srgbClr val="0B6F62"/>
                </a:solidFill>
                <a:latin typeface="Calibri"/>
              </a:rPr>
              <a:t>smolagents + Tavily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520940" y="3712464"/>
            <a:ext cx="0" cy="237744"/>
          </a:xfrm>
          <a:prstGeom prst="line">
            <a:avLst/>
          </a:prstGeom>
          <a:ln w="17780">
            <a:solidFill>
              <a:srgbClr val="0E9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089136" y="3950208"/>
            <a:ext cx="2587752" cy="1115568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875">
            <a:solidFill>
              <a:srgbClr val="0E9C8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308592" y="4133088"/>
            <a:ext cx="384048" cy="384048"/>
          </a:xfrm>
          <a:prstGeom prst="ellipse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38944" y="4114800"/>
            <a:ext cx="1673352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BESOIN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38944" y="4334256"/>
            <a:ext cx="1673352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mbria"/>
              </a:rPr>
              <a:t>Monitoring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08592" y="4681728"/>
            <a:ext cx="2176272" cy="329184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/>
            <a:r>
              <a:rPr sz="1200" b="1" i="0">
                <a:solidFill>
                  <a:srgbClr val="0B6F62"/>
                </a:solidFill>
                <a:latin typeface="Calibri"/>
              </a:rPr>
              <a:t>Langfuse + Cockpit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383012" y="3712464"/>
            <a:ext cx="0" cy="237744"/>
          </a:xfrm>
          <a:prstGeom prst="line">
            <a:avLst/>
          </a:prstGeom>
          <a:ln w="17780">
            <a:solidFill>
              <a:srgbClr val="0E9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502920" y="5248656"/>
            <a:ext cx="11183112" cy="1051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537667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SCALEWAY — cloud souverain  (UE · FR / RGPD)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5751576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Serverless Containers </a:t>
            </a:r>
            <a:r>
              <a:rPr sz="1100" b="0" i="0">
                <a:solidFill>
                  <a:srgbClr val="CADCFC"/>
                </a:solidFill>
                <a:latin typeface="Calibri"/>
              </a:rPr>
              <a:t>(API + agent smolagents)     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Managed PostgreSQL </a:t>
            </a:r>
            <a:r>
              <a:rPr sz="1100" b="0" i="0">
                <a:solidFill>
                  <a:srgbClr val="CADCFC"/>
                </a:solidFill>
                <a:latin typeface="Calibri"/>
              </a:rPr>
              <a:t>(pgvector · PostGIS · mémoire LT)     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Managed Redis </a:t>
            </a:r>
            <a:r>
              <a:rPr sz="1100" b="0" i="0">
                <a:solidFill>
                  <a:srgbClr val="CADCFC"/>
                </a:solidFill>
                <a:latin typeface="Calibri"/>
              </a:rPr>
              <a:t>· Object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0E9C8A"/>
                </a:solidFill>
                <a:latin typeface="Calibri"/>
              </a:rP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Architecture cible du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16002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508760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1E2761"/>
                </a:solidFill>
                <a:latin typeface="Cambria"/>
              </a:rPr>
              <a:t>Utilisateur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7830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875">
            <a:solidFill>
              <a:srgbClr val="0E9C8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783080"/>
            <a:ext cx="178307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0B6F62"/>
                </a:solidFill>
                <a:latin typeface="Cambria"/>
              </a:rPr>
              <a:t>API FastAPI</a:t>
            </a:r>
          </a:p>
          <a:p>
            <a:pPr algn="ctr"/>
            <a:r>
              <a:rPr sz="1100" b="0" i="0">
                <a:solidFill>
                  <a:srgbClr val="0B6F62"/>
                </a:solidFill>
                <a:latin typeface="Calibri"/>
              </a:rPr>
              <a:t>async · 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600200"/>
            <a:ext cx="2743200" cy="1143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600200"/>
            <a:ext cx="2651760" cy="11430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mbria"/>
              </a:rPr>
              <a:t>Orchestration RAG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LangChain hybride + smolagents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2057400" cy="7315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417320"/>
            <a:ext cx="1965960" cy="73152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mbria"/>
              </a:rPr>
              <a:t>Mistral</a:t>
            </a:r>
          </a:p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LLM + embeddings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331720"/>
            <a:ext cx="2057400" cy="73152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875">
            <a:solidFill>
              <a:srgbClr val="0E9C8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331720"/>
            <a:ext cx="1965960" cy="73152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0B6F62"/>
                </a:solidFill>
                <a:latin typeface="Cambria"/>
              </a:rPr>
              <a:t>Tavily</a:t>
            </a:r>
          </a:p>
          <a:p>
            <a:pPr algn="ctr"/>
            <a:r>
              <a:rPr sz="1100" b="0" i="0">
                <a:solidFill>
                  <a:srgbClr val="0B6F62"/>
                </a:solidFill>
                <a:latin typeface="Calibri"/>
              </a:rPr>
              <a:t>recherche web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31546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875">
            <a:solidFill>
              <a:srgbClr val="0E9C8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154680"/>
            <a:ext cx="1234439" cy="9144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0B6F62"/>
                </a:solidFill>
                <a:latin typeface="Cambria"/>
              </a:rPr>
              <a:t>Redis</a:t>
            </a:r>
          </a:p>
          <a:p>
            <a:pPr algn="ctr"/>
            <a:r>
              <a:rPr sz="1100" b="0" i="0">
                <a:solidFill>
                  <a:srgbClr val="0B6F62"/>
                </a:solidFill>
                <a:latin typeface="Calibri"/>
              </a:rPr>
              <a:t>mémoire court terme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154680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875">
            <a:solidFill>
              <a:srgbClr val="0E9C8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3154680"/>
            <a:ext cx="2331720" cy="9144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0B6F62"/>
                </a:solidFill>
                <a:latin typeface="Cambria"/>
              </a:rPr>
              <a:t>PostgreSQL</a:t>
            </a:r>
          </a:p>
          <a:p>
            <a:pPr algn="ctr"/>
            <a:r>
              <a:rPr sz="1100" b="0" i="0">
                <a:solidFill>
                  <a:srgbClr val="0B6F62"/>
                </a:solidFill>
                <a:latin typeface="Calibri"/>
              </a:rPr>
              <a:t>pgvector · PostGIS · mémoire 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434840"/>
            <a:ext cx="2423160" cy="68580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875">
            <a:solidFill>
              <a:srgbClr val="0E9C8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434840"/>
            <a:ext cx="2331720" cy="6858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0B6F62"/>
                </a:solidFill>
                <a:latin typeface="Cambria"/>
              </a:rPr>
              <a:t>Ingestion — Kestra</a:t>
            </a:r>
          </a:p>
          <a:p>
            <a:pPr algn="ctr"/>
            <a:r>
              <a:rPr sz="1100" b="0" i="0">
                <a:solidFill>
                  <a:srgbClr val="0B6F62"/>
                </a:solidFill>
                <a:latin typeface="Calibri"/>
              </a:rPr>
              <a:t>Open Agenda (planifié)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03120" y="2167128"/>
            <a:ext cx="4572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80560" y="2167128"/>
            <a:ext cx="4572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726679" y="1783080"/>
            <a:ext cx="457200" cy="182880"/>
          </a:xfrm>
          <a:prstGeom prst="line">
            <a:avLst/>
          </a:prstGeom>
          <a:ln w="19050">
            <a:solidFill>
              <a:srgbClr val="0E9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26679" y="2377440"/>
            <a:ext cx="457200" cy="274320"/>
          </a:xfrm>
          <a:prstGeom prst="line">
            <a:avLst/>
          </a:prstGeom>
          <a:ln w="19050">
            <a:solidFill>
              <a:srgbClr val="0E9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623560" y="2743200"/>
            <a:ext cx="365760" cy="365760"/>
          </a:xfrm>
          <a:prstGeom prst="line">
            <a:avLst/>
          </a:prstGeom>
          <a:ln w="19050">
            <a:solidFill>
              <a:srgbClr val="0E9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2743200"/>
            <a:ext cx="365760" cy="365760"/>
          </a:xfrm>
          <a:prstGeom prst="line">
            <a:avLst/>
          </a:prstGeom>
          <a:ln w="19050">
            <a:solidFill>
              <a:srgbClr val="0E9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699248" y="4114800"/>
            <a:ext cx="0" cy="320040"/>
          </a:xfrm>
          <a:prstGeom prst="line">
            <a:avLst/>
          </a:prstGeom>
          <a:ln w="19050">
            <a:solidFill>
              <a:srgbClr val="0E9C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2920" y="3246120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 w="9525">
            <a:solidFill>
              <a:srgbClr val="D7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456432"/>
            <a:ext cx="237744" cy="237744"/>
          </a:xfrm>
          <a:prstGeom prst="rect">
            <a:avLst/>
          </a:prstGeom>
          <a:solidFill>
            <a:srgbClr val="E3F3F0"/>
          </a:solidFill>
          <a:ln w="1587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3419856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0" i="0">
                <a:solidFill>
                  <a:srgbClr val="222A3A"/>
                </a:solidFill>
                <a:latin typeface="Calibri"/>
              </a:rPr>
              <a:t>nouveau (P13)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858768"/>
            <a:ext cx="237744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3822191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0" i="0">
                <a:solidFill>
                  <a:srgbClr val="222A3A"/>
                </a:solidFill>
                <a:latin typeface="Calibri"/>
              </a:rPr>
              <a:t>hérité (POC P11)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44068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9C8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596128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0B6F62"/>
                </a:solidFill>
                <a:latin typeface="Cambria"/>
              </a:rPr>
              <a:t>Monitoring — Langfuse + Cockpit</a:t>
            </a:r>
          </a:p>
          <a:p>
            <a:pPr algn="l"/>
            <a:r>
              <a:rPr sz="1200" b="0" i="0">
                <a:solidFill>
                  <a:srgbClr val="0B6F62"/>
                </a:solidFill>
                <a:latin typeface="Calibri"/>
              </a:rPr>
              <a:t>qualité du RAG · coût · satisfaction utilisateur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544068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5596128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FFFFFF"/>
                </a:solidFill>
                <a:latin typeface="Cambria"/>
              </a:rPr>
              <a:t>Hébergement — Scaleway</a:t>
            </a:r>
          </a:p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Serverless Containers + Managed PostgreSQL · FR / RGPD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0E9C8A"/>
                </a:solidFill>
                <a:latin typeface="Calibri"/>
              </a:rPr>
              <a:t>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Un choix par défi — besoin, option, critère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532120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58191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2704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1" i="0">
                <a:solidFill>
                  <a:srgbClr val="6B7280"/>
                </a:solidFill>
                <a:latin typeface="Calibri"/>
              </a:rPr>
              <a:t>Mémoire : court terme rapide + long terme durable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56231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900" b="1" i="0">
                <a:solidFill>
                  <a:srgbClr val="0E9C8A"/>
                </a:solidFill>
                <a:latin typeface="Cambria"/>
              </a:rPr>
              <a:t>Redis + 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32888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Critère décisif — </a:t>
            </a:r>
            <a:r>
              <a:rPr sz="1250" b="0" i="0">
                <a:solidFill>
                  <a:srgbClr val="222A3A"/>
                </a:solidFill>
                <a:latin typeface="Calibri"/>
              </a:rPr>
              <a:t>Deux besoins de natures différentes : volatil/rapide vs durable/requêtable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15468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50" b="0" i="1">
                <a:solidFill>
                  <a:srgbClr val="B7791F"/>
                </a:solidFill>
                <a:latin typeface="Calibri"/>
              </a:rPr>
              <a:t>Vigilance : cohérence des deux stores (TTL vs persistance)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325880"/>
            <a:ext cx="5532120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399" y="158191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152704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1" i="0">
                <a:solidFill>
                  <a:srgbClr val="6B7280"/>
                </a:solidFill>
                <a:latin typeface="Calibri"/>
              </a:rPr>
              <a:t>Géo : requêtes rayon / distance natives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1856231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900" b="1" i="0">
                <a:solidFill>
                  <a:srgbClr val="0E9C8A"/>
                </a:solidFill>
                <a:latin typeface="Cambria"/>
              </a:rPr>
              <a:t>PostGIS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532888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Critère décisif — </a:t>
            </a:r>
            <a:r>
              <a:rPr sz="1250" b="0" i="0">
                <a:solidFill>
                  <a:srgbClr val="222A3A"/>
                </a:solidFill>
                <a:latin typeface="Calibri"/>
              </a:rPr>
              <a:t>Pousser le calcul géo dans la base, pas dans l'application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315468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50" b="0" i="1">
                <a:solidFill>
                  <a:srgbClr val="B7791F"/>
                </a:solidFill>
                <a:latin typeface="Calibri"/>
              </a:rPr>
              <a:t>Vigilance : indexation spatiale GIST à prévoir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77640"/>
            <a:ext cx="5532120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2336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7880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1" i="0">
                <a:solidFill>
                  <a:srgbClr val="6B7280"/>
                </a:solidFill>
                <a:latin typeface="Calibri"/>
              </a:rPr>
              <a:t>Web : compléter le RAG sur l'actualité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07992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900" b="1" i="0">
                <a:solidFill>
                  <a:srgbClr val="0E9C8A"/>
                </a:solidFill>
                <a:latin typeface="Cambria"/>
              </a:rPr>
              <a:t>smolagents + Tavily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184648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Critère décisif — </a:t>
            </a:r>
            <a:r>
              <a:rPr sz="1250" b="0" i="0">
                <a:solidFill>
                  <a:srgbClr val="222A3A"/>
                </a:solidFill>
                <a:latin typeface="Calibri"/>
              </a:rPr>
              <a:t>Orchestration agentique légère + search pensé pour LLM (piste du brief)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0644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50" b="0" i="1">
                <a:solidFill>
                  <a:srgbClr val="B7791F"/>
                </a:solidFill>
                <a:latin typeface="Calibri"/>
              </a:rPr>
              <a:t>Vigilance : coût par requête et latence ajoutée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3977640"/>
            <a:ext cx="5532120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29399" y="423367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9" y="417880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1" i="0">
                <a:solidFill>
                  <a:srgbClr val="6B7280"/>
                </a:solidFill>
                <a:latin typeface="Calibri"/>
              </a:rPr>
              <a:t>Monitoring : qualité, coût, satisfaction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4507992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900" b="1" i="0">
                <a:solidFill>
                  <a:srgbClr val="0E9C8A"/>
                </a:solidFill>
                <a:latin typeface="Cambria"/>
              </a:rPr>
              <a:t>Langfuse + Cockpit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5184648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Critère décisif — </a:t>
            </a:r>
            <a:r>
              <a:rPr sz="1250" b="0" i="0">
                <a:solidFill>
                  <a:srgbClr val="222A3A"/>
                </a:solidFill>
                <a:latin typeface="Calibri"/>
              </a:rPr>
              <a:t>Observabilité LLM-native (traces, coût, eval) + souveraineté/gratuité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580644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50" b="0" i="1">
                <a:solidFill>
                  <a:srgbClr val="B7791F"/>
                </a:solidFill>
                <a:latin typeface="Calibri"/>
              </a:rPr>
              <a:t>Vigilance : définir les métriques tracées dès le départ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0E9C8A"/>
                </a:solidFill>
                <a:latin typeface="Calibri"/>
              </a:rPr>
              <a:t>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Arbitrages structurants &amp; socle hérité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1129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1" i="0">
                <a:solidFill>
                  <a:srgbClr val="6B7280"/>
                </a:solidFill>
                <a:latin typeface="Calibri"/>
              </a:rPr>
              <a:t>VECTOR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7510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écarté : </a:t>
            </a:r>
            <a:r>
              <a:rPr sz="1200" b="0" i="1">
                <a:solidFill>
                  <a:srgbClr val="6B7280"/>
                </a:solidFill>
                <a:latin typeface="Calibri"/>
              </a:rPr>
              <a:t>FAISS · Qdrant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1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0E9C8A"/>
                </a:solidFill>
                <a:latin typeface="Cambria"/>
              </a:rPr>
              <a:t>pgvector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2962656" cy="9144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0" i="0">
                <a:solidFill>
                  <a:srgbClr val="222A3A"/>
                </a:solidFill>
                <a:latin typeface="Calibri"/>
              </a:rPr>
              <a:t>Unifie vecteurs + géo + relationnel dans une seule base, moins d'ops pour un MVP.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05072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50" b="0" i="1">
                <a:solidFill>
                  <a:srgbClr val="B7791F"/>
                </a:solidFill>
                <a:latin typeface="Calibri"/>
              </a:rPr>
              <a:t>Qdrant = plan B si la charge explose.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828" y="1371600"/>
            <a:ext cx="351129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3148" y="1609344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1" i="0">
                <a:solidFill>
                  <a:srgbClr val="6B7280"/>
                </a:solidFill>
                <a:latin typeface="Calibri"/>
              </a:rPr>
              <a:t>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3148" y="197510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écarté : </a:t>
            </a:r>
            <a:r>
              <a:rPr sz="1200" b="0" i="1">
                <a:solidFill>
                  <a:srgbClr val="6B7280"/>
                </a:solidFill>
                <a:latin typeface="Calibri"/>
              </a:rPr>
              <a:t>GCP · AWS · OVHcloud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3148" y="2450591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0E9C8A"/>
                </a:solidFill>
                <a:latin typeface="Cambria"/>
              </a:rPr>
              <a:t>Scaleway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3148" y="3154680"/>
            <a:ext cx="2962656" cy="9144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0" i="0">
                <a:solidFill>
                  <a:srgbClr val="222A3A"/>
                </a:solidFill>
                <a:latin typeface="Calibri"/>
              </a:rPr>
              <a:t>Souveraineté FR/RGPD, juridiction UE, cohérent avec Mistral (FR).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3148" y="4005072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50" b="0" i="1">
                <a:solidFill>
                  <a:srgbClr val="B7791F"/>
                </a:solidFill>
                <a:latin typeface="Calibri"/>
              </a:rPr>
              <a:t>Pas le moins cher : critère = souveraineté, assumé.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371600"/>
            <a:ext cx="351129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1609344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1" i="0">
                <a:solidFill>
                  <a:srgbClr val="6B7280"/>
                </a:solidFill>
                <a:latin typeface="Calibri"/>
              </a:rPr>
              <a:t>LLM +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197510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écarté : </a:t>
            </a:r>
            <a:r>
              <a:rPr sz="1200" b="0" i="1">
                <a:solidFill>
                  <a:srgbClr val="6B7280"/>
                </a:solidFill>
                <a:latin typeface="Calibri"/>
              </a:rPr>
              <a:t>OpenAI · self-hosted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450591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0E9C8A"/>
                </a:solidFill>
                <a:latin typeface="Cambria"/>
              </a:rPr>
              <a:t>Mistral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3154680"/>
            <a:ext cx="2962656" cy="9144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50" b="0" i="0">
                <a:solidFill>
                  <a:srgbClr val="222A3A"/>
                </a:solidFill>
                <a:latin typeface="Calibri"/>
              </a:rPr>
              <a:t>Hérité et validé en P11, FR/RGPD, abstrait via LangChain.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4005072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50" b="0" i="1">
                <a:solidFill>
                  <a:srgbClr val="B7791F"/>
                </a:solidFill>
                <a:latin typeface="Calibri"/>
              </a:rPr>
              <a:t>Remplaçable sans réécrire le RAG.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00600"/>
            <a:ext cx="11183112" cy="1051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9469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50" b="1" i="0">
                <a:solidFill>
                  <a:srgbClr val="CADCFC"/>
                </a:solidFill>
                <a:latin typeface="Calibri"/>
              </a:rPr>
              <a:t>Socle hérité — sans arbitrage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0352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FastAPI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 (async + SSE)      </a:t>
            </a:r>
            <a:r>
              <a:rPr sz="1450" b="1" i="0">
                <a:solidFill>
                  <a:srgbClr val="FFFFFF"/>
                </a:solidFill>
                <a:latin typeface="Calibri"/>
              </a:rPr>
              <a:t>LangChain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 (RAG hybride réutilisé)      </a:t>
            </a:r>
            <a:r>
              <a:rPr sz="1450" b="1" i="0">
                <a:solidFill>
                  <a:srgbClr val="FFFFFF"/>
                </a:solidFill>
                <a:latin typeface="Calibri"/>
              </a:rPr>
              <a:t>Kestra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 (ingestion, maîtrisé P10/P12)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0E9C8A"/>
                </a:solidFill>
                <a:latin typeface="Calibri"/>
              </a:rPr>
              <a:t>DÉFI #4 —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Quelles métriques, et où les mesurer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58775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572768"/>
            <a:ext cx="2176272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1" i="0">
                <a:solidFill>
                  <a:srgbClr val="0E9C8A"/>
                </a:solidFill>
                <a:latin typeface="Cambria"/>
              </a:rPr>
              <a:t>Qualité du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121408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Faithfulness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LLM-juge, échantillonné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724912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Answer relevancy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pertinence réponse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328416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Recall@k / MRR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offline, déjà outillé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931920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Taux de « je ne sais pas »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comptage simple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1" y="1371600"/>
            <a:ext cx="258775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572768"/>
            <a:ext cx="2176272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1" i="0">
                <a:solidFill>
                  <a:srgbClr val="0E9C8A"/>
                </a:solidFill>
                <a:latin typeface="Cambria"/>
              </a:rPr>
              <a:t>Coût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121408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€ par requête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le chiffre clé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724912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Tokens in / out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décompose le coût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328416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Coût / jour &amp; / user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projection à l'échelle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931920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LLM / embed / web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répartition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371600"/>
            <a:ext cx="258775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72768"/>
            <a:ext cx="2176272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1" i="0">
                <a:solidFill>
                  <a:srgbClr val="0E9C8A"/>
                </a:solidFill>
                <a:latin typeface="Cambria"/>
              </a:rPr>
              <a:t>Satisfaction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21408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Feedback + / −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explicite (pouce)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24912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Clic sur sources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confiance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328416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Reformulations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signal implicite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31920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Abandon / durée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engagement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371600"/>
            <a:ext cx="258775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572768"/>
            <a:ext cx="2176272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500" b="1" i="0">
                <a:solidFill>
                  <a:srgbClr val="0E9C8A"/>
                </a:solidFill>
                <a:latin typeface="Cambria"/>
              </a:rPr>
              <a:t>Technique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121408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Time-to-first-token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latence perçue (SSE)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724912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Latence p50 / p95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la queue = pannes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3328416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Taux d'erreur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5xx, timeouts 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931920"/>
            <a:ext cx="2176272" cy="56692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Infra (Cockpit)</a:t>
            </a:r>
          </a:p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CPU/RAM, Redis, PG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54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00" b="1" i="0">
                <a:solidFill>
                  <a:srgbClr val="0B6F62"/>
                </a:solidFill>
                <a:latin typeface="Calibri"/>
              </a:rPr>
              <a:t>Langfuse</a:t>
            </a:r>
            <a:r>
              <a:rPr sz="1250" b="0" i="0">
                <a:solidFill>
                  <a:srgbClr val="6B7280"/>
                </a:solidFill>
                <a:latin typeface="Calibri"/>
              </a:rPr>
              <a:t>  →  qualité · coût · feedback (LLM / RAG)          </a:t>
            </a:r>
            <a:r>
              <a:rPr sz="1300" b="1" i="0">
                <a:solidFill>
                  <a:srgbClr val="1E2761"/>
                </a:solidFill>
                <a:latin typeface="Calibri"/>
              </a:rPr>
              <a:t>Cockpit</a:t>
            </a:r>
            <a:r>
              <a:rPr sz="1250" b="0" i="0">
                <a:solidFill>
                  <a:srgbClr val="6B7280"/>
                </a:solidFill>
                <a:latin typeface="Calibri"/>
              </a:rPr>
              <a:t>  →  infra Scaleway (conteneurs, ressources)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57800"/>
            <a:ext cx="11183112" cy="1051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60000" dist="25000" dir="5400000" rotWithShape="0">
              <a:srgbClr val="8A93A6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0410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350" b="1" i="0">
                <a:solidFill>
                  <a:srgbClr val="CADCFC"/>
                </a:solidFill>
                <a:latin typeface="Calibri"/>
              </a:rPr>
              <a:t>Starter MVP — 6 métriques à instrumenter dès la Phase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806440"/>
            <a:ext cx="1385316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1385316" cy="384048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€ / requête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09444" y="5806440"/>
            <a:ext cx="1385316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09444" y="5806440"/>
            <a:ext cx="1385316" cy="384048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Latence p95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95928" y="5806440"/>
            <a:ext cx="15773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95928" y="5806440"/>
            <a:ext cx="1577340" cy="384048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Taux d'erreur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74436" y="5806440"/>
            <a:ext cx="1481328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74436" y="5806440"/>
            <a:ext cx="1481328" cy="384048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Faithfulness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56932" y="5806440"/>
            <a:ext cx="1673352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6932" y="5806440"/>
            <a:ext cx="1673352" cy="384048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Feedback + / 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31452" y="5806440"/>
            <a:ext cx="109728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31452" y="5806440"/>
            <a:ext cx="1097280" cy="384048"/>
          </a:xfrm>
          <a:prstGeom prst="rect">
            <a:avLst/>
          </a:prstGeom>
          <a:noFill/>
        </p:spPr>
        <p:txBody>
          <a:bodyPr wrap="none" anchor="ctr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Recall@k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310896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0E9C8A"/>
                </a:solidFill>
                <a:latin typeface="Calibri"/>
              </a:rPr>
              <a:t>PILOTAGE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Délais &amp;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mbria"/>
              </a:rPr>
              <a:t>Phasage — estimation ~10 semaines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5486400" cy="932688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 w="9525">
            <a:solidFill>
              <a:srgbClr val="D7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2121408"/>
            <a:ext cx="438912" cy="438912"/>
          </a:xfrm>
          <a:prstGeom prst="ellipse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93391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Phase 0 — </a:t>
            </a:r>
            <a:r>
              <a:rPr sz="1450" b="1" i="0">
                <a:solidFill>
                  <a:srgbClr val="0E9C8A"/>
                </a:solidFill>
                <a:latin typeface="Calibri"/>
              </a:rPr>
              <a:t>Socle &amp; infra</a:t>
            </a:r>
          </a:p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Docker, Scaleway, Postgres (pgvector + PostGIS)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93391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r"/>
            <a:r>
              <a:rPr sz="1300" b="1" i="0">
                <a:solidFill>
                  <a:srgbClr val="1E2761"/>
                </a:solidFill>
                <a:latin typeface="Calibri"/>
              </a:rPr>
              <a:t>~2 sem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98648"/>
            <a:ext cx="5486400" cy="932688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 w="9525">
            <a:solidFill>
              <a:srgbClr val="D7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3145536"/>
            <a:ext cx="438912" cy="438912"/>
          </a:xfrm>
          <a:prstGeom prst="ellipse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1752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Phase 1 — </a:t>
            </a:r>
            <a:r>
              <a:rPr sz="1450" b="1" i="0">
                <a:solidFill>
                  <a:srgbClr val="0E9C8A"/>
                </a:solidFill>
                <a:latin typeface="Calibri"/>
              </a:rPr>
              <a:t>Mémoire + Géo</a:t>
            </a:r>
          </a:p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Redis + Postgres LT, requêtes PostGIS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r"/>
            <a:r>
              <a:rPr sz="1300" b="1" i="0">
                <a:solidFill>
                  <a:srgbClr val="1E2761"/>
                </a:solidFill>
                <a:latin typeface="Calibri"/>
              </a:rPr>
              <a:t>~3 sem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22776"/>
            <a:ext cx="5486400" cy="932688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 w="9525">
            <a:solidFill>
              <a:srgbClr val="D7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4169664"/>
            <a:ext cx="438912" cy="438912"/>
          </a:xfrm>
          <a:prstGeom prst="ellipse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4164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Phase 2 — </a:t>
            </a:r>
            <a:r>
              <a:rPr sz="1450" b="1" i="0">
                <a:solidFill>
                  <a:srgbClr val="0E9C8A"/>
                </a:solidFill>
                <a:latin typeface="Calibri"/>
              </a:rPr>
              <a:t>Web + API</a:t>
            </a:r>
          </a:p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smolagents + Tavily, API FastAPI 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41648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r"/>
            <a:r>
              <a:rPr sz="1300" b="1" i="0">
                <a:solidFill>
                  <a:srgbClr val="1E2761"/>
                </a:solidFill>
                <a:latin typeface="Calibri"/>
              </a:rPr>
              <a:t>~3 sem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46904"/>
            <a:ext cx="5486400" cy="932688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 w="9525">
            <a:solidFill>
              <a:srgbClr val="D7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" y="5193792"/>
            <a:ext cx="438912" cy="438912"/>
          </a:xfrm>
          <a:prstGeom prst="ellipse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065776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Phase 3 — </a:t>
            </a:r>
            <a:r>
              <a:rPr sz="1450" b="1" i="0">
                <a:solidFill>
                  <a:srgbClr val="0E9C8A"/>
                </a:solidFill>
                <a:latin typeface="Calibri"/>
              </a:rPr>
              <a:t>Monitoring</a:t>
            </a:r>
          </a:p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Langfuse, métriques, durcissement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065776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r"/>
            <a:r>
              <a:rPr sz="1300" b="1" i="0">
                <a:solidFill>
                  <a:srgbClr val="1E2761"/>
                </a:solidFill>
                <a:latin typeface="Calibri"/>
              </a:rPr>
              <a:t>~2 sem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37160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mbria"/>
              </a:rPr>
              <a:t>Budget — estimation </a:t>
            </a:r>
            <a:r>
              <a:rPr sz="1600" b="1" i="0">
                <a:solidFill>
                  <a:srgbClr val="0E9C8A"/>
                </a:solidFill>
                <a:latin typeface="Cambria"/>
              </a:rPr>
              <a:t>~ 160 € / mois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755648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Hyp. : 1 000 req/j · ~4k tokens/req · 20 % via web · Postgres non-HA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121408"/>
            <a:ext cx="53309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1762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Mistral — génération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mistral-small · 105M in + 15M 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17627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r"/>
            <a:r>
              <a:rPr sz="1300" b="1" i="0">
                <a:solidFill>
                  <a:srgbClr val="1E2761"/>
                </a:solidFill>
                <a:latin typeface="Calibri"/>
              </a:rPr>
              <a:t>~14 €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670048"/>
            <a:ext cx="53309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272491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Mistral — embeddings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requêtes + ré-indexation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72491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r"/>
            <a:r>
              <a:rPr sz="1300" b="1" i="0">
                <a:solidFill>
                  <a:srgbClr val="1E2761"/>
                </a:solidFill>
                <a:latin typeface="Calibri"/>
              </a:rPr>
              <a:t>~2 €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218688"/>
            <a:ext cx="53309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327355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Tavily — recherche web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~6 000 recherches / mois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27355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r"/>
            <a:r>
              <a:rPr sz="1300" b="1" i="0">
                <a:solidFill>
                  <a:srgbClr val="1E2761"/>
                </a:solidFill>
                <a:latin typeface="Calibri"/>
              </a:rPr>
              <a:t>~40 €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767328"/>
            <a:ext cx="53309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3822191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Scaleway — PostgreSQL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managé, prod non-HA (PRO2-XXS)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822191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r"/>
            <a:r>
              <a:rPr sz="1300" b="1" i="0">
                <a:solidFill>
                  <a:srgbClr val="1E2761"/>
                </a:solidFill>
                <a:latin typeface="Calibri"/>
              </a:rPr>
              <a:t>~80 €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315968"/>
            <a:ext cx="53309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4370831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Scaleway — Serverless + Redis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conteneurs à l'usage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370831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r"/>
            <a:r>
              <a:rPr sz="1300" b="1" i="0">
                <a:solidFill>
                  <a:srgbClr val="1E2761"/>
                </a:solidFill>
                <a:latin typeface="Calibri"/>
              </a:rPr>
              <a:t>~25 €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864607"/>
            <a:ext cx="53309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4919471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Langfuse + Cockpit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self-host / natif Scaleway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919471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r"/>
            <a:r>
              <a:rPr sz="1300" b="1" i="0">
                <a:solidFill>
                  <a:srgbClr val="0E9C8A"/>
                </a:solidFill>
                <a:latin typeface="Calibri"/>
              </a:rPr>
              <a:t>gratuit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5431535"/>
            <a:ext cx="5330952" cy="45720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5504687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300" b="1" i="0">
                <a:solidFill>
                  <a:srgbClr val="0B6F62"/>
                </a:solidFill>
                <a:latin typeface="Calibri"/>
              </a:rPr>
              <a:t>Total estimé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468111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r"/>
            <a:r>
              <a:rPr sz="1400" b="1" i="0">
                <a:solidFill>
                  <a:srgbClr val="0B6F62"/>
                </a:solidFill>
                <a:latin typeface="Calibri"/>
              </a:rPr>
              <a:t>~160 €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980175"/>
            <a:ext cx="5349240" cy="5486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6B7280"/>
                </a:solidFill>
                <a:latin typeface="Calibri"/>
              </a:rPr>
              <a:t>Dominé par l'infra fixe à ce volume — le LLM ne pèse que ~10 % mais scale</a:t>
            </a:r>
          </a:p>
          <a:p>
            <a:pPr algn="l"/>
            <a:r>
              <a:rPr sz="1050" b="0" i="1">
                <a:solidFill>
                  <a:srgbClr val="6B7280"/>
                </a:solidFill>
                <a:latin typeface="Calibri"/>
              </a:rPr>
              <a:t>avec le trafic. HA Postgres double la base. Grilles juin 2026, à valider.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E9C8A"/>
                </a:solidFill>
                <a:latin typeface="Calibr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Un MVP souverain, justifié défi par défi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505456"/>
            <a:ext cx="164592" cy="164592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35915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4 défis couverts — </a:t>
            </a:r>
            <a:r>
              <a:rPr sz="1600" b="0" i="0">
                <a:solidFill>
                  <a:srgbClr val="CADCFC"/>
                </a:solidFill>
                <a:latin typeface="Calibri"/>
              </a:rPr>
              <a:t>une techno par défi, chaque choix tracé jusqu'à un besoin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218688"/>
            <a:ext cx="164592" cy="164592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72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Stack souveraine — </a:t>
            </a:r>
            <a:r>
              <a:rPr sz="1600" b="0" i="0">
                <a:solidFill>
                  <a:srgbClr val="CADCFC"/>
                </a:solidFill>
                <a:latin typeface="Calibri"/>
              </a:rPr>
              <a:t>Scaleway + Mistral, FR / RGPD de bout en bout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931920"/>
            <a:ext cx="164592" cy="164592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85616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pgvector unifie — </a:t>
            </a:r>
            <a:r>
              <a:rPr sz="1600" b="0" i="0">
                <a:solidFill>
                  <a:srgbClr val="CADCFC"/>
                </a:solidFill>
                <a:latin typeface="Calibri"/>
              </a:rPr>
              <a:t>vecteurs + géo + relationnel dans une seule base pour le MVP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45152"/>
            <a:ext cx="164592" cy="164592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4988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Socle réutilisé — </a:t>
            </a:r>
            <a:r>
              <a:rPr sz="1600" b="0" i="0">
                <a:solidFill>
                  <a:srgbClr val="CADCFC"/>
                </a:solidFill>
                <a:latin typeface="Calibri"/>
              </a:rPr>
              <a:t>LangChain + RAG hybride du POC P11, on ne réinvente pas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806440"/>
            <a:ext cx="10515600" cy="64008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500" b="1" i="0">
                <a:solidFill>
                  <a:srgbClr val="0E9C8A"/>
                </a:solidFill>
                <a:latin typeface="Calibri"/>
              </a:rPr>
              <a:t>Prochaine étape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→  valider les hypothèses de budget, puis lancer la Phase 0 (socle &amp; infra)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