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POC → MVP : chatbot RAG Puls-Events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Étude de design du MVP — Morgan Le Gall, Data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contexte métier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Puls-Events : découverte d'événements culturels en temps réel</a:t>
            </a:r>
          </a:p>
          <a:p>
            <a:pPr>
              <a:defRPr sz="1800"/>
            </a:pPr>
            <a:r>
              <a:t>POC validé (P11) : chatbot RAG sur Open Agenda, Pays de la Loire</a:t>
            </a:r>
          </a:p>
          <a:p>
            <a:pPr>
              <a:defRPr sz="1800"/>
            </a:pPr>
            <a:r>
              <a:t>Objectif : passer d'une preuve de concept à un produit en production</a:t>
            </a:r>
          </a:p>
          <a:p>
            <a:pPr>
              <a:defRPr sz="1800"/>
            </a:pPr>
            <a:r>
              <a:t>Enjeu : personnalisation par l'IA = différenciation sur le marché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4 défis = les trous du POC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Mémoire conversationnelle (POC stateless)</a:t>
            </a:r>
          </a:p>
          <a:p>
            <a:pPr>
              <a:defRPr sz="1800"/>
            </a:pPr>
            <a:r>
              <a:t>2. Contexte géographique (POC = filtre région en dur)</a:t>
            </a:r>
          </a:p>
          <a:p>
            <a:pPr>
              <a:defRPr sz="1800"/>
            </a:pPr>
            <a:r>
              <a:t>3. Recherche web temps réel (absente)</a:t>
            </a:r>
          </a:p>
          <a:p>
            <a:pPr>
              <a:defRPr sz="1800"/>
            </a:pPr>
            <a:r>
              <a:t>4. Monitoring performance &amp; satisfaction (absent)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L'architecture en une idée : consolider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Une seule base PostgreSQL : relationnel + pgvector + PostGIS + mémoire</a:t>
            </a:r>
          </a:p>
          <a:p>
            <a:pPr>
              <a:defRPr sz="1800"/>
            </a:pPr>
            <a:r>
              <a:t>Cœur RAG du POC réutilisé (Mistral + LangChain + retriever hybride)</a:t>
            </a:r>
          </a:p>
          <a:p>
            <a:pPr>
              <a:defRPr sz="1800"/>
            </a:pPr>
            <a:r>
              <a:t>Agent smolagents : arbitre base interne vs recherche web</a:t>
            </a:r>
          </a:p>
          <a:p>
            <a:pPr>
              <a:defRPr sz="1800"/>
            </a:pPr>
            <a:r>
              <a:t>Double observabilité : Cockpit (infra) + Langfuse (qualité RAG)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 POC P11 au MVP — évolution pilotée par les besoins</a:t>
            </a:r>
          </a:p>
        </p:txBody>
      </p:sp>
      <p:pic>
        <p:nvPicPr>
          <p:cNvPr id="3" name="Picture 2" descr="architecture_evolution_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8412480" cy="47309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du MVP (POC P11 industrialisé sur Scaleway)</a:t>
            </a:r>
          </a:p>
        </p:txBody>
      </p:sp>
      <p:pic>
        <p:nvPicPr>
          <p:cNvPr id="3" name="Picture 2" descr="architecture_mvp_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8412480" cy="55015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Scaleway (et pas GCP/AWS)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Souveraineté : hors CLOUD Act, juridiction UE garantie</a:t>
            </a:r>
          </a:p>
          <a:p>
            <a:pPr>
              <a:defRPr sz="1800"/>
            </a:pPr>
            <a:r>
              <a:t>Cohérence : Scaleway (FR) + Mistral (FR) + données FR</a:t>
            </a:r>
          </a:p>
          <a:p>
            <a:pPr>
              <a:defRPr sz="1800"/>
            </a:pPr>
            <a:r>
              <a:t>Observabilité incluse (Cockpit gratuit), coûts transparents</a:t>
            </a:r>
          </a:p>
          <a:p>
            <a:pPr>
              <a:defRPr sz="1800"/>
            </a:pPr>
            <a:r>
              <a:t>Compromis assumé : écosystème ML plus modeste (GCP = plan 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Scalabilité &amp; index vectoriel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pgvector remplace FAISS local → multi-instances</a:t>
            </a:r>
          </a:p>
          <a:p>
            <a:pPr>
              <a:defRPr sz="1800"/>
            </a:pPr>
            <a:r>
              <a:t>Index HNSW : réglage ef_search = compromis rappel/latence</a:t>
            </a:r>
          </a:p>
          <a:p>
            <a:pPr>
              <a:defRPr sz="1800"/>
            </a:pPr>
            <a:r>
              <a:t>Filtrage géo (PostGIS) avant le top-k = moins de vecteurs</a:t>
            </a:r>
          </a:p>
          <a:p>
            <a:pPr>
              <a:defRPr sz="1800"/>
            </a:pPr>
            <a:r>
              <a:t>Retriever hybride BM25+dense + MMR = pertinence</a:t>
            </a:r>
          </a:p>
          <a:p>
            <a:pPr>
              <a:defRPr sz="1800"/>
            </a:pPr>
            <a:r>
              <a:t>Chemin de montée en charge : Qdrant documenté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Backlog &amp; plan de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Priorisation MoSCoW : 13 Must, 4 Should, 2 Could</a:t>
            </a:r>
          </a:p>
          <a:p>
            <a:pPr>
              <a:defRPr sz="1800"/>
            </a:pPr>
            <a:r>
              <a:t>MVP recommandé ≈ 60 j·h (~12 semaines, 1 dev)</a:t>
            </a:r>
          </a:p>
          <a:p>
            <a:pPr>
              <a:defRPr sz="1800"/>
            </a:pPr>
            <a:r>
              <a:t>6 jalons démontrables, de l'infra à la prod</a:t>
            </a:r>
          </a:p>
          <a:p>
            <a:pPr>
              <a:defRPr sz="1800"/>
            </a:pPr>
            <a:r>
              <a:t>Qualité garantie : éval rejouée en CI (non-régression)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coûts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Build ≈ 40 000 € (dominé par la main-d'œuvre)</a:t>
            </a:r>
          </a:p>
          <a:p>
            <a:pPr>
              <a:defRPr sz="1800"/>
            </a:pPr>
            <a:r>
              <a:t>OPEX : 160 € → 560 € → 2 930 €/mois selon la charge</a:t>
            </a:r>
          </a:p>
          <a:p>
            <a:pPr>
              <a:defRPr sz="1800"/>
            </a:pPr>
            <a:r>
              <a:t>À l'échelle, le coût bascule vers Mistral (~68 %)</a:t>
            </a:r>
          </a:p>
          <a:p>
            <a:pPr>
              <a:defRPr sz="1800"/>
            </a:pPr>
            <a:r>
              <a:t>Optimisation : cache sémantique + réduction de contexte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POC prouvé → MVP scalable, observable, souverain, RGPD</a:t>
            </a:r>
          </a:p>
          <a:p>
            <a:pPr>
              <a:defRPr sz="1800"/>
            </a:pPr>
            <a:r>
              <a:t>Continuité maximale avec l'existant (risque maîtrisé)</a:t>
            </a:r>
          </a:p>
          <a:p>
            <a:pPr>
              <a:defRPr sz="1800"/>
            </a:pPr>
            <a:r>
              <a:t>Trajectoire chiffrée et datée pour l'exécution</a:t>
            </a:r>
          </a:p>
          <a:p>
            <a:pPr>
              <a:defRPr sz="1800"/>
            </a:pPr>
            <a:r>
              <a:t>Prochaine étape : valider l'étude, démarrer la phase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