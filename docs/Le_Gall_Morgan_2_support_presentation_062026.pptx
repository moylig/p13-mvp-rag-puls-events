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7.xml"/>
  <Override ContentType="application/vnd.openxmlformats-officedocument.presentationml.notesSlide+xml" PartName="/ppt/notesSlides/notesSlide5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50.xml"/>
  <Override ContentType="application/vnd.openxmlformats-officedocument.presentationml.notesSlide+xml" PartName="/ppt/notesSlides/notesSlide107.xml"/>
  <Override ContentType="application/vnd.openxmlformats-officedocument.presentationml.notesSlide+xml" PartName="/ppt/notesSlides/notesSlide100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85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77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73.xml"/>
  <Override ContentType="application/vnd.openxmlformats-officedocument.presentationml.notesSlide+xml" PartName="/ppt/notesSlides/notesSlide8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69.xml"/>
  <Override ContentType="application/vnd.openxmlformats-officedocument.presentationml.notesSlide+xml" PartName="/ppt/notesSlides/notesSlide105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93.xml"/>
  <Override ContentType="application/vnd.openxmlformats-officedocument.presentationml.notesSlide+xml" PartName="/ppt/notesSlides/notesSlide87.xml"/>
  <Override ContentType="application/vnd.openxmlformats-officedocument.presentationml.notesSlide+xml" PartName="/ppt/notesSlides/notesSlide57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75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54.xml"/>
  <Override ContentType="application/vnd.openxmlformats-officedocument.presentationml.notesSlide+xml" PartName="/ppt/notesSlides/notesSlide103.xml"/>
  <Override ContentType="application/vnd.openxmlformats-officedocument.presentationml.notesSlide+xml" PartName="/ppt/notesSlides/notesSlide97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9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63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60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101.xml"/>
  <Override ContentType="application/vnd.openxmlformats-officedocument.presentationml.notesSlide+xml" PartName="/ppt/notesSlides/notesSlide95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5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5.xml"/>
  <Override ContentType="application/vnd.openxmlformats-officedocument.presentationml.notesSlide+xml" PartName="/ppt/notesSlides/notesSlide78.xml"/>
  <Override ContentType="application/vnd.openxmlformats-officedocument.presentationml.notesSlide+xml" PartName="/ppt/notesSlides/notesSlide71.xml"/>
  <Override ContentType="application/vnd.openxmlformats-officedocument.presentationml.notesSlide+xml" PartName="/ppt/notesSlides/notesSlide92.xml"/>
  <Override ContentType="application/vnd.openxmlformats-officedocument.presentationml.notesSlide+xml" PartName="/ppt/notesSlides/notesSlide84.xml"/>
  <Override ContentType="application/vnd.openxmlformats-officedocument.presentationml.notesSlide+xml" PartName="/ppt/notesSlides/notesSlide76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68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82.xml"/>
  <Override ContentType="application/vnd.openxmlformats-officedocument.presentationml.notesSlide+xml" PartName="/ppt/notesSlides/notesSlide94.xml"/>
  <Override ContentType="application/vnd.openxmlformats-officedocument.presentationml.notesSlide+xml" PartName="/ppt/notesSlides/notesSlide51.xml"/>
  <Override ContentType="application/vnd.openxmlformats-officedocument.presentationml.notesSlide+xml" PartName="/ppt/notesSlides/notesSlide90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86.xml"/>
  <Override ContentType="application/vnd.openxmlformats-officedocument.presentationml.notesSlide+xml" PartName="/ppt/notesSlides/notesSlide106.xml"/>
  <Override ContentType="application/vnd.openxmlformats-officedocument.presentationml.notesSlide+xml" PartName="/ppt/notesSlides/notesSlide99.xml"/>
  <Override ContentType="application/vnd.openxmlformats-officedocument.presentationml.notesSlide+xml" PartName="/ppt/notesSlides/notesSlide56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80.xml"/>
  <Override ContentType="application/vnd.openxmlformats-officedocument.presentationml.notesSlide+xml" PartName="/ppt/notesSlides/notesSlide61.xml"/>
  <Override ContentType="application/vnd.openxmlformats-officedocument.presentationml.notesSlide+xml" PartName="/ppt/notesSlides/notesSlide74.xml"/>
  <Override ContentType="application/vnd.openxmlformats-officedocument.presentationml.notesSlide+xml" PartName="/ppt/notesSlides/notesSlide58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8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62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70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5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72.xml"/>
  <Override ContentType="application/vnd.openxmlformats-officedocument.presentationml.notesSlide+xml" PartName="/ppt/notesSlides/notesSlide98.xml"/>
  <Override ContentType="application/vnd.openxmlformats-officedocument.presentationml.notesSlide+xml" PartName="/ppt/notesSlides/notesSlide104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64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9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49.xml"/>
  <Override ContentType="application/vnd.openxmlformats-officedocument.presentationml.notesSlide+xml" PartName="/ppt/notesSlides/notesSlide96.xml"/>
  <Override ContentType="application/vnd.openxmlformats-officedocument.presentationml.notesSlide+xml" PartName="/ppt/notesSlides/notesSlide102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83.xml"/>
  <Override ContentType="application/vnd.openxmlformats-officedocument.presentationml.notesSlide+xml" PartName="/ppt/notesSlides/notesSlide53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66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3.xml"/>
  <Override ContentType="application/vnd.openxmlformats-officedocument.presentationml.slide+xml" PartName="/ppt/slides/slide78.xml"/>
  <Override ContentType="application/vnd.openxmlformats-officedocument.presentationml.slide+xml" PartName="/ppt/slides/slide86.xml"/>
  <Override ContentType="application/vnd.openxmlformats-officedocument.presentationml.slide+xml" PartName="/ppt/slides/slide35.xml"/>
  <Override ContentType="application/vnd.openxmlformats-officedocument.presentationml.slide+xml" PartName="/ppt/slides/slide105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3.xml"/>
  <Override ContentType="application/vnd.openxmlformats-officedocument.presentationml.slide+xml" PartName="/ppt/slides/slide51.xml"/>
  <Override ContentType="application/vnd.openxmlformats-officedocument.presentationml.slide+xml" PartName="/ppt/slides/slide68.xml"/>
  <Override ContentType="application/vnd.openxmlformats-officedocument.presentationml.slide+xml" PartName="/ppt/slides/slide94.xml"/>
  <Override ContentType="application/vnd.openxmlformats-officedocument.presentationml.slide+xml" PartName="/ppt/slides/slide84.xml"/>
  <Override ContentType="application/vnd.openxmlformats-officedocument.presentationml.slide+xml" PartName="/ppt/slides/slide107.xml"/>
  <Override ContentType="application/vnd.openxmlformats-officedocument.presentationml.slide+xml" PartName="/ppt/slides/slide37.xml"/>
  <Override ContentType="application/vnd.openxmlformats-officedocument.presentationml.slide+xml" PartName="/ppt/slides/slide71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66.xml"/>
  <Override ContentType="application/vnd.openxmlformats-officedocument.presentationml.slide+xml" PartName="/ppt/slides/slide23.xml"/>
  <Override ContentType="application/vnd.openxmlformats-officedocument.presentationml.slide+xml" PartName="/ppt/slides/slide10.xml"/>
  <Override ContentType="application/vnd.openxmlformats-officedocument.presentationml.slide+xml" PartName="/ppt/slides/slide53.xml"/>
  <Override ContentType="application/vnd.openxmlformats-officedocument.presentationml.slide+xml" PartName="/ppt/slides/slide96.xml"/>
  <Override ContentType="application/vnd.openxmlformats-officedocument.presentationml.slide+xml" PartName="/ppt/slides/slide48.xml"/>
  <Override ContentType="application/vnd.openxmlformats-officedocument.presentationml.slide+xml" PartName="/ppt/slides/slide22.xml"/>
  <Override ContentType="application/vnd.openxmlformats-officedocument.presentationml.slide+xml" PartName="/ppt/slides/slide82.xml"/>
  <Override ContentType="application/vnd.openxmlformats-officedocument.presentationml.slide+xml" PartName="/ppt/slides/slide65.xml"/>
  <Override ContentType="application/vnd.openxmlformats-officedocument.presentationml.slide+xml" PartName="/ppt/slides/slide9.xml"/>
  <Override ContentType="application/vnd.openxmlformats-officedocument.presentationml.slide+xml" PartName="/ppt/slides/slide12.xml"/>
  <Override ContentType="application/vnd.openxmlformats-officedocument.presentationml.slide+xml" PartName="/ppt/slides/slide98.xml"/>
  <Override ContentType="application/vnd.openxmlformats-officedocument.presentationml.slide+xml" PartName="/ppt/slides/slide72.xml"/>
  <Override ContentType="application/vnd.openxmlformats-officedocument.presentationml.slide+xml" PartName="/ppt/slides/slide20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55.xml"/>
  <Override ContentType="application/vnd.openxmlformats-officedocument.presentationml.slide+xml" PartName="/ppt/slides/slide29.xml"/>
  <Override ContentType="application/vnd.openxmlformats-officedocument.presentationml.slide+xml" PartName="/ppt/slides/slide59.xml"/>
  <Override ContentType="application/vnd.openxmlformats-officedocument.presentationml.slide+xml" PartName="/ppt/slides/slide89.xml"/>
  <Override ContentType="application/vnd.openxmlformats-officedocument.presentationml.slide+xml" PartName="/ppt/slides/slide76.xml"/>
  <Override ContentType="application/vnd.openxmlformats-officedocument.presentationml.slide+xml" PartName="/ppt/slides/slide63.xml"/>
  <Override ContentType="application/vnd.openxmlformats-officedocument.presentationml.slide+xml" PartName="/ppt/slides/slide93.xml"/>
  <Override ContentType="application/vnd.openxmlformats-officedocument.presentationml.slide+xml" PartName="/ppt/slides/slide101.xml"/>
  <Override ContentType="application/vnd.openxmlformats-officedocument.presentationml.slide+xml" PartName="/ppt/slides/slide80.xml"/>
  <Override ContentType="application/vnd.openxmlformats-officedocument.presentationml.slide+xml" PartName="/ppt/slides/slide103.xml"/>
  <Override ContentType="application/vnd.openxmlformats-officedocument.presentationml.slide+xml" PartName="/ppt/slides/slide61.xml"/>
  <Override ContentType="application/vnd.openxmlformats-officedocument.presentationml.slide+xml" PartName="/ppt/slides/slide91.xml"/>
  <Override ContentType="application/vnd.openxmlformats-officedocument.presentationml.slide+xml" PartName="/ppt/slides/slide31.xml"/>
  <Override ContentType="application/vnd.openxmlformats-officedocument.presentationml.slide+xml" PartName="/ppt/slides/slide87.xml"/>
  <Override ContentType="application/vnd.openxmlformats-officedocument.presentationml.slide+xml" PartName="/ppt/slides/slide74.xml"/>
  <Override ContentType="application/vnd.openxmlformats-officedocument.presentationml.slide+xml" PartName="/ppt/slides/slide27.xml"/>
  <Override ContentType="application/vnd.openxmlformats-officedocument.presentationml.slide+xml" PartName="/ppt/slides/slide57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14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60.xml"/>
  <Override ContentType="application/vnd.openxmlformats-officedocument.presentationml.slide+xml" PartName="/ppt/slides/slide52.xml"/>
  <Override ContentType="application/vnd.openxmlformats-officedocument.presentationml.slide+xml" PartName="/ppt/slides/slide26.xml"/>
  <Override ContentType="application/vnd.openxmlformats-officedocument.presentationml.slide+xml" PartName="/ppt/slides/slide95.xml"/>
  <Override ContentType="application/vnd.openxmlformats-officedocument.presentationml.slide+xml" PartName="/ppt/slides/slide69.xml"/>
  <Override ContentType="application/vnd.openxmlformats-officedocument.presentationml.slide+xml" PartName="/ppt/slides/slide85.xml"/>
  <Override ContentType="application/vnd.openxmlformats-officedocument.presentationml.slide+xml" PartName="/ppt/slides/slide42.xml"/>
  <Override ContentType="application/vnd.openxmlformats-officedocument.presentationml.slide+xml" PartName="/ppt/slides/slide50.xml"/>
  <Override ContentType="application/vnd.openxmlformats-officedocument.presentationml.slide+xml" PartName="/ppt/slides/slide77.xml"/>
  <Override ContentType="application/vnd.openxmlformats-officedocument.presentationml.slide+xml" PartName="/ppt/slides/slide34.xml"/>
  <Override ContentType="application/vnd.openxmlformats-officedocument.presentationml.slide+xml" PartName="/ppt/slides/slide16.xml"/>
  <Override ContentType="application/vnd.openxmlformats-officedocument.presentationml.slide+xml" PartName="/ppt/slides/slide104.xml"/>
  <Override ContentType="application/vnd.openxmlformats-officedocument.presentationml.slide+xml" PartName="/ppt/slides/slide24.xml"/>
  <Override ContentType="application/vnd.openxmlformats-officedocument.presentationml.slide+xml" PartName="/ppt/slides/slide97.xml"/>
  <Override ContentType="application/vnd.openxmlformats-officedocument.presentationml.slide+xml" PartName="/ppt/slides/slide11.xml"/>
  <Override ContentType="application/vnd.openxmlformats-officedocument.presentationml.slide+xml" PartName="/ppt/slides/slide67.xml"/>
  <Override ContentType="application/vnd.openxmlformats-officedocument.presentationml.slide+xml" PartName="/ppt/slides/slide54.xml"/>
  <Override ContentType="application/vnd.openxmlformats-officedocument.presentationml.slide+xml" PartName="/ppt/slides/slide36.xml"/>
  <Override ContentType="application/vnd.openxmlformats-officedocument.presentationml.slide+xml" PartName="/ppt/slides/slide79.xml"/>
  <Override ContentType="application/vnd.openxmlformats-officedocument.presentationml.slide+xml" PartName="/ppt/slides/slide49.xml"/>
  <Override ContentType="application/vnd.openxmlformats-officedocument.presentationml.slide+xml" PartName="/ppt/slides/slide83.xml"/>
  <Override ContentType="application/vnd.openxmlformats-officedocument.presentationml.slide+xml" PartName="/ppt/slides/slide106.xml"/>
  <Override ContentType="application/vnd.openxmlformats-officedocument.presentationml.slide+xml" PartName="/ppt/slides/slide70.xml"/>
  <Override ContentType="application/vnd.openxmlformats-officedocument.presentationml.slide+xml" PartName="/ppt/slides/slide6.xml"/>
  <Override ContentType="application/vnd.openxmlformats-officedocument.presentationml.slide+xml" PartName="/ppt/slides/slide40.xml"/>
  <Override ContentType="application/vnd.openxmlformats-officedocument.presentationml.slide+xml" PartName="/ppt/slides/slide73.xml"/>
  <Override ContentType="application/vnd.openxmlformats-officedocument.presentationml.slide+xml" PartName="/ppt/slides/slide30.xml"/>
  <Override ContentType="application/vnd.openxmlformats-officedocument.presentationml.slide+xml" PartName="/ppt/slides/slide99.xml"/>
  <Override ContentType="application/vnd.openxmlformats-officedocument.presentationml.slide+xml" PartName="/ppt/slides/slide39.xml"/>
  <Override ContentType="application/vnd.openxmlformats-officedocument.presentationml.slide+xml" PartName="/ppt/slides/slide13.xml"/>
  <Override ContentType="application/vnd.openxmlformats-officedocument.presentationml.slide+xml" PartName="/ppt/slides/slide56.xml"/>
  <Override ContentType="application/vnd.openxmlformats-officedocument.presentationml.slide+xml" PartName="/ppt/slides/slide47.xml"/>
  <Override ContentType="application/vnd.openxmlformats-officedocument.presentationml.slide+xml" PartName="/ppt/slides/slide21.xml"/>
  <Override ContentType="application/vnd.openxmlformats-officedocument.presentationml.slide+xml" PartName="/ppt/slides/slide100.xml"/>
  <Override ContentType="application/vnd.openxmlformats-officedocument.presentationml.slide+xml" PartName="/ppt/slides/slide64.xml"/>
  <Override ContentType="application/vnd.openxmlformats-officedocument.presentationml.slide+xml" PartName="/ppt/slides/slide81.xml"/>
  <Override ContentType="application/vnd.openxmlformats-officedocument.presentationml.slide+xml" PartName="/ppt/slides/slide90.xml"/>
  <Override ContentType="application/vnd.openxmlformats-officedocument.presentationml.slide+xml" PartName="/ppt/slides/slide8.xml"/>
  <Override ContentType="application/vnd.openxmlformats-officedocument.presentationml.slide+xml" PartName="/ppt/slides/slide32.xml"/>
  <Override ContentType="application/vnd.openxmlformats-officedocument.presentationml.slide+xml" PartName="/ppt/slides/slide62.xml"/>
  <Override ContentType="application/vnd.openxmlformats-officedocument.presentationml.slide+xml" PartName="/ppt/slides/slide75.xml"/>
  <Override ContentType="application/vnd.openxmlformats-officedocument.presentationml.slide+xml" PartName="/ppt/slides/slide1.xml"/>
  <Override ContentType="application/vnd.openxmlformats-officedocument.presentationml.slide+xml" PartName="/ppt/slides/slide58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15.xml"/>
  <Override ContentType="application/vnd.openxmlformats-officedocument.presentationml.slide+xml" PartName="/ppt/slides/slide88.xml"/>
  <Override ContentType="application/vnd.openxmlformats-officedocument.presentationml.slide+xml" PartName="/ppt/slides/slide92.xml"/>
  <Override ContentType="application/vnd.openxmlformats-officedocument.presentationml.slide+xml" PartName="/ppt/slides/slide102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60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  <p:sldId id="298" r:id="rId48"/>
    <p:sldId id="299" r:id="rId49"/>
    <p:sldId id="300" r:id="rId50"/>
    <p:sldId id="301" r:id="rId51"/>
    <p:sldId id="302" r:id="rId52"/>
    <p:sldId id="303" r:id="rId53"/>
    <p:sldId id="304" r:id="rId54"/>
    <p:sldId id="305" r:id="rId55"/>
    <p:sldId id="306" r:id="rId56"/>
    <p:sldId id="307" r:id="rId57"/>
    <p:sldId id="308" r:id="rId58"/>
    <p:sldId id="309" r:id="rId59"/>
    <p:sldId id="310" r:id="rId60"/>
    <p:sldId id="311" r:id="rId61"/>
    <p:sldId id="312" r:id="rId62"/>
    <p:sldId id="313" r:id="rId63"/>
    <p:sldId id="314" r:id="rId64"/>
    <p:sldId id="315" r:id="rId65"/>
    <p:sldId id="316" r:id="rId66"/>
    <p:sldId id="317" r:id="rId67"/>
    <p:sldId id="318" r:id="rId68"/>
    <p:sldId id="319" r:id="rId69"/>
    <p:sldId id="320" r:id="rId70"/>
    <p:sldId id="321" r:id="rId71"/>
    <p:sldId id="322" r:id="rId72"/>
    <p:sldId id="323" r:id="rId73"/>
    <p:sldId id="324" r:id="rId74"/>
    <p:sldId id="325" r:id="rId75"/>
    <p:sldId id="326" r:id="rId76"/>
    <p:sldId id="327" r:id="rId77"/>
    <p:sldId id="328" r:id="rId78"/>
    <p:sldId id="329" r:id="rId79"/>
    <p:sldId id="330" r:id="rId80"/>
    <p:sldId id="331" r:id="rId81"/>
    <p:sldId id="332" r:id="rId82"/>
    <p:sldId id="333" r:id="rId83"/>
    <p:sldId id="334" r:id="rId84"/>
    <p:sldId id="335" r:id="rId85"/>
    <p:sldId id="336" r:id="rId86"/>
    <p:sldId id="337" r:id="rId87"/>
    <p:sldId id="338" r:id="rId88"/>
    <p:sldId id="339" r:id="rId89"/>
    <p:sldId id="340" r:id="rId90"/>
    <p:sldId id="341" r:id="rId91"/>
    <p:sldId id="342" r:id="rId92"/>
    <p:sldId id="343" r:id="rId93"/>
    <p:sldId id="344" r:id="rId94"/>
    <p:sldId id="345" r:id="rId95"/>
    <p:sldId id="346" r:id="rId96"/>
    <p:sldId id="347" r:id="rId97"/>
    <p:sldId id="348" r:id="rId98"/>
    <p:sldId id="349" r:id="rId99"/>
    <p:sldId id="350" r:id="rId100"/>
    <p:sldId id="351" r:id="rId101"/>
    <p:sldId id="352" r:id="rId102"/>
    <p:sldId id="353" r:id="rId103"/>
    <p:sldId id="354" r:id="rId104"/>
    <p:sldId id="355" r:id="rId105"/>
    <p:sldId id="356" r:id="rId106"/>
    <p:sldId id="357" r:id="rId107"/>
    <p:sldId id="358" r:id="rId108"/>
    <p:sldId id="359" r:id="rId109"/>
    <p:sldId id="360" r:id="rId110"/>
    <p:sldId id="361" r:id="rId111"/>
    <p:sldId id="362" r:id="rId112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5.xml"/><Relationship Id="rId42" Type="http://schemas.openxmlformats.org/officeDocument/2006/relationships/slide" Target="slides/slide37.xml"/><Relationship Id="rId41" Type="http://schemas.openxmlformats.org/officeDocument/2006/relationships/slide" Target="slides/slide36.xml"/><Relationship Id="rId44" Type="http://schemas.openxmlformats.org/officeDocument/2006/relationships/slide" Target="slides/slide39.xml"/><Relationship Id="rId43" Type="http://schemas.openxmlformats.org/officeDocument/2006/relationships/slide" Target="slides/slide38.xml"/><Relationship Id="rId46" Type="http://schemas.openxmlformats.org/officeDocument/2006/relationships/slide" Target="slides/slide41.xml"/><Relationship Id="rId45" Type="http://schemas.openxmlformats.org/officeDocument/2006/relationships/slide" Target="slides/slide40.xml"/><Relationship Id="rId107" Type="http://schemas.openxmlformats.org/officeDocument/2006/relationships/slide" Target="slides/slide102.xml"/><Relationship Id="rId106" Type="http://schemas.openxmlformats.org/officeDocument/2006/relationships/slide" Target="slides/slide101.xml"/><Relationship Id="rId105" Type="http://schemas.openxmlformats.org/officeDocument/2006/relationships/slide" Target="slides/slide100.xml"/><Relationship Id="rId104" Type="http://schemas.openxmlformats.org/officeDocument/2006/relationships/slide" Target="slides/slide99.xml"/><Relationship Id="rId109" Type="http://schemas.openxmlformats.org/officeDocument/2006/relationships/slide" Target="slides/slide104.xml"/><Relationship Id="rId108" Type="http://schemas.openxmlformats.org/officeDocument/2006/relationships/slide" Target="slides/slide103.xml"/><Relationship Id="rId48" Type="http://schemas.openxmlformats.org/officeDocument/2006/relationships/slide" Target="slides/slide43.xml"/><Relationship Id="rId47" Type="http://schemas.openxmlformats.org/officeDocument/2006/relationships/slide" Target="slides/slide42.xml"/><Relationship Id="rId49" Type="http://schemas.openxmlformats.org/officeDocument/2006/relationships/slide" Target="slides/slide44.xml"/><Relationship Id="rId103" Type="http://schemas.openxmlformats.org/officeDocument/2006/relationships/slide" Target="slides/slide98.xml"/><Relationship Id="rId102" Type="http://schemas.openxmlformats.org/officeDocument/2006/relationships/slide" Target="slides/slide97.xml"/><Relationship Id="rId101" Type="http://schemas.openxmlformats.org/officeDocument/2006/relationships/slide" Target="slides/slide96.xml"/><Relationship Id="rId100" Type="http://schemas.openxmlformats.org/officeDocument/2006/relationships/slide" Target="slides/slide95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33" Type="http://schemas.openxmlformats.org/officeDocument/2006/relationships/slide" Target="slides/slide28.xml"/><Relationship Id="rId32" Type="http://schemas.openxmlformats.org/officeDocument/2006/relationships/slide" Target="slides/slide27.xml"/><Relationship Id="rId35" Type="http://schemas.openxmlformats.org/officeDocument/2006/relationships/slide" Target="slides/slide30.xml"/><Relationship Id="rId34" Type="http://schemas.openxmlformats.org/officeDocument/2006/relationships/slide" Target="slides/slide29.xml"/><Relationship Id="rId37" Type="http://schemas.openxmlformats.org/officeDocument/2006/relationships/slide" Target="slides/slide32.xml"/><Relationship Id="rId36" Type="http://schemas.openxmlformats.org/officeDocument/2006/relationships/slide" Target="slides/slide31.xml"/><Relationship Id="rId39" Type="http://schemas.openxmlformats.org/officeDocument/2006/relationships/slide" Target="slides/slide34.xml"/><Relationship Id="rId38" Type="http://schemas.openxmlformats.org/officeDocument/2006/relationships/slide" Target="slides/slide33.xml"/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29" Type="http://schemas.openxmlformats.org/officeDocument/2006/relationships/slide" Target="slides/slide24.xml"/><Relationship Id="rId95" Type="http://schemas.openxmlformats.org/officeDocument/2006/relationships/slide" Target="slides/slide90.xml"/><Relationship Id="rId94" Type="http://schemas.openxmlformats.org/officeDocument/2006/relationships/slide" Target="slides/slide89.xml"/><Relationship Id="rId97" Type="http://schemas.openxmlformats.org/officeDocument/2006/relationships/slide" Target="slides/slide92.xml"/><Relationship Id="rId96" Type="http://schemas.openxmlformats.org/officeDocument/2006/relationships/slide" Target="slides/slide91.xml"/><Relationship Id="rId11" Type="http://schemas.openxmlformats.org/officeDocument/2006/relationships/slide" Target="slides/slide6.xml"/><Relationship Id="rId99" Type="http://schemas.openxmlformats.org/officeDocument/2006/relationships/slide" Target="slides/slide94.xml"/><Relationship Id="rId10" Type="http://schemas.openxmlformats.org/officeDocument/2006/relationships/slide" Target="slides/slide5.xml"/><Relationship Id="rId98" Type="http://schemas.openxmlformats.org/officeDocument/2006/relationships/slide" Target="slides/slide93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91" Type="http://schemas.openxmlformats.org/officeDocument/2006/relationships/slide" Target="slides/slide86.xml"/><Relationship Id="rId90" Type="http://schemas.openxmlformats.org/officeDocument/2006/relationships/slide" Target="slides/slide85.xml"/><Relationship Id="rId93" Type="http://schemas.openxmlformats.org/officeDocument/2006/relationships/slide" Target="slides/slide88.xml"/><Relationship Id="rId92" Type="http://schemas.openxmlformats.org/officeDocument/2006/relationships/slide" Target="slides/slide87.xml"/><Relationship Id="rId15" Type="http://schemas.openxmlformats.org/officeDocument/2006/relationships/slide" Target="slides/slide10.xml"/><Relationship Id="rId110" Type="http://schemas.openxmlformats.org/officeDocument/2006/relationships/slide" Target="slides/slide105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Relationship Id="rId112" Type="http://schemas.openxmlformats.org/officeDocument/2006/relationships/slide" Target="slides/slide107.xml"/><Relationship Id="rId111" Type="http://schemas.openxmlformats.org/officeDocument/2006/relationships/slide" Target="slides/slide106.xml"/><Relationship Id="rId84" Type="http://schemas.openxmlformats.org/officeDocument/2006/relationships/slide" Target="slides/slide79.xml"/><Relationship Id="rId83" Type="http://schemas.openxmlformats.org/officeDocument/2006/relationships/slide" Target="slides/slide78.xml"/><Relationship Id="rId86" Type="http://schemas.openxmlformats.org/officeDocument/2006/relationships/slide" Target="slides/slide81.xml"/><Relationship Id="rId85" Type="http://schemas.openxmlformats.org/officeDocument/2006/relationships/slide" Target="slides/slide80.xml"/><Relationship Id="rId88" Type="http://schemas.openxmlformats.org/officeDocument/2006/relationships/slide" Target="slides/slide83.xml"/><Relationship Id="rId87" Type="http://schemas.openxmlformats.org/officeDocument/2006/relationships/slide" Target="slides/slide82.xml"/><Relationship Id="rId89" Type="http://schemas.openxmlformats.org/officeDocument/2006/relationships/slide" Target="slides/slide84.xml"/><Relationship Id="rId80" Type="http://schemas.openxmlformats.org/officeDocument/2006/relationships/slide" Target="slides/slide75.xml"/><Relationship Id="rId82" Type="http://schemas.openxmlformats.org/officeDocument/2006/relationships/slide" Target="slides/slide77.xml"/><Relationship Id="rId81" Type="http://schemas.openxmlformats.org/officeDocument/2006/relationships/slide" Target="slides/slide76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73" Type="http://schemas.openxmlformats.org/officeDocument/2006/relationships/slide" Target="slides/slide68.xml"/><Relationship Id="rId72" Type="http://schemas.openxmlformats.org/officeDocument/2006/relationships/slide" Target="slides/slide67.xml"/><Relationship Id="rId75" Type="http://schemas.openxmlformats.org/officeDocument/2006/relationships/slide" Target="slides/slide70.xml"/><Relationship Id="rId74" Type="http://schemas.openxmlformats.org/officeDocument/2006/relationships/slide" Target="slides/slide69.xml"/><Relationship Id="rId77" Type="http://schemas.openxmlformats.org/officeDocument/2006/relationships/slide" Target="slides/slide72.xml"/><Relationship Id="rId76" Type="http://schemas.openxmlformats.org/officeDocument/2006/relationships/slide" Target="slides/slide71.xml"/><Relationship Id="rId79" Type="http://schemas.openxmlformats.org/officeDocument/2006/relationships/slide" Target="slides/slide74.xml"/><Relationship Id="rId78" Type="http://schemas.openxmlformats.org/officeDocument/2006/relationships/slide" Target="slides/slide73.xml"/><Relationship Id="rId71" Type="http://schemas.openxmlformats.org/officeDocument/2006/relationships/slide" Target="slides/slide66.xml"/><Relationship Id="rId70" Type="http://schemas.openxmlformats.org/officeDocument/2006/relationships/slide" Target="slides/slide65.xml"/><Relationship Id="rId62" Type="http://schemas.openxmlformats.org/officeDocument/2006/relationships/slide" Target="slides/slide57.xml"/><Relationship Id="rId61" Type="http://schemas.openxmlformats.org/officeDocument/2006/relationships/slide" Target="slides/slide56.xml"/><Relationship Id="rId64" Type="http://schemas.openxmlformats.org/officeDocument/2006/relationships/slide" Target="slides/slide59.xml"/><Relationship Id="rId63" Type="http://schemas.openxmlformats.org/officeDocument/2006/relationships/slide" Target="slides/slide58.xml"/><Relationship Id="rId66" Type="http://schemas.openxmlformats.org/officeDocument/2006/relationships/slide" Target="slides/slide61.xml"/><Relationship Id="rId65" Type="http://schemas.openxmlformats.org/officeDocument/2006/relationships/slide" Target="slides/slide60.xml"/><Relationship Id="rId68" Type="http://schemas.openxmlformats.org/officeDocument/2006/relationships/slide" Target="slides/slide63.xml"/><Relationship Id="rId67" Type="http://schemas.openxmlformats.org/officeDocument/2006/relationships/slide" Target="slides/slide62.xml"/><Relationship Id="rId60" Type="http://schemas.openxmlformats.org/officeDocument/2006/relationships/slide" Target="slides/slide55.xml"/><Relationship Id="rId69" Type="http://schemas.openxmlformats.org/officeDocument/2006/relationships/slide" Target="slides/slide64.xml"/><Relationship Id="rId51" Type="http://schemas.openxmlformats.org/officeDocument/2006/relationships/slide" Target="slides/slide46.xml"/><Relationship Id="rId50" Type="http://schemas.openxmlformats.org/officeDocument/2006/relationships/slide" Target="slides/slide45.xml"/><Relationship Id="rId53" Type="http://schemas.openxmlformats.org/officeDocument/2006/relationships/slide" Target="slides/slide48.xml"/><Relationship Id="rId52" Type="http://schemas.openxmlformats.org/officeDocument/2006/relationships/slide" Target="slides/slide47.xml"/><Relationship Id="rId55" Type="http://schemas.openxmlformats.org/officeDocument/2006/relationships/slide" Target="slides/slide50.xml"/><Relationship Id="rId54" Type="http://schemas.openxmlformats.org/officeDocument/2006/relationships/slide" Target="slides/slide49.xml"/><Relationship Id="rId57" Type="http://schemas.openxmlformats.org/officeDocument/2006/relationships/slide" Target="slides/slide52.xml"/><Relationship Id="rId56" Type="http://schemas.openxmlformats.org/officeDocument/2006/relationships/slide" Target="slides/slide51.xml"/><Relationship Id="rId59" Type="http://schemas.openxmlformats.org/officeDocument/2006/relationships/slide" Target="slides/slide54.xml"/><Relationship Id="rId58" Type="http://schemas.openxmlformats.org/officeDocument/2006/relationships/slide" Target="slides/slide5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efdcc5c3ec_0_204:notes"/>
          <p:cNvSpPr/>
          <p:nvPr>
            <p:ph idx="2" type="sldImg"/>
          </p:nvPr>
        </p:nvSpPr>
        <p:spPr>
          <a:xfrm>
            <a:off x="-4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8" name="Google Shape;58;g3efdcc5c3ec_0_204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Cadrer en 30s : le POC P11 a prouve la faisabilite du RAG. P13 le fait passer en MVP production en couvrant 4 defis non traites. Annoncer le plan : existant, besoins, architecture, choix justifies, delais et budget.</a:t>
            </a:r>
            <a:endParaRPr/>
          </a:p>
        </p:txBody>
      </p:sp>
      <p:sp>
        <p:nvSpPr>
          <p:cNvPr id="59" name="Google Shape;59;g3efdcc5c3ec_0_204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3f002fc51f7_0_357:notes"/>
          <p:cNvSpPr/>
          <p:nvPr>
            <p:ph idx="2" type="sldImg"/>
          </p:nvPr>
        </p:nvSpPr>
        <p:spPr>
          <a:xfrm>
            <a:off x="-4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6" name="Google Shape;66;g3f002fc51f7_0_357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Cadrer en 30s : le POC P11 a prouve la faisabilite du RAG. P13 le fait passer en MVP production en couvrant 4 defis non traites. Annoncer le plan : existant, besoins, architecture, choix justifies, delais et budget.</a:t>
            </a:r>
            <a:endParaRPr/>
          </a:p>
        </p:txBody>
      </p:sp>
      <p:sp>
        <p:nvSpPr>
          <p:cNvPr id="67" name="Google Shape;67;g3f002fc51f7_0_357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3efdcc5c3ec_0_712:notes"/>
          <p:cNvSpPr/>
          <p:nvPr>
            <p:ph idx="2" type="sldImg"/>
          </p:nvPr>
        </p:nvSpPr>
        <p:spPr>
          <a:xfrm>
            <a:off x="-4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84" name="Google Shape;84;g3efdcc5c3ec_0_71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Cadrer en 30s : le POC P11 a prouve la faisabilite du RAG. P13 le fait passer en MVP production en couvrant 4 defis non traites. Annoncer le plan : existant, besoins, architecture, choix justifies, delais et budget.</a:t>
            </a:r>
            <a:endParaRPr/>
          </a:p>
        </p:txBody>
      </p:sp>
      <p:sp>
        <p:nvSpPr>
          <p:cNvPr id="85" name="Google Shape;85;g3efdcc5c3ec_0_712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3f002fc51f7_0_476:notes"/>
          <p:cNvSpPr/>
          <p:nvPr>
            <p:ph idx="2" type="sldImg"/>
          </p:nvPr>
        </p:nvSpPr>
        <p:spPr>
          <a:xfrm>
            <a:off x="-4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3" name="Google Shape;93;g3f002fc51f7_0_476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Message cle : le POC valide la mecanique RAG mais reste une demo stateless. Les 4 limites de droite ne sont pas des bugs, ce sont les 4 defis du cahier des charges P13. Transition : voyons ces besoins en detail.</a:t>
            </a:r>
            <a:endParaRPr/>
          </a:p>
        </p:txBody>
      </p:sp>
      <p:sp>
        <p:nvSpPr>
          <p:cNvPr id="94" name="Google Shape;94;g3f002fc51f7_0_476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3f002fc51f7_0_550:notes"/>
          <p:cNvSpPr/>
          <p:nvPr>
            <p:ph idx="2" type="sldImg"/>
          </p:nvPr>
        </p:nvSpPr>
        <p:spPr>
          <a:xfrm>
            <a:off x="-4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01" name="Google Shape;101;g3f002fc51f7_0_550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Message cle : le POC valide la mecanique RAG mais reste une demo stateless. Les 4 limites de droite ne sont pas des bugs, ce sont les 4 defis du cahier des charges P13. Transition : voyons ces besoins en detail.</a:t>
            </a:r>
            <a:endParaRPr/>
          </a:p>
        </p:txBody>
      </p:sp>
      <p:sp>
        <p:nvSpPr>
          <p:cNvPr id="102" name="Google Shape;102;g3f002fc51f7_0_550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3f002fc51f7_0_539:notes"/>
          <p:cNvSpPr/>
          <p:nvPr>
            <p:ph idx="2" type="sldImg"/>
          </p:nvPr>
        </p:nvSpPr>
        <p:spPr>
          <a:xfrm>
            <a:off x="-4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11" name="Google Shape;111;g3f002fc51f7_0_539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Message cle : le POC valide la mecanique RAG mais reste une demo stateless. Les 4 limites de droite ne sont pas des bugs, ce sont les 4 defis du cahier des charges P13. Transition : voyons ces besoins en detail.</a:t>
            </a:r>
            <a:endParaRPr/>
          </a:p>
        </p:txBody>
      </p:sp>
      <p:sp>
        <p:nvSpPr>
          <p:cNvPr id="112" name="Google Shape;112;g3f002fc51f7_0_539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3f002fc51f7_0_526:notes"/>
          <p:cNvSpPr/>
          <p:nvPr>
            <p:ph idx="2" type="sldImg"/>
          </p:nvPr>
        </p:nvSpPr>
        <p:spPr>
          <a:xfrm>
            <a:off x="-4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23" name="Google Shape;123;g3f002fc51f7_0_526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Message cle : le POC valide la mecanique RAG mais reste une demo stateless. Les 4 limites de droite ne sont pas des bugs, ce sont les 4 defis du cahier des charges P13. Transition : voyons ces besoins en detail.</a:t>
            </a:r>
            <a:endParaRPr/>
          </a:p>
        </p:txBody>
      </p:sp>
      <p:sp>
        <p:nvSpPr>
          <p:cNvPr id="124" name="Google Shape;124;g3f002fc51f7_0_526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3f002fc51f7_0_511:notes"/>
          <p:cNvSpPr/>
          <p:nvPr>
            <p:ph idx="2" type="sldImg"/>
          </p:nvPr>
        </p:nvSpPr>
        <p:spPr>
          <a:xfrm>
            <a:off x="-4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37" name="Google Shape;137;g3f002fc51f7_0_51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Message cle : le POC valide la mecanique RAG mais reste une demo stateless. Les 4 limites de droite ne sont pas des bugs, ce sont les 4 defis du cahier des charges P13. Transition : voyons ces besoins en detail.</a:t>
            </a:r>
            <a:endParaRPr/>
          </a:p>
        </p:txBody>
      </p:sp>
      <p:sp>
        <p:nvSpPr>
          <p:cNvPr id="138" name="Google Shape;138;g3f002fc51f7_0_51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g3f002fc51f7_0_494:notes"/>
          <p:cNvSpPr/>
          <p:nvPr>
            <p:ph idx="2" type="sldImg"/>
          </p:nvPr>
        </p:nvSpPr>
        <p:spPr>
          <a:xfrm>
            <a:off x="-4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53" name="Google Shape;153;g3f002fc51f7_0_494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Message cle : le POC valide la mecanique RAG mais reste une demo stateless. Les 4 limites de droite ne sont pas des bugs, ce sont les 4 defis du cahier des charges P13. Transition : voyons ces besoins en detail.</a:t>
            </a:r>
            <a:endParaRPr/>
          </a:p>
        </p:txBody>
      </p:sp>
      <p:sp>
        <p:nvSpPr>
          <p:cNvPr id="154" name="Google Shape;154;g3f002fc51f7_0_494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g3efdcc5c3ec_0_222:notes"/>
          <p:cNvSpPr/>
          <p:nvPr>
            <p:ph idx="2" type="sldImg"/>
          </p:nvPr>
        </p:nvSpPr>
        <p:spPr>
          <a:xfrm>
            <a:off x="-4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71" name="Google Shape;171;g3efdcc5c3ec_0_22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Message cle : le POC valide la mecanique RAG mais reste une demo stateless. Les 4 limites de droite ne sont pas des bugs, ce sont les 4 defis du cahier des charges P13. Transition : voyons ces besoins en detail.</a:t>
            </a:r>
            <a:endParaRPr/>
          </a:p>
        </p:txBody>
      </p:sp>
      <p:sp>
        <p:nvSpPr>
          <p:cNvPr id="172" name="Google Shape;172;g3efdcc5c3ec_0_222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g3f002fc51f7_0_455:notes"/>
          <p:cNvSpPr/>
          <p:nvPr>
            <p:ph idx="2" type="sldImg"/>
          </p:nvPr>
        </p:nvSpPr>
        <p:spPr>
          <a:xfrm>
            <a:off x="-4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90" name="Google Shape;190;g3f002fc51f7_0_455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Message cle : le POC valide la mecanique RAG mais reste une demo stateless. Les 4 limites de droite ne sont pas des bugs, ce sont les 4 defis du cahier des charges P13. Transition : voyons ces besoins en detail.</a:t>
            </a:r>
            <a:endParaRPr/>
          </a:p>
        </p:txBody>
      </p:sp>
      <p:sp>
        <p:nvSpPr>
          <p:cNvPr id="191" name="Google Shape;191;g3f002fc51f7_0_455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g3f002fc51f7_0_431:notes"/>
          <p:cNvSpPr/>
          <p:nvPr>
            <p:ph idx="2" type="sldImg"/>
          </p:nvPr>
        </p:nvSpPr>
        <p:spPr>
          <a:xfrm>
            <a:off x="-4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12" name="Google Shape;212;g3f002fc51f7_0_43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Message cle : le POC valide la mecanique RAG mais reste une demo stateless. Les 4 limites de droite ne sont pas des bugs, ce sont les 4 defis du cahier des charges P13. Transition : voyons ces besoins en detail.</a:t>
            </a:r>
            <a:endParaRPr/>
          </a:p>
        </p:txBody>
      </p:sp>
      <p:sp>
        <p:nvSpPr>
          <p:cNvPr id="213" name="Google Shape;213;g3f002fc51f7_0_43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g3f002fc51f7_0_404:notes"/>
          <p:cNvSpPr/>
          <p:nvPr>
            <p:ph idx="2" type="sldImg"/>
          </p:nvPr>
        </p:nvSpPr>
        <p:spPr>
          <a:xfrm>
            <a:off x="-4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37" name="Google Shape;237;g3f002fc51f7_0_404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Message cle : le POC valide la mecanique RAG mais reste une demo stateless. Les 4 limites de droite ne sont pas des bugs, ce sont les 4 defis du cahier des charges P13. Transition : voyons ces besoins en detail.</a:t>
            </a:r>
            <a:endParaRPr/>
          </a:p>
        </p:txBody>
      </p:sp>
      <p:sp>
        <p:nvSpPr>
          <p:cNvPr id="238" name="Google Shape;238;g3f002fc51f7_0_404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g3f002fc51f7_0_374:notes"/>
          <p:cNvSpPr/>
          <p:nvPr>
            <p:ph idx="2" type="sldImg"/>
          </p:nvPr>
        </p:nvSpPr>
        <p:spPr>
          <a:xfrm>
            <a:off x="-4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65" name="Google Shape;265;g3f002fc51f7_0_374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Message cle : le POC valide la mecanique RAG mais reste une demo stateless. Les 4 limites de droite ne sont pas des bugs, ce sont les 4 defis du cahier des charges P13. Transition : voyons ces besoins en detail.</a:t>
            </a:r>
            <a:endParaRPr/>
          </a:p>
        </p:txBody>
      </p:sp>
      <p:sp>
        <p:nvSpPr>
          <p:cNvPr id="266" name="Google Shape;266;g3f002fc51f7_0_374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g3f002fc51f7_0_589:notes"/>
          <p:cNvSpPr/>
          <p:nvPr>
            <p:ph idx="2" type="sldImg"/>
          </p:nvPr>
        </p:nvSpPr>
        <p:spPr>
          <a:xfrm>
            <a:off x="-4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96" name="Google Shape;296;g3f002fc51f7_0_589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Message cle : le POC valide la mecanique RAG mais reste une demo stateless. Les 4 limites de droite ne sont pas des bugs, ce sont les 4 defis du cahier des charges P13. Transition : voyons ces besoins en detail.</a:t>
            </a:r>
            <a:endParaRPr/>
          </a:p>
        </p:txBody>
      </p:sp>
      <p:sp>
        <p:nvSpPr>
          <p:cNvPr id="297" name="Google Shape;297;g3f002fc51f7_0_589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g3f002fc51f7_0_696:notes"/>
          <p:cNvSpPr/>
          <p:nvPr>
            <p:ph idx="2" type="sldImg"/>
          </p:nvPr>
        </p:nvSpPr>
        <p:spPr>
          <a:xfrm>
            <a:off x="-4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17" name="Google Shape;317;g3f002fc51f7_0_696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Message cle : le POC valide la mecanique RAG mais reste une demo stateless. Les 4 limites de droite ne sont pas des bugs, ce sont les 4 defis du cahier des charges P13. Transition : voyons ces besoins en detail.</a:t>
            </a:r>
            <a:endParaRPr/>
          </a:p>
        </p:txBody>
      </p:sp>
      <p:sp>
        <p:nvSpPr>
          <p:cNvPr id="318" name="Google Shape;318;g3f002fc51f7_0_696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7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g3f002fc51f7_0_654:notes"/>
          <p:cNvSpPr/>
          <p:nvPr>
            <p:ph idx="2" type="sldImg"/>
          </p:nvPr>
        </p:nvSpPr>
        <p:spPr>
          <a:xfrm>
            <a:off x="-4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39" name="Google Shape;339;g3f002fc51f7_0_654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Message cle : le POC valide la mecanique RAG mais reste une demo stateless. Les 4 limites de droite ne sont pas des bugs, ce sont les 4 defis du cahier des charges P13. Transition : voyons ces besoins en detail.</a:t>
            </a:r>
            <a:endParaRPr/>
          </a:p>
        </p:txBody>
      </p:sp>
      <p:sp>
        <p:nvSpPr>
          <p:cNvPr id="340" name="Google Shape;340;g3f002fc51f7_0_654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9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g3f002fc51f7_0_675:notes"/>
          <p:cNvSpPr/>
          <p:nvPr>
            <p:ph idx="2" type="sldImg"/>
          </p:nvPr>
        </p:nvSpPr>
        <p:spPr>
          <a:xfrm>
            <a:off x="-4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61" name="Google Shape;361;g3f002fc51f7_0_675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Message cle : le POC valide la mecanique RAG mais reste une demo stateless. Les 4 limites de droite ne sont pas des bugs, ce sont les 4 defis du cahier des charges P13. Transition : voyons ces besoins en detail.</a:t>
            </a:r>
            <a:endParaRPr/>
          </a:p>
        </p:txBody>
      </p:sp>
      <p:sp>
        <p:nvSpPr>
          <p:cNvPr id="362" name="Google Shape;362;g3f002fc51f7_0_675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Google Shape;382;g3f002fc51f7_0_633:notes"/>
          <p:cNvSpPr/>
          <p:nvPr>
            <p:ph idx="2" type="sldImg"/>
          </p:nvPr>
        </p:nvSpPr>
        <p:spPr>
          <a:xfrm>
            <a:off x="-4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83" name="Google Shape;383;g3f002fc51f7_0_633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Message cle : le POC valide la mecanique RAG mais reste une demo stateless. Les 4 limites de droite ne sont pas des bugs, ce sont les 4 defis du cahier des charges P13. Transition : voyons ces besoins en detail.</a:t>
            </a:r>
            <a:endParaRPr/>
          </a:p>
        </p:txBody>
      </p:sp>
      <p:sp>
        <p:nvSpPr>
          <p:cNvPr id="384" name="Google Shape;384;g3f002fc51f7_0_633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3" name="Shape 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Google Shape;404;g3f002fc51f7_0_610:notes"/>
          <p:cNvSpPr/>
          <p:nvPr>
            <p:ph idx="2" type="sldImg"/>
          </p:nvPr>
        </p:nvSpPr>
        <p:spPr>
          <a:xfrm>
            <a:off x="-4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05" name="Google Shape;405;g3f002fc51f7_0_610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Message cle : le POC valide la mecanique RAG mais reste une demo stateless. Les 4 limites de droite ne sont pas des bugs, ce sont les 4 defis du cahier des charges P13. Transition : voyons ces besoins en detail.</a:t>
            </a:r>
            <a:endParaRPr/>
          </a:p>
        </p:txBody>
      </p:sp>
      <p:sp>
        <p:nvSpPr>
          <p:cNvPr id="406" name="Google Shape;406;g3f002fc51f7_0_610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3" name="Shape 4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4" name="Google Shape;424;g3efdcc5c3ec_0_734:notes"/>
          <p:cNvSpPr/>
          <p:nvPr>
            <p:ph idx="2" type="sldImg"/>
          </p:nvPr>
        </p:nvSpPr>
        <p:spPr>
          <a:xfrm>
            <a:off x="-4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25" name="Google Shape;425;g3efdcc5c3ec_0_734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Message cle : le POC valide la mecanique RAG mais reste une demo stateless. Les 4 limites de droite ne sont pas des bugs, ce sont les 4 defis du cahier des charges P13. Transition : voyons ces besoins en detail.</a:t>
            </a:r>
            <a:endParaRPr/>
          </a:p>
        </p:txBody>
      </p:sp>
      <p:sp>
        <p:nvSpPr>
          <p:cNvPr id="426" name="Google Shape;426;g3efdcc5c3ec_0_734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5" name="Shape 4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6" name="Google Shape;446;g3f002fc51f7_0_1177:notes"/>
          <p:cNvSpPr/>
          <p:nvPr>
            <p:ph idx="2" type="sldImg"/>
          </p:nvPr>
        </p:nvSpPr>
        <p:spPr>
          <a:xfrm>
            <a:off x="-4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47" name="Google Shape;447;g3f002fc51f7_0_1177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Slide pivot : on REPART du schema du POC P11 (memes deux voies BATCH + RUNTIME) et on montre ce qui evolue. En navy, le socle herite qui reste : retriever hybride BM25+dense, mistral-small, reponses sourcees. Les fleches '-&gt;' marquent les 3 evolutions d'infra : script-&gt;Kestra, FAISS-&gt;pgvector, Streamlit-&gt;FastAPI. En teal, les 4 besoins P13 se greffent sur le pipeline existant - on n'a rien jete, on a augmente. Tout le bloc repose sur Scaleway (souverain), ce qui fait le lien avec la vue deploiement detaillee.</a:t>
            </a:r>
            <a:endParaRPr/>
          </a:p>
        </p:txBody>
      </p:sp>
      <p:sp>
        <p:nvSpPr>
          <p:cNvPr id="448" name="Google Shape;448;g3f002fc51f7_0_1177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3" name="Shape 4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4" name="Google Shape;454;g3f002fc51f7_0_1688:notes"/>
          <p:cNvSpPr/>
          <p:nvPr>
            <p:ph idx="2" type="sldImg"/>
          </p:nvPr>
        </p:nvSpPr>
        <p:spPr>
          <a:xfrm>
            <a:off x="-4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55" name="Google Shape;455;g3f002fc51f7_0_1688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Slide pivot : on REPART du schema du POC P11 (memes deux voies BATCH + RUNTIME) et on montre ce qui evolue. En navy, le socle herite qui reste : retriever hybride BM25+dense, mistral-small, reponses sourcees. Les fleches '-&gt;' marquent les 3 evolutions d'infra : script-&gt;Kestra, FAISS-&gt;pgvector, Streamlit-&gt;FastAPI. En teal, les 4 besoins P13 se greffent sur le pipeline existant - on n'a rien jete, on a augmente. Tout le bloc repose sur Scaleway (souverain), ce qui fait le lien avec la vue deploiement detaillee.</a:t>
            </a:r>
            <a:endParaRPr/>
          </a:p>
        </p:txBody>
      </p:sp>
      <p:sp>
        <p:nvSpPr>
          <p:cNvPr id="456" name="Google Shape;456;g3f002fc51f7_0_1688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3" name="Shape 4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4" name="Google Shape;464;g3f002fc51f7_0_1676:notes"/>
          <p:cNvSpPr/>
          <p:nvPr>
            <p:ph idx="2" type="sldImg"/>
          </p:nvPr>
        </p:nvSpPr>
        <p:spPr>
          <a:xfrm>
            <a:off x="-4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65" name="Google Shape;465;g3f002fc51f7_0_1676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Slide pivot : on REPART du schema du POC P11 (memes deux voies BATCH + RUNTIME) et on montre ce qui evolue. En navy, le socle herite qui reste : retriever hybride BM25+dense, mistral-small, reponses sourcees. Les fleches '-&gt;' marquent les 3 evolutions d'infra : script-&gt;Kestra, FAISS-&gt;pgvector, Streamlit-&gt;FastAPI. En teal, les 4 besoins P13 se greffent sur le pipeline existant - on n'a rien jete, on a augmente. Tout le bloc repose sur Scaleway (souverain), ce qui fait le lien avec la vue deploiement detaillee.</a:t>
            </a:r>
            <a:endParaRPr/>
          </a:p>
        </p:txBody>
      </p:sp>
      <p:sp>
        <p:nvSpPr>
          <p:cNvPr id="466" name="Google Shape;466;g3f002fc51f7_0_1676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6" name="Shape 4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7" name="Google Shape;477;g3f002fc51f7_0_1662:notes"/>
          <p:cNvSpPr/>
          <p:nvPr>
            <p:ph idx="2" type="sldImg"/>
          </p:nvPr>
        </p:nvSpPr>
        <p:spPr>
          <a:xfrm>
            <a:off x="-4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78" name="Google Shape;478;g3f002fc51f7_0_166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Slide pivot : on REPART du schema du POC P11 (memes deux voies BATCH + RUNTIME) et on montre ce qui evolue. En navy, le socle herite qui reste : retriever hybride BM25+dense, mistral-small, reponses sourcees. Les fleches '-&gt;' marquent les 3 evolutions d'infra : script-&gt;Kestra, FAISS-&gt;pgvector, Streamlit-&gt;FastAPI. En teal, les 4 besoins P13 se greffent sur le pipeline existant - on n'a rien jete, on a augmente. Tout le bloc repose sur Scaleway (souverain), ce qui fait le lien avec la vue deploiement detaillee.</a:t>
            </a:r>
            <a:endParaRPr/>
          </a:p>
        </p:txBody>
      </p:sp>
      <p:sp>
        <p:nvSpPr>
          <p:cNvPr id="479" name="Google Shape;479;g3f002fc51f7_0_1662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1" name="Shape 4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2" name="Google Shape;492;g3f002fc51f7_0_1646:notes"/>
          <p:cNvSpPr/>
          <p:nvPr>
            <p:ph idx="2" type="sldImg"/>
          </p:nvPr>
        </p:nvSpPr>
        <p:spPr>
          <a:xfrm>
            <a:off x="-4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93" name="Google Shape;493;g3f002fc51f7_0_1646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Slide pivot : on REPART du schema du POC P11 (memes deux voies BATCH + RUNTIME) et on montre ce qui evolue. En navy, le socle herite qui reste : retriever hybride BM25+dense, mistral-small, reponses sourcees. Les fleches '-&gt;' marquent les 3 evolutions d'infra : script-&gt;Kestra, FAISS-&gt;pgvector, Streamlit-&gt;FastAPI. En teal, les 4 besoins P13 se greffent sur le pipeline existant - on n'a rien jete, on a augmente. Tout le bloc repose sur Scaleway (souverain), ce qui fait le lien avec la vue deploiement detaillee.</a:t>
            </a:r>
            <a:endParaRPr/>
          </a:p>
        </p:txBody>
      </p:sp>
      <p:sp>
        <p:nvSpPr>
          <p:cNvPr id="494" name="Google Shape;494;g3f002fc51f7_0_1646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8" name="Shape 5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9" name="Google Shape;509;g3f002fc51f7_0_1628:notes"/>
          <p:cNvSpPr/>
          <p:nvPr>
            <p:ph idx="2" type="sldImg"/>
          </p:nvPr>
        </p:nvSpPr>
        <p:spPr>
          <a:xfrm>
            <a:off x="-4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10" name="Google Shape;510;g3f002fc51f7_0_1628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Slide pivot : on REPART du schema du POC P11 (memes deux voies BATCH + RUNTIME) et on montre ce qui evolue. En navy, le socle herite qui reste : retriever hybride BM25+dense, mistral-small, reponses sourcees. Les fleches '-&gt;' marquent les 3 evolutions d'infra : script-&gt;Kestra, FAISS-&gt;pgvector, Streamlit-&gt;FastAPI. En teal, les 4 besoins P13 se greffent sur le pipeline existant - on n'a rien jete, on a augmente. Tout le bloc repose sur Scaleway (souverain), ce qui fait le lien avec la vue deploiement detaillee.</a:t>
            </a:r>
            <a:endParaRPr/>
          </a:p>
        </p:txBody>
      </p:sp>
      <p:sp>
        <p:nvSpPr>
          <p:cNvPr id="511" name="Google Shape;511;g3f002fc51f7_0_1628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7" name="Shape 5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8" name="Google Shape;528;g3f002fc51f7_0_1609:notes"/>
          <p:cNvSpPr/>
          <p:nvPr>
            <p:ph idx="2" type="sldImg"/>
          </p:nvPr>
        </p:nvSpPr>
        <p:spPr>
          <a:xfrm>
            <a:off x="-4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29" name="Google Shape;529;g3f002fc51f7_0_1609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Slide pivot : on REPART du schema du POC P11 (memes deux voies BATCH + RUNTIME) et on montre ce qui evolue. En navy, le socle herite qui reste : retriever hybride BM25+dense, mistral-small, reponses sourcees. Les fleches '-&gt;' marquent les 3 evolutions d'infra : script-&gt;Kestra, FAISS-&gt;pgvector, Streamlit-&gt;FastAPI. En teal, les 4 besoins P13 se greffent sur le pipeline existant - on n'a rien jete, on a augmente. Tout le bloc repose sur Scaleway (souverain), ce qui fait le lien avec la vue deploiement detaillee.</a:t>
            </a:r>
            <a:endParaRPr/>
          </a:p>
        </p:txBody>
      </p:sp>
      <p:sp>
        <p:nvSpPr>
          <p:cNvPr id="530" name="Google Shape;530;g3f002fc51f7_0_1609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7" name="Shape 5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8" name="Google Shape;548;g3f002fc51f7_0_1585:notes"/>
          <p:cNvSpPr/>
          <p:nvPr>
            <p:ph idx="2" type="sldImg"/>
          </p:nvPr>
        </p:nvSpPr>
        <p:spPr>
          <a:xfrm>
            <a:off x="-4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49" name="Google Shape;549;g3f002fc51f7_0_1585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Slide pivot : on REPART du schema du POC P11 (memes deux voies BATCH + RUNTIME) et on montre ce qui evolue. En navy, le socle herite qui reste : retriever hybride BM25+dense, mistral-small, reponses sourcees. Les fleches '-&gt;' marquent les 3 evolutions d'infra : script-&gt;Kestra, FAISS-&gt;pgvector, Streamlit-&gt;FastAPI. En teal, les 4 besoins P13 se greffent sur le pipeline existant - on n'a rien jete, on a augmente. Tout le bloc repose sur Scaleway (souverain), ce qui fait le lien avec la vue deploiement detaillee.</a:t>
            </a:r>
            <a:endParaRPr/>
          </a:p>
        </p:txBody>
      </p:sp>
      <p:sp>
        <p:nvSpPr>
          <p:cNvPr id="550" name="Google Shape;550;g3f002fc51f7_0_1585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9" name="Shape 5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0" name="Google Shape;570;g3f002fc51f7_0_1560:notes"/>
          <p:cNvSpPr/>
          <p:nvPr>
            <p:ph idx="2" type="sldImg"/>
          </p:nvPr>
        </p:nvSpPr>
        <p:spPr>
          <a:xfrm>
            <a:off x="-4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71" name="Google Shape;571;g3f002fc51f7_0_1560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Slide pivot : on REPART du schema du POC P11 (memes deux voies BATCH + RUNTIME) et on montre ce qui evolue. En navy, le socle herite qui reste : retriever hybride BM25+dense, mistral-small, reponses sourcees. Les fleches '-&gt;' marquent les 3 evolutions d'infra : script-&gt;Kestra, FAISS-&gt;pgvector, Streamlit-&gt;FastAPI. En teal, les 4 besoins P13 se greffent sur le pipeline existant - on n'a rien jete, on a augmente. Tout le bloc repose sur Scaleway (souverain), ce qui fait le lien avec la vue deploiement detaillee.</a:t>
            </a:r>
            <a:endParaRPr/>
          </a:p>
        </p:txBody>
      </p:sp>
      <p:sp>
        <p:nvSpPr>
          <p:cNvPr id="572" name="Google Shape;572;g3f002fc51f7_0_1560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5" name="Shape 5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6" name="Google Shape;596;g3f002fc51f7_0_1533:notes"/>
          <p:cNvSpPr/>
          <p:nvPr>
            <p:ph idx="2" type="sldImg"/>
          </p:nvPr>
        </p:nvSpPr>
        <p:spPr>
          <a:xfrm>
            <a:off x="-4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97" name="Google Shape;597;g3f002fc51f7_0_1533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Slide pivot : on REPART du schema du POC P11 (memes deux voies BATCH + RUNTIME) et on montre ce qui evolue. En navy, le socle herite qui reste : retriever hybride BM25+dense, mistral-small, reponses sourcees. Les fleches '-&gt;' marquent les 3 evolutions d'infra : script-&gt;Kestra, FAISS-&gt;pgvector, Streamlit-&gt;FastAPI. En teal, les 4 besoins P13 se greffent sur le pipeline existant - on n'a rien jete, on a augmente. Tout le bloc repose sur Scaleway (souverain), ce qui fait le lien avec la vue deploiement detaillee.</a:t>
            </a:r>
            <a:endParaRPr/>
          </a:p>
        </p:txBody>
      </p:sp>
      <p:sp>
        <p:nvSpPr>
          <p:cNvPr id="598" name="Google Shape;598;g3f002fc51f7_0_1533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3" name="Shape 6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" name="Google Shape;624;g3f002fc51f7_0_1504:notes"/>
          <p:cNvSpPr/>
          <p:nvPr>
            <p:ph idx="2" type="sldImg"/>
          </p:nvPr>
        </p:nvSpPr>
        <p:spPr>
          <a:xfrm>
            <a:off x="-4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25" name="Google Shape;625;g3f002fc51f7_0_1504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Slide pivot : on REPART du schema du POC P11 (memes deux voies BATCH + RUNTIME) et on montre ce qui evolue. En navy, le socle herite qui reste : retriever hybride BM25+dense, mistral-small, reponses sourcees. Les fleches '-&gt;' marquent les 3 evolutions d'infra : script-&gt;Kestra, FAISS-&gt;pgvector, Streamlit-&gt;FastAPI. En teal, les 4 besoins P13 se greffent sur le pipeline existant - on n'a rien jete, on a augmente. Tout le bloc repose sur Scaleway (souverain), ce qui fait le lien avec la vue deploiement detaillee.</a:t>
            </a:r>
            <a:endParaRPr/>
          </a:p>
        </p:txBody>
      </p:sp>
      <p:sp>
        <p:nvSpPr>
          <p:cNvPr id="626" name="Google Shape;626;g3f002fc51f7_0_1504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3" name="Shape 6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4" name="Google Shape;654;g3f002fc51f7_0_1438:notes"/>
          <p:cNvSpPr/>
          <p:nvPr>
            <p:ph idx="2" type="sldImg"/>
          </p:nvPr>
        </p:nvSpPr>
        <p:spPr>
          <a:xfrm>
            <a:off x="-4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55" name="Google Shape;655;g3f002fc51f7_0_1438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Slide pivot : on REPART du schema du POC P11 (memes deux voies BATCH + RUNTIME) et on montre ce qui evolue. En navy, le socle herite qui reste : retriever hybride BM25+dense, mistral-small, reponses sourcees. Les fleches '-&gt;' marquent les 3 evolutions d'infra : script-&gt;Kestra, FAISS-&gt;pgvector, Streamlit-&gt;FastAPI. En teal, les 4 besoins P13 se greffent sur le pipeline existant - on n'a rien jete, on a augmente. Tout le bloc repose sur Scaleway (souverain), ce qui fait le lien avec la vue deploiement detaillee.</a:t>
            </a:r>
            <a:endParaRPr/>
          </a:p>
        </p:txBody>
      </p:sp>
      <p:sp>
        <p:nvSpPr>
          <p:cNvPr id="656" name="Google Shape;656;g3f002fc51f7_0_1438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6" name="Shape 6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7" name="Google Shape;687;g3f002fc51f7_0_1471:notes"/>
          <p:cNvSpPr/>
          <p:nvPr>
            <p:ph idx="2" type="sldImg"/>
          </p:nvPr>
        </p:nvSpPr>
        <p:spPr>
          <a:xfrm>
            <a:off x="-4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88" name="Google Shape;688;g3f002fc51f7_0_147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Slide pivot : on REPART du schema du POC P11 (memes deux voies BATCH + RUNTIME) et on montre ce qui evolue. En navy, le socle herite qui reste : retriever hybride BM25+dense, mistral-small, reponses sourcees. Les fleches '-&gt;' marquent les 3 evolutions d'infra : script-&gt;Kestra, FAISS-&gt;pgvector, Streamlit-&gt;FastAPI. En teal, les 4 besoins P13 se greffent sur le pipeline existant - on n'a rien jete, on a augmente. Tout le bloc repose sur Scaleway (souverain), ce qui fait le lien avec la vue deploiement detaillee.</a:t>
            </a:r>
            <a:endParaRPr/>
          </a:p>
        </p:txBody>
      </p:sp>
      <p:sp>
        <p:nvSpPr>
          <p:cNvPr id="689" name="Google Shape;689;g3f002fc51f7_0_147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0" name="Shape 7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1" name="Google Shape;721;g3f002fc51f7_0_1406:notes"/>
          <p:cNvSpPr/>
          <p:nvPr>
            <p:ph idx="2" type="sldImg"/>
          </p:nvPr>
        </p:nvSpPr>
        <p:spPr>
          <a:xfrm>
            <a:off x="-4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722" name="Google Shape;722;g3f002fc51f7_0_1406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Slide pivot : on REPART du schema du POC P11 (memes deux voies BATCH + RUNTIME) et on montre ce qui evolue. En navy, le socle herite qui reste : retriever hybride BM25+dense, mistral-small, reponses sourcees. Les fleches '-&gt;' marquent les 3 evolutions d'infra : script-&gt;Kestra, FAISS-&gt;pgvector, Streamlit-&gt;FastAPI. En teal, les 4 besoins P13 se greffent sur le pipeline existant - on n'a rien jete, on a augmente. Tout le bloc repose sur Scaleway (souverain), ce qui fait le lien avec la vue deploiement detaillee.</a:t>
            </a:r>
            <a:endParaRPr/>
          </a:p>
        </p:txBody>
      </p:sp>
      <p:sp>
        <p:nvSpPr>
          <p:cNvPr id="723" name="Google Shape;723;g3f002fc51f7_0_1406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3" name="Shape 7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4" name="Google Shape;754;g3efdcc5c3ec_0_923:notes"/>
          <p:cNvSpPr/>
          <p:nvPr>
            <p:ph idx="2" type="sldImg"/>
          </p:nvPr>
        </p:nvSpPr>
        <p:spPr>
          <a:xfrm>
            <a:off x="-4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755" name="Google Shape;755;g3efdcc5c3ec_0_923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Slide pivot : on REPART du schema du POC P11 (memes deux voies BATCH + RUNTIME) et on montre ce qui evolue. En navy, le socle herite qui reste : retriever hybride BM25+dense, mistral-small, reponses sourcees. Les fleches '-&gt;' marquent les 3 evolutions d'infra : script-&gt;Kestra, FAISS-&gt;pgvector, Streamlit-&gt;FastAPI. En teal, les 4 besoins P13 se greffent sur le pipeline existant - on n'a rien jete, on a augmente. Tout le bloc repose sur Scaleway (souverain), ce qui fait le lien avec la vue deploiement detaillee.</a:t>
            </a:r>
            <a:endParaRPr/>
          </a:p>
        </p:txBody>
      </p:sp>
      <p:sp>
        <p:nvSpPr>
          <p:cNvPr id="756" name="Google Shape;756;g3efdcc5c3ec_0_923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0" name="Shape 7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1" name="Google Shape;791;g3f002fc51f7_0_1140:notes"/>
          <p:cNvSpPr/>
          <p:nvPr>
            <p:ph idx="2" type="sldImg"/>
          </p:nvPr>
        </p:nvSpPr>
        <p:spPr>
          <a:xfrm>
            <a:off x="-4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792" name="Google Shape;792;g3f002fc51f7_0_1140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Slide pivot : on REPART du schema du POC P11 (memes deux voies BATCH + RUNTIME) et on montre ce qui evolue. En navy, le socle herite qui reste : retriever hybride BM25+dense, mistral-small, reponses sourcees. Les fleches '-&gt;' marquent les 3 evolutions d'infra : script-&gt;Kestra, FAISS-&gt;pgvector, Streamlit-&gt;FastAPI. En teal, les 4 besoins P13 se greffent sur le pipeline existant - on n'a rien jete, on a augmente. Tout le bloc repose sur Scaleway (souverain), ce qui fait le lien avec la vue deploiement detaillee.</a:t>
            </a:r>
            <a:endParaRPr/>
          </a:p>
        </p:txBody>
      </p:sp>
      <p:sp>
        <p:nvSpPr>
          <p:cNvPr id="793" name="Google Shape;793;g3f002fc51f7_0_1140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8" name="Shape 8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" name="Google Shape;829;g3f002fc51f7_0_1095:notes"/>
          <p:cNvSpPr/>
          <p:nvPr>
            <p:ph idx="2" type="sldImg"/>
          </p:nvPr>
        </p:nvSpPr>
        <p:spPr>
          <a:xfrm>
            <a:off x="-4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830" name="Google Shape;830;g3f002fc51f7_0_1095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Slide pivot : on REPART du schema du POC P11 (memes deux voies BATCH + RUNTIME) et on montre ce qui evolue. En navy, le socle herite qui reste : retriever hybride BM25+dense, mistral-small, reponses sourcees. Les fleches '-&gt;' marquent les 3 evolutions d'infra : script-&gt;Kestra, FAISS-&gt;pgvector, Streamlit-&gt;FastAPI. En teal, les 4 besoins P13 se greffent sur le pipeline existant - on n'a rien jete, on a augmente. Tout le bloc repose sur Scaleway (souverain), ce qui fait le lien avec la vue deploiement detaillee.</a:t>
            </a:r>
            <a:endParaRPr/>
          </a:p>
        </p:txBody>
      </p:sp>
      <p:sp>
        <p:nvSpPr>
          <p:cNvPr id="831" name="Google Shape;831;g3f002fc51f7_0_1095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4" name="Shape 8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5" name="Google Shape;875;g3f002fc51f7_0_1049:notes"/>
          <p:cNvSpPr/>
          <p:nvPr>
            <p:ph idx="2" type="sldImg"/>
          </p:nvPr>
        </p:nvSpPr>
        <p:spPr>
          <a:xfrm>
            <a:off x="-4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876" name="Google Shape;876;g3f002fc51f7_0_1049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Slide pivot : on REPART du schema du POC P11 (memes deux voies BATCH + RUNTIME) et on montre ce qui evolue. En navy, le socle herite qui reste : retriever hybride BM25+dense, mistral-small, reponses sourcees. Les fleches '-&gt;' marquent les 3 evolutions d'infra : script-&gt;Kestra, FAISS-&gt;pgvector, Streamlit-&gt;FastAPI. En teal, les 4 besoins P13 se greffent sur le pipeline existant - on n'a rien jete, on a augmente. Tout le bloc repose sur Scaleway (souverain), ce qui fait le lien avec la vue deploiement detaillee.</a:t>
            </a:r>
            <a:endParaRPr/>
          </a:p>
        </p:txBody>
      </p:sp>
      <p:sp>
        <p:nvSpPr>
          <p:cNvPr id="877" name="Google Shape;877;g3f002fc51f7_0_1049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1" name="Shape 9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2" name="Google Shape;922;g3f002fc51f7_0_999:notes"/>
          <p:cNvSpPr/>
          <p:nvPr>
            <p:ph idx="2" type="sldImg"/>
          </p:nvPr>
        </p:nvSpPr>
        <p:spPr>
          <a:xfrm>
            <a:off x="-4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23" name="Google Shape;923;g3f002fc51f7_0_999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Slide pivot : on REPART du schema du POC P11 (memes deux voies BATCH + RUNTIME) et on montre ce qui evolue. En navy, le socle herite qui reste : retriever hybride BM25+dense, mistral-small, reponses sourcees. Les fleches '-&gt;' marquent les 3 evolutions d'infra : script-&gt;Kestra, FAISS-&gt;pgvector, Streamlit-&gt;FastAPI. En teal, les 4 besoins P13 se greffent sur le pipeline existant - on n'a rien jete, on a augmente. Tout le bloc repose sur Scaleway (souverain), ce qui fait le lien avec la vue deploiement detaillee.</a:t>
            </a:r>
            <a:endParaRPr/>
          </a:p>
        </p:txBody>
      </p:sp>
      <p:sp>
        <p:nvSpPr>
          <p:cNvPr id="924" name="Google Shape;924;g3f002fc51f7_0_999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2" name="Shape 9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3" name="Google Shape;973;g3f002fc51f7_0_887:notes"/>
          <p:cNvSpPr/>
          <p:nvPr>
            <p:ph idx="2" type="sldImg"/>
          </p:nvPr>
        </p:nvSpPr>
        <p:spPr>
          <a:xfrm>
            <a:off x="-4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74" name="Google Shape;974;g3f002fc51f7_0_887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Slide pivot : on REPART du schema du POC P11 (memes deux voies BATCH + RUNTIME) et on montre ce qui evolue. En navy, le socle herite qui reste : retriever hybride BM25+dense, mistral-small, reponses sourcees. Les fleches '-&gt;' marquent les 3 evolutions d'infra : script-&gt;Kestra, FAISS-&gt;pgvector, Streamlit-&gt;FastAPI. En teal, les 4 besoins P13 se greffent sur le pipeline existant - on n'a rien jete, on a augmente. Tout le bloc repose sur Scaleway (souverain), ce qui fait le lien avec la vue deploiement detaillee.</a:t>
            </a:r>
            <a:endParaRPr/>
          </a:p>
        </p:txBody>
      </p:sp>
      <p:sp>
        <p:nvSpPr>
          <p:cNvPr id="975" name="Google Shape;975;g3f002fc51f7_0_887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3" name="Shape 10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" name="Google Shape;1024;g3f002fc51f7_0_829:notes"/>
          <p:cNvSpPr/>
          <p:nvPr>
            <p:ph idx="2" type="sldImg"/>
          </p:nvPr>
        </p:nvSpPr>
        <p:spPr>
          <a:xfrm>
            <a:off x="-4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025" name="Google Shape;1025;g3f002fc51f7_0_829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Slide pivot : on REPART du schema du POC P11 (memes deux voies BATCH + RUNTIME) et on montre ce qui evolue. En navy, le socle herite qui reste : retriever hybride BM25+dense, mistral-small, reponses sourcees. Les fleches '-&gt;' marquent les 3 evolutions d'infra : script-&gt;Kestra, FAISS-&gt;pgvector, Streamlit-&gt;FastAPI. En teal, les 4 besoins P13 se greffent sur le pipeline existant - on n'a rien jete, on a augmente. Tout le bloc repose sur Scaleway (souverain), ce qui fait le lien avec la vue deploiement detaillee.</a:t>
            </a:r>
            <a:endParaRPr/>
          </a:p>
        </p:txBody>
      </p:sp>
      <p:sp>
        <p:nvSpPr>
          <p:cNvPr id="1026" name="Google Shape;1026;g3f002fc51f7_0_829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8" name="Shape 10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9" name="Google Shape;1079;g3f002fc51f7_0_942:notes"/>
          <p:cNvSpPr/>
          <p:nvPr>
            <p:ph idx="2" type="sldImg"/>
          </p:nvPr>
        </p:nvSpPr>
        <p:spPr>
          <a:xfrm>
            <a:off x="-4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080" name="Google Shape;1080;g3f002fc51f7_0_94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Slide pivot : on REPART du schema du POC P11 (memes deux voies BATCH + RUNTIME) et on montre ce qui evolue. En navy, le socle herite qui reste : retriever hybride BM25+dense, mistral-small, reponses sourcees. Les fleches '-&gt;' marquent les 3 evolutions d'infra : script-&gt;Kestra, FAISS-&gt;pgvector, Streamlit-&gt;FastAPI. En teal, les 4 besoins P13 se greffent sur le pipeline existant - on n'a rien jete, on a augmente. Tout le bloc repose sur Scaleway (souverain), ce qui fait le lien avec la vue deploiement detaillee.</a:t>
            </a:r>
            <a:endParaRPr/>
          </a:p>
        </p:txBody>
      </p:sp>
      <p:sp>
        <p:nvSpPr>
          <p:cNvPr id="1081" name="Google Shape;1081;g3f002fc51f7_0_942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6" name="Shape 1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7" name="Google Shape;1137;g3efdcc5c3ec_0_984:notes"/>
          <p:cNvSpPr/>
          <p:nvPr>
            <p:ph idx="2" type="sldImg"/>
          </p:nvPr>
        </p:nvSpPr>
        <p:spPr>
          <a:xfrm>
            <a:off x="-4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138" name="Google Shape;1138;g3efdcc5c3ec_0_984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Message cle : le POC valide la mecanique RAG mais reste une demo stateless. Les 4 limites de droite ne sont pas des bugs, ce sont les 4 defis du cahier des charges P13. Transition : voyons ces besoins en detail.</a:t>
            </a:r>
            <a:endParaRPr/>
          </a:p>
        </p:txBody>
      </p:sp>
      <p:sp>
        <p:nvSpPr>
          <p:cNvPr id="1139" name="Google Shape;1139;g3efdcc5c3ec_0_984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4" name="Shape 1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5" name="Google Shape;1145;g3f002fc51f7_0_1729:notes"/>
          <p:cNvSpPr/>
          <p:nvPr>
            <p:ph idx="2" type="sldImg"/>
          </p:nvPr>
        </p:nvSpPr>
        <p:spPr>
          <a:xfrm>
            <a:off x="-4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146" name="Google Shape;1146;g3f002fc51f7_0_1729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Message cle : le POC valide la mecanique RAG mais reste une demo stateless. Les 4 limites de droite ne sont pas des bugs, ce sont les 4 defis du cahier des charges P13. Transition : voyons ces besoins en detail.</a:t>
            </a:r>
            <a:endParaRPr/>
          </a:p>
        </p:txBody>
      </p:sp>
      <p:sp>
        <p:nvSpPr>
          <p:cNvPr id="1147" name="Google Shape;1147;g3f002fc51f7_0_1729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3" name="Shape 1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4" name="Google Shape;1154;g3f002fc51f7_0_1720:notes"/>
          <p:cNvSpPr/>
          <p:nvPr>
            <p:ph idx="2" type="sldImg"/>
          </p:nvPr>
        </p:nvSpPr>
        <p:spPr>
          <a:xfrm>
            <a:off x="-4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155" name="Google Shape;1155;g3f002fc51f7_0_1720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Message cle : le POC valide la mecanique RAG mais reste une demo stateless. Les 4 limites de droite ne sont pas des bugs, ce sont les 4 defis du cahier des charges P13. Transition : voyons ces besoins en detail.</a:t>
            </a:r>
            <a:endParaRPr/>
          </a:p>
        </p:txBody>
      </p:sp>
      <p:sp>
        <p:nvSpPr>
          <p:cNvPr id="1156" name="Google Shape;1156;g3f002fc51f7_0_1720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3" name="Shape 1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4" name="Google Shape;1164;g3f002fc51f7_0_1710:notes"/>
          <p:cNvSpPr/>
          <p:nvPr>
            <p:ph idx="2" type="sldImg"/>
          </p:nvPr>
        </p:nvSpPr>
        <p:spPr>
          <a:xfrm>
            <a:off x="-4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165" name="Google Shape;1165;g3f002fc51f7_0_1710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Message cle : le POC valide la mecanique RAG mais reste une demo stateless. Les 4 limites de droite ne sont pas des bugs, ce sont les 4 defis du cahier des charges P13. Transition : voyons ces besoins en detail.</a:t>
            </a:r>
            <a:endParaRPr/>
          </a:p>
        </p:txBody>
      </p:sp>
      <p:sp>
        <p:nvSpPr>
          <p:cNvPr id="1166" name="Google Shape;1166;g3f002fc51f7_0_1710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4" name="Shape 1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5" name="Google Shape;1175;g3f002fc51f7_0_1699:notes"/>
          <p:cNvSpPr/>
          <p:nvPr>
            <p:ph idx="2" type="sldImg"/>
          </p:nvPr>
        </p:nvSpPr>
        <p:spPr>
          <a:xfrm>
            <a:off x="-4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176" name="Google Shape;1176;g3f002fc51f7_0_1699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Message cle : le POC valide la mecanique RAG mais reste une demo stateless. Les 4 limites de droite ne sont pas des bugs, ce sont les 4 defis du cahier des charges P13. Transition : voyons ces besoins en detail.</a:t>
            </a:r>
            <a:endParaRPr/>
          </a:p>
        </p:txBody>
      </p:sp>
      <p:sp>
        <p:nvSpPr>
          <p:cNvPr id="1177" name="Google Shape;1177;g3f002fc51f7_0_1699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6" name="Shape 1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7" name="Google Shape;1187;g3f002fc51f7_0_2070:notes"/>
          <p:cNvSpPr/>
          <p:nvPr>
            <p:ph idx="2" type="sldImg"/>
          </p:nvPr>
        </p:nvSpPr>
        <p:spPr>
          <a:xfrm>
            <a:off x="-4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188" name="Google Shape;1188;g3f002fc51f7_0_2070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Message cle : le POC valide la mecanique RAG mais reste une demo stateless. Les 4 limites de droite ne sont pas des bugs, ce sont les 4 defis du cahier des charges P13. Transition : voyons ces besoins en detail.</a:t>
            </a:r>
            <a:endParaRPr/>
          </a:p>
        </p:txBody>
      </p:sp>
      <p:sp>
        <p:nvSpPr>
          <p:cNvPr id="1189" name="Google Shape;1189;g3f002fc51f7_0_2070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4" name="Shape 1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5" name="Google Shape;1195;g3f002fc51f7_0_3029:notes"/>
          <p:cNvSpPr/>
          <p:nvPr>
            <p:ph idx="2" type="sldImg"/>
          </p:nvPr>
        </p:nvSpPr>
        <p:spPr>
          <a:xfrm>
            <a:off x="-4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196" name="Google Shape;1196;g3f002fc51f7_0_3029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Message cle : le POC valide la mecanique RAG mais reste une demo stateless. Les 4 limites de droite ne sont pas des bugs, ce sont les 4 defis du cahier des charges P13. Transition : voyons ces besoins en detail.</a:t>
            </a:r>
            <a:endParaRPr/>
          </a:p>
        </p:txBody>
      </p:sp>
      <p:sp>
        <p:nvSpPr>
          <p:cNvPr id="1197" name="Google Shape;1197;g3f002fc51f7_0_3029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0" name="Shape 1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1" name="Google Shape;1211;g3f002fc51f7_0_3013:notes"/>
          <p:cNvSpPr/>
          <p:nvPr>
            <p:ph idx="2" type="sldImg"/>
          </p:nvPr>
        </p:nvSpPr>
        <p:spPr>
          <a:xfrm>
            <a:off x="-4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212" name="Google Shape;1212;g3f002fc51f7_0_3013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Message cle : le POC valide la mecanique RAG mais reste une demo stateless. Les 4 limites de droite ne sont pas des bugs, ce sont les 4 defis du cahier des charges P13. Transition : voyons ces besoins en detail.</a:t>
            </a:r>
            <a:endParaRPr/>
          </a:p>
        </p:txBody>
      </p:sp>
      <p:sp>
        <p:nvSpPr>
          <p:cNvPr id="1213" name="Google Shape;1213;g3f002fc51f7_0_3013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7" name="Shape 1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8" name="Google Shape;1228;g3f002fc51f7_0_2994:notes"/>
          <p:cNvSpPr/>
          <p:nvPr>
            <p:ph idx="2" type="sldImg"/>
          </p:nvPr>
        </p:nvSpPr>
        <p:spPr>
          <a:xfrm>
            <a:off x="-4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229" name="Google Shape;1229;g3f002fc51f7_0_2994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Message cle : le POC valide la mecanique RAG mais reste une demo stateless. Les 4 limites de droite ne sont pas des bugs, ce sont les 4 defis du cahier des charges P13. Transition : voyons ces besoins en detail.</a:t>
            </a:r>
            <a:endParaRPr/>
          </a:p>
        </p:txBody>
      </p:sp>
      <p:sp>
        <p:nvSpPr>
          <p:cNvPr id="1230" name="Google Shape;1230;g3f002fc51f7_0_2994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7" name="Shape 1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8" name="Google Shape;1248;g3f002fc51f7_0_2972:notes"/>
          <p:cNvSpPr/>
          <p:nvPr>
            <p:ph idx="2" type="sldImg"/>
          </p:nvPr>
        </p:nvSpPr>
        <p:spPr>
          <a:xfrm>
            <a:off x="-4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249" name="Google Shape;1249;g3f002fc51f7_0_297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Message cle : le POC valide la mecanique RAG mais reste une demo stateless. Les 4 limites de droite ne sont pas des bugs, ce sont les 4 defis du cahier des charges P13. Transition : voyons ces besoins en detail.</a:t>
            </a:r>
            <a:endParaRPr/>
          </a:p>
        </p:txBody>
      </p:sp>
      <p:sp>
        <p:nvSpPr>
          <p:cNvPr id="1250" name="Google Shape;1250;g3f002fc51f7_0_2972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0" name="Shape 1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1" name="Google Shape;1271;g3f002fc51f7_0_2947:notes"/>
          <p:cNvSpPr/>
          <p:nvPr>
            <p:ph idx="2" type="sldImg"/>
          </p:nvPr>
        </p:nvSpPr>
        <p:spPr>
          <a:xfrm>
            <a:off x="-4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272" name="Google Shape;1272;g3f002fc51f7_0_2947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Message cle : le POC valide la mecanique RAG mais reste une demo stateless. Les 4 limites de droite ne sont pas des bugs, ce sont les 4 defis du cahier des charges P13. Transition : voyons ces besoins en detail.</a:t>
            </a:r>
            <a:endParaRPr/>
          </a:p>
        </p:txBody>
      </p:sp>
      <p:sp>
        <p:nvSpPr>
          <p:cNvPr id="1273" name="Google Shape;1273;g3f002fc51f7_0_2947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6" name="Shape 1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7" name="Google Shape;1297;g3f002fc51f7_0_2919:notes"/>
          <p:cNvSpPr/>
          <p:nvPr>
            <p:ph idx="2" type="sldImg"/>
          </p:nvPr>
        </p:nvSpPr>
        <p:spPr>
          <a:xfrm>
            <a:off x="-4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298" name="Google Shape;1298;g3f002fc51f7_0_2919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Message cle : le POC valide la mecanique RAG mais reste une demo stateless. Les 4 limites de droite ne sont pas des bugs, ce sont les 4 defis du cahier des charges P13. Transition : voyons ces besoins en detail.</a:t>
            </a:r>
            <a:endParaRPr/>
          </a:p>
        </p:txBody>
      </p:sp>
      <p:sp>
        <p:nvSpPr>
          <p:cNvPr id="1299" name="Google Shape;1299;g3f002fc51f7_0_2919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5" name="Shape 1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6" name="Google Shape;1326;g3f002fc51f7_0_2890:notes"/>
          <p:cNvSpPr/>
          <p:nvPr>
            <p:ph idx="2" type="sldImg"/>
          </p:nvPr>
        </p:nvSpPr>
        <p:spPr>
          <a:xfrm>
            <a:off x="-4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327" name="Google Shape;1327;g3f002fc51f7_0_2890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Message cle : le POC valide la mecanique RAG mais reste une demo stateless. Les 4 limites de droite ne sont pas des bugs, ce sont les 4 defis du cahier des charges P13. Transition : voyons ces besoins en detail.</a:t>
            </a:r>
            <a:endParaRPr/>
          </a:p>
        </p:txBody>
      </p:sp>
      <p:sp>
        <p:nvSpPr>
          <p:cNvPr id="1328" name="Google Shape;1328;g3f002fc51f7_0_2890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5" name="Shape 1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6" name="Google Shape;1356;g3f002fc51f7_0_2825:notes"/>
          <p:cNvSpPr/>
          <p:nvPr>
            <p:ph idx="2" type="sldImg"/>
          </p:nvPr>
        </p:nvSpPr>
        <p:spPr>
          <a:xfrm>
            <a:off x="-4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357" name="Google Shape;1357;g3f002fc51f7_0_2825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Message cle : le POC valide la mecanique RAG mais reste une demo stateless. Les 4 limites de droite ne sont pas des bugs, ce sont les 4 defis du cahier des charges P13. Transition : voyons ces besoins en detail.</a:t>
            </a:r>
            <a:endParaRPr/>
          </a:p>
        </p:txBody>
      </p:sp>
      <p:sp>
        <p:nvSpPr>
          <p:cNvPr id="1358" name="Google Shape;1358;g3f002fc51f7_0_2825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9" name="Shape 1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0" name="Google Shape;1390;g3f002fc51f7_0_2791:notes"/>
          <p:cNvSpPr/>
          <p:nvPr>
            <p:ph idx="2" type="sldImg"/>
          </p:nvPr>
        </p:nvSpPr>
        <p:spPr>
          <a:xfrm>
            <a:off x="-4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391" name="Google Shape;1391;g3f002fc51f7_0_279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Message cle : le POC valide la mecanique RAG mais reste une demo stateless. Les 4 limites de droite ne sont pas des bugs, ce sont les 4 defis du cahier des charges P13. Transition : voyons ces besoins en detail.</a:t>
            </a:r>
            <a:endParaRPr/>
          </a:p>
        </p:txBody>
      </p:sp>
      <p:sp>
        <p:nvSpPr>
          <p:cNvPr id="1392" name="Google Shape;1392;g3f002fc51f7_0_279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4" name="Shape 14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5" name="Google Shape;1425;g3f002fc51f7_0_2715:notes"/>
          <p:cNvSpPr/>
          <p:nvPr>
            <p:ph idx="2" type="sldImg"/>
          </p:nvPr>
        </p:nvSpPr>
        <p:spPr>
          <a:xfrm>
            <a:off x="-4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426" name="Google Shape;1426;g3f002fc51f7_0_2715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Message cle : le POC valide la mecanique RAG mais reste une demo stateless. Les 4 limites de droite ne sont pas des bugs, ce sont les 4 defis du cahier des charges P13. Transition : voyons ces besoins en detail.</a:t>
            </a:r>
            <a:endParaRPr/>
          </a:p>
        </p:txBody>
      </p:sp>
      <p:sp>
        <p:nvSpPr>
          <p:cNvPr id="1427" name="Google Shape;1427;g3f002fc51f7_0_2715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0" name="Shape 14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1" name="Google Shape;1461;g3f002fc51f7_0_2678:notes"/>
          <p:cNvSpPr/>
          <p:nvPr>
            <p:ph idx="2" type="sldImg"/>
          </p:nvPr>
        </p:nvSpPr>
        <p:spPr>
          <a:xfrm>
            <a:off x="-4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462" name="Google Shape;1462;g3f002fc51f7_0_2678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Message cle : le POC valide la mecanique RAG mais reste une demo stateless. Les 4 limites de droite ne sont pas des bugs, ce sont les 4 defis du cahier des charges P13. Transition : voyons ces besoins en detail.</a:t>
            </a:r>
            <a:endParaRPr/>
          </a:p>
        </p:txBody>
      </p:sp>
      <p:sp>
        <p:nvSpPr>
          <p:cNvPr id="1463" name="Google Shape;1463;g3f002fc51f7_0_2678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8" name="Shape 14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9" name="Google Shape;1499;g3f002fc51f7_0_2638:notes"/>
          <p:cNvSpPr/>
          <p:nvPr>
            <p:ph idx="2" type="sldImg"/>
          </p:nvPr>
        </p:nvSpPr>
        <p:spPr>
          <a:xfrm>
            <a:off x="-4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500" name="Google Shape;1500;g3f002fc51f7_0_2638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Message cle : le POC valide la mecanique RAG mais reste une demo stateless. Les 4 limites de droite ne sont pas des bugs, ce sont les 4 defis du cahier des charges P13. Transition : voyons ces besoins en detail.</a:t>
            </a:r>
            <a:endParaRPr/>
          </a:p>
        </p:txBody>
      </p:sp>
      <p:sp>
        <p:nvSpPr>
          <p:cNvPr id="1501" name="Google Shape;1501;g3f002fc51f7_0_2638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9" name="Shape 15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0" name="Google Shape;1540;g3f002fc51f7_0_2750:notes"/>
          <p:cNvSpPr/>
          <p:nvPr>
            <p:ph idx="2" type="sldImg"/>
          </p:nvPr>
        </p:nvSpPr>
        <p:spPr>
          <a:xfrm>
            <a:off x="-4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541" name="Google Shape;1541;g3f002fc51f7_0_2750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Message cle : le POC valide la mecanique RAG mais reste une demo stateless. Les 4 limites de droite ne sont pas des bugs, ce sont les 4 defis du cahier des charges P13. Transition : voyons ces besoins en detail.</a:t>
            </a:r>
            <a:endParaRPr/>
          </a:p>
        </p:txBody>
      </p:sp>
      <p:sp>
        <p:nvSpPr>
          <p:cNvPr id="1542" name="Google Shape;1542;g3f002fc51f7_0_2750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1" name="Shape 15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2" name="Google Shape;1582;g3f002fc51f7_0_2554:notes"/>
          <p:cNvSpPr/>
          <p:nvPr>
            <p:ph idx="2" type="sldImg"/>
          </p:nvPr>
        </p:nvSpPr>
        <p:spPr>
          <a:xfrm>
            <a:off x="-4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583" name="Google Shape;1583;g3f002fc51f7_0_2554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Message cle : le POC valide la mecanique RAG mais reste une demo stateless. Les 4 limites de droite ne sont pas des bugs, ce sont les 4 defis du cahier des charges P13. Transition : voyons ces besoins en detail.</a:t>
            </a:r>
            <a:endParaRPr/>
          </a:p>
        </p:txBody>
      </p:sp>
      <p:sp>
        <p:nvSpPr>
          <p:cNvPr id="1584" name="Google Shape;1584;g3f002fc51f7_0_2554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5" name="Shape 16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6" name="Google Shape;1626;g3f002fc51f7_0_2510:notes"/>
          <p:cNvSpPr/>
          <p:nvPr>
            <p:ph idx="2" type="sldImg"/>
          </p:nvPr>
        </p:nvSpPr>
        <p:spPr>
          <a:xfrm>
            <a:off x="-4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627" name="Google Shape;1627;g3f002fc51f7_0_2510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Message cle : le POC valide la mecanique RAG mais reste une demo stateless. Les 4 limites de droite ne sont pas des bugs, ce sont les 4 defis du cahier des charges P13. Transition : voyons ces besoins en detail.</a:t>
            </a:r>
            <a:endParaRPr/>
          </a:p>
        </p:txBody>
      </p:sp>
      <p:sp>
        <p:nvSpPr>
          <p:cNvPr id="1628" name="Google Shape;1628;g3f002fc51f7_0_2510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0" name="Shape 16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1" name="Google Shape;1671;g3f002fc51f7_0_2460:notes"/>
          <p:cNvSpPr/>
          <p:nvPr>
            <p:ph idx="2" type="sldImg"/>
          </p:nvPr>
        </p:nvSpPr>
        <p:spPr>
          <a:xfrm>
            <a:off x="-4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672" name="Google Shape;1672;g3f002fc51f7_0_2460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Message cle : le POC valide la mecanique RAG mais reste une demo stateless. Les 4 limites de droite ne sont pas des bugs, ce sont les 4 defis du cahier des charges P13. Transition : voyons ces besoins en detail.</a:t>
            </a:r>
            <a:endParaRPr/>
          </a:p>
        </p:txBody>
      </p:sp>
      <p:sp>
        <p:nvSpPr>
          <p:cNvPr id="1673" name="Google Shape;1673;g3f002fc51f7_0_2460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7" name="Shape 17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8" name="Google Shape;1718;g3f002fc51f7_0_2366:notes"/>
          <p:cNvSpPr/>
          <p:nvPr>
            <p:ph idx="2" type="sldImg"/>
          </p:nvPr>
        </p:nvSpPr>
        <p:spPr>
          <a:xfrm>
            <a:off x="-4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719" name="Google Shape;1719;g3f002fc51f7_0_2366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Message cle : le POC valide la mecanique RAG mais reste une demo stateless. Les 4 limites de droite ne sont pas des bugs, ce sont les 4 defis du cahier des charges P13. Transition : voyons ces besoins en detail.</a:t>
            </a:r>
            <a:endParaRPr/>
          </a:p>
        </p:txBody>
      </p:sp>
      <p:sp>
        <p:nvSpPr>
          <p:cNvPr id="1720" name="Google Shape;1720;g3f002fc51f7_0_2366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5" name="Shape 17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6" name="Google Shape;1766;g3f002fc51f7_0_2317:notes"/>
          <p:cNvSpPr/>
          <p:nvPr>
            <p:ph idx="2" type="sldImg"/>
          </p:nvPr>
        </p:nvSpPr>
        <p:spPr>
          <a:xfrm>
            <a:off x="-4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767" name="Google Shape;1767;g3f002fc51f7_0_2317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Message cle : le POC valide la mecanique RAG mais reste une demo stateless. Les 4 limites de droite ne sont pas des bugs, ce sont les 4 defis du cahier des charges P13. Transition : voyons ces besoins en detail.</a:t>
            </a:r>
            <a:endParaRPr/>
          </a:p>
        </p:txBody>
      </p:sp>
      <p:sp>
        <p:nvSpPr>
          <p:cNvPr id="1768" name="Google Shape;1768;g3f002fc51f7_0_2317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5" name="Shape 18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6" name="Google Shape;1816;g3f002fc51f7_0_2266:notes"/>
          <p:cNvSpPr/>
          <p:nvPr>
            <p:ph idx="2" type="sldImg"/>
          </p:nvPr>
        </p:nvSpPr>
        <p:spPr>
          <a:xfrm>
            <a:off x="-4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817" name="Google Shape;1817;g3f002fc51f7_0_2266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Message cle : le POC valide la mecanique RAG mais reste une demo stateless. Les 4 limites de droite ne sont pas des bugs, ce sont les 4 defis du cahier des charges P13. Transition : voyons ces besoins en detail.</a:t>
            </a:r>
            <a:endParaRPr/>
          </a:p>
        </p:txBody>
      </p:sp>
      <p:sp>
        <p:nvSpPr>
          <p:cNvPr id="1818" name="Google Shape;1818;g3f002fc51f7_0_2266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7" name="Shape 18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8" name="Google Shape;1868;g3f002fc51f7_0_2018:notes"/>
          <p:cNvSpPr/>
          <p:nvPr>
            <p:ph idx="2" type="sldImg"/>
          </p:nvPr>
        </p:nvSpPr>
        <p:spPr>
          <a:xfrm>
            <a:off x="-4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869" name="Google Shape;1869;g3f002fc51f7_0_2018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Message cle : le POC valide la mecanique RAG mais reste une demo stateless. Les 4 limites de droite ne sont pas des bugs, ce sont les 4 defis du cahier des charges P13. Transition : voyons ces besoins en detail.</a:t>
            </a:r>
            <a:endParaRPr/>
          </a:p>
        </p:txBody>
      </p:sp>
      <p:sp>
        <p:nvSpPr>
          <p:cNvPr id="1870" name="Google Shape;1870;g3f002fc51f7_0_2018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20" name="Shape 19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1" name="Google Shape;1921;g3f002fc51f7_0_1964:notes"/>
          <p:cNvSpPr/>
          <p:nvPr>
            <p:ph idx="2" type="sldImg"/>
          </p:nvPr>
        </p:nvSpPr>
        <p:spPr>
          <a:xfrm>
            <a:off x="-4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922" name="Google Shape;1922;g3f002fc51f7_0_1964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Message cle : le POC valide la mecanique RAG mais reste une demo stateless. Les 4 limites de droite ne sont pas des bugs, ce sont les 4 defis du cahier des charges P13. Transition : voyons ces besoins en detail.</a:t>
            </a:r>
            <a:endParaRPr/>
          </a:p>
        </p:txBody>
      </p:sp>
      <p:sp>
        <p:nvSpPr>
          <p:cNvPr id="1923" name="Google Shape;1923;g3f002fc51f7_0_1964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75" name="Shape 19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6" name="Google Shape;1976;g3f002fc51f7_0_1909:notes"/>
          <p:cNvSpPr/>
          <p:nvPr>
            <p:ph idx="2" type="sldImg"/>
          </p:nvPr>
        </p:nvSpPr>
        <p:spPr>
          <a:xfrm>
            <a:off x="-4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977" name="Google Shape;1977;g3f002fc51f7_0_1909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Message cle : le POC valide la mecanique RAG mais reste une demo stateless. Les 4 limites de droite ne sont pas des bugs, ce sont les 4 defis du cahier des charges P13. Transition : voyons ces besoins en detail.</a:t>
            </a:r>
            <a:endParaRPr/>
          </a:p>
        </p:txBody>
      </p:sp>
      <p:sp>
        <p:nvSpPr>
          <p:cNvPr id="1978" name="Google Shape;1978;g3f002fc51f7_0_1909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31" name="Shape 20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2" name="Google Shape;2032;g3f002fc51f7_0_1851:notes"/>
          <p:cNvSpPr/>
          <p:nvPr>
            <p:ph idx="2" type="sldImg"/>
          </p:nvPr>
        </p:nvSpPr>
        <p:spPr>
          <a:xfrm>
            <a:off x="-4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033" name="Google Shape;2033;g3f002fc51f7_0_185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Message cle : le POC valide la mecanique RAG mais reste une demo stateless. Les 4 limites de droite ne sont pas des bugs, ce sont les 4 defis du cahier des charges P13. Transition : voyons ces besoins en detail.</a:t>
            </a:r>
            <a:endParaRPr/>
          </a:p>
        </p:txBody>
      </p:sp>
      <p:sp>
        <p:nvSpPr>
          <p:cNvPr id="2034" name="Google Shape;2034;g3f002fc51f7_0_185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90" name="Shape 20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1" name="Google Shape;2091;g3f002fc51f7_0_17:notes"/>
          <p:cNvSpPr/>
          <p:nvPr>
            <p:ph idx="2" type="sldImg"/>
          </p:nvPr>
        </p:nvSpPr>
        <p:spPr>
          <a:xfrm>
            <a:off x="-4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092" name="Google Shape;2092;g3f002fc51f7_0_17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Message cle : le POC valide la mecanique RAG mais reste une demo stateless. Les 4 limites de droite ne sont pas des bugs, ce sont les 4 defis du cahier des charges P13. Transition : voyons ces besoins en detail.</a:t>
            </a:r>
            <a:endParaRPr/>
          </a:p>
        </p:txBody>
      </p:sp>
      <p:sp>
        <p:nvSpPr>
          <p:cNvPr id="2093" name="Google Shape;2093;g3f002fc51f7_0_17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98" name="Shape 20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9" name="Google Shape;2099;g3f002fc51f7_0_3082:notes"/>
          <p:cNvSpPr/>
          <p:nvPr>
            <p:ph idx="2" type="sldImg"/>
          </p:nvPr>
        </p:nvSpPr>
        <p:spPr>
          <a:xfrm>
            <a:off x="-4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100" name="Google Shape;2100;g3f002fc51f7_0_308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Message cle : le POC valide la mecanique RAG mais reste une demo stateless. Les 4 limites de droite ne sont pas des bugs, ce sont les 4 defis du cahier des charges P13. Transition : voyons ces besoins en detail.</a:t>
            </a:r>
            <a:endParaRPr/>
          </a:p>
        </p:txBody>
      </p:sp>
      <p:sp>
        <p:nvSpPr>
          <p:cNvPr id="2101" name="Google Shape;2101;g3f002fc51f7_0_3082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31" name="Shape 2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2" name="Google Shape;2132;g3f002fc51f7_0_3114:notes"/>
          <p:cNvSpPr/>
          <p:nvPr>
            <p:ph idx="2" type="sldImg"/>
          </p:nvPr>
        </p:nvSpPr>
        <p:spPr>
          <a:xfrm>
            <a:off x="-4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133" name="Google Shape;2133;g3f002fc51f7_0_3114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Message cle : le POC valide la mecanique RAG mais reste une demo stateless. Les 4 limites de droite ne sont pas des bugs, ce sont les 4 defis du cahier des charges P13. Transition : voyons ces besoins en detail.</a:t>
            </a:r>
            <a:endParaRPr/>
          </a:p>
        </p:txBody>
      </p:sp>
      <p:sp>
        <p:nvSpPr>
          <p:cNvPr id="2134" name="Google Shape;2134;g3f002fc51f7_0_3114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65" name="Shape 2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6" name="Google Shape;2166;g3f002fc51f7_0_3147:notes"/>
          <p:cNvSpPr/>
          <p:nvPr>
            <p:ph idx="2" type="sldImg"/>
          </p:nvPr>
        </p:nvSpPr>
        <p:spPr>
          <a:xfrm>
            <a:off x="-4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167" name="Google Shape;2167;g3f002fc51f7_0_3147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Message cle : le POC valide la mecanique RAG mais reste une demo stateless. Les 4 limites de droite ne sont pas des bugs, ce sont les 4 defis du cahier des charges P13. Transition : voyons ces besoins en detail.</a:t>
            </a:r>
            <a:endParaRPr/>
          </a:p>
        </p:txBody>
      </p:sp>
      <p:sp>
        <p:nvSpPr>
          <p:cNvPr id="2168" name="Google Shape;2168;g3f002fc51f7_0_3147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99" name="Shape 2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0" name="Google Shape;2200;g3f002fc51f7_0_3180:notes"/>
          <p:cNvSpPr/>
          <p:nvPr>
            <p:ph idx="2" type="sldImg"/>
          </p:nvPr>
        </p:nvSpPr>
        <p:spPr>
          <a:xfrm>
            <a:off x="-4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201" name="Google Shape;2201;g3f002fc51f7_0_3180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Message cle : le POC valide la mecanique RAG mais reste une demo stateless. Les 4 limites de droite ne sont pas des bugs, ce sont les 4 defis du cahier des charges P13. Transition : voyons ces besoins en detail.</a:t>
            </a:r>
            <a:endParaRPr/>
          </a:p>
        </p:txBody>
      </p:sp>
      <p:sp>
        <p:nvSpPr>
          <p:cNvPr id="2202" name="Google Shape;2202;g3f002fc51f7_0_3180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33" name="Shape 2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4" name="Google Shape;2234;g3f002fc51f7_0_3213:notes"/>
          <p:cNvSpPr/>
          <p:nvPr>
            <p:ph idx="2" type="sldImg"/>
          </p:nvPr>
        </p:nvSpPr>
        <p:spPr>
          <a:xfrm>
            <a:off x="-4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235" name="Google Shape;2235;g3f002fc51f7_0_3213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Message cle : le POC valide la mecanique RAG mais reste une demo stateless. Les 4 limites de droite ne sont pas des bugs, ce sont les 4 defis du cahier des charges P13. Transition : voyons ces besoins en detail.</a:t>
            </a:r>
            <a:endParaRPr/>
          </a:p>
        </p:txBody>
      </p:sp>
      <p:sp>
        <p:nvSpPr>
          <p:cNvPr id="2236" name="Google Shape;2236;g3f002fc51f7_0_3213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67" name="Shape 2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8" name="Google Shape;2268;g3f002fc51f7_0_3050:notes"/>
          <p:cNvSpPr/>
          <p:nvPr>
            <p:ph idx="2" type="sldImg"/>
          </p:nvPr>
        </p:nvSpPr>
        <p:spPr>
          <a:xfrm>
            <a:off x="-4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269" name="Google Shape;2269;g3f002fc51f7_0_3050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Message cle : le POC valide la mecanique RAG mais reste une demo stateless. Les 4 limites de droite ne sont pas des bugs, ce sont les 4 defis du cahier des charges P13. Transition : voyons ces besoins en detail.</a:t>
            </a:r>
            <a:endParaRPr/>
          </a:p>
        </p:txBody>
      </p:sp>
      <p:sp>
        <p:nvSpPr>
          <p:cNvPr id="2270" name="Google Shape;2270;g3f002fc51f7_0_3050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99" name="Shape 2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0" name="Google Shape;2300;g3f002fc51f7_0_52:notes"/>
          <p:cNvSpPr/>
          <p:nvPr>
            <p:ph idx="2" type="sldImg"/>
          </p:nvPr>
        </p:nvSpPr>
        <p:spPr>
          <a:xfrm>
            <a:off x="-4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301" name="Google Shape;2301;g3f002fc51f7_0_5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Message cle : le POC valide la mecanique RAG mais reste une demo stateless. Les 4 limites de droite ne sont pas des bugs, ce sont les 4 defis du cahier des charges P13. Transition : voyons ces besoins en detail.</a:t>
            </a:r>
            <a:endParaRPr/>
          </a:p>
        </p:txBody>
      </p:sp>
      <p:sp>
        <p:nvSpPr>
          <p:cNvPr id="2302" name="Google Shape;2302;g3f002fc51f7_0_52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07" name="Shape 2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8" name="Google Shape;2308;g3f002fc51f7_0_3273:notes"/>
          <p:cNvSpPr/>
          <p:nvPr>
            <p:ph idx="2" type="sldImg"/>
          </p:nvPr>
        </p:nvSpPr>
        <p:spPr>
          <a:xfrm>
            <a:off x="-4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309" name="Google Shape;2309;g3f002fc51f7_0_3273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Message cle : le POC valide la mecanique RAG mais reste une demo stateless. Les 4 limites de droite ne sont pas des bugs, ce sont les 4 defis du cahier des charges P13. Transition : voyons ces besoins en detail.</a:t>
            </a:r>
            <a:endParaRPr/>
          </a:p>
        </p:txBody>
      </p:sp>
      <p:sp>
        <p:nvSpPr>
          <p:cNvPr id="2310" name="Google Shape;2310;g3f002fc51f7_0_3273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34" name="Shape 2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5" name="Google Shape;2335;g3f002fc51f7_0_3299:notes"/>
          <p:cNvSpPr/>
          <p:nvPr>
            <p:ph idx="2" type="sldImg"/>
          </p:nvPr>
        </p:nvSpPr>
        <p:spPr>
          <a:xfrm>
            <a:off x="-4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336" name="Google Shape;2336;g3f002fc51f7_0_3299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Message cle : le POC valide la mecanique RAG mais reste une demo stateless. Les 4 limites de droite ne sont pas des bugs, ce sont les 4 defis du cahier des charges P13. Transition : voyons ces besoins en detail.</a:t>
            </a:r>
            <a:endParaRPr/>
          </a:p>
        </p:txBody>
      </p:sp>
      <p:sp>
        <p:nvSpPr>
          <p:cNvPr id="2337" name="Google Shape;2337;g3f002fc51f7_0_3299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61" name="Shape 2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2" name="Google Shape;2362;g3f002fc51f7_0_3325:notes"/>
          <p:cNvSpPr/>
          <p:nvPr>
            <p:ph idx="2" type="sldImg"/>
          </p:nvPr>
        </p:nvSpPr>
        <p:spPr>
          <a:xfrm>
            <a:off x="-4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363" name="Google Shape;2363;g3f002fc51f7_0_3325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Message cle : le POC valide la mecanique RAG mais reste une demo stateless. Les 4 limites de droite ne sont pas des bugs, ce sont les 4 defis du cahier des charges P13. Transition : voyons ces besoins en detail.</a:t>
            </a:r>
            <a:endParaRPr/>
          </a:p>
        </p:txBody>
      </p:sp>
      <p:sp>
        <p:nvSpPr>
          <p:cNvPr id="2364" name="Google Shape;2364;g3f002fc51f7_0_3325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89" name="Shape 2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0" name="Google Shape;2390;g3f002fc51f7_0_3405:notes"/>
          <p:cNvSpPr/>
          <p:nvPr>
            <p:ph idx="2" type="sldImg"/>
          </p:nvPr>
        </p:nvSpPr>
        <p:spPr>
          <a:xfrm>
            <a:off x="-4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391" name="Google Shape;2391;g3f002fc51f7_0_3405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Message cle : le POC valide la mecanique RAG mais reste une demo stateless. Les 4 limites de droite ne sont pas des bugs, ce sont les 4 defis du cahier des charges P13. Transition : voyons ces besoins en detail.</a:t>
            </a:r>
            <a:endParaRPr/>
          </a:p>
        </p:txBody>
      </p:sp>
      <p:sp>
        <p:nvSpPr>
          <p:cNvPr id="2392" name="Google Shape;2392;g3f002fc51f7_0_3405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23" name="Shape 24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4" name="Google Shape;2424;g3f002fc51f7_0_3352:notes"/>
          <p:cNvSpPr/>
          <p:nvPr>
            <p:ph idx="2" type="sldImg"/>
          </p:nvPr>
        </p:nvSpPr>
        <p:spPr>
          <a:xfrm>
            <a:off x="-4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425" name="Google Shape;2425;g3f002fc51f7_0_335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Message cle : le POC valide la mecanique RAG mais reste une demo stateless. Les 4 limites de droite ne sont pas des bugs, ce sont les 4 defis du cahier des charges P13. Transition : voyons ces besoins en detail.</a:t>
            </a:r>
            <a:endParaRPr/>
          </a:p>
        </p:txBody>
      </p:sp>
      <p:sp>
        <p:nvSpPr>
          <p:cNvPr id="2426" name="Google Shape;2426;g3f002fc51f7_0_3352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50" name="Shape 24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1" name="Google Shape;2451;g3f002fc51f7_0_3379:notes"/>
          <p:cNvSpPr/>
          <p:nvPr>
            <p:ph idx="2" type="sldImg"/>
          </p:nvPr>
        </p:nvSpPr>
        <p:spPr>
          <a:xfrm>
            <a:off x="-4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452" name="Google Shape;2452;g3f002fc51f7_0_3379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Message cle : le POC valide la mecanique RAG mais reste une demo stateless. Les 4 limites de droite ne sont pas des bugs, ce sont les 4 defis du cahier des charges P13. Transition : voyons ces besoins en detail.</a:t>
            </a:r>
            <a:endParaRPr/>
          </a:p>
        </p:txBody>
      </p:sp>
      <p:sp>
        <p:nvSpPr>
          <p:cNvPr id="2453" name="Google Shape;2453;g3f002fc51f7_0_3379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76" name="Shape 24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7" name="Google Shape;2477;g3f002fc51f7_0_3246:notes"/>
          <p:cNvSpPr/>
          <p:nvPr>
            <p:ph idx="2" type="sldImg"/>
          </p:nvPr>
        </p:nvSpPr>
        <p:spPr>
          <a:xfrm>
            <a:off x="-4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478" name="Google Shape;2478;g3f002fc51f7_0_3246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Message cle : le POC valide la mecanique RAG mais reste une demo stateless. Les 4 limites de droite ne sont pas des bugs, ce sont les 4 defis du cahier des charges P13. Transition : voyons ces besoins en detail.</a:t>
            </a:r>
            <a:endParaRPr/>
          </a:p>
        </p:txBody>
      </p:sp>
      <p:sp>
        <p:nvSpPr>
          <p:cNvPr id="2479" name="Google Shape;2479;g3f002fc51f7_0_3246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03" name="Shape 25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4" name="Google Shape;2504;g3f002fc51f7_0_106:notes"/>
          <p:cNvSpPr/>
          <p:nvPr>
            <p:ph idx="2" type="sldImg"/>
          </p:nvPr>
        </p:nvSpPr>
        <p:spPr>
          <a:xfrm>
            <a:off x="-4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505" name="Google Shape;2505;g3f002fc51f7_0_106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Message cle : le POC valide la mecanique RAG mais reste une demo stateless. Les 4 limites de droite ne sont pas des bugs, ce sont les 4 defis du cahier des charges P13. Transition : voyons ces besoins en detail.</a:t>
            </a:r>
            <a:endParaRPr/>
          </a:p>
        </p:txBody>
      </p:sp>
      <p:sp>
        <p:nvSpPr>
          <p:cNvPr id="2506" name="Google Shape;2506;g3f002fc51f7_0_106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11" name="Shape 25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2" name="Google Shape;2512;g3f002fc51f7_0_3623:notes"/>
          <p:cNvSpPr/>
          <p:nvPr>
            <p:ph idx="2" type="sldImg"/>
          </p:nvPr>
        </p:nvSpPr>
        <p:spPr>
          <a:xfrm>
            <a:off x="-4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513" name="Google Shape;2513;g3f002fc51f7_0_3623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Message cle : le POC valide la mecanique RAG mais reste une demo stateless. Les 4 limites de droite ne sont pas des bugs, ce sont les 4 defis du cahier des charges P13. Transition : voyons ces besoins en detail.</a:t>
            </a:r>
            <a:endParaRPr/>
          </a:p>
        </p:txBody>
      </p:sp>
      <p:sp>
        <p:nvSpPr>
          <p:cNvPr id="2514" name="Google Shape;2514;g3f002fc51f7_0_3623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25" name="Shape 25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6" name="Google Shape;2526;g3f002fc51f7_0_3604:notes"/>
          <p:cNvSpPr/>
          <p:nvPr>
            <p:ph idx="2" type="sldImg"/>
          </p:nvPr>
        </p:nvSpPr>
        <p:spPr>
          <a:xfrm>
            <a:off x="-4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527" name="Google Shape;2527;g3f002fc51f7_0_3604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Message cle : le POC valide la mecanique RAG mais reste une demo stateless. Les 4 limites de droite ne sont pas des bugs, ce sont les 4 defis du cahier des charges P13. Transition : voyons ces besoins en detail.</a:t>
            </a:r>
            <a:endParaRPr/>
          </a:p>
        </p:txBody>
      </p:sp>
      <p:sp>
        <p:nvSpPr>
          <p:cNvPr id="2528" name="Google Shape;2528;g3f002fc51f7_0_3604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45" name="Shape 25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6" name="Google Shape;2546;g3f002fc51f7_0_3579:notes"/>
          <p:cNvSpPr/>
          <p:nvPr>
            <p:ph idx="2" type="sldImg"/>
          </p:nvPr>
        </p:nvSpPr>
        <p:spPr>
          <a:xfrm>
            <a:off x="-4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547" name="Google Shape;2547;g3f002fc51f7_0_3579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Message cle : le POC valide la mecanique RAG mais reste une demo stateless. Les 4 limites de droite ne sont pas des bugs, ce sont les 4 defis du cahier des charges P13. Transition : voyons ces besoins en detail.</a:t>
            </a:r>
            <a:endParaRPr/>
          </a:p>
        </p:txBody>
      </p:sp>
      <p:sp>
        <p:nvSpPr>
          <p:cNvPr id="2548" name="Google Shape;2548;g3f002fc51f7_0_3579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71" name="Shape 25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2" name="Google Shape;2572;g3f002fc51f7_0_3548:notes"/>
          <p:cNvSpPr/>
          <p:nvPr>
            <p:ph idx="2" type="sldImg"/>
          </p:nvPr>
        </p:nvSpPr>
        <p:spPr>
          <a:xfrm>
            <a:off x="-4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573" name="Google Shape;2573;g3f002fc51f7_0_3548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Message cle : le POC valide la mecanique RAG mais reste une demo stateless. Les 4 limites de droite ne sont pas des bugs, ce sont les 4 defis du cahier des charges P13. Transition : voyons ces besoins en detail.</a:t>
            </a:r>
            <a:endParaRPr/>
          </a:p>
        </p:txBody>
      </p:sp>
      <p:sp>
        <p:nvSpPr>
          <p:cNvPr id="2574" name="Google Shape;2574;g3f002fc51f7_0_3548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03" name="Shape 26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4" name="Google Shape;2604;g3f002fc51f7_0_3516:notes"/>
          <p:cNvSpPr/>
          <p:nvPr>
            <p:ph idx="2" type="sldImg"/>
          </p:nvPr>
        </p:nvSpPr>
        <p:spPr>
          <a:xfrm>
            <a:off x="-4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605" name="Google Shape;2605;g3f002fc51f7_0_3516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Message cle : le POC valide la mecanique RAG mais reste une demo stateless. Les 4 limites de droite ne sont pas des bugs, ce sont les 4 defis du cahier des charges P13. Transition : voyons ces besoins en detail.</a:t>
            </a:r>
            <a:endParaRPr/>
          </a:p>
        </p:txBody>
      </p:sp>
      <p:sp>
        <p:nvSpPr>
          <p:cNvPr id="2606" name="Google Shape;2606;g3f002fc51f7_0_3516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36" name="Shape 26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7" name="Google Shape;2637;g3f002fc51f7_0_3471:notes"/>
          <p:cNvSpPr/>
          <p:nvPr>
            <p:ph idx="2" type="sldImg"/>
          </p:nvPr>
        </p:nvSpPr>
        <p:spPr>
          <a:xfrm>
            <a:off x="-4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638" name="Google Shape;2638;g3f002fc51f7_0_347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Message cle : le POC valide la mecanique RAG mais reste une demo stateless. Les 4 limites de droite ne sont pas des bugs, ce sont les 4 defis du cahier des charges P13. Transition : voyons ces besoins en detail.</a:t>
            </a:r>
            <a:endParaRPr/>
          </a:p>
        </p:txBody>
      </p:sp>
      <p:sp>
        <p:nvSpPr>
          <p:cNvPr id="2639" name="Google Shape;2639;g3f002fc51f7_0_347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82" name="Shape 26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3" name="Google Shape;2683;g3f002fc51f7_0_3756:notes"/>
          <p:cNvSpPr/>
          <p:nvPr>
            <p:ph idx="2" type="sldImg"/>
          </p:nvPr>
        </p:nvSpPr>
        <p:spPr>
          <a:xfrm>
            <a:off x="-4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684" name="Google Shape;2684;g3f002fc51f7_0_3756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Message cle : le POC valide la mecanique RAG mais reste une demo stateless. Les 4 limites de droite ne sont pas des bugs, ce sont les 4 defis du cahier des charges P13. Transition : voyons ces besoins en detail.</a:t>
            </a:r>
            <a:endParaRPr/>
          </a:p>
        </p:txBody>
      </p:sp>
      <p:sp>
        <p:nvSpPr>
          <p:cNvPr id="2685" name="Google Shape;2685;g3f002fc51f7_0_3756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90" name="Shape 26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1" name="Google Shape;2691;g3f002fc51f7_0_174:notes"/>
          <p:cNvSpPr/>
          <p:nvPr>
            <p:ph idx="2" type="sldImg"/>
          </p:nvPr>
        </p:nvSpPr>
        <p:spPr>
          <a:xfrm>
            <a:off x="-4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692" name="Google Shape;2692;g3f002fc51f7_0_174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Message cle : le POC valide la mecanique RAG mais reste une demo stateless. Les 4 limites de droite ne sont pas des bugs, ce sont les 4 defis du cahier des charges P13. Transition : voyons ces besoins en detail.</a:t>
            </a:r>
            <a:endParaRPr/>
          </a:p>
        </p:txBody>
      </p:sp>
      <p:sp>
        <p:nvSpPr>
          <p:cNvPr id="2693" name="Google Shape;2693;g3f002fc51f7_0_174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99" name="Shape 26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0" name="Google Shape;2700;g3f002fc51f7_0_3744:notes"/>
          <p:cNvSpPr/>
          <p:nvPr>
            <p:ph idx="2" type="sldImg"/>
          </p:nvPr>
        </p:nvSpPr>
        <p:spPr>
          <a:xfrm>
            <a:off x="-4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701" name="Google Shape;2701;g3f002fc51f7_0_3744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Message cle : le POC valide la mecanique RAG mais reste une demo stateless. Les 4 limites de droite ne sont pas des bugs, ce sont les 4 defis du cahier des charges P13. Transition : voyons ces besoins en detail.</a:t>
            </a:r>
            <a:endParaRPr/>
          </a:p>
        </p:txBody>
      </p:sp>
      <p:sp>
        <p:nvSpPr>
          <p:cNvPr id="2702" name="Google Shape;2702;g3f002fc51f7_0_3744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12" name="Shape 27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3" name="Google Shape;2713;g3f002fc51f7_0_3728:notes"/>
          <p:cNvSpPr/>
          <p:nvPr>
            <p:ph idx="2" type="sldImg"/>
          </p:nvPr>
        </p:nvSpPr>
        <p:spPr>
          <a:xfrm>
            <a:off x="-4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714" name="Google Shape;2714;g3f002fc51f7_0_3728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Message cle : le POC valide la mecanique RAG mais reste une demo stateless. Les 4 limites de droite ne sont pas des bugs, ce sont les 4 defis du cahier des charges P13. Transition : voyons ces besoins en detail.</a:t>
            </a:r>
            <a:endParaRPr/>
          </a:p>
        </p:txBody>
      </p:sp>
      <p:sp>
        <p:nvSpPr>
          <p:cNvPr id="2715" name="Google Shape;2715;g3f002fc51f7_0_3728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29" name="Shape 27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0" name="Google Shape;2730;g3f002fc51f7_0_3708:notes"/>
          <p:cNvSpPr/>
          <p:nvPr>
            <p:ph idx="2" type="sldImg"/>
          </p:nvPr>
        </p:nvSpPr>
        <p:spPr>
          <a:xfrm>
            <a:off x="-4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731" name="Google Shape;2731;g3f002fc51f7_0_3708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Message cle : le POC valide la mecanique RAG mais reste une demo stateless. Les 4 limites de droite ne sont pas des bugs, ce sont les 4 defis du cahier des charges P13. Transition : voyons ces besoins en detail.</a:t>
            </a:r>
            <a:endParaRPr/>
          </a:p>
        </p:txBody>
      </p:sp>
      <p:sp>
        <p:nvSpPr>
          <p:cNvPr id="2732" name="Google Shape;2732;g3f002fc51f7_0_3708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50" name="Shape 27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1" name="Google Shape;2751;g3f002fc51f7_0_3684:notes"/>
          <p:cNvSpPr/>
          <p:nvPr>
            <p:ph idx="2" type="sldImg"/>
          </p:nvPr>
        </p:nvSpPr>
        <p:spPr>
          <a:xfrm>
            <a:off x="-4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752" name="Google Shape;2752;g3f002fc51f7_0_3684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Message cle : le POC valide la mecanique RAG mais reste une demo stateless. Les 4 limites de droite ne sont pas des bugs, ce sont les 4 defis du cahier des charges P13. Transition : voyons ces besoins en detail.</a:t>
            </a:r>
            <a:endParaRPr/>
          </a:p>
        </p:txBody>
      </p:sp>
      <p:sp>
        <p:nvSpPr>
          <p:cNvPr id="2753" name="Google Shape;2753;g3f002fc51f7_0_3684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75" name="Shape 27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6" name="Google Shape;2776;g3f002fc51f7_0_3636:notes"/>
          <p:cNvSpPr/>
          <p:nvPr>
            <p:ph idx="2" type="sldImg"/>
          </p:nvPr>
        </p:nvSpPr>
        <p:spPr>
          <a:xfrm>
            <a:off x="-4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777" name="Google Shape;2777;g3f002fc51f7_0_3636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Message cle : le POC valide la mecanique RAG mais reste une demo stateless. Les 4 limites de droite ne sont pas des bugs, ce sont les 4 defis du cahier des charges P13. Transition : voyons ces besoins en detail.</a:t>
            </a:r>
            <a:endParaRPr/>
          </a:p>
        </p:txBody>
      </p:sp>
      <p:sp>
        <p:nvSpPr>
          <p:cNvPr id="2778" name="Google Shape;2778;g3f002fc51f7_0_3636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24" name="Shape 28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5" name="Google Shape;2825;g3f002fc51f7_0_260:notes"/>
          <p:cNvSpPr/>
          <p:nvPr>
            <p:ph idx="2" type="sldImg"/>
          </p:nvPr>
        </p:nvSpPr>
        <p:spPr>
          <a:xfrm>
            <a:off x="-4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826" name="Google Shape;2826;g3f002fc51f7_0_260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Message cle : le POC valide la mecanique RAG mais reste une demo stateless. Les 4 limites de droite ne sont pas des bugs, ce sont les 4 defis du cahier des charges P13. Transition : voyons ces besoins en detail.</a:t>
            </a:r>
            <a:endParaRPr/>
          </a:p>
        </p:txBody>
      </p:sp>
      <p:sp>
        <p:nvSpPr>
          <p:cNvPr id="2827" name="Google Shape;2827;g3f002fc51f7_0_260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32" name="Shape 28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3" name="Google Shape;2833;g3f002fc51f7_0_3864:notes"/>
          <p:cNvSpPr/>
          <p:nvPr>
            <p:ph idx="2" type="sldImg"/>
          </p:nvPr>
        </p:nvSpPr>
        <p:spPr>
          <a:xfrm>
            <a:off x="-4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834" name="Google Shape;2834;g3f002fc51f7_0_3864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Message cle : le POC valide la mecanique RAG mais reste une demo stateless. Les 4 limites de droite ne sont pas des bugs, ce sont les 4 defis du cahier des charges P13. Transition : voyons ces besoins en detail.</a:t>
            </a:r>
            <a:endParaRPr/>
          </a:p>
        </p:txBody>
      </p:sp>
      <p:sp>
        <p:nvSpPr>
          <p:cNvPr id="2835" name="Google Shape;2835;g3f002fc51f7_0_3864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42" name="Shape 28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3" name="Google Shape;2843;g3f002fc51f7_0_3853:notes"/>
          <p:cNvSpPr/>
          <p:nvPr>
            <p:ph idx="2" type="sldImg"/>
          </p:nvPr>
        </p:nvSpPr>
        <p:spPr>
          <a:xfrm>
            <a:off x="-4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844" name="Google Shape;2844;g3f002fc51f7_0_3853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Message cle : le POC valide la mecanique RAG mais reste une demo stateless. Les 4 limites de droite ne sont pas des bugs, ce sont les 4 defis du cahier des charges P13. Transition : voyons ces besoins en detail.</a:t>
            </a:r>
            <a:endParaRPr/>
          </a:p>
        </p:txBody>
      </p:sp>
      <p:sp>
        <p:nvSpPr>
          <p:cNvPr id="2845" name="Google Shape;2845;g3f002fc51f7_0_3853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54" name="Shape 28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5" name="Google Shape;2855;g3f002fc51f7_0_3840:notes"/>
          <p:cNvSpPr/>
          <p:nvPr>
            <p:ph idx="2" type="sldImg"/>
          </p:nvPr>
        </p:nvSpPr>
        <p:spPr>
          <a:xfrm>
            <a:off x="-4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856" name="Google Shape;2856;g3f002fc51f7_0_3840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Message cle : le POC valide la mecanique RAG mais reste une demo stateless. Les 4 limites de droite ne sont pas des bugs, ce sont les 4 defis du cahier des charges P13. Transition : voyons ces besoins en detail.</a:t>
            </a:r>
            <a:endParaRPr/>
          </a:p>
        </p:txBody>
      </p:sp>
      <p:sp>
        <p:nvSpPr>
          <p:cNvPr id="2857" name="Google Shape;2857;g3f002fc51f7_0_3840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68" name="Shape 28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9" name="Google Shape;2869;g3f002fc51f7_0_3825:notes"/>
          <p:cNvSpPr/>
          <p:nvPr>
            <p:ph idx="2" type="sldImg"/>
          </p:nvPr>
        </p:nvSpPr>
        <p:spPr>
          <a:xfrm>
            <a:off x="-4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870" name="Google Shape;2870;g3f002fc51f7_0_3825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Message cle : le POC valide la mecanique RAG mais reste une demo stateless. Les 4 limites de droite ne sont pas des bugs, ce sont les 4 defis du cahier des charges P13. Transition : voyons ces besoins en detail.</a:t>
            </a:r>
            <a:endParaRPr/>
          </a:p>
        </p:txBody>
      </p:sp>
      <p:sp>
        <p:nvSpPr>
          <p:cNvPr id="2871" name="Google Shape;2871;g3f002fc51f7_0_3825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84" name="Shape 28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5" name="Google Shape;2885;g3f002fc51f7_0_3809:notes"/>
          <p:cNvSpPr/>
          <p:nvPr>
            <p:ph idx="2" type="sldImg"/>
          </p:nvPr>
        </p:nvSpPr>
        <p:spPr>
          <a:xfrm>
            <a:off x="-4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886" name="Google Shape;2886;g3f002fc51f7_0_3809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Message cle : le POC valide la mecanique RAG mais reste une demo stateless. Les 4 limites de droite ne sont pas des bugs, ce sont les 4 defis du cahier des charges P13. Transition : voyons ces besoins en detail.</a:t>
            </a:r>
            <a:endParaRPr/>
          </a:p>
        </p:txBody>
      </p:sp>
      <p:sp>
        <p:nvSpPr>
          <p:cNvPr id="2887" name="Google Shape;2887;g3f002fc51f7_0_3809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457200" y="1200150"/>
            <a:ext cx="8229600" cy="3394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1pPr>
            <a:lvl2pPr indent="-342900" lvl="1" marL="91440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/>
            </a:lvl2pPr>
            <a:lvl3pPr indent="-342900" lvl="2" marL="137160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■"/>
              <a:defRPr/>
            </a:lvl3pPr>
            <a:lvl4pPr indent="-342900" lvl="3" marL="182880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4pPr>
            <a:lvl5pPr indent="-342900" lvl="4" marL="228600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/>
            </a:lvl5pPr>
            <a:lvl6pPr indent="-342900" lvl="5" marL="274320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■"/>
              <a:defRPr/>
            </a:lvl6pPr>
            <a:lvl7pPr indent="-342900" lvl="6" marL="320040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7pPr>
            <a:lvl8pPr indent="-342900" lvl="7" marL="365760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/>
            </a:lvl8pPr>
            <a:lvl9pPr indent="-342900" lvl="8" marL="4114800" algn="l"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800"/>
              <a:buChar char="■"/>
              <a:defRPr/>
            </a:lvl9pPr>
          </a:lstStyle>
          <a:p/>
        </p:txBody>
      </p:sp>
      <p:sp>
        <p:nvSpPr>
          <p:cNvPr id="53" name="Google Shape;53;p13"/>
          <p:cNvSpPr txBox="1"/>
          <p:nvPr>
            <p:ph idx="10" type="dt"/>
          </p:nvPr>
        </p:nvSpPr>
        <p:spPr>
          <a:xfrm>
            <a:off x="457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13"/>
          <p:cNvSpPr txBox="1"/>
          <p:nvPr>
            <p:ph idx="11" type="ftr"/>
          </p:nvPr>
        </p:nvSpPr>
        <p:spPr>
          <a:xfrm>
            <a:off x="3124200" y="4767263"/>
            <a:ext cx="2895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13"/>
          <p:cNvSpPr txBox="1"/>
          <p:nvPr>
            <p:ph idx="12" type="sldNum"/>
          </p:nvPr>
        </p:nvSpPr>
        <p:spPr>
          <a:xfrm>
            <a:off x="6553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rgbClr val="111113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49.xml"/></Relationships>
</file>

<file path=ppt/slides/_rels/slide5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50.xml"/></Relationships>
</file>

<file path=ppt/slides/_rels/slide5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51.xml"/></Relationships>
</file>

<file path=ppt/slides/_rels/slide5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52.xml"/></Relationships>
</file>

<file path=ppt/slides/_rels/slide5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53.xml"/></Relationships>
</file>

<file path=ppt/slides/_rels/slide5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54.xml"/></Relationships>
</file>

<file path=ppt/slides/_rels/slide5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55.xml"/></Relationships>
</file>

<file path=ppt/slides/_rels/slide5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56.xml"/></Relationships>
</file>

<file path=ppt/slides/_rels/slide5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57.xml"/></Relationships>
</file>

<file path=ppt/slides/_rels/slide5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58.xml"/></Relationships>
</file>

<file path=ppt/slides/_rels/slide5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59.xml"/></Relationships>
</file>

<file path=ppt/slides/_rels/slide6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60.xml"/></Relationships>
</file>

<file path=ppt/slides/_rels/slide6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61.xml"/></Relationships>
</file>

<file path=ppt/slides/_rels/slide6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62.xml"/></Relationships>
</file>

<file path=ppt/slides/_rels/slide6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63.xml"/></Relationships>
</file>

<file path=ppt/slides/_rels/slide6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64.xml"/></Relationships>
</file>

<file path=ppt/slides/_rels/slide6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65.xml"/></Relationships>
</file>

<file path=ppt/slides/_rels/slide6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66.xml"/></Relationships>
</file>

<file path=ppt/slides/_rels/slide6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67.xml"/></Relationships>
</file>

<file path=ppt/slides/_rels/slide6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68.xml"/></Relationships>
</file>

<file path=ppt/slides/_rels/slide6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69.xml"/></Relationships>
</file>

<file path=ppt/slides/_rels/slide7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70.xml"/></Relationships>
</file>

<file path=ppt/slides/_rels/slide7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71.xml"/></Relationships>
</file>

<file path=ppt/slides/_rels/slide7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72.xml"/></Relationships>
</file>

<file path=ppt/slides/_rels/slide7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73.xml"/></Relationships>
</file>

<file path=ppt/slides/_rels/slide7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74.xml"/></Relationships>
</file>

<file path=ppt/slides/_rels/slide7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75.xml"/></Relationships>
</file>

<file path=ppt/slides/_rels/slide7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76.xml"/></Relationships>
</file>

<file path=ppt/slides/_rels/slide7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77.xml"/></Relationships>
</file>

<file path=ppt/slides/_rels/slide7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78.xml"/></Relationships>
</file>

<file path=ppt/slides/_rels/slide7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79.xml"/></Relationships>
</file>

<file path=ppt/slides/_rels/slide8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80.xml"/></Relationships>
</file>

<file path=ppt/slides/_rels/slide8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81.xml"/></Relationships>
</file>

<file path=ppt/slides/_rels/slide8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82.xml"/></Relationships>
</file>

<file path=ppt/slides/_rels/slide8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83.xml"/></Relationships>
</file>

<file path=ppt/slides/_rels/slide8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84.xml"/><Relationship Id="rId3" Type="http://schemas.openxmlformats.org/officeDocument/2006/relationships/image" Target="../media/image2.png"/><Relationship Id="rId4" Type="http://schemas.openxmlformats.org/officeDocument/2006/relationships/image" Target="../media/image1.png"/><Relationship Id="rId5" Type="http://schemas.openxmlformats.org/officeDocument/2006/relationships/image" Target="../media/image3.png"/></Relationships>
</file>

<file path=ppt/slides/_rels/slide8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85.xml"/></Relationships>
</file>

<file path=ppt/slides/_rels/slide8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86.xml"/></Relationships>
</file>

<file path=ppt/slides/_rels/slide8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87.xml"/></Relationships>
</file>

<file path=ppt/slides/_rels/slide8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88.xml"/></Relationships>
</file>

<file path=ppt/slides/_rels/slide8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89.xml"/></Relationships>
</file>

<file path=ppt/slides/_rels/slide9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90.xml"/></Relationships>
</file>

<file path=ppt/slides/_rels/slide9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91.xml"/></Relationships>
</file>

<file path=ppt/slides/_rels/slide9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92.xml"/></Relationships>
</file>

<file path=ppt/slides/_rels/slide9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93.xml"/></Relationships>
</file>

<file path=ppt/slides/_rels/slide9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94.xml"/></Relationships>
</file>

<file path=ppt/slides/_rels/slide9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95.xml"/></Relationships>
</file>

<file path=ppt/slides/_rels/slide9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96.xml"/></Relationships>
</file>

<file path=ppt/slides/_rels/slide9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97.xml"/></Relationships>
</file>

<file path=ppt/slides/_rels/slide9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98.xml"/></Relationships>
</file>

<file path=ppt/slides/_rels/slide9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99.xml"/></Relationships>
</file>

<file path=ppt/slides/_rels/slide10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00.xml"/></Relationships>
</file>

<file path=ppt/slides/_rels/slide10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01.xml"/></Relationships>
</file>

<file path=ppt/slides/_rels/slide10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02.xml"/></Relationships>
</file>

<file path=ppt/slides/_rels/slide10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03.xml"/></Relationships>
</file>

<file path=ppt/slides/_rels/slide10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04.xml"/></Relationships>
</file>

<file path=ppt/slides/_rels/slide10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05.xml"/></Relationships>
</file>

<file path=ppt/slides/_rels/slide10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06.xml"/></Relationships>
</file>

<file path=ppt/slides/_rels/slide10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07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4"/>
          <p:cNvSpPr/>
          <p:nvPr/>
        </p:nvSpPr>
        <p:spPr>
          <a:xfrm>
            <a:off x="276125" y="1073275"/>
            <a:ext cx="6786600" cy="1424400"/>
          </a:xfrm>
          <a:prstGeom prst="roundRect">
            <a:avLst>
              <a:gd fmla="val 16667" name="adj"/>
            </a:avLst>
          </a:prstGeom>
          <a:solidFill>
            <a:srgbClr val="0E9C8A">
              <a:alpha val="7999"/>
            </a:srgbClr>
          </a:solidFill>
          <a:ln cap="flat" cmpd="sng" w="9525">
            <a:solidFill>
              <a:srgbClr val="0E9C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14"/>
          <p:cNvSpPr txBox="1"/>
          <p:nvPr/>
        </p:nvSpPr>
        <p:spPr>
          <a:xfrm>
            <a:off x="617225" y="1405900"/>
            <a:ext cx="6126300" cy="9030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0" spcFirstLastPara="1" rIns="0" wrap="square" tIns="190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fr" sz="3500" u="none" cap="none" strike="noStrike">
                <a:solidFill>
                  <a:srgbClr val="0E9C8A"/>
                </a:solidFill>
                <a:latin typeface="Calibri"/>
                <a:ea typeface="Calibri"/>
                <a:cs typeface="Calibri"/>
                <a:sym typeface="Calibri"/>
              </a:rPr>
              <a:t>D'un POC RAG à un MVP scalable</a:t>
            </a:r>
            <a:endParaRPr sz="1100">
              <a:solidFill>
                <a:srgbClr val="0E9C8A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i="0" lang="fr" sz="1700" u="none" cap="none" strike="noStrike">
                <a:solidFill>
                  <a:srgbClr val="DDDEE6"/>
                </a:solidFill>
                <a:latin typeface="Calibri"/>
                <a:ea typeface="Calibri"/>
                <a:cs typeface="Calibri"/>
                <a:sym typeface="Calibri"/>
              </a:rPr>
              <a:t>Agent conversationnel culturel — Pays de la Loire</a:t>
            </a:r>
            <a:endParaRPr sz="1100">
              <a:solidFill>
                <a:srgbClr val="DDDEE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p14"/>
          <p:cNvSpPr txBox="1"/>
          <p:nvPr/>
        </p:nvSpPr>
        <p:spPr>
          <a:xfrm>
            <a:off x="617236" y="4423410"/>
            <a:ext cx="79554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0" spcFirstLastPara="1" rIns="0" wrap="square" tIns="190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fr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Morgan Le Gall</a:t>
            </a:r>
            <a:r>
              <a:rPr i="0" lang="fr" sz="11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    ·    juin 2026    ·    </a:t>
            </a:r>
            <a:r>
              <a:rPr lang="fr" sz="1100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MVP RAG Puls-Events</a:t>
            </a:r>
            <a:endParaRPr sz="11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5"/>
          <p:cNvSpPr/>
          <p:nvPr/>
        </p:nvSpPr>
        <p:spPr>
          <a:xfrm>
            <a:off x="276125" y="1073275"/>
            <a:ext cx="6786600" cy="1424400"/>
          </a:xfrm>
          <a:prstGeom prst="roundRect">
            <a:avLst>
              <a:gd fmla="val 16667" name="adj"/>
            </a:avLst>
          </a:prstGeom>
          <a:solidFill>
            <a:srgbClr val="0E9C8A">
              <a:alpha val="7999"/>
            </a:srgbClr>
          </a:solidFill>
          <a:ln cap="flat" cmpd="sng" w="9525">
            <a:solidFill>
              <a:srgbClr val="0E9C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p15"/>
          <p:cNvSpPr txBox="1"/>
          <p:nvPr/>
        </p:nvSpPr>
        <p:spPr>
          <a:xfrm>
            <a:off x="617225" y="1405900"/>
            <a:ext cx="6126300" cy="9030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0" spcFirstLastPara="1" rIns="0" wrap="square" tIns="190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fr" sz="3500" u="none" cap="none" strike="noStrike">
                <a:solidFill>
                  <a:srgbClr val="0E9C8A"/>
                </a:solidFill>
                <a:latin typeface="Calibri"/>
                <a:ea typeface="Calibri"/>
                <a:cs typeface="Calibri"/>
                <a:sym typeface="Calibri"/>
              </a:rPr>
              <a:t>D'un POC RAG à un MVP scalable</a:t>
            </a:r>
            <a:endParaRPr sz="1100">
              <a:solidFill>
                <a:srgbClr val="0E9C8A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i="0" lang="fr" sz="1700" u="none" cap="none" strike="noStrike">
                <a:solidFill>
                  <a:srgbClr val="DDDEE6"/>
                </a:solidFill>
                <a:latin typeface="Calibri"/>
                <a:ea typeface="Calibri"/>
                <a:cs typeface="Calibri"/>
                <a:sym typeface="Calibri"/>
              </a:rPr>
              <a:t>Agent conversationnel culturel — Pays de la Loire</a:t>
            </a:r>
            <a:endParaRPr sz="1100">
              <a:solidFill>
                <a:srgbClr val="DDDEE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p15"/>
          <p:cNvSpPr/>
          <p:nvPr/>
        </p:nvSpPr>
        <p:spPr>
          <a:xfrm>
            <a:off x="617236" y="2983229"/>
            <a:ext cx="1011600" cy="342900"/>
          </a:xfrm>
          <a:prstGeom prst="roundRect">
            <a:avLst>
              <a:gd fmla="val 50000" name="adj"/>
            </a:avLst>
          </a:prstGeom>
          <a:solidFill>
            <a:srgbClr val="0E9C8A">
              <a:alpha val="7999"/>
            </a:srgbClr>
          </a:solidFill>
          <a:ln cap="flat" cmpd="sng" w="9525">
            <a:solidFill>
              <a:srgbClr val="0E9C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15"/>
          <p:cNvSpPr txBox="1"/>
          <p:nvPr/>
        </p:nvSpPr>
        <p:spPr>
          <a:xfrm>
            <a:off x="617286" y="3058529"/>
            <a:ext cx="1011600" cy="19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9050" lIns="0" spcFirstLastPara="1" rIns="0" wrap="square" tIns="1905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0" lang="fr" sz="1000" u="none" cap="none" strike="noStrike">
                <a:solidFill>
                  <a:srgbClr val="0E9C8A"/>
                </a:solidFill>
                <a:latin typeface="Calibri"/>
                <a:ea typeface="Calibri"/>
                <a:cs typeface="Calibri"/>
                <a:sym typeface="Calibri"/>
              </a:rPr>
              <a:t>RAG hybride</a:t>
            </a:r>
            <a:endParaRPr sz="1100">
              <a:solidFill>
                <a:srgbClr val="0E9C8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p15"/>
          <p:cNvSpPr/>
          <p:nvPr/>
        </p:nvSpPr>
        <p:spPr>
          <a:xfrm>
            <a:off x="1800273" y="2983229"/>
            <a:ext cx="723600" cy="342900"/>
          </a:xfrm>
          <a:prstGeom prst="roundRect">
            <a:avLst>
              <a:gd fmla="val 50000" name="adj"/>
            </a:avLst>
          </a:prstGeom>
          <a:solidFill>
            <a:srgbClr val="0E9C8A">
              <a:alpha val="7999"/>
            </a:srgbClr>
          </a:solidFill>
          <a:ln cap="flat" cmpd="sng" w="9525">
            <a:solidFill>
              <a:srgbClr val="0E9C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15"/>
          <p:cNvSpPr txBox="1"/>
          <p:nvPr/>
        </p:nvSpPr>
        <p:spPr>
          <a:xfrm>
            <a:off x="1800273" y="3058529"/>
            <a:ext cx="723600" cy="19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9050" lIns="0" spcFirstLastPara="1" rIns="0" wrap="square" tIns="1905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0" lang="fr" sz="1000" u="none" cap="none" strike="noStrike">
                <a:solidFill>
                  <a:srgbClr val="0E9C8A"/>
                </a:solidFill>
                <a:latin typeface="Calibri"/>
                <a:ea typeface="Calibri"/>
                <a:cs typeface="Calibri"/>
                <a:sym typeface="Calibri"/>
              </a:rPr>
              <a:t>Mémoire</a:t>
            </a:r>
            <a:endParaRPr sz="1100">
              <a:solidFill>
                <a:srgbClr val="0E9C8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15"/>
          <p:cNvSpPr/>
          <p:nvPr/>
        </p:nvSpPr>
        <p:spPr>
          <a:xfrm>
            <a:off x="2695265" y="2983229"/>
            <a:ext cx="435300" cy="342900"/>
          </a:xfrm>
          <a:prstGeom prst="roundRect">
            <a:avLst>
              <a:gd fmla="val 50000" name="adj"/>
            </a:avLst>
          </a:prstGeom>
          <a:solidFill>
            <a:srgbClr val="0E9C8A">
              <a:alpha val="7999"/>
            </a:srgbClr>
          </a:solidFill>
          <a:ln cap="flat" cmpd="sng" w="9525">
            <a:solidFill>
              <a:srgbClr val="0E9C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15"/>
          <p:cNvSpPr txBox="1"/>
          <p:nvPr/>
        </p:nvSpPr>
        <p:spPr>
          <a:xfrm>
            <a:off x="2695390" y="3058529"/>
            <a:ext cx="435300" cy="19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9050" lIns="0" spcFirstLastPara="1" rIns="0" wrap="square" tIns="1905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0" lang="fr" sz="1000" u="none" cap="none" strike="noStrike">
                <a:solidFill>
                  <a:srgbClr val="0E9C8A"/>
                </a:solidFill>
                <a:latin typeface="Calibri"/>
                <a:ea typeface="Calibri"/>
                <a:cs typeface="Calibri"/>
                <a:sym typeface="Calibri"/>
              </a:rPr>
              <a:t>Géo</a:t>
            </a:r>
            <a:endParaRPr sz="1100">
              <a:solidFill>
                <a:srgbClr val="0E9C8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p15"/>
          <p:cNvSpPr/>
          <p:nvPr/>
        </p:nvSpPr>
        <p:spPr>
          <a:xfrm>
            <a:off x="3302215" y="2983229"/>
            <a:ext cx="1227600" cy="342900"/>
          </a:xfrm>
          <a:prstGeom prst="roundRect">
            <a:avLst>
              <a:gd fmla="val 50000" name="adj"/>
            </a:avLst>
          </a:prstGeom>
          <a:solidFill>
            <a:srgbClr val="0E9C8A">
              <a:alpha val="7999"/>
            </a:srgbClr>
          </a:solidFill>
          <a:ln cap="flat" cmpd="sng" w="9525">
            <a:solidFill>
              <a:srgbClr val="0E9C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p15"/>
          <p:cNvSpPr txBox="1"/>
          <p:nvPr/>
        </p:nvSpPr>
        <p:spPr>
          <a:xfrm>
            <a:off x="3302178" y="3058529"/>
            <a:ext cx="1227600" cy="19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9050" lIns="0" spcFirstLastPara="1" rIns="0" wrap="square" tIns="1905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0" lang="fr" sz="1000" u="none" cap="none" strike="noStrike">
                <a:solidFill>
                  <a:srgbClr val="0E9C8A"/>
                </a:solidFill>
                <a:latin typeface="Calibri"/>
                <a:ea typeface="Calibri"/>
                <a:cs typeface="Calibri"/>
                <a:sym typeface="Calibri"/>
              </a:rPr>
              <a:t>Web temps réel</a:t>
            </a:r>
            <a:endParaRPr sz="1100">
              <a:solidFill>
                <a:srgbClr val="0E9C8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p15"/>
          <p:cNvSpPr/>
          <p:nvPr/>
        </p:nvSpPr>
        <p:spPr>
          <a:xfrm>
            <a:off x="4701284" y="2983229"/>
            <a:ext cx="939600" cy="342900"/>
          </a:xfrm>
          <a:prstGeom prst="roundRect">
            <a:avLst>
              <a:gd fmla="val 50000" name="adj"/>
            </a:avLst>
          </a:prstGeom>
          <a:solidFill>
            <a:srgbClr val="0E9C8A">
              <a:alpha val="7999"/>
            </a:srgbClr>
          </a:solidFill>
          <a:ln cap="flat" cmpd="sng" w="9525">
            <a:solidFill>
              <a:srgbClr val="0E9C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15"/>
          <p:cNvSpPr txBox="1"/>
          <p:nvPr/>
        </p:nvSpPr>
        <p:spPr>
          <a:xfrm>
            <a:off x="4701359" y="3058529"/>
            <a:ext cx="939600" cy="19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9050" lIns="0" spcFirstLastPara="1" rIns="0" wrap="square" tIns="1905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0" lang="fr" sz="1000" u="none" cap="none" strike="noStrike">
                <a:solidFill>
                  <a:srgbClr val="0E9C8A"/>
                </a:solidFill>
                <a:latin typeface="Calibri"/>
                <a:ea typeface="Calibri"/>
                <a:cs typeface="Calibri"/>
                <a:sym typeface="Calibri"/>
              </a:rPr>
              <a:t>Monitoring</a:t>
            </a:r>
            <a:endParaRPr sz="1100">
              <a:solidFill>
                <a:srgbClr val="0E9C8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15"/>
          <p:cNvSpPr txBox="1"/>
          <p:nvPr/>
        </p:nvSpPr>
        <p:spPr>
          <a:xfrm>
            <a:off x="617236" y="4423410"/>
            <a:ext cx="79554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0" spcFirstLastPara="1" rIns="0" wrap="square" tIns="190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fr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Morgan Le Gall</a:t>
            </a:r>
            <a:r>
              <a:rPr i="0" lang="fr" sz="11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    ·    juin 2026    ·    </a:t>
            </a:r>
            <a:r>
              <a:rPr lang="fr" sz="1100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MVP RAG Puls-Events</a:t>
            </a:r>
            <a:endParaRPr sz="11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6"/>
          <p:cNvSpPr/>
          <p:nvPr/>
        </p:nvSpPr>
        <p:spPr>
          <a:xfrm>
            <a:off x="276125" y="1073275"/>
            <a:ext cx="6786600" cy="3249000"/>
          </a:xfrm>
          <a:prstGeom prst="roundRect">
            <a:avLst>
              <a:gd fmla="val 16667" name="adj"/>
            </a:avLst>
          </a:prstGeom>
          <a:solidFill>
            <a:srgbClr val="0E9C8A">
              <a:alpha val="7999"/>
            </a:srgbClr>
          </a:solidFill>
          <a:ln cap="flat" cmpd="sng" w="9525">
            <a:solidFill>
              <a:srgbClr val="0E9C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16"/>
          <p:cNvSpPr txBox="1"/>
          <p:nvPr/>
        </p:nvSpPr>
        <p:spPr>
          <a:xfrm>
            <a:off x="617225" y="1405900"/>
            <a:ext cx="6126300" cy="9030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0" spcFirstLastPara="1" rIns="0" wrap="square" tIns="190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fr" sz="3500" u="none" cap="none" strike="noStrike">
                <a:solidFill>
                  <a:srgbClr val="0E9C8A"/>
                </a:solidFill>
                <a:latin typeface="Calibri"/>
                <a:ea typeface="Calibri"/>
                <a:cs typeface="Calibri"/>
                <a:sym typeface="Calibri"/>
              </a:rPr>
              <a:t>D'un POC RAG à un MVP scalable</a:t>
            </a:r>
            <a:endParaRPr sz="1100">
              <a:solidFill>
                <a:srgbClr val="0E9C8A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i="0" lang="fr" sz="1700" u="none" cap="none" strike="noStrike">
                <a:solidFill>
                  <a:srgbClr val="DDDEE6"/>
                </a:solidFill>
                <a:latin typeface="Calibri"/>
                <a:ea typeface="Calibri"/>
                <a:cs typeface="Calibri"/>
                <a:sym typeface="Calibri"/>
              </a:rPr>
              <a:t>Agent conversationnel culturel — Pays de la Loire</a:t>
            </a:r>
            <a:endParaRPr sz="1100">
              <a:solidFill>
                <a:srgbClr val="DDDEE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16"/>
          <p:cNvSpPr txBox="1"/>
          <p:nvPr/>
        </p:nvSpPr>
        <p:spPr>
          <a:xfrm>
            <a:off x="617236" y="4423410"/>
            <a:ext cx="79554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0" spcFirstLastPara="1" rIns="0" wrap="square" tIns="190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fr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Morgan Le Gall</a:t>
            </a:r>
            <a:r>
              <a:rPr i="0" lang="fr" sz="11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    ·    juin 2026    ·    </a:t>
            </a:r>
            <a:r>
              <a:rPr lang="fr" sz="1100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MVP RAG Puls-Events</a:t>
            </a:r>
            <a:endParaRPr sz="11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16"/>
          <p:cNvSpPr txBox="1"/>
          <p:nvPr/>
        </p:nvSpPr>
        <p:spPr>
          <a:xfrm>
            <a:off x="1248800" y="2462925"/>
            <a:ext cx="2608500" cy="160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1200">
                <a:solidFill>
                  <a:srgbClr val="0E9C8A"/>
                </a:solidFill>
                <a:latin typeface="Calibri"/>
                <a:ea typeface="Calibri"/>
                <a:cs typeface="Calibri"/>
                <a:sym typeface="Calibri"/>
              </a:rPr>
              <a:t>1 - </a:t>
            </a:r>
            <a:r>
              <a:rPr b="1" lang="fr" sz="1200">
                <a:solidFill>
                  <a:srgbClr val="0E9C8A"/>
                </a:solidFill>
                <a:latin typeface="Calibri"/>
                <a:ea typeface="Calibri"/>
                <a:cs typeface="Calibri"/>
                <a:sym typeface="Calibri"/>
              </a:rPr>
              <a:t>Point de départ</a:t>
            </a:r>
            <a:endParaRPr b="1" sz="1200">
              <a:solidFill>
                <a:srgbClr val="0E9C8A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1200">
                <a:solidFill>
                  <a:srgbClr val="0E9C8A"/>
                </a:solidFill>
                <a:latin typeface="Calibri"/>
                <a:ea typeface="Calibri"/>
                <a:cs typeface="Calibri"/>
                <a:sym typeface="Calibri"/>
              </a:rPr>
              <a:t>2 - Le besoin</a:t>
            </a:r>
            <a:endParaRPr b="1" sz="1200">
              <a:solidFill>
                <a:srgbClr val="0E9C8A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1200">
                <a:solidFill>
                  <a:srgbClr val="0E9C8A"/>
                </a:solidFill>
                <a:latin typeface="Calibri"/>
                <a:ea typeface="Calibri"/>
                <a:cs typeface="Calibri"/>
                <a:sym typeface="Calibri"/>
              </a:rPr>
              <a:t>3 - Du POC au MVP</a:t>
            </a:r>
            <a:endParaRPr b="1" sz="1200">
              <a:solidFill>
                <a:srgbClr val="0E9C8A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1200">
                <a:solidFill>
                  <a:srgbClr val="0E9C8A"/>
                </a:solidFill>
                <a:latin typeface="Calibri"/>
                <a:ea typeface="Calibri"/>
                <a:cs typeface="Calibri"/>
                <a:sym typeface="Calibri"/>
              </a:rPr>
              <a:t>4 - L’architecture du MVP</a:t>
            </a:r>
            <a:endParaRPr b="1" sz="1200">
              <a:solidFill>
                <a:srgbClr val="0E9C8A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1200">
                <a:solidFill>
                  <a:srgbClr val="0E9C8A"/>
                </a:solidFill>
                <a:latin typeface="Calibri"/>
                <a:ea typeface="Calibri"/>
                <a:cs typeface="Calibri"/>
                <a:sym typeface="Calibri"/>
              </a:rPr>
              <a:t>5 - Justification</a:t>
            </a:r>
            <a:endParaRPr b="1" sz="1200">
              <a:solidFill>
                <a:srgbClr val="0E9C8A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1200">
                <a:solidFill>
                  <a:srgbClr val="0E9C8A"/>
                </a:solidFill>
                <a:latin typeface="Calibri"/>
                <a:ea typeface="Calibri"/>
                <a:cs typeface="Calibri"/>
                <a:sym typeface="Calibri"/>
              </a:rPr>
              <a:t>6 - Monitoring</a:t>
            </a:r>
            <a:endParaRPr b="1" sz="1200">
              <a:solidFill>
                <a:srgbClr val="0E9C8A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1200">
                <a:solidFill>
                  <a:srgbClr val="0E9C8A"/>
                </a:solidFill>
                <a:latin typeface="Calibri"/>
                <a:ea typeface="Calibri"/>
                <a:cs typeface="Calibri"/>
                <a:sym typeface="Calibri"/>
              </a:rPr>
              <a:t>7 - Pilotage</a:t>
            </a:r>
            <a:endParaRPr b="1" sz="1200">
              <a:solidFill>
                <a:srgbClr val="0E9C8A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1200">
                <a:solidFill>
                  <a:srgbClr val="0E9C8A"/>
                </a:solidFill>
                <a:latin typeface="Calibri"/>
                <a:ea typeface="Calibri"/>
                <a:cs typeface="Calibri"/>
                <a:sym typeface="Calibri"/>
              </a:rPr>
              <a:t>8 - Synthèse</a:t>
            </a:r>
            <a:endParaRPr b="1" sz="1200">
              <a:solidFill>
                <a:srgbClr val="0E9C8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7"/>
          <p:cNvSpPr txBox="1"/>
          <p:nvPr/>
        </p:nvSpPr>
        <p:spPr>
          <a:xfrm>
            <a:off x="377200" y="233175"/>
            <a:ext cx="1773600" cy="45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9050" lIns="0" spcFirstLastPara="1" rIns="0" wrap="square" tIns="190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fr" sz="1800" u="none" cap="none" strike="noStrike">
                <a:solidFill>
                  <a:srgbClr val="0E9C8A"/>
                </a:solidFill>
                <a:latin typeface="Calibri"/>
                <a:ea typeface="Calibri"/>
                <a:cs typeface="Calibri"/>
                <a:sym typeface="Calibri"/>
              </a:rPr>
              <a:t>P</a:t>
            </a:r>
            <a:r>
              <a:rPr b="1" lang="fr" sz="1800">
                <a:solidFill>
                  <a:srgbClr val="0E9C8A"/>
                </a:solidFill>
                <a:latin typeface="Calibri"/>
                <a:ea typeface="Calibri"/>
                <a:cs typeface="Calibri"/>
                <a:sym typeface="Calibri"/>
              </a:rPr>
              <a:t>oint de départ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17"/>
          <p:cNvSpPr txBox="1"/>
          <p:nvPr/>
        </p:nvSpPr>
        <p:spPr>
          <a:xfrm>
            <a:off x="377200" y="675550"/>
            <a:ext cx="22938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9050" lIns="0" spcFirstLastPara="1" rIns="0" wrap="square" tIns="190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fr" sz="1100" u="none" cap="none" strike="noStrike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L'existant — le POC </a:t>
            </a:r>
            <a:r>
              <a:rPr b="1" lang="fr" sz="1100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RAG Puls-Events</a:t>
            </a:r>
            <a:endParaRPr sz="1100">
              <a:solidFill>
                <a:srgbClr val="9CA3A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17"/>
          <p:cNvSpPr txBox="1"/>
          <p:nvPr/>
        </p:nvSpPr>
        <p:spPr>
          <a:xfrm>
            <a:off x="377200" y="4945850"/>
            <a:ext cx="999000" cy="166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700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MVP RAG Puls-Events</a:t>
            </a:r>
            <a:endParaRPr sz="700">
              <a:solidFill>
                <a:srgbClr val="9CA3A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8"/>
          <p:cNvSpPr/>
          <p:nvPr/>
        </p:nvSpPr>
        <p:spPr>
          <a:xfrm>
            <a:off x="377200" y="1111000"/>
            <a:ext cx="3909300" cy="3497700"/>
          </a:xfrm>
          <a:prstGeom prst="roundRect">
            <a:avLst>
              <a:gd fmla="val 6000" name="adj"/>
            </a:avLst>
          </a:prstGeom>
          <a:solidFill>
            <a:srgbClr val="0E9C8A">
              <a:alpha val="7999"/>
            </a:srgbClr>
          </a:solidFill>
          <a:ln cap="flat" cmpd="sng" w="7150">
            <a:solidFill>
              <a:srgbClr val="0E9C8A"/>
            </a:solidFill>
            <a:prstDash val="solid"/>
            <a:round/>
            <a:headEnd len="sm" w="sm" type="none"/>
            <a:tailEnd len="sm" w="sm" type="none"/>
          </a:ln>
          <a:effectLst>
            <a:outerShdw blurRad="45001" rotWithShape="0" dir="5400000" dist="18750">
              <a:srgbClr val="8A93A6">
                <a:alpha val="32159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18"/>
          <p:cNvSpPr txBox="1"/>
          <p:nvPr/>
        </p:nvSpPr>
        <p:spPr>
          <a:xfrm>
            <a:off x="377200" y="233175"/>
            <a:ext cx="1773600" cy="45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9050" lIns="0" spcFirstLastPara="1" rIns="0" wrap="square" tIns="190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fr" sz="1800" u="none" cap="none" strike="noStrike">
                <a:solidFill>
                  <a:srgbClr val="0E9C8A"/>
                </a:solidFill>
                <a:latin typeface="Calibri"/>
                <a:ea typeface="Calibri"/>
                <a:cs typeface="Calibri"/>
                <a:sym typeface="Calibri"/>
              </a:rPr>
              <a:t>P</a:t>
            </a:r>
            <a:r>
              <a:rPr b="1" lang="fr" sz="1800">
                <a:solidFill>
                  <a:srgbClr val="0E9C8A"/>
                </a:solidFill>
                <a:latin typeface="Calibri"/>
                <a:ea typeface="Calibri"/>
                <a:cs typeface="Calibri"/>
                <a:sym typeface="Calibri"/>
              </a:rPr>
              <a:t>oint de départ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18"/>
          <p:cNvSpPr txBox="1"/>
          <p:nvPr/>
        </p:nvSpPr>
        <p:spPr>
          <a:xfrm>
            <a:off x="377200" y="675550"/>
            <a:ext cx="22938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9050" lIns="0" spcFirstLastPara="1" rIns="0" wrap="square" tIns="190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fr" sz="1100" u="none" cap="none" strike="noStrike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L'existant — le POC </a:t>
            </a:r>
            <a:r>
              <a:rPr b="1" lang="fr" sz="1100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RAG Puls-Events</a:t>
            </a:r>
            <a:endParaRPr sz="1100">
              <a:solidFill>
                <a:srgbClr val="9CA3A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18"/>
          <p:cNvSpPr txBox="1"/>
          <p:nvPr/>
        </p:nvSpPr>
        <p:spPr>
          <a:xfrm>
            <a:off x="651526" y="1220725"/>
            <a:ext cx="21552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0" spcFirstLastPara="1" rIns="0" wrap="square" tIns="190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fr" sz="1400" u="none" cap="none" strike="noStrike">
                <a:solidFill>
                  <a:srgbClr val="0E9C8A"/>
                </a:solidFill>
                <a:latin typeface="Calibri"/>
                <a:ea typeface="Calibri"/>
                <a:cs typeface="Calibri"/>
                <a:sym typeface="Calibri"/>
              </a:rPr>
              <a:t>Ce qui fonctionne déjà</a:t>
            </a:r>
            <a:endParaRPr sz="1100">
              <a:solidFill>
                <a:srgbClr val="0E9C8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18"/>
          <p:cNvSpPr txBox="1"/>
          <p:nvPr/>
        </p:nvSpPr>
        <p:spPr>
          <a:xfrm>
            <a:off x="377200" y="4945850"/>
            <a:ext cx="999000" cy="166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700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MVP RAG Puls-Events</a:t>
            </a:r>
            <a:endParaRPr sz="700">
              <a:solidFill>
                <a:srgbClr val="9CA3A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9"/>
          <p:cNvSpPr/>
          <p:nvPr/>
        </p:nvSpPr>
        <p:spPr>
          <a:xfrm>
            <a:off x="377200" y="1111000"/>
            <a:ext cx="3909300" cy="3497700"/>
          </a:xfrm>
          <a:prstGeom prst="roundRect">
            <a:avLst>
              <a:gd fmla="val 6000" name="adj"/>
            </a:avLst>
          </a:prstGeom>
          <a:solidFill>
            <a:srgbClr val="0E9C8A">
              <a:alpha val="7999"/>
            </a:srgbClr>
          </a:solidFill>
          <a:ln cap="flat" cmpd="sng" w="7150">
            <a:solidFill>
              <a:srgbClr val="0E9C8A"/>
            </a:solidFill>
            <a:prstDash val="solid"/>
            <a:round/>
            <a:headEnd len="sm" w="sm" type="none"/>
            <a:tailEnd len="sm" w="sm" type="none"/>
          </a:ln>
          <a:effectLst>
            <a:outerShdw blurRad="45001" rotWithShape="0" dir="5400000" dist="18750">
              <a:srgbClr val="8A93A6">
                <a:alpha val="32159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19"/>
          <p:cNvSpPr txBox="1"/>
          <p:nvPr/>
        </p:nvSpPr>
        <p:spPr>
          <a:xfrm>
            <a:off x="377200" y="233175"/>
            <a:ext cx="1773600" cy="45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9050" lIns="0" spcFirstLastPara="1" rIns="0" wrap="square" tIns="190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fr" sz="1800" u="none" cap="none" strike="noStrike">
                <a:solidFill>
                  <a:srgbClr val="0E9C8A"/>
                </a:solidFill>
                <a:latin typeface="Calibri"/>
                <a:ea typeface="Calibri"/>
                <a:cs typeface="Calibri"/>
                <a:sym typeface="Calibri"/>
              </a:rPr>
              <a:t>P</a:t>
            </a:r>
            <a:r>
              <a:rPr b="1" lang="fr" sz="1800">
                <a:solidFill>
                  <a:srgbClr val="0E9C8A"/>
                </a:solidFill>
                <a:latin typeface="Calibri"/>
                <a:ea typeface="Calibri"/>
                <a:cs typeface="Calibri"/>
                <a:sym typeface="Calibri"/>
              </a:rPr>
              <a:t>oint de départ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19"/>
          <p:cNvSpPr txBox="1"/>
          <p:nvPr/>
        </p:nvSpPr>
        <p:spPr>
          <a:xfrm>
            <a:off x="377200" y="675550"/>
            <a:ext cx="22938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9050" lIns="0" spcFirstLastPara="1" rIns="0" wrap="square" tIns="190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fr" sz="1100" u="none" cap="none" strike="noStrike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L'existant — le POC </a:t>
            </a:r>
            <a:r>
              <a:rPr b="1" lang="fr" sz="1100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RAG Puls-Events</a:t>
            </a:r>
            <a:endParaRPr sz="1100">
              <a:solidFill>
                <a:srgbClr val="9CA3A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19"/>
          <p:cNvSpPr txBox="1"/>
          <p:nvPr/>
        </p:nvSpPr>
        <p:spPr>
          <a:xfrm>
            <a:off x="651526" y="1220725"/>
            <a:ext cx="21552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0" spcFirstLastPara="1" rIns="0" wrap="square" tIns="190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fr" sz="1400" u="none" cap="none" strike="noStrike">
                <a:solidFill>
                  <a:srgbClr val="0E9C8A"/>
                </a:solidFill>
                <a:latin typeface="Calibri"/>
                <a:ea typeface="Calibri"/>
                <a:cs typeface="Calibri"/>
                <a:sym typeface="Calibri"/>
              </a:rPr>
              <a:t>Ce qui fonctionne déjà</a:t>
            </a:r>
            <a:endParaRPr sz="1100">
              <a:solidFill>
                <a:srgbClr val="0E9C8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19"/>
          <p:cNvSpPr/>
          <p:nvPr/>
        </p:nvSpPr>
        <p:spPr>
          <a:xfrm>
            <a:off x="665244" y="1721358"/>
            <a:ext cx="109800" cy="109800"/>
          </a:xfrm>
          <a:prstGeom prst="rect">
            <a:avLst/>
          </a:prstGeom>
          <a:solidFill>
            <a:srgbClr val="0E9C8A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19"/>
          <p:cNvSpPr txBox="1"/>
          <p:nvPr/>
        </p:nvSpPr>
        <p:spPr>
          <a:xfrm>
            <a:off x="802390" y="1625348"/>
            <a:ext cx="2090700" cy="3900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0" spcFirstLastPara="1" rIns="0" wrap="square" tIns="190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fr" sz="1200" u="none" cap="none" strike="noStrike">
                <a:solidFill>
                  <a:srgbClr val="0E9C8A"/>
                </a:solidFill>
                <a:latin typeface="Calibri"/>
                <a:ea typeface="Calibri"/>
                <a:cs typeface="Calibri"/>
                <a:sym typeface="Calibri"/>
              </a:rPr>
              <a:t>RAG fonctionnel</a:t>
            </a:r>
            <a:endParaRPr sz="1200">
              <a:solidFill>
                <a:srgbClr val="0E9C8A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100"/>
              </a:spcBef>
              <a:spcAft>
                <a:spcPts val="0"/>
              </a:spcAft>
              <a:buNone/>
            </a:pPr>
            <a:r>
              <a:rPr i="0" lang="fr" sz="1000" u="none" cap="none" strike="noStrike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LangChain + Mistral + FAISS</a:t>
            </a:r>
            <a:endParaRPr sz="1100">
              <a:solidFill>
                <a:srgbClr val="9CA3A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19"/>
          <p:cNvSpPr txBox="1"/>
          <p:nvPr/>
        </p:nvSpPr>
        <p:spPr>
          <a:xfrm>
            <a:off x="377200" y="4945850"/>
            <a:ext cx="999000" cy="166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700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MVP RAG Puls-Events</a:t>
            </a:r>
            <a:endParaRPr sz="700">
              <a:solidFill>
                <a:srgbClr val="9CA3A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20"/>
          <p:cNvSpPr/>
          <p:nvPr/>
        </p:nvSpPr>
        <p:spPr>
          <a:xfrm>
            <a:off x="377200" y="1111000"/>
            <a:ext cx="3909300" cy="3497700"/>
          </a:xfrm>
          <a:prstGeom prst="roundRect">
            <a:avLst>
              <a:gd fmla="val 6000" name="adj"/>
            </a:avLst>
          </a:prstGeom>
          <a:solidFill>
            <a:srgbClr val="0E9C8A">
              <a:alpha val="7999"/>
            </a:srgbClr>
          </a:solidFill>
          <a:ln cap="flat" cmpd="sng" w="7150">
            <a:solidFill>
              <a:srgbClr val="0E9C8A"/>
            </a:solidFill>
            <a:prstDash val="solid"/>
            <a:round/>
            <a:headEnd len="sm" w="sm" type="none"/>
            <a:tailEnd len="sm" w="sm" type="none"/>
          </a:ln>
          <a:effectLst>
            <a:outerShdw blurRad="45001" rotWithShape="0" dir="5400000" dist="18750">
              <a:srgbClr val="8A93A6">
                <a:alpha val="32159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20"/>
          <p:cNvSpPr txBox="1"/>
          <p:nvPr/>
        </p:nvSpPr>
        <p:spPr>
          <a:xfrm>
            <a:off x="377200" y="233175"/>
            <a:ext cx="1773600" cy="45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9050" lIns="0" spcFirstLastPara="1" rIns="0" wrap="square" tIns="190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fr" sz="1800" u="none" cap="none" strike="noStrike">
                <a:solidFill>
                  <a:srgbClr val="0E9C8A"/>
                </a:solidFill>
                <a:latin typeface="Calibri"/>
                <a:ea typeface="Calibri"/>
                <a:cs typeface="Calibri"/>
                <a:sym typeface="Calibri"/>
              </a:rPr>
              <a:t>P</a:t>
            </a:r>
            <a:r>
              <a:rPr b="1" lang="fr" sz="1800">
                <a:solidFill>
                  <a:srgbClr val="0E9C8A"/>
                </a:solidFill>
                <a:latin typeface="Calibri"/>
                <a:ea typeface="Calibri"/>
                <a:cs typeface="Calibri"/>
                <a:sym typeface="Calibri"/>
              </a:rPr>
              <a:t>oint de départ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20"/>
          <p:cNvSpPr txBox="1"/>
          <p:nvPr/>
        </p:nvSpPr>
        <p:spPr>
          <a:xfrm>
            <a:off x="377200" y="675550"/>
            <a:ext cx="22938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9050" lIns="0" spcFirstLastPara="1" rIns="0" wrap="square" tIns="190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fr" sz="1100" u="none" cap="none" strike="noStrike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L'existant — le POC </a:t>
            </a:r>
            <a:r>
              <a:rPr b="1" lang="fr" sz="1100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RAG Puls-Events</a:t>
            </a:r>
            <a:endParaRPr sz="1100">
              <a:solidFill>
                <a:srgbClr val="9CA3A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20"/>
          <p:cNvSpPr txBox="1"/>
          <p:nvPr/>
        </p:nvSpPr>
        <p:spPr>
          <a:xfrm>
            <a:off x="651526" y="1220725"/>
            <a:ext cx="21552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0" spcFirstLastPara="1" rIns="0" wrap="square" tIns="190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fr" sz="1400" u="none" cap="none" strike="noStrike">
                <a:solidFill>
                  <a:srgbClr val="0E9C8A"/>
                </a:solidFill>
                <a:latin typeface="Calibri"/>
                <a:ea typeface="Calibri"/>
                <a:cs typeface="Calibri"/>
                <a:sym typeface="Calibri"/>
              </a:rPr>
              <a:t>Ce qui fonctionne déjà</a:t>
            </a:r>
            <a:endParaRPr sz="1100">
              <a:solidFill>
                <a:srgbClr val="0E9C8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20"/>
          <p:cNvSpPr/>
          <p:nvPr/>
        </p:nvSpPr>
        <p:spPr>
          <a:xfrm>
            <a:off x="665244" y="1721358"/>
            <a:ext cx="109800" cy="109800"/>
          </a:xfrm>
          <a:prstGeom prst="rect">
            <a:avLst/>
          </a:prstGeom>
          <a:solidFill>
            <a:srgbClr val="0E9C8A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20"/>
          <p:cNvSpPr txBox="1"/>
          <p:nvPr/>
        </p:nvSpPr>
        <p:spPr>
          <a:xfrm>
            <a:off x="802390" y="1625348"/>
            <a:ext cx="2090700" cy="3900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0" spcFirstLastPara="1" rIns="0" wrap="square" tIns="190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fr" sz="1200" u="none" cap="none" strike="noStrike">
                <a:solidFill>
                  <a:srgbClr val="0E9C8A"/>
                </a:solidFill>
                <a:latin typeface="Calibri"/>
                <a:ea typeface="Calibri"/>
                <a:cs typeface="Calibri"/>
                <a:sym typeface="Calibri"/>
              </a:rPr>
              <a:t>RAG fonctionnel</a:t>
            </a:r>
            <a:endParaRPr sz="1200">
              <a:solidFill>
                <a:srgbClr val="0E9C8A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100"/>
              </a:spcBef>
              <a:spcAft>
                <a:spcPts val="0"/>
              </a:spcAft>
              <a:buNone/>
            </a:pPr>
            <a:r>
              <a:rPr i="0" lang="fr" sz="1000" u="none" cap="none" strike="noStrike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LangChain + Mistral + FAISS</a:t>
            </a:r>
            <a:endParaRPr sz="1100">
              <a:solidFill>
                <a:srgbClr val="9CA3A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20"/>
          <p:cNvSpPr/>
          <p:nvPr/>
        </p:nvSpPr>
        <p:spPr>
          <a:xfrm>
            <a:off x="665244" y="2420874"/>
            <a:ext cx="109800" cy="109800"/>
          </a:xfrm>
          <a:prstGeom prst="rect">
            <a:avLst/>
          </a:prstGeom>
          <a:solidFill>
            <a:srgbClr val="0E9C8A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20"/>
          <p:cNvSpPr txBox="1"/>
          <p:nvPr/>
        </p:nvSpPr>
        <p:spPr>
          <a:xfrm>
            <a:off x="802390" y="2324865"/>
            <a:ext cx="2090700" cy="3900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0" spcFirstLastPara="1" rIns="0" wrap="square" tIns="190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fr" sz="1200" u="none" cap="none" strike="noStrike">
                <a:solidFill>
                  <a:srgbClr val="0E9C8A"/>
                </a:solidFill>
                <a:latin typeface="Calibri"/>
                <a:ea typeface="Calibri"/>
                <a:cs typeface="Calibri"/>
                <a:sym typeface="Calibri"/>
              </a:rPr>
              <a:t>Retriever hybride</a:t>
            </a:r>
            <a:endParaRPr sz="1200">
              <a:solidFill>
                <a:srgbClr val="0E9C8A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100"/>
              </a:spcBef>
              <a:spcAft>
                <a:spcPts val="0"/>
              </a:spcAft>
              <a:buNone/>
            </a:pPr>
            <a:r>
              <a:rPr i="0" lang="fr" sz="1000" u="none" cap="none" strike="noStrike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BM25 (lexical) + dense (embeddings)</a:t>
            </a:r>
            <a:endParaRPr sz="1100">
              <a:solidFill>
                <a:srgbClr val="9CA3A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20"/>
          <p:cNvSpPr txBox="1"/>
          <p:nvPr/>
        </p:nvSpPr>
        <p:spPr>
          <a:xfrm>
            <a:off x="377200" y="4945850"/>
            <a:ext cx="999000" cy="166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700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MVP RAG Puls-Events</a:t>
            </a:r>
            <a:endParaRPr sz="700">
              <a:solidFill>
                <a:srgbClr val="9CA3A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21"/>
          <p:cNvSpPr/>
          <p:nvPr/>
        </p:nvSpPr>
        <p:spPr>
          <a:xfrm>
            <a:off x="377200" y="1111000"/>
            <a:ext cx="3909300" cy="3497700"/>
          </a:xfrm>
          <a:prstGeom prst="roundRect">
            <a:avLst>
              <a:gd fmla="val 6000" name="adj"/>
            </a:avLst>
          </a:prstGeom>
          <a:solidFill>
            <a:srgbClr val="0E9C8A">
              <a:alpha val="7999"/>
            </a:srgbClr>
          </a:solidFill>
          <a:ln cap="flat" cmpd="sng" w="7150">
            <a:solidFill>
              <a:srgbClr val="0E9C8A"/>
            </a:solidFill>
            <a:prstDash val="solid"/>
            <a:round/>
            <a:headEnd len="sm" w="sm" type="none"/>
            <a:tailEnd len="sm" w="sm" type="none"/>
          </a:ln>
          <a:effectLst>
            <a:outerShdw blurRad="45001" rotWithShape="0" dir="5400000" dist="18750">
              <a:srgbClr val="8A93A6">
                <a:alpha val="32159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21"/>
          <p:cNvSpPr txBox="1"/>
          <p:nvPr/>
        </p:nvSpPr>
        <p:spPr>
          <a:xfrm>
            <a:off x="377200" y="233175"/>
            <a:ext cx="1773600" cy="45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9050" lIns="0" spcFirstLastPara="1" rIns="0" wrap="square" tIns="190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fr" sz="1800" u="none" cap="none" strike="noStrike">
                <a:solidFill>
                  <a:srgbClr val="0E9C8A"/>
                </a:solidFill>
                <a:latin typeface="Calibri"/>
                <a:ea typeface="Calibri"/>
                <a:cs typeface="Calibri"/>
                <a:sym typeface="Calibri"/>
              </a:rPr>
              <a:t>P</a:t>
            </a:r>
            <a:r>
              <a:rPr b="1" lang="fr" sz="1800">
                <a:solidFill>
                  <a:srgbClr val="0E9C8A"/>
                </a:solidFill>
                <a:latin typeface="Calibri"/>
                <a:ea typeface="Calibri"/>
                <a:cs typeface="Calibri"/>
                <a:sym typeface="Calibri"/>
              </a:rPr>
              <a:t>oint de départ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21"/>
          <p:cNvSpPr txBox="1"/>
          <p:nvPr/>
        </p:nvSpPr>
        <p:spPr>
          <a:xfrm>
            <a:off x="377200" y="675550"/>
            <a:ext cx="22938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9050" lIns="0" spcFirstLastPara="1" rIns="0" wrap="square" tIns="190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fr" sz="1100" u="none" cap="none" strike="noStrike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L'existant — le POC </a:t>
            </a:r>
            <a:r>
              <a:rPr b="1" lang="fr" sz="1100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RAG Puls-Events</a:t>
            </a:r>
            <a:endParaRPr sz="1100">
              <a:solidFill>
                <a:srgbClr val="9CA3A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21"/>
          <p:cNvSpPr txBox="1"/>
          <p:nvPr/>
        </p:nvSpPr>
        <p:spPr>
          <a:xfrm>
            <a:off x="651526" y="1220725"/>
            <a:ext cx="21552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0" spcFirstLastPara="1" rIns="0" wrap="square" tIns="190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fr" sz="1400" u="none" cap="none" strike="noStrike">
                <a:solidFill>
                  <a:srgbClr val="0E9C8A"/>
                </a:solidFill>
                <a:latin typeface="Calibri"/>
                <a:ea typeface="Calibri"/>
                <a:cs typeface="Calibri"/>
                <a:sym typeface="Calibri"/>
              </a:rPr>
              <a:t>Ce qui fonctionne déjà</a:t>
            </a:r>
            <a:endParaRPr sz="1100">
              <a:solidFill>
                <a:srgbClr val="0E9C8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21"/>
          <p:cNvSpPr/>
          <p:nvPr/>
        </p:nvSpPr>
        <p:spPr>
          <a:xfrm>
            <a:off x="665244" y="1721358"/>
            <a:ext cx="109800" cy="109800"/>
          </a:xfrm>
          <a:prstGeom prst="rect">
            <a:avLst/>
          </a:prstGeom>
          <a:solidFill>
            <a:srgbClr val="0E9C8A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21"/>
          <p:cNvSpPr txBox="1"/>
          <p:nvPr/>
        </p:nvSpPr>
        <p:spPr>
          <a:xfrm>
            <a:off x="802390" y="1625348"/>
            <a:ext cx="2090700" cy="3900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0" spcFirstLastPara="1" rIns="0" wrap="square" tIns="190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fr" sz="1200" u="none" cap="none" strike="noStrike">
                <a:solidFill>
                  <a:srgbClr val="0E9C8A"/>
                </a:solidFill>
                <a:latin typeface="Calibri"/>
                <a:ea typeface="Calibri"/>
                <a:cs typeface="Calibri"/>
                <a:sym typeface="Calibri"/>
              </a:rPr>
              <a:t>RAG fonctionnel</a:t>
            </a:r>
            <a:endParaRPr sz="1200">
              <a:solidFill>
                <a:srgbClr val="0E9C8A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100"/>
              </a:spcBef>
              <a:spcAft>
                <a:spcPts val="0"/>
              </a:spcAft>
              <a:buNone/>
            </a:pPr>
            <a:r>
              <a:rPr i="0" lang="fr" sz="1000" u="none" cap="none" strike="noStrike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LangChain + Mistral + FAISS</a:t>
            </a:r>
            <a:endParaRPr sz="1100">
              <a:solidFill>
                <a:srgbClr val="9CA3A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21"/>
          <p:cNvSpPr/>
          <p:nvPr/>
        </p:nvSpPr>
        <p:spPr>
          <a:xfrm>
            <a:off x="665244" y="2420874"/>
            <a:ext cx="109800" cy="109800"/>
          </a:xfrm>
          <a:prstGeom prst="rect">
            <a:avLst/>
          </a:prstGeom>
          <a:solidFill>
            <a:srgbClr val="0E9C8A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21"/>
          <p:cNvSpPr txBox="1"/>
          <p:nvPr/>
        </p:nvSpPr>
        <p:spPr>
          <a:xfrm>
            <a:off x="802390" y="2324865"/>
            <a:ext cx="2090700" cy="3900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0" spcFirstLastPara="1" rIns="0" wrap="square" tIns="190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fr" sz="1200" u="none" cap="none" strike="noStrike">
                <a:solidFill>
                  <a:srgbClr val="0E9C8A"/>
                </a:solidFill>
                <a:latin typeface="Calibri"/>
                <a:ea typeface="Calibri"/>
                <a:cs typeface="Calibri"/>
                <a:sym typeface="Calibri"/>
              </a:rPr>
              <a:t>Retriever hybride</a:t>
            </a:r>
            <a:endParaRPr sz="1200">
              <a:solidFill>
                <a:srgbClr val="0E9C8A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100"/>
              </a:spcBef>
              <a:spcAft>
                <a:spcPts val="0"/>
              </a:spcAft>
              <a:buNone/>
            </a:pPr>
            <a:r>
              <a:rPr i="0" lang="fr" sz="1000" u="none" cap="none" strike="noStrike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BM25 (lexical) + dense (embeddings)</a:t>
            </a:r>
            <a:endParaRPr sz="1100">
              <a:solidFill>
                <a:srgbClr val="9CA3A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21"/>
          <p:cNvSpPr/>
          <p:nvPr/>
        </p:nvSpPr>
        <p:spPr>
          <a:xfrm>
            <a:off x="665244" y="3120390"/>
            <a:ext cx="109800" cy="109800"/>
          </a:xfrm>
          <a:prstGeom prst="rect">
            <a:avLst/>
          </a:prstGeom>
          <a:solidFill>
            <a:srgbClr val="0E9C8A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21"/>
          <p:cNvSpPr txBox="1"/>
          <p:nvPr/>
        </p:nvSpPr>
        <p:spPr>
          <a:xfrm>
            <a:off x="802390" y="3024382"/>
            <a:ext cx="2090700" cy="3900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0" spcFirstLastPara="1" rIns="0" wrap="square" tIns="190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fr" sz="1200" u="none" cap="none" strike="noStrike">
                <a:solidFill>
                  <a:srgbClr val="0E9C8A"/>
                </a:solidFill>
                <a:latin typeface="Calibri"/>
                <a:ea typeface="Calibri"/>
                <a:cs typeface="Calibri"/>
                <a:sym typeface="Calibri"/>
              </a:rPr>
              <a:t>Périmètre cadré</a:t>
            </a:r>
            <a:endParaRPr sz="1200">
              <a:solidFill>
                <a:srgbClr val="0E9C8A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100"/>
              </a:spcBef>
              <a:spcAft>
                <a:spcPts val="0"/>
              </a:spcAft>
              <a:buNone/>
            </a:pPr>
            <a:r>
              <a:rPr i="0" lang="fr" sz="1000" u="none" cap="none" strike="noStrike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événements Pays de la Loire &lt; 1 an</a:t>
            </a:r>
            <a:endParaRPr sz="1100">
              <a:solidFill>
                <a:srgbClr val="9CA3A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21"/>
          <p:cNvSpPr txBox="1"/>
          <p:nvPr/>
        </p:nvSpPr>
        <p:spPr>
          <a:xfrm>
            <a:off x="377200" y="4945850"/>
            <a:ext cx="999000" cy="166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700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MVP RAG Puls-Events</a:t>
            </a:r>
            <a:endParaRPr sz="700">
              <a:solidFill>
                <a:srgbClr val="9CA3A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22"/>
          <p:cNvSpPr/>
          <p:nvPr/>
        </p:nvSpPr>
        <p:spPr>
          <a:xfrm>
            <a:off x="377200" y="1111000"/>
            <a:ext cx="3909300" cy="3497700"/>
          </a:xfrm>
          <a:prstGeom prst="roundRect">
            <a:avLst>
              <a:gd fmla="val 6000" name="adj"/>
            </a:avLst>
          </a:prstGeom>
          <a:solidFill>
            <a:srgbClr val="0E9C8A">
              <a:alpha val="7999"/>
            </a:srgbClr>
          </a:solidFill>
          <a:ln cap="flat" cmpd="sng" w="7150">
            <a:solidFill>
              <a:srgbClr val="0E9C8A"/>
            </a:solidFill>
            <a:prstDash val="solid"/>
            <a:round/>
            <a:headEnd len="sm" w="sm" type="none"/>
            <a:tailEnd len="sm" w="sm" type="none"/>
          </a:ln>
          <a:effectLst>
            <a:outerShdw blurRad="45001" rotWithShape="0" dir="5400000" dist="18750">
              <a:srgbClr val="8A93A6">
                <a:alpha val="32159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22"/>
          <p:cNvSpPr txBox="1"/>
          <p:nvPr/>
        </p:nvSpPr>
        <p:spPr>
          <a:xfrm>
            <a:off x="377200" y="233175"/>
            <a:ext cx="1773600" cy="45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9050" lIns="0" spcFirstLastPara="1" rIns="0" wrap="square" tIns="190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fr" sz="1800" u="none" cap="none" strike="noStrike">
                <a:solidFill>
                  <a:srgbClr val="0E9C8A"/>
                </a:solidFill>
                <a:latin typeface="Calibri"/>
                <a:ea typeface="Calibri"/>
                <a:cs typeface="Calibri"/>
                <a:sym typeface="Calibri"/>
              </a:rPr>
              <a:t>P</a:t>
            </a:r>
            <a:r>
              <a:rPr b="1" lang="fr" sz="1800">
                <a:solidFill>
                  <a:srgbClr val="0E9C8A"/>
                </a:solidFill>
                <a:latin typeface="Calibri"/>
                <a:ea typeface="Calibri"/>
                <a:cs typeface="Calibri"/>
                <a:sym typeface="Calibri"/>
              </a:rPr>
              <a:t>oint de départ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22"/>
          <p:cNvSpPr txBox="1"/>
          <p:nvPr/>
        </p:nvSpPr>
        <p:spPr>
          <a:xfrm>
            <a:off x="377200" y="675550"/>
            <a:ext cx="22938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9050" lIns="0" spcFirstLastPara="1" rIns="0" wrap="square" tIns="190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fr" sz="1100" u="none" cap="none" strike="noStrike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L'existant — le POC </a:t>
            </a:r>
            <a:r>
              <a:rPr b="1" lang="fr" sz="1100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RAG Puls-Events</a:t>
            </a:r>
            <a:endParaRPr sz="1100">
              <a:solidFill>
                <a:srgbClr val="9CA3A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22"/>
          <p:cNvSpPr txBox="1"/>
          <p:nvPr/>
        </p:nvSpPr>
        <p:spPr>
          <a:xfrm>
            <a:off x="651526" y="1220725"/>
            <a:ext cx="21552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0" spcFirstLastPara="1" rIns="0" wrap="square" tIns="190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fr" sz="1400" u="none" cap="none" strike="noStrike">
                <a:solidFill>
                  <a:srgbClr val="0E9C8A"/>
                </a:solidFill>
                <a:latin typeface="Calibri"/>
                <a:ea typeface="Calibri"/>
                <a:cs typeface="Calibri"/>
                <a:sym typeface="Calibri"/>
              </a:rPr>
              <a:t>Ce qui fonctionne déjà</a:t>
            </a:r>
            <a:endParaRPr sz="1100">
              <a:solidFill>
                <a:srgbClr val="0E9C8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22"/>
          <p:cNvSpPr/>
          <p:nvPr/>
        </p:nvSpPr>
        <p:spPr>
          <a:xfrm>
            <a:off x="665244" y="1721358"/>
            <a:ext cx="109800" cy="109800"/>
          </a:xfrm>
          <a:prstGeom prst="rect">
            <a:avLst/>
          </a:prstGeom>
          <a:solidFill>
            <a:srgbClr val="0E9C8A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22"/>
          <p:cNvSpPr txBox="1"/>
          <p:nvPr/>
        </p:nvSpPr>
        <p:spPr>
          <a:xfrm>
            <a:off x="802390" y="1625348"/>
            <a:ext cx="2090700" cy="3900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0" spcFirstLastPara="1" rIns="0" wrap="square" tIns="190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fr" sz="1200" u="none" cap="none" strike="noStrike">
                <a:solidFill>
                  <a:srgbClr val="0E9C8A"/>
                </a:solidFill>
                <a:latin typeface="Calibri"/>
                <a:ea typeface="Calibri"/>
                <a:cs typeface="Calibri"/>
                <a:sym typeface="Calibri"/>
              </a:rPr>
              <a:t>RAG fonctionnel</a:t>
            </a:r>
            <a:endParaRPr sz="1200">
              <a:solidFill>
                <a:srgbClr val="0E9C8A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100"/>
              </a:spcBef>
              <a:spcAft>
                <a:spcPts val="0"/>
              </a:spcAft>
              <a:buNone/>
            </a:pPr>
            <a:r>
              <a:rPr i="0" lang="fr" sz="1000" u="none" cap="none" strike="noStrike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LangChain + Mistral + FAISS</a:t>
            </a:r>
            <a:endParaRPr sz="1100">
              <a:solidFill>
                <a:srgbClr val="9CA3A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22"/>
          <p:cNvSpPr/>
          <p:nvPr/>
        </p:nvSpPr>
        <p:spPr>
          <a:xfrm>
            <a:off x="665244" y="2420874"/>
            <a:ext cx="109800" cy="109800"/>
          </a:xfrm>
          <a:prstGeom prst="rect">
            <a:avLst/>
          </a:prstGeom>
          <a:solidFill>
            <a:srgbClr val="0E9C8A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22"/>
          <p:cNvSpPr txBox="1"/>
          <p:nvPr/>
        </p:nvSpPr>
        <p:spPr>
          <a:xfrm>
            <a:off x="802390" y="2324865"/>
            <a:ext cx="2090700" cy="3900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0" spcFirstLastPara="1" rIns="0" wrap="square" tIns="190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fr" sz="1200" u="none" cap="none" strike="noStrike">
                <a:solidFill>
                  <a:srgbClr val="0E9C8A"/>
                </a:solidFill>
                <a:latin typeface="Calibri"/>
                <a:ea typeface="Calibri"/>
                <a:cs typeface="Calibri"/>
                <a:sym typeface="Calibri"/>
              </a:rPr>
              <a:t>Retriever hybride</a:t>
            </a:r>
            <a:endParaRPr sz="1200">
              <a:solidFill>
                <a:srgbClr val="0E9C8A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100"/>
              </a:spcBef>
              <a:spcAft>
                <a:spcPts val="0"/>
              </a:spcAft>
              <a:buNone/>
            </a:pPr>
            <a:r>
              <a:rPr i="0" lang="fr" sz="1000" u="none" cap="none" strike="noStrike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BM25 (lexical) + dense (embeddings)</a:t>
            </a:r>
            <a:endParaRPr sz="1100">
              <a:solidFill>
                <a:srgbClr val="9CA3A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22"/>
          <p:cNvSpPr/>
          <p:nvPr/>
        </p:nvSpPr>
        <p:spPr>
          <a:xfrm>
            <a:off x="665244" y="3120390"/>
            <a:ext cx="109800" cy="109800"/>
          </a:xfrm>
          <a:prstGeom prst="rect">
            <a:avLst/>
          </a:prstGeom>
          <a:solidFill>
            <a:srgbClr val="0E9C8A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22"/>
          <p:cNvSpPr txBox="1"/>
          <p:nvPr/>
        </p:nvSpPr>
        <p:spPr>
          <a:xfrm>
            <a:off x="802390" y="3024382"/>
            <a:ext cx="2090700" cy="3900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0" spcFirstLastPara="1" rIns="0" wrap="square" tIns="190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fr" sz="1200" u="none" cap="none" strike="noStrike">
                <a:solidFill>
                  <a:srgbClr val="0E9C8A"/>
                </a:solidFill>
                <a:latin typeface="Calibri"/>
                <a:ea typeface="Calibri"/>
                <a:cs typeface="Calibri"/>
                <a:sym typeface="Calibri"/>
              </a:rPr>
              <a:t>Périmètre cadré</a:t>
            </a:r>
            <a:endParaRPr sz="1200">
              <a:solidFill>
                <a:srgbClr val="0E9C8A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100"/>
              </a:spcBef>
              <a:spcAft>
                <a:spcPts val="0"/>
              </a:spcAft>
              <a:buNone/>
            </a:pPr>
            <a:r>
              <a:rPr i="0" lang="fr" sz="1000" u="none" cap="none" strike="noStrike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événements Pays de la Loire &lt; 1 an</a:t>
            </a:r>
            <a:endParaRPr sz="1100">
              <a:solidFill>
                <a:srgbClr val="9CA3A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22"/>
          <p:cNvSpPr/>
          <p:nvPr/>
        </p:nvSpPr>
        <p:spPr>
          <a:xfrm>
            <a:off x="665244" y="3819905"/>
            <a:ext cx="109800" cy="109800"/>
          </a:xfrm>
          <a:prstGeom prst="rect">
            <a:avLst/>
          </a:prstGeom>
          <a:solidFill>
            <a:srgbClr val="0E9C8A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22"/>
          <p:cNvSpPr txBox="1"/>
          <p:nvPr/>
        </p:nvSpPr>
        <p:spPr>
          <a:xfrm>
            <a:off x="802390" y="3723899"/>
            <a:ext cx="2090700" cy="3900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0" spcFirstLastPara="1" rIns="0" wrap="square" tIns="190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fr" sz="1200" u="none" cap="none" strike="noStrike">
                <a:solidFill>
                  <a:srgbClr val="0E9C8A"/>
                </a:solidFill>
                <a:latin typeface="Calibri"/>
                <a:ea typeface="Calibri"/>
                <a:cs typeface="Calibri"/>
                <a:sym typeface="Calibri"/>
              </a:rPr>
              <a:t>Réponses sourcées</a:t>
            </a:r>
            <a:endParaRPr sz="1200">
              <a:solidFill>
                <a:srgbClr val="0E9C8A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100"/>
              </a:spcBef>
              <a:spcAft>
                <a:spcPts val="0"/>
              </a:spcAft>
              <a:buNone/>
            </a:pPr>
            <a:r>
              <a:rPr i="0" lang="fr" sz="1000" cap="none" strike="noStrike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citations des documents récupérés</a:t>
            </a:r>
            <a:endParaRPr sz="1100">
              <a:solidFill>
                <a:srgbClr val="9CA3A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22"/>
          <p:cNvSpPr txBox="1"/>
          <p:nvPr/>
        </p:nvSpPr>
        <p:spPr>
          <a:xfrm>
            <a:off x="377200" y="4945850"/>
            <a:ext cx="999000" cy="166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700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MVP RAG Puls-Events</a:t>
            </a:r>
            <a:endParaRPr sz="700">
              <a:solidFill>
                <a:srgbClr val="9CA3A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23"/>
          <p:cNvSpPr/>
          <p:nvPr/>
        </p:nvSpPr>
        <p:spPr>
          <a:xfrm>
            <a:off x="377200" y="1111000"/>
            <a:ext cx="3909300" cy="3497700"/>
          </a:xfrm>
          <a:prstGeom prst="roundRect">
            <a:avLst>
              <a:gd fmla="val 6000" name="adj"/>
            </a:avLst>
          </a:prstGeom>
          <a:solidFill>
            <a:srgbClr val="0E9C8A">
              <a:alpha val="7999"/>
            </a:srgbClr>
          </a:solidFill>
          <a:ln cap="flat" cmpd="sng" w="7150">
            <a:solidFill>
              <a:srgbClr val="0E9C8A"/>
            </a:solidFill>
            <a:prstDash val="solid"/>
            <a:round/>
            <a:headEnd len="sm" w="sm" type="none"/>
            <a:tailEnd len="sm" w="sm" type="none"/>
          </a:ln>
          <a:effectLst>
            <a:outerShdw blurRad="45001" rotWithShape="0" dir="5400000" dist="18750">
              <a:srgbClr val="8A93A6">
                <a:alpha val="32159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23"/>
          <p:cNvSpPr txBox="1"/>
          <p:nvPr/>
        </p:nvSpPr>
        <p:spPr>
          <a:xfrm>
            <a:off x="377200" y="233175"/>
            <a:ext cx="1773600" cy="45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9050" lIns="0" spcFirstLastPara="1" rIns="0" wrap="square" tIns="190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fr" sz="1800" u="none" cap="none" strike="noStrike">
                <a:solidFill>
                  <a:srgbClr val="0E9C8A"/>
                </a:solidFill>
                <a:latin typeface="Calibri"/>
                <a:ea typeface="Calibri"/>
                <a:cs typeface="Calibri"/>
                <a:sym typeface="Calibri"/>
              </a:rPr>
              <a:t>P</a:t>
            </a:r>
            <a:r>
              <a:rPr b="1" lang="fr" sz="1800">
                <a:solidFill>
                  <a:srgbClr val="0E9C8A"/>
                </a:solidFill>
                <a:latin typeface="Calibri"/>
                <a:ea typeface="Calibri"/>
                <a:cs typeface="Calibri"/>
                <a:sym typeface="Calibri"/>
              </a:rPr>
              <a:t>oint de départ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23"/>
          <p:cNvSpPr txBox="1"/>
          <p:nvPr/>
        </p:nvSpPr>
        <p:spPr>
          <a:xfrm>
            <a:off x="377200" y="675550"/>
            <a:ext cx="22938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9050" lIns="0" spcFirstLastPara="1" rIns="0" wrap="square" tIns="190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fr" sz="1100" u="none" cap="none" strike="noStrike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L'existant — le POC </a:t>
            </a:r>
            <a:r>
              <a:rPr b="1" lang="fr" sz="1100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RAG Puls-Events</a:t>
            </a:r>
            <a:endParaRPr sz="1100">
              <a:solidFill>
                <a:srgbClr val="9CA3A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23"/>
          <p:cNvSpPr txBox="1"/>
          <p:nvPr/>
        </p:nvSpPr>
        <p:spPr>
          <a:xfrm>
            <a:off x="651526" y="1220725"/>
            <a:ext cx="21552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0" spcFirstLastPara="1" rIns="0" wrap="square" tIns="190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fr" sz="1400" u="none" cap="none" strike="noStrike">
                <a:solidFill>
                  <a:srgbClr val="0E9C8A"/>
                </a:solidFill>
                <a:latin typeface="Calibri"/>
                <a:ea typeface="Calibri"/>
                <a:cs typeface="Calibri"/>
                <a:sym typeface="Calibri"/>
              </a:rPr>
              <a:t>Ce qui fonctionne déjà</a:t>
            </a:r>
            <a:endParaRPr sz="1100">
              <a:solidFill>
                <a:srgbClr val="0E9C8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23"/>
          <p:cNvSpPr/>
          <p:nvPr/>
        </p:nvSpPr>
        <p:spPr>
          <a:xfrm>
            <a:off x="665244" y="1721358"/>
            <a:ext cx="109800" cy="109800"/>
          </a:xfrm>
          <a:prstGeom prst="rect">
            <a:avLst/>
          </a:prstGeom>
          <a:solidFill>
            <a:srgbClr val="0E9C8A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23"/>
          <p:cNvSpPr txBox="1"/>
          <p:nvPr/>
        </p:nvSpPr>
        <p:spPr>
          <a:xfrm>
            <a:off x="802390" y="1625348"/>
            <a:ext cx="2090700" cy="3900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0" spcFirstLastPara="1" rIns="0" wrap="square" tIns="190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fr" sz="1200" u="none" cap="none" strike="noStrike">
                <a:solidFill>
                  <a:srgbClr val="0E9C8A"/>
                </a:solidFill>
                <a:latin typeface="Calibri"/>
                <a:ea typeface="Calibri"/>
                <a:cs typeface="Calibri"/>
                <a:sym typeface="Calibri"/>
              </a:rPr>
              <a:t>RAG fonctionnel</a:t>
            </a:r>
            <a:endParaRPr sz="1200">
              <a:solidFill>
                <a:srgbClr val="0E9C8A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100"/>
              </a:spcBef>
              <a:spcAft>
                <a:spcPts val="0"/>
              </a:spcAft>
              <a:buNone/>
            </a:pPr>
            <a:r>
              <a:rPr i="0" lang="fr" sz="1000" u="none" cap="none" strike="noStrike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LangChain + Mistral + FAISS</a:t>
            </a:r>
            <a:endParaRPr sz="1100">
              <a:solidFill>
                <a:srgbClr val="9CA3A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23"/>
          <p:cNvSpPr/>
          <p:nvPr/>
        </p:nvSpPr>
        <p:spPr>
          <a:xfrm>
            <a:off x="665244" y="2420874"/>
            <a:ext cx="109800" cy="109800"/>
          </a:xfrm>
          <a:prstGeom prst="rect">
            <a:avLst/>
          </a:prstGeom>
          <a:solidFill>
            <a:srgbClr val="0E9C8A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23"/>
          <p:cNvSpPr txBox="1"/>
          <p:nvPr/>
        </p:nvSpPr>
        <p:spPr>
          <a:xfrm>
            <a:off x="802390" y="2324865"/>
            <a:ext cx="2090700" cy="3900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0" spcFirstLastPara="1" rIns="0" wrap="square" tIns="190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fr" sz="1200" u="none" cap="none" strike="noStrike">
                <a:solidFill>
                  <a:srgbClr val="0E9C8A"/>
                </a:solidFill>
                <a:latin typeface="Calibri"/>
                <a:ea typeface="Calibri"/>
                <a:cs typeface="Calibri"/>
                <a:sym typeface="Calibri"/>
              </a:rPr>
              <a:t>Retriever hybride</a:t>
            </a:r>
            <a:endParaRPr sz="1200">
              <a:solidFill>
                <a:srgbClr val="0E9C8A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100"/>
              </a:spcBef>
              <a:spcAft>
                <a:spcPts val="0"/>
              </a:spcAft>
              <a:buNone/>
            </a:pPr>
            <a:r>
              <a:rPr i="0" lang="fr" sz="1000" u="none" cap="none" strike="noStrike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BM25 (lexical) + dense (embeddings)</a:t>
            </a:r>
            <a:endParaRPr sz="1100">
              <a:solidFill>
                <a:srgbClr val="9CA3A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23"/>
          <p:cNvSpPr/>
          <p:nvPr/>
        </p:nvSpPr>
        <p:spPr>
          <a:xfrm>
            <a:off x="665244" y="3120390"/>
            <a:ext cx="109800" cy="109800"/>
          </a:xfrm>
          <a:prstGeom prst="rect">
            <a:avLst/>
          </a:prstGeom>
          <a:solidFill>
            <a:srgbClr val="0E9C8A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23"/>
          <p:cNvSpPr txBox="1"/>
          <p:nvPr/>
        </p:nvSpPr>
        <p:spPr>
          <a:xfrm>
            <a:off x="802390" y="3024382"/>
            <a:ext cx="2090700" cy="3900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0" spcFirstLastPara="1" rIns="0" wrap="square" tIns="190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fr" sz="1200" u="none" cap="none" strike="noStrike">
                <a:solidFill>
                  <a:srgbClr val="0E9C8A"/>
                </a:solidFill>
                <a:latin typeface="Calibri"/>
                <a:ea typeface="Calibri"/>
                <a:cs typeface="Calibri"/>
                <a:sym typeface="Calibri"/>
              </a:rPr>
              <a:t>Périmètre cadré</a:t>
            </a:r>
            <a:endParaRPr sz="1200">
              <a:solidFill>
                <a:srgbClr val="0E9C8A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100"/>
              </a:spcBef>
              <a:spcAft>
                <a:spcPts val="0"/>
              </a:spcAft>
              <a:buNone/>
            </a:pPr>
            <a:r>
              <a:rPr i="0" lang="fr" sz="1000" u="none" cap="none" strike="noStrike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événements Pays de la Loire &lt; 1 an</a:t>
            </a:r>
            <a:endParaRPr sz="1100">
              <a:solidFill>
                <a:srgbClr val="9CA3A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23"/>
          <p:cNvSpPr/>
          <p:nvPr/>
        </p:nvSpPr>
        <p:spPr>
          <a:xfrm>
            <a:off x="665244" y="3819905"/>
            <a:ext cx="109800" cy="109800"/>
          </a:xfrm>
          <a:prstGeom prst="rect">
            <a:avLst/>
          </a:prstGeom>
          <a:solidFill>
            <a:srgbClr val="0E9C8A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23"/>
          <p:cNvSpPr txBox="1"/>
          <p:nvPr/>
        </p:nvSpPr>
        <p:spPr>
          <a:xfrm>
            <a:off x="802390" y="3723899"/>
            <a:ext cx="2090700" cy="3900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0" spcFirstLastPara="1" rIns="0" wrap="square" tIns="190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fr" sz="1200" u="none" cap="none" strike="noStrike">
                <a:solidFill>
                  <a:srgbClr val="0E9C8A"/>
                </a:solidFill>
                <a:latin typeface="Calibri"/>
                <a:ea typeface="Calibri"/>
                <a:cs typeface="Calibri"/>
                <a:sym typeface="Calibri"/>
              </a:rPr>
              <a:t>Réponses sourcées</a:t>
            </a:r>
            <a:endParaRPr sz="1200">
              <a:solidFill>
                <a:srgbClr val="0E9C8A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100"/>
              </a:spcBef>
              <a:spcAft>
                <a:spcPts val="0"/>
              </a:spcAft>
              <a:buNone/>
            </a:pPr>
            <a:r>
              <a:rPr i="0" lang="fr" sz="1000" cap="none" strike="noStrike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citations des documents récupérés</a:t>
            </a:r>
            <a:endParaRPr sz="1100">
              <a:solidFill>
                <a:srgbClr val="9CA3A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23"/>
          <p:cNvSpPr txBox="1"/>
          <p:nvPr/>
        </p:nvSpPr>
        <p:spPr>
          <a:xfrm>
            <a:off x="4629273" y="1110996"/>
            <a:ext cx="41148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0" spcFirstLastPara="1" rIns="0" wrap="square" tIns="190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fr" sz="1400" u="none" cap="none" strike="noStrike">
                <a:solidFill>
                  <a:srgbClr val="4F46E5"/>
                </a:solidFill>
                <a:latin typeface="Calibri"/>
                <a:ea typeface="Calibri"/>
                <a:cs typeface="Calibri"/>
                <a:sym typeface="Calibri"/>
              </a:rPr>
              <a:t>Ses limites</a:t>
            </a:r>
            <a:r>
              <a:rPr b="1" i="0" lang="fr" sz="14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1" i="0" lang="fr" sz="1400" u="none" cap="none" strike="noStrike">
                <a:solidFill>
                  <a:srgbClr val="0E9C8A"/>
                </a:solidFill>
                <a:latin typeface="Calibri"/>
                <a:ea typeface="Calibri"/>
                <a:cs typeface="Calibri"/>
                <a:sym typeface="Calibri"/>
              </a:rPr>
              <a:t>= nos 4 défis</a:t>
            </a:r>
            <a:endParaRPr sz="11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23"/>
          <p:cNvSpPr txBox="1"/>
          <p:nvPr/>
        </p:nvSpPr>
        <p:spPr>
          <a:xfrm>
            <a:off x="377200" y="4945850"/>
            <a:ext cx="999000" cy="166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700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MVP RAG Puls-Events</a:t>
            </a:r>
            <a:endParaRPr sz="700">
              <a:solidFill>
                <a:srgbClr val="9CA3A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24"/>
          <p:cNvSpPr/>
          <p:nvPr/>
        </p:nvSpPr>
        <p:spPr>
          <a:xfrm>
            <a:off x="377200" y="1111000"/>
            <a:ext cx="3909300" cy="3497700"/>
          </a:xfrm>
          <a:prstGeom prst="roundRect">
            <a:avLst>
              <a:gd fmla="val 6000" name="adj"/>
            </a:avLst>
          </a:prstGeom>
          <a:solidFill>
            <a:srgbClr val="0E9C8A">
              <a:alpha val="7999"/>
            </a:srgbClr>
          </a:solidFill>
          <a:ln cap="flat" cmpd="sng" w="7150">
            <a:solidFill>
              <a:srgbClr val="0E9C8A"/>
            </a:solidFill>
            <a:prstDash val="solid"/>
            <a:round/>
            <a:headEnd len="sm" w="sm" type="none"/>
            <a:tailEnd len="sm" w="sm" type="none"/>
          </a:ln>
          <a:effectLst>
            <a:outerShdw blurRad="45001" rotWithShape="0" dir="5400000" dist="18750">
              <a:srgbClr val="8A93A6">
                <a:alpha val="32159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24"/>
          <p:cNvSpPr txBox="1"/>
          <p:nvPr/>
        </p:nvSpPr>
        <p:spPr>
          <a:xfrm>
            <a:off x="377200" y="233175"/>
            <a:ext cx="1773600" cy="45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9050" lIns="0" spcFirstLastPara="1" rIns="0" wrap="square" tIns="190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fr" sz="1800" u="none" cap="none" strike="noStrike">
                <a:solidFill>
                  <a:srgbClr val="0E9C8A"/>
                </a:solidFill>
                <a:latin typeface="Calibri"/>
                <a:ea typeface="Calibri"/>
                <a:cs typeface="Calibri"/>
                <a:sym typeface="Calibri"/>
              </a:rPr>
              <a:t>P</a:t>
            </a:r>
            <a:r>
              <a:rPr b="1" lang="fr" sz="1800">
                <a:solidFill>
                  <a:srgbClr val="0E9C8A"/>
                </a:solidFill>
                <a:latin typeface="Calibri"/>
                <a:ea typeface="Calibri"/>
                <a:cs typeface="Calibri"/>
                <a:sym typeface="Calibri"/>
              </a:rPr>
              <a:t>oint de départ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24"/>
          <p:cNvSpPr txBox="1"/>
          <p:nvPr/>
        </p:nvSpPr>
        <p:spPr>
          <a:xfrm>
            <a:off x="377200" y="675550"/>
            <a:ext cx="22938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9050" lIns="0" spcFirstLastPara="1" rIns="0" wrap="square" tIns="190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fr" sz="1100" u="none" cap="none" strike="noStrike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L'existant — le POC </a:t>
            </a:r>
            <a:r>
              <a:rPr b="1" lang="fr" sz="1100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RAG Puls-Events</a:t>
            </a:r>
            <a:endParaRPr sz="1100">
              <a:solidFill>
                <a:srgbClr val="9CA3A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24"/>
          <p:cNvSpPr txBox="1"/>
          <p:nvPr/>
        </p:nvSpPr>
        <p:spPr>
          <a:xfrm>
            <a:off x="651526" y="1220725"/>
            <a:ext cx="21552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0" spcFirstLastPara="1" rIns="0" wrap="square" tIns="190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fr" sz="1400" u="none" cap="none" strike="noStrike">
                <a:solidFill>
                  <a:srgbClr val="0E9C8A"/>
                </a:solidFill>
                <a:latin typeface="Calibri"/>
                <a:ea typeface="Calibri"/>
                <a:cs typeface="Calibri"/>
                <a:sym typeface="Calibri"/>
              </a:rPr>
              <a:t>Ce qui fonctionne déjà</a:t>
            </a:r>
            <a:endParaRPr sz="1100">
              <a:solidFill>
                <a:srgbClr val="0E9C8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24"/>
          <p:cNvSpPr/>
          <p:nvPr/>
        </p:nvSpPr>
        <p:spPr>
          <a:xfrm>
            <a:off x="665244" y="1721358"/>
            <a:ext cx="109800" cy="109800"/>
          </a:xfrm>
          <a:prstGeom prst="rect">
            <a:avLst/>
          </a:prstGeom>
          <a:solidFill>
            <a:srgbClr val="0E9C8A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24"/>
          <p:cNvSpPr txBox="1"/>
          <p:nvPr/>
        </p:nvSpPr>
        <p:spPr>
          <a:xfrm>
            <a:off x="802390" y="1625348"/>
            <a:ext cx="2090700" cy="3900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0" spcFirstLastPara="1" rIns="0" wrap="square" tIns="190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fr" sz="1200" u="none" cap="none" strike="noStrike">
                <a:solidFill>
                  <a:srgbClr val="0E9C8A"/>
                </a:solidFill>
                <a:latin typeface="Calibri"/>
                <a:ea typeface="Calibri"/>
                <a:cs typeface="Calibri"/>
                <a:sym typeface="Calibri"/>
              </a:rPr>
              <a:t>RAG fonctionnel</a:t>
            </a:r>
            <a:endParaRPr sz="1200">
              <a:solidFill>
                <a:srgbClr val="0E9C8A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100"/>
              </a:spcBef>
              <a:spcAft>
                <a:spcPts val="0"/>
              </a:spcAft>
              <a:buNone/>
            </a:pPr>
            <a:r>
              <a:rPr i="0" lang="fr" sz="1000" u="none" cap="none" strike="noStrike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LangChain + Mistral + FAISS</a:t>
            </a:r>
            <a:endParaRPr sz="1100">
              <a:solidFill>
                <a:srgbClr val="9CA3A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24"/>
          <p:cNvSpPr/>
          <p:nvPr/>
        </p:nvSpPr>
        <p:spPr>
          <a:xfrm>
            <a:off x="665244" y="2420874"/>
            <a:ext cx="109800" cy="109800"/>
          </a:xfrm>
          <a:prstGeom prst="rect">
            <a:avLst/>
          </a:prstGeom>
          <a:solidFill>
            <a:srgbClr val="0E9C8A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24"/>
          <p:cNvSpPr txBox="1"/>
          <p:nvPr/>
        </p:nvSpPr>
        <p:spPr>
          <a:xfrm>
            <a:off x="802390" y="2324865"/>
            <a:ext cx="2090700" cy="3900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0" spcFirstLastPara="1" rIns="0" wrap="square" tIns="190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fr" sz="1200" u="none" cap="none" strike="noStrike">
                <a:solidFill>
                  <a:srgbClr val="0E9C8A"/>
                </a:solidFill>
                <a:latin typeface="Calibri"/>
                <a:ea typeface="Calibri"/>
                <a:cs typeface="Calibri"/>
                <a:sym typeface="Calibri"/>
              </a:rPr>
              <a:t>Retriever hybride</a:t>
            </a:r>
            <a:endParaRPr sz="1200">
              <a:solidFill>
                <a:srgbClr val="0E9C8A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100"/>
              </a:spcBef>
              <a:spcAft>
                <a:spcPts val="0"/>
              </a:spcAft>
              <a:buNone/>
            </a:pPr>
            <a:r>
              <a:rPr i="0" lang="fr" sz="1000" u="none" cap="none" strike="noStrike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BM25 (lexical) + dense (embeddings)</a:t>
            </a:r>
            <a:endParaRPr sz="1100">
              <a:solidFill>
                <a:srgbClr val="9CA3A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24"/>
          <p:cNvSpPr/>
          <p:nvPr/>
        </p:nvSpPr>
        <p:spPr>
          <a:xfrm>
            <a:off x="665244" y="3120390"/>
            <a:ext cx="109800" cy="109800"/>
          </a:xfrm>
          <a:prstGeom prst="rect">
            <a:avLst/>
          </a:prstGeom>
          <a:solidFill>
            <a:srgbClr val="0E9C8A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24"/>
          <p:cNvSpPr txBox="1"/>
          <p:nvPr/>
        </p:nvSpPr>
        <p:spPr>
          <a:xfrm>
            <a:off x="802390" y="3024382"/>
            <a:ext cx="2090700" cy="3900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0" spcFirstLastPara="1" rIns="0" wrap="square" tIns="190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fr" sz="1200" u="none" cap="none" strike="noStrike">
                <a:solidFill>
                  <a:srgbClr val="0E9C8A"/>
                </a:solidFill>
                <a:latin typeface="Calibri"/>
                <a:ea typeface="Calibri"/>
                <a:cs typeface="Calibri"/>
                <a:sym typeface="Calibri"/>
              </a:rPr>
              <a:t>Périmètre cadré</a:t>
            </a:r>
            <a:endParaRPr sz="1200">
              <a:solidFill>
                <a:srgbClr val="0E9C8A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100"/>
              </a:spcBef>
              <a:spcAft>
                <a:spcPts val="0"/>
              </a:spcAft>
              <a:buNone/>
            </a:pPr>
            <a:r>
              <a:rPr i="0" lang="fr" sz="1000" u="none" cap="none" strike="noStrike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événements Pays de la Loire &lt; 1 an</a:t>
            </a:r>
            <a:endParaRPr sz="1100">
              <a:solidFill>
                <a:srgbClr val="9CA3A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24"/>
          <p:cNvSpPr/>
          <p:nvPr/>
        </p:nvSpPr>
        <p:spPr>
          <a:xfrm>
            <a:off x="665244" y="3819905"/>
            <a:ext cx="109800" cy="109800"/>
          </a:xfrm>
          <a:prstGeom prst="rect">
            <a:avLst/>
          </a:prstGeom>
          <a:solidFill>
            <a:srgbClr val="0E9C8A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24"/>
          <p:cNvSpPr txBox="1"/>
          <p:nvPr/>
        </p:nvSpPr>
        <p:spPr>
          <a:xfrm>
            <a:off x="802390" y="3723899"/>
            <a:ext cx="2090700" cy="3900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0" spcFirstLastPara="1" rIns="0" wrap="square" tIns="190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fr" sz="1200" u="none" cap="none" strike="noStrike">
                <a:solidFill>
                  <a:srgbClr val="0E9C8A"/>
                </a:solidFill>
                <a:latin typeface="Calibri"/>
                <a:ea typeface="Calibri"/>
                <a:cs typeface="Calibri"/>
                <a:sym typeface="Calibri"/>
              </a:rPr>
              <a:t>Réponses sourcées</a:t>
            </a:r>
            <a:endParaRPr sz="1200">
              <a:solidFill>
                <a:srgbClr val="0E9C8A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100"/>
              </a:spcBef>
              <a:spcAft>
                <a:spcPts val="0"/>
              </a:spcAft>
              <a:buNone/>
            </a:pPr>
            <a:r>
              <a:rPr i="0" lang="fr" sz="1000" cap="none" strike="noStrike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citations des documents récupérés</a:t>
            </a:r>
            <a:endParaRPr sz="1100">
              <a:solidFill>
                <a:srgbClr val="9CA3A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24"/>
          <p:cNvSpPr txBox="1"/>
          <p:nvPr/>
        </p:nvSpPr>
        <p:spPr>
          <a:xfrm>
            <a:off x="4629273" y="1110996"/>
            <a:ext cx="41148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0" spcFirstLastPara="1" rIns="0" wrap="square" tIns="190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fr" sz="1400" u="none" cap="none" strike="noStrike">
                <a:solidFill>
                  <a:srgbClr val="4F46E5"/>
                </a:solidFill>
                <a:latin typeface="Calibri"/>
                <a:ea typeface="Calibri"/>
                <a:cs typeface="Calibri"/>
                <a:sym typeface="Calibri"/>
              </a:rPr>
              <a:t>Ses limites</a:t>
            </a:r>
            <a:r>
              <a:rPr b="1" i="0" lang="fr" sz="14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1" i="0" lang="fr" sz="1400" u="none" cap="none" strike="noStrike">
                <a:solidFill>
                  <a:srgbClr val="0E9C8A"/>
                </a:solidFill>
                <a:latin typeface="Calibri"/>
                <a:ea typeface="Calibri"/>
                <a:cs typeface="Calibri"/>
                <a:sym typeface="Calibri"/>
              </a:rPr>
              <a:t>= nos 4 défis</a:t>
            </a:r>
            <a:endParaRPr sz="11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24"/>
          <p:cNvSpPr/>
          <p:nvPr/>
        </p:nvSpPr>
        <p:spPr>
          <a:xfrm>
            <a:off x="4629273" y="1577340"/>
            <a:ext cx="4114800" cy="685800"/>
          </a:xfrm>
          <a:prstGeom prst="roundRect">
            <a:avLst>
              <a:gd fmla="val 6000" name="adj"/>
            </a:avLst>
          </a:prstGeom>
          <a:solidFill>
            <a:srgbClr val="4F46E5">
              <a:alpha val="23999"/>
            </a:srgbClr>
          </a:solidFill>
          <a:ln cap="flat" cmpd="sng" w="7150">
            <a:solidFill>
              <a:srgbClr val="4F46E5"/>
            </a:solidFill>
            <a:prstDash val="solid"/>
            <a:round/>
            <a:headEnd len="sm" w="sm" type="none"/>
            <a:tailEnd len="sm" w="sm" type="none"/>
          </a:ln>
          <a:effectLst>
            <a:outerShdw blurRad="45001" rotWithShape="0" dir="5400000" dist="18750">
              <a:srgbClr val="8A93A6">
                <a:alpha val="32159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24"/>
          <p:cNvSpPr/>
          <p:nvPr/>
        </p:nvSpPr>
        <p:spPr>
          <a:xfrm>
            <a:off x="4766437" y="1762506"/>
            <a:ext cx="315600" cy="315600"/>
          </a:xfrm>
          <a:prstGeom prst="ellipse">
            <a:avLst/>
          </a:prstGeom>
          <a:solidFill>
            <a:srgbClr val="4F46E5">
              <a:alpha val="7999"/>
            </a:srgbClr>
          </a:solidFill>
          <a:ln cap="flat" cmpd="sng" w="9525">
            <a:solidFill>
              <a:srgbClr val="4F46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fr" sz="1100" u="none" cap="none" strike="noStrike">
                <a:solidFill>
                  <a:srgbClr val="4F46E5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sz="1100">
              <a:solidFill>
                <a:srgbClr val="4F46E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24"/>
          <p:cNvSpPr txBox="1"/>
          <p:nvPr/>
        </p:nvSpPr>
        <p:spPr>
          <a:xfrm>
            <a:off x="5225935" y="1687068"/>
            <a:ext cx="3429000" cy="3900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0" spcFirstLastPara="1" rIns="0" wrap="square" tIns="190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fr" sz="1200" u="none" cap="none" strike="noStrike">
                <a:solidFill>
                  <a:srgbClr val="4F46E5"/>
                </a:solidFill>
                <a:latin typeface="Calibri"/>
                <a:ea typeface="Calibri"/>
                <a:cs typeface="Calibri"/>
                <a:sym typeface="Calibri"/>
              </a:rPr>
              <a:t>Stateless</a:t>
            </a:r>
            <a:endParaRPr sz="1100">
              <a:solidFill>
                <a:srgbClr val="4F46E5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100"/>
              </a:spcBef>
              <a:spcAft>
                <a:spcPts val="0"/>
              </a:spcAft>
              <a:buNone/>
            </a:pPr>
            <a:r>
              <a:rPr i="0" lang="fr" sz="10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aucune mémoire de conversation</a:t>
            </a:r>
            <a:endParaRPr sz="11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24"/>
          <p:cNvSpPr txBox="1"/>
          <p:nvPr/>
        </p:nvSpPr>
        <p:spPr>
          <a:xfrm>
            <a:off x="377200" y="4945850"/>
            <a:ext cx="999000" cy="166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700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MVP RAG Puls-Events</a:t>
            </a:r>
            <a:endParaRPr sz="700">
              <a:solidFill>
                <a:srgbClr val="9CA3A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25"/>
          <p:cNvSpPr/>
          <p:nvPr/>
        </p:nvSpPr>
        <p:spPr>
          <a:xfrm>
            <a:off x="377200" y="1111000"/>
            <a:ext cx="3909300" cy="3497700"/>
          </a:xfrm>
          <a:prstGeom prst="roundRect">
            <a:avLst>
              <a:gd fmla="val 6000" name="adj"/>
            </a:avLst>
          </a:prstGeom>
          <a:solidFill>
            <a:srgbClr val="0E9C8A">
              <a:alpha val="7999"/>
            </a:srgbClr>
          </a:solidFill>
          <a:ln cap="flat" cmpd="sng" w="7150">
            <a:solidFill>
              <a:srgbClr val="0E9C8A"/>
            </a:solidFill>
            <a:prstDash val="solid"/>
            <a:round/>
            <a:headEnd len="sm" w="sm" type="none"/>
            <a:tailEnd len="sm" w="sm" type="none"/>
          </a:ln>
          <a:effectLst>
            <a:outerShdw blurRad="45001" rotWithShape="0" dir="5400000" dist="18750">
              <a:srgbClr val="8A93A6">
                <a:alpha val="32159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25"/>
          <p:cNvSpPr txBox="1"/>
          <p:nvPr/>
        </p:nvSpPr>
        <p:spPr>
          <a:xfrm>
            <a:off x="377200" y="233175"/>
            <a:ext cx="1773600" cy="45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9050" lIns="0" spcFirstLastPara="1" rIns="0" wrap="square" tIns="190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fr" sz="1800" u="none" cap="none" strike="noStrike">
                <a:solidFill>
                  <a:srgbClr val="0E9C8A"/>
                </a:solidFill>
                <a:latin typeface="Calibri"/>
                <a:ea typeface="Calibri"/>
                <a:cs typeface="Calibri"/>
                <a:sym typeface="Calibri"/>
              </a:rPr>
              <a:t>P</a:t>
            </a:r>
            <a:r>
              <a:rPr b="1" lang="fr" sz="1800">
                <a:solidFill>
                  <a:srgbClr val="0E9C8A"/>
                </a:solidFill>
                <a:latin typeface="Calibri"/>
                <a:ea typeface="Calibri"/>
                <a:cs typeface="Calibri"/>
                <a:sym typeface="Calibri"/>
              </a:rPr>
              <a:t>oint de départ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25"/>
          <p:cNvSpPr txBox="1"/>
          <p:nvPr/>
        </p:nvSpPr>
        <p:spPr>
          <a:xfrm>
            <a:off x="377200" y="675550"/>
            <a:ext cx="22938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9050" lIns="0" spcFirstLastPara="1" rIns="0" wrap="square" tIns="190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fr" sz="1100" u="none" cap="none" strike="noStrike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L'existant — le POC </a:t>
            </a:r>
            <a:r>
              <a:rPr b="1" lang="fr" sz="1100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RAG Puls-Events</a:t>
            </a:r>
            <a:endParaRPr sz="1100">
              <a:solidFill>
                <a:srgbClr val="9CA3A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25"/>
          <p:cNvSpPr txBox="1"/>
          <p:nvPr/>
        </p:nvSpPr>
        <p:spPr>
          <a:xfrm>
            <a:off x="651526" y="1220725"/>
            <a:ext cx="21552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0" spcFirstLastPara="1" rIns="0" wrap="square" tIns="190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fr" sz="1400" u="none" cap="none" strike="noStrike">
                <a:solidFill>
                  <a:srgbClr val="0E9C8A"/>
                </a:solidFill>
                <a:latin typeface="Calibri"/>
                <a:ea typeface="Calibri"/>
                <a:cs typeface="Calibri"/>
                <a:sym typeface="Calibri"/>
              </a:rPr>
              <a:t>Ce qui fonctionne déjà</a:t>
            </a:r>
            <a:endParaRPr sz="1100">
              <a:solidFill>
                <a:srgbClr val="0E9C8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25"/>
          <p:cNvSpPr/>
          <p:nvPr/>
        </p:nvSpPr>
        <p:spPr>
          <a:xfrm>
            <a:off x="665244" y="1721358"/>
            <a:ext cx="109800" cy="109800"/>
          </a:xfrm>
          <a:prstGeom prst="rect">
            <a:avLst/>
          </a:prstGeom>
          <a:solidFill>
            <a:srgbClr val="0E9C8A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25"/>
          <p:cNvSpPr txBox="1"/>
          <p:nvPr/>
        </p:nvSpPr>
        <p:spPr>
          <a:xfrm>
            <a:off x="802390" y="1625348"/>
            <a:ext cx="2090700" cy="3900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0" spcFirstLastPara="1" rIns="0" wrap="square" tIns="190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fr" sz="1200" u="none" cap="none" strike="noStrike">
                <a:solidFill>
                  <a:srgbClr val="0E9C8A"/>
                </a:solidFill>
                <a:latin typeface="Calibri"/>
                <a:ea typeface="Calibri"/>
                <a:cs typeface="Calibri"/>
                <a:sym typeface="Calibri"/>
              </a:rPr>
              <a:t>RAG fonctionnel</a:t>
            </a:r>
            <a:endParaRPr sz="1200">
              <a:solidFill>
                <a:srgbClr val="0E9C8A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100"/>
              </a:spcBef>
              <a:spcAft>
                <a:spcPts val="0"/>
              </a:spcAft>
              <a:buNone/>
            </a:pPr>
            <a:r>
              <a:rPr i="0" lang="fr" sz="1000" u="none" cap="none" strike="noStrike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LangChain + Mistral + FAISS</a:t>
            </a:r>
            <a:endParaRPr sz="1100">
              <a:solidFill>
                <a:srgbClr val="9CA3A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25"/>
          <p:cNvSpPr/>
          <p:nvPr/>
        </p:nvSpPr>
        <p:spPr>
          <a:xfrm>
            <a:off x="665244" y="2420874"/>
            <a:ext cx="109800" cy="109800"/>
          </a:xfrm>
          <a:prstGeom prst="rect">
            <a:avLst/>
          </a:prstGeom>
          <a:solidFill>
            <a:srgbClr val="0E9C8A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25"/>
          <p:cNvSpPr txBox="1"/>
          <p:nvPr/>
        </p:nvSpPr>
        <p:spPr>
          <a:xfrm>
            <a:off x="802390" y="2324865"/>
            <a:ext cx="2090700" cy="3900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0" spcFirstLastPara="1" rIns="0" wrap="square" tIns="190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fr" sz="1200" u="none" cap="none" strike="noStrike">
                <a:solidFill>
                  <a:srgbClr val="0E9C8A"/>
                </a:solidFill>
                <a:latin typeface="Calibri"/>
                <a:ea typeface="Calibri"/>
                <a:cs typeface="Calibri"/>
                <a:sym typeface="Calibri"/>
              </a:rPr>
              <a:t>Retriever hybride</a:t>
            </a:r>
            <a:endParaRPr sz="1200">
              <a:solidFill>
                <a:srgbClr val="0E9C8A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100"/>
              </a:spcBef>
              <a:spcAft>
                <a:spcPts val="0"/>
              </a:spcAft>
              <a:buNone/>
            </a:pPr>
            <a:r>
              <a:rPr i="0" lang="fr" sz="1000" u="none" cap="none" strike="noStrike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BM25 (lexical) + dense (embeddings)</a:t>
            </a:r>
            <a:endParaRPr sz="1100">
              <a:solidFill>
                <a:srgbClr val="9CA3A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25"/>
          <p:cNvSpPr/>
          <p:nvPr/>
        </p:nvSpPr>
        <p:spPr>
          <a:xfrm>
            <a:off x="665244" y="3120390"/>
            <a:ext cx="109800" cy="109800"/>
          </a:xfrm>
          <a:prstGeom prst="rect">
            <a:avLst/>
          </a:prstGeom>
          <a:solidFill>
            <a:srgbClr val="0E9C8A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25"/>
          <p:cNvSpPr txBox="1"/>
          <p:nvPr/>
        </p:nvSpPr>
        <p:spPr>
          <a:xfrm>
            <a:off x="802390" y="3024382"/>
            <a:ext cx="2090700" cy="3900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0" spcFirstLastPara="1" rIns="0" wrap="square" tIns="190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fr" sz="1200" u="none" cap="none" strike="noStrike">
                <a:solidFill>
                  <a:srgbClr val="0E9C8A"/>
                </a:solidFill>
                <a:latin typeface="Calibri"/>
                <a:ea typeface="Calibri"/>
                <a:cs typeface="Calibri"/>
                <a:sym typeface="Calibri"/>
              </a:rPr>
              <a:t>Périmètre cadré</a:t>
            </a:r>
            <a:endParaRPr sz="1200">
              <a:solidFill>
                <a:srgbClr val="0E9C8A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100"/>
              </a:spcBef>
              <a:spcAft>
                <a:spcPts val="0"/>
              </a:spcAft>
              <a:buNone/>
            </a:pPr>
            <a:r>
              <a:rPr i="0" lang="fr" sz="1000" u="none" cap="none" strike="noStrike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événements Pays de la Loire &lt; 1 an</a:t>
            </a:r>
            <a:endParaRPr sz="1100">
              <a:solidFill>
                <a:srgbClr val="9CA3A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25"/>
          <p:cNvSpPr/>
          <p:nvPr/>
        </p:nvSpPr>
        <p:spPr>
          <a:xfrm>
            <a:off x="665244" y="3819905"/>
            <a:ext cx="109800" cy="109800"/>
          </a:xfrm>
          <a:prstGeom prst="rect">
            <a:avLst/>
          </a:prstGeom>
          <a:solidFill>
            <a:srgbClr val="0E9C8A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25"/>
          <p:cNvSpPr txBox="1"/>
          <p:nvPr/>
        </p:nvSpPr>
        <p:spPr>
          <a:xfrm>
            <a:off x="802390" y="3723899"/>
            <a:ext cx="2090700" cy="3900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0" spcFirstLastPara="1" rIns="0" wrap="square" tIns="190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fr" sz="1200" u="none" cap="none" strike="noStrike">
                <a:solidFill>
                  <a:srgbClr val="0E9C8A"/>
                </a:solidFill>
                <a:latin typeface="Calibri"/>
                <a:ea typeface="Calibri"/>
                <a:cs typeface="Calibri"/>
                <a:sym typeface="Calibri"/>
              </a:rPr>
              <a:t>Réponses sourcées</a:t>
            </a:r>
            <a:endParaRPr sz="1200">
              <a:solidFill>
                <a:srgbClr val="0E9C8A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100"/>
              </a:spcBef>
              <a:spcAft>
                <a:spcPts val="0"/>
              </a:spcAft>
              <a:buNone/>
            </a:pPr>
            <a:r>
              <a:rPr i="0" lang="fr" sz="1000" cap="none" strike="noStrike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citations des documents récupérés</a:t>
            </a:r>
            <a:endParaRPr sz="1100">
              <a:solidFill>
                <a:srgbClr val="9CA3A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25"/>
          <p:cNvSpPr txBox="1"/>
          <p:nvPr/>
        </p:nvSpPr>
        <p:spPr>
          <a:xfrm>
            <a:off x="4629273" y="1110996"/>
            <a:ext cx="41148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0" spcFirstLastPara="1" rIns="0" wrap="square" tIns="190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fr" sz="1400" u="none" cap="none" strike="noStrike">
                <a:solidFill>
                  <a:srgbClr val="4F46E5"/>
                </a:solidFill>
                <a:latin typeface="Calibri"/>
                <a:ea typeface="Calibri"/>
                <a:cs typeface="Calibri"/>
                <a:sym typeface="Calibri"/>
              </a:rPr>
              <a:t>Ses limites</a:t>
            </a:r>
            <a:r>
              <a:rPr b="1" i="0" lang="fr" sz="14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1" i="0" lang="fr" sz="1400" u="none" cap="none" strike="noStrike">
                <a:solidFill>
                  <a:srgbClr val="0E9C8A"/>
                </a:solidFill>
                <a:latin typeface="Calibri"/>
                <a:ea typeface="Calibri"/>
                <a:cs typeface="Calibri"/>
                <a:sym typeface="Calibri"/>
              </a:rPr>
              <a:t>= nos 4 défis</a:t>
            </a:r>
            <a:endParaRPr sz="11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25"/>
          <p:cNvSpPr/>
          <p:nvPr/>
        </p:nvSpPr>
        <p:spPr>
          <a:xfrm>
            <a:off x="4629273" y="1577340"/>
            <a:ext cx="4114800" cy="685800"/>
          </a:xfrm>
          <a:prstGeom prst="roundRect">
            <a:avLst>
              <a:gd fmla="val 6000" name="adj"/>
            </a:avLst>
          </a:prstGeom>
          <a:solidFill>
            <a:srgbClr val="4F46E5">
              <a:alpha val="23999"/>
            </a:srgbClr>
          </a:solidFill>
          <a:ln cap="flat" cmpd="sng" w="7150">
            <a:solidFill>
              <a:srgbClr val="4F46E5"/>
            </a:solidFill>
            <a:prstDash val="solid"/>
            <a:round/>
            <a:headEnd len="sm" w="sm" type="none"/>
            <a:tailEnd len="sm" w="sm" type="none"/>
          </a:ln>
          <a:effectLst>
            <a:outerShdw blurRad="45001" rotWithShape="0" dir="5400000" dist="18750">
              <a:srgbClr val="8A93A6">
                <a:alpha val="32159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25"/>
          <p:cNvSpPr/>
          <p:nvPr/>
        </p:nvSpPr>
        <p:spPr>
          <a:xfrm>
            <a:off x="4766437" y="1762506"/>
            <a:ext cx="315600" cy="315600"/>
          </a:xfrm>
          <a:prstGeom prst="ellipse">
            <a:avLst/>
          </a:prstGeom>
          <a:solidFill>
            <a:srgbClr val="4F46E5">
              <a:alpha val="7999"/>
            </a:srgbClr>
          </a:solidFill>
          <a:ln cap="flat" cmpd="sng" w="9525">
            <a:solidFill>
              <a:srgbClr val="4F46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fr" sz="1100" u="none" cap="none" strike="noStrike">
                <a:solidFill>
                  <a:srgbClr val="4F46E5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sz="1100">
              <a:solidFill>
                <a:srgbClr val="4F46E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25"/>
          <p:cNvSpPr txBox="1"/>
          <p:nvPr/>
        </p:nvSpPr>
        <p:spPr>
          <a:xfrm>
            <a:off x="5225935" y="1687068"/>
            <a:ext cx="3429000" cy="3900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0" spcFirstLastPara="1" rIns="0" wrap="square" tIns="190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fr" sz="1200" u="none" cap="none" strike="noStrike">
                <a:solidFill>
                  <a:srgbClr val="4F46E5"/>
                </a:solidFill>
                <a:latin typeface="Calibri"/>
                <a:ea typeface="Calibri"/>
                <a:cs typeface="Calibri"/>
                <a:sym typeface="Calibri"/>
              </a:rPr>
              <a:t>Stateless</a:t>
            </a:r>
            <a:endParaRPr sz="1100">
              <a:solidFill>
                <a:srgbClr val="4F46E5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100"/>
              </a:spcBef>
              <a:spcAft>
                <a:spcPts val="0"/>
              </a:spcAft>
              <a:buNone/>
            </a:pPr>
            <a:r>
              <a:rPr i="0" lang="fr" sz="10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aucune mémoire de conversation</a:t>
            </a:r>
            <a:endParaRPr sz="11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25"/>
          <p:cNvSpPr/>
          <p:nvPr/>
        </p:nvSpPr>
        <p:spPr>
          <a:xfrm>
            <a:off x="4629273" y="2359151"/>
            <a:ext cx="4114800" cy="685800"/>
          </a:xfrm>
          <a:prstGeom prst="roundRect">
            <a:avLst>
              <a:gd fmla="val 6000" name="adj"/>
            </a:avLst>
          </a:prstGeom>
          <a:solidFill>
            <a:srgbClr val="4F46E5">
              <a:alpha val="15999"/>
            </a:srgbClr>
          </a:solidFill>
          <a:ln cap="flat" cmpd="sng" w="7150">
            <a:solidFill>
              <a:srgbClr val="4F46E5"/>
            </a:solidFill>
            <a:prstDash val="solid"/>
            <a:round/>
            <a:headEnd len="sm" w="sm" type="none"/>
            <a:tailEnd len="sm" w="sm" type="none"/>
          </a:ln>
          <a:effectLst>
            <a:outerShdw blurRad="45001" rotWithShape="0" dir="5400000" dist="18750">
              <a:srgbClr val="8A93A6">
                <a:alpha val="32159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25"/>
          <p:cNvSpPr/>
          <p:nvPr/>
        </p:nvSpPr>
        <p:spPr>
          <a:xfrm>
            <a:off x="4766437" y="2544317"/>
            <a:ext cx="315600" cy="315600"/>
          </a:xfrm>
          <a:prstGeom prst="ellipse">
            <a:avLst/>
          </a:prstGeom>
          <a:solidFill>
            <a:srgbClr val="4F46E5">
              <a:alpha val="7999"/>
            </a:srgbClr>
          </a:solidFill>
          <a:ln cap="flat" cmpd="sng" w="9525">
            <a:solidFill>
              <a:srgbClr val="4F46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fr" sz="1100" u="none" cap="none" strike="noStrike">
                <a:solidFill>
                  <a:srgbClr val="4F46E5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sz="1100">
              <a:solidFill>
                <a:srgbClr val="4F46E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25"/>
          <p:cNvSpPr txBox="1"/>
          <p:nvPr/>
        </p:nvSpPr>
        <p:spPr>
          <a:xfrm>
            <a:off x="5225935" y="2468879"/>
            <a:ext cx="3429000" cy="3900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0" spcFirstLastPara="1" rIns="0" wrap="square" tIns="190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fr" sz="1200" u="none" cap="none" strike="noStrike">
                <a:solidFill>
                  <a:srgbClr val="4F46E5"/>
                </a:solidFill>
                <a:latin typeface="Calibri"/>
                <a:ea typeface="Calibri"/>
                <a:cs typeface="Calibri"/>
                <a:sym typeface="Calibri"/>
              </a:rPr>
              <a:t>Pas de contexte géographique</a:t>
            </a:r>
            <a:endParaRPr sz="1100">
              <a:solidFill>
                <a:srgbClr val="4F46E5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100"/>
              </a:spcBef>
              <a:spcAft>
                <a:spcPts val="0"/>
              </a:spcAft>
              <a:buNone/>
            </a:pPr>
            <a:r>
              <a:rPr i="0" lang="fr" sz="10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impossible de filtrer par distance</a:t>
            </a:r>
            <a:endParaRPr sz="11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25"/>
          <p:cNvSpPr txBox="1"/>
          <p:nvPr/>
        </p:nvSpPr>
        <p:spPr>
          <a:xfrm>
            <a:off x="377200" y="4945850"/>
            <a:ext cx="999000" cy="166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700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MVP RAG Puls-Events</a:t>
            </a:r>
            <a:endParaRPr sz="700">
              <a:solidFill>
                <a:srgbClr val="9CA3A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26"/>
          <p:cNvSpPr/>
          <p:nvPr/>
        </p:nvSpPr>
        <p:spPr>
          <a:xfrm>
            <a:off x="377200" y="1111000"/>
            <a:ext cx="3909300" cy="3497700"/>
          </a:xfrm>
          <a:prstGeom prst="roundRect">
            <a:avLst>
              <a:gd fmla="val 6000" name="adj"/>
            </a:avLst>
          </a:prstGeom>
          <a:solidFill>
            <a:srgbClr val="0E9C8A">
              <a:alpha val="7999"/>
            </a:srgbClr>
          </a:solidFill>
          <a:ln cap="flat" cmpd="sng" w="7150">
            <a:solidFill>
              <a:srgbClr val="0E9C8A"/>
            </a:solidFill>
            <a:prstDash val="solid"/>
            <a:round/>
            <a:headEnd len="sm" w="sm" type="none"/>
            <a:tailEnd len="sm" w="sm" type="none"/>
          </a:ln>
          <a:effectLst>
            <a:outerShdw blurRad="45001" rotWithShape="0" dir="5400000" dist="18750">
              <a:srgbClr val="8A93A6">
                <a:alpha val="32159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26"/>
          <p:cNvSpPr txBox="1"/>
          <p:nvPr/>
        </p:nvSpPr>
        <p:spPr>
          <a:xfrm>
            <a:off x="377200" y="233175"/>
            <a:ext cx="1773600" cy="45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9050" lIns="0" spcFirstLastPara="1" rIns="0" wrap="square" tIns="190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fr" sz="1800" u="none" cap="none" strike="noStrike">
                <a:solidFill>
                  <a:srgbClr val="0E9C8A"/>
                </a:solidFill>
                <a:latin typeface="Calibri"/>
                <a:ea typeface="Calibri"/>
                <a:cs typeface="Calibri"/>
                <a:sym typeface="Calibri"/>
              </a:rPr>
              <a:t>P</a:t>
            </a:r>
            <a:r>
              <a:rPr b="1" lang="fr" sz="1800">
                <a:solidFill>
                  <a:srgbClr val="0E9C8A"/>
                </a:solidFill>
                <a:latin typeface="Calibri"/>
                <a:ea typeface="Calibri"/>
                <a:cs typeface="Calibri"/>
                <a:sym typeface="Calibri"/>
              </a:rPr>
              <a:t>oint de départ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26"/>
          <p:cNvSpPr txBox="1"/>
          <p:nvPr/>
        </p:nvSpPr>
        <p:spPr>
          <a:xfrm>
            <a:off x="377200" y="675550"/>
            <a:ext cx="22938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9050" lIns="0" spcFirstLastPara="1" rIns="0" wrap="square" tIns="190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fr" sz="1100" u="none" cap="none" strike="noStrike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L'existant — le POC </a:t>
            </a:r>
            <a:r>
              <a:rPr b="1" lang="fr" sz="1100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RAG Puls-Events</a:t>
            </a:r>
            <a:endParaRPr sz="1100">
              <a:solidFill>
                <a:srgbClr val="9CA3A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26"/>
          <p:cNvSpPr txBox="1"/>
          <p:nvPr/>
        </p:nvSpPr>
        <p:spPr>
          <a:xfrm>
            <a:off x="651526" y="1220725"/>
            <a:ext cx="21552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0" spcFirstLastPara="1" rIns="0" wrap="square" tIns="190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fr" sz="1400" u="none" cap="none" strike="noStrike">
                <a:solidFill>
                  <a:srgbClr val="0E9C8A"/>
                </a:solidFill>
                <a:latin typeface="Calibri"/>
                <a:ea typeface="Calibri"/>
                <a:cs typeface="Calibri"/>
                <a:sym typeface="Calibri"/>
              </a:rPr>
              <a:t>Ce qui fonctionne déjà</a:t>
            </a:r>
            <a:endParaRPr sz="1100">
              <a:solidFill>
                <a:srgbClr val="0E9C8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26"/>
          <p:cNvSpPr/>
          <p:nvPr/>
        </p:nvSpPr>
        <p:spPr>
          <a:xfrm>
            <a:off x="665244" y="1721358"/>
            <a:ext cx="109800" cy="109800"/>
          </a:xfrm>
          <a:prstGeom prst="rect">
            <a:avLst/>
          </a:prstGeom>
          <a:solidFill>
            <a:srgbClr val="0E9C8A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26"/>
          <p:cNvSpPr txBox="1"/>
          <p:nvPr/>
        </p:nvSpPr>
        <p:spPr>
          <a:xfrm>
            <a:off x="802390" y="1625348"/>
            <a:ext cx="2090700" cy="3900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0" spcFirstLastPara="1" rIns="0" wrap="square" tIns="190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fr" sz="1200" u="none" cap="none" strike="noStrike">
                <a:solidFill>
                  <a:srgbClr val="0E9C8A"/>
                </a:solidFill>
                <a:latin typeface="Calibri"/>
                <a:ea typeface="Calibri"/>
                <a:cs typeface="Calibri"/>
                <a:sym typeface="Calibri"/>
              </a:rPr>
              <a:t>RAG fonctionnel</a:t>
            </a:r>
            <a:endParaRPr sz="1200">
              <a:solidFill>
                <a:srgbClr val="0E9C8A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100"/>
              </a:spcBef>
              <a:spcAft>
                <a:spcPts val="0"/>
              </a:spcAft>
              <a:buNone/>
            </a:pPr>
            <a:r>
              <a:rPr i="0" lang="fr" sz="1000" u="none" cap="none" strike="noStrike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LangChain + Mistral + FAISS</a:t>
            </a:r>
            <a:endParaRPr sz="1100">
              <a:solidFill>
                <a:srgbClr val="9CA3A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26"/>
          <p:cNvSpPr/>
          <p:nvPr/>
        </p:nvSpPr>
        <p:spPr>
          <a:xfrm>
            <a:off x="665244" y="2420874"/>
            <a:ext cx="109800" cy="109800"/>
          </a:xfrm>
          <a:prstGeom prst="rect">
            <a:avLst/>
          </a:prstGeom>
          <a:solidFill>
            <a:srgbClr val="0E9C8A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26"/>
          <p:cNvSpPr txBox="1"/>
          <p:nvPr/>
        </p:nvSpPr>
        <p:spPr>
          <a:xfrm>
            <a:off x="802390" y="2324865"/>
            <a:ext cx="2090700" cy="3900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0" spcFirstLastPara="1" rIns="0" wrap="square" tIns="190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fr" sz="1200" u="none" cap="none" strike="noStrike">
                <a:solidFill>
                  <a:srgbClr val="0E9C8A"/>
                </a:solidFill>
                <a:latin typeface="Calibri"/>
                <a:ea typeface="Calibri"/>
                <a:cs typeface="Calibri"/>
                <a:sym typeface="Calibri"/>
              </a:rPr>
              <a:t>Retriever hybride</a:t>
            </a:r>
            <a:endParaRPr sz="1200">
              <a:solidFill>
                <a:srgbClr val="0E9C8A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100"/>
              </a:spcBef>
              <a:spcAft>
                <a:spcPts val="0"/>
              </a:spcAft>
              <a:buNone/>
            </a:pPr>
            <a:r>
              <a:rPr i="0" lang="fr" sz="1000" u="none" cap="none" strike="noStrike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BM25 (lexical) + dense (embeddings)</a:t>
            </a:r>
            <a:endParaRPr sz="1100">
              <a:solidFill>
                <a:srgbClr val="9CA3A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26"/>
          <p:cNvSpPr/>
          <p:nvPr/>
        </p:nvSpPr>
        <p:spPr>
          <a:xfrm>
            <a:off x="665244" y="3120390"/>
            <a:ext cx="109800" cy="109800"/>
          </a:xfrm>
          <a:prstGeom prst="rect">
            <a:avLst/>
          </a:prstGeom>
          <a:solidFill>
            <a:srgbClr val="0E9C8A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26"/>
          <p:cNvSpPr txBox="1"/>
          <p:nvPr/>
        </p:nvSpPr>
        <p:spPr>
          <a:xfrm>
            <a:off x="802390" y="3024382"/>
            <a:ext cx="2090700" cy="3900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0" spcFirstLastPara="1" rIns="0" wrap="square" tIns="190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fr" sz="1200" u="none" cap="none" strike="noStrike">
                <a:solidFill>
                  <a:srgbClr val="0E9C8A"/>
                </a:solidFill>
                <a:latin typeface="Calibri"/>
                <a:ea typeface="Calibri"/>
                <a:cs typeface="Calibri"/>
                <a:sym typeface="Calibri"/>
              </a:rPr>
              <a:t>Périmètre cadré</a:t>
            </a:r>
            <a:endParaRPr sz="1200">
              <a:solidFill>
                <a:srgbClr val="0E9C8A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100"/>
              </a:spcBef>
              <a:spcAft>
                <a:spcPts val="0"/>
              </a:spcAft>
              <a:buNone/>
            </a:pPr>
            <a:r>
              <a:rPr i="0" lang="fr" sz="1000" u="none" cap="none" strike="noStrike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événements Pays de la Loire &lt; 1 an</a:t>
            </a:r>
            <a:endParaRPr sz="1100">
              <a:solidFill>
                <a:srgbClr val="9CA3A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26"/>
          <p:cNvSpPr/>
          <p:nvPr/>
        </p:nvSpPr>
        <p:spPr>
          <a:xfrm>
            <a:off x="665244" y="3819905"/>
            <a:ext cx="109800" cy="109800"/>
          </a:xfrm>
          <a:prstGeom prst="rect">
            <a:avLst/>
          </a:prstGeom>
          <a:solidFill>
            <a:srgbClr val="0E9C8A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26"/>
          <p:cNvSpPr txBox="1"/>
          <p:nvPr/>
        </p:nvSpPr>
        <p:spPr>
          <a:xfrm>
            <a:off x="802390" y="3723899"/>
            <a:ext cx="2090700" cy="3900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0" spcFirstLastPara="1" rIns="0" wrap="square" tIns="190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fr" sz="1200" u="none" cap="none" strike="noStrike">
                <a:solidFill>
                  <a:srgbClr val="0E9C8A"/>
                </a:solidFill>
                <a:latin typeface="Calibri"/>
                <a:ea typeface="Calibri"/>
                <a:cs typeface="Calibri"/>
                <a:sym typeface="Calibri"/>
              </a:rPr>
              <a:t>Réponses sourcées</a:t>
            </a:r>
            <a:endParaRPr sz="1200">
              <a:solidFill>
                <a:srgbClr val="0E9C8A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100"/>
              </a:spcBef>
              <a:spcAft>
                <a:spcPts val="0"/>
              </a:spcAft>
              <a:buNone/>
            </a:pPr>
            <a:r>
              <a:rPr i="0" lang="fr" sz="1000" cap="none" strike="noStrike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citations des documents récupérés</a:t>
            </a:r>
            <a:endParaRPr sz="1100">
              <a:solidFill>
                <a:srgbClr val="9CA3A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26"/>
          <p:cNvSpPr txBox="1"/>
          <p:nvPr/>
        </p:nvSpPr>
        <p:spPr>
          <a:xfrm>
            <a:off x="4629273" y="1110996"/>
            <a:ext cx="41148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0" spcFirstLastPara="1" rIns="0" wrap="square" tIns="190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fr" sz="1400" u="none" cap="none" strike="noStrike">
                <a:solidFill>
                  <a:srgbClr val="4F46E5"/>
                </a:solidFill>
                <a:latin typeface="Calibri"/>
                <a:ea typeface="Calibri"/>
                <a:cs typeface="Calibri"/>
                <a:sym typeface="Calibri"/>
              </a:rPr>
              <a:t>Ses limites</a:t>
            </a:r>
            <a:r>
              <a:rPr b="1" i="0" lang="fr" sz="14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1" i="0" lang="fr" sz="1400" u="none" cap="none" strike="noStrike">
                <a:solidFill>
                  <a:srgbClr val="0E9C8A"/>
                </a:solidFill>
                <a:latin typeface="Calibri"/>
                <a:ea typeface="Calibri"/>
                <a:cs typeface="Calibri"/>
                <a:sym typeface="Calibri"/>
              </a:rPr>
              <a:t>= nos 4 défis</a:t>
            </a:r>
            <a:endParaRPr sz="11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26"/>
          <p:cNvSpPr/>
          <p:nvPr/>
        </p:nvSpPr>
        <p:spPr>
          <a:xfrm>
            <a:off x="4629273" y="1577340"/>
            <a:ext cx="4114800" cy="685800"/>
          </a:xfrm>
          <a:prstGeom prst="roundRect">
            <a:avLst>
              <a:gd fmla="val 6000" name="adj"/>
            </a:avLst>
          </a:prstGeom>
          <a:solidFill>
            <a:srgbClr val="4F46E5">
              <a:alpha val="23999"/>
            </a:srgbClr>
          </a:solidFill>
          <a:ln cap="flat" cmpd="sng" w="7150">
            <a:solidFill>
              <a:srgbClr val="4F46E5"/>
            </a:solidFill>
            <a:prstDash val="solid"/>
            <a:round/>
            <a:headEnd len="sm" w="sm" type="none"/>
            <a:tailEnd len="sm" w="sm" type="none"/>
          </a:ln>
          <a:effectLst>
            <a:outerShdw blurRad="45001" rotWithShape="0" dir="5400000" dist="18750">
              <a:srgbClr val="8A93A6">
                <a:alpha val="32159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26"/>
          <p:cNvSpPr/>
          <p:nvPr/>
        </p:nvSpPr>
        <p:spPr>
          <a:xfrm>
            <a:off x="4766437" y="1762506"/>
            <a:ext cx="315600" cy="315600"/>
          </a:xfrm>
          <a:prstGeom prst="ellipse">
            <a:avLst/>
          </a:prstGeom>
          <a:solidFill>
            <a:srgbClr val="4F46E5">
              <a:alpha val="7999"/>
            </a:srgbClr>
          </a:solidFill>
          <a:ln cap="flat" cmpd="sng" w="9525">
            <a:solidFill>
              <a:srgbClr val="4F46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fr" sz="1100" u="none" cap="none" strike="noStrike">
                <a:solidFill>
                  <a:srgbClr val="4F46E5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sz="1100">
              <a:solidFill>
                <a:srgbClr val="4F46E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26"/>
          <p:cNvSpPr txBox="1"/>
          <p:nvPr/>
        </p:nvSpPr>
        <p:spPr>
          <a:xfrm>
            <a:off x="5225935" y="1687068"/>
            <a:ext cx="3429000" cy="3900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0" spcFirstLastPara="1" rIns="0" wrap="square" tIns="190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fr" sz="1200" u="none" cap="none" strike="noStrike">
                <a:solidFill>
                  <a:srgbClr val="4F46E5"/>
                </a:solidFill>
                <a:latin typeface="Calibri"/>
                <a:ea typeface="Calibri"/>
                <a:cs typeface="Calibri"/>
                <a:sym typeface="Calibri"/>
              </a:rPr>
              <a:t>Stateless</a:t>
            </a:r>
            <a:endParaRPr sz="1100">
              <a:solidFill>
                <a:srgbClr val="4F46E5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100"/>
              </a:spcBef>
              <a:spcAft>
                <a:spcPts val="0"/>
              </a:spcAft>
              <a:buNone/>
            </a:pPr>
            <a:r>
              <a:rPr i="0" lang="fr" sz="10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aucune mémoire de conversation</a:t>
            </a:r>
            <a:endParaRPr sz="11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26"/>
          <p:cNvSpPr/>
          <p:nvPr/>
        </p:nvSpPr>
        <p:spPr>
          <a:xfrm>
            <a:off x="4629273" y="2359151"/>
            <a:ext cx="4114800" cy="685800"/>
          </a:xfrm>
          <a:prstGeom prst="roundRect">
            <a:avLst>
              <a:gd fmla="val 6000" name="adj"/>
            </a:avLst>
          </a:prstGeom>
          <a:solidFill>
            <a:srgbClr val="4F46E5">
              <a:alpha val="15999"/>
            </a:srgbClr>
          </a:solidFill>
          <a:ln cap="flat" cmpd="sng" w="7150">
            <a:solidFill>
              <a:srgbClr val="4F46E5"/>
            </a:solidFill>
            <a:prstDash val="solid"/>
            <a:round/>
            <a:headEnd len="sm" w="sm" type="none"/>
            <a:tailEnd len="sm" w="sm" type="none"/>
          </a:ln>
          <a:effectLst>
            <a:outerShdw blurRad="45001" rotWithShape="0" dir="5400000" dist="18750">
              <a:srgbClr val="8A93A6">
                <a:alpha val="32159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p26"/>
          <p:cNvSpPr/>
          <p:nvPr/>
        </p:nvSpPr>
        <p:spPr>
          <a:xfrm>
            <a:off x="4766437" y="2544317"/>
            <a:ext cx="315600" cy="315600"/>
          </a:xfrm>
          <a:prstGeom prst="ellipse">
            <a:avLst/>
          </a:prstGeom>
          <a:solidFill>
            <a:srgbClr val="4F46E5">
              <a:alpha val="7999"/>
            </a:srgbClr>
          </a:solidFill>
          <a:ln cap="flat" cmpd="sng" w="9525">
            <a:solidFill>
              <a:srgbClr val="4F46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fr" sz="1100" u="none" cap="none" strike="noStrike">
                <a:solidFill>
                  <a:srgbClr val="4F46E5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sz="1100">
              <a:solidFill>
                <a:srgbClr val="4F46E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26"/>
          <p:cNvSpPr txBox="1"/>
          <p:nvPr/>
        </p:nvSpPr>
        <p:spPr>
          <a:xfrm>
            <a:off x="5225935" y="2468879"/>
            <a:ext cx="3429000" cy="3900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0" spcFirstLastPara="1" rIns="0" wrap="square" tIns="190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fr" sz="1200" u="none" cap="none" strike="noStrike">
                <a:solidFill>
                  <a:srgbClr val="4F46E5"/>
                </a:solidFill>
                <a:latin typeface="Calibri"/>
                <a:ea typeface="Calibri"/>
                <a:cs typeface="Calibri"/>
                <a:sym typeface="Calibri"/>
              </a:rPr>
              <a:t>Pas de contexte géographique</a:t>
            </a:r>
            <a:endParaRPr sz="1100">
              <a:solidFill>
                <a:srgbClr val="4F46E5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100"/>
              </a:spcBef>
              <a:spcAft>
                <a:spcPts val="0"/>
              </a:spcAft>
              <a:buNone/>
            </a:pPr>
            <a:r>
              <a:rPr i="0" lang="fr" sz="10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impossible de filtrer par distance</a:t>
            </a:r>
            <a:endParaRPr sz="11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26"/>
          <p:cNvSpPr/>
          <p:nvPr/>
        </p:nvSpPr>
        <p:spPr>
          <a:xfrm>
            <a:off x="4629273" y="3140963"/>
            <a:ext cx="4114800" cy="685800"/>
          </a:xfrm>
          <a:prstGeom prst="roundRect">
            <a:avLst>
              <a:gd fmla="val 6000" name="adj"/>
            </a:avLst>
          </a:prstGeom>
          <a:solidFill>
            <a:srgbClr val="4F46E5">
              <a:alpha val="7999"/>
            </a:srgbClr>
          </a:solidFill>
          <a:ln cap="flat" cmpd="sng" w="7150">
            <a:solidFill>
              <a:srgbClr val="4F46E5"/>
            </a:solidFill>
            <a:prstDash val="solid"/>
            <a:round/>
            <a:headEnd len="sm" w="sm" type="none"/>
            <a:tailEnd len="sm" w="sm" type="none"/>
          </a:ln>
          <a:effectLst>
            <a:outerShdw blurRad="45001" rotWithShape="0" dir="5400000" dist="18750">
              <a:srgbClr val="8A93A6">
                <a:alpha val="32159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26"/>
          <p:cNvSpPr/>
          <p:nvPr/>
        </p:nvSpPr>
        <p:spPr>
          <a:xfrm>
            <a:off x="4766437" y="3326130"/>
            <a:ext cx="315600" cy="315600"/>
          </a:xfrm>
          <a:prstGeom prst="ellipse">
            <a:avLst/>
          </a:prstGeom>
          <a:solidFill>
            <a:srgbClr val="4F46E5">
              <a:alpha val="7999"/>
            </a:srgbClr>
          </a:solidFill>
          <a:ln cap="flat" cmpd="sng" w="9525">
            <a:solidFill>
              <a:srgbClr val="4F46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fr" sz="1100" u="none" cap="none" strike="noStrike">
                <a:solidFill>
                  <a:srgbClr val="4F46E5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sz="1100">
              <a:solidFill>
                <a:srgbClr val="4F46E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p26"/>
          <p:cNvSpPr txBox="1"/>
          <p:nvPr/>
        </p:nvSpPr>
        <p:spPr>
          <a:xfrm>
            <a:off x="5225935" y="3250691"/>
            <a:ext cx="3429000" cy="3900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0" spcFirstLastPara="1" rIns="0" wrap="square" tIns="190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fr" sz="1200" u="none" cap="none" strike="noStrike">
                <a:solidFill>
                  <a:srgbClr val="4F46E5"/>
                </a:solidFill>
                <a:latin typeface="Calibri"/>
                <a:ea typeface="Calibri"/>
                <a:cs typeface="Calibri"/>
                <a:sym typeface="Calibri"/>
              </a:rPr>
              <a:t>Connaissance figée</a:t>
            </a:r>
            <a:endParaRPr sz="1100">
              <a:solidFill>
                <a:srgbClr val="4F46E5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100"/>
              </a:spcBef>
              <a:spcAft>
                <a:spcPts val="0"/>
              </a:spcAft>
              <a:buNone/>
            </a:pPr>
            <a:r>
              <a:rPr i="0" lang="fr" sz="10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pas d'accès web temps réel</a:t>
            </a:r>
            <a:endParaRPr sz="11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p26"/>
          <p:cNvSpPr txBox="1"/>
          <p:nvPr/>
        </p:nvSpPr>
        <p:spPr>
          <a:xfrm>
            <a:off x="377200" y="4945850"/>
            <a:ext cx="999000" cy="166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700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MVP RAG Puls-Events</a:t>
            </a:r>
            <a:endParaRPr sz="700">
              <a:solidFill>
                <a:srgbClr val="9CA3A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27"/>
          <p:cNvSpPr/>
          <p:nvPr/>
        </p:nvSpPr>
        <p:spPr>
          <a:xfrm>
            <a:off x="377200" y="1111000"/>
            <a:ext cx="3909300" cy="3497700"/>
          </a:xfrm>
          <a:prstGeom prst="roundRect">
            <a:avLst>
              <a:gd fmla="val 6000" name="adj"/>
            </a:avLst>
          </a:prstGeom>
          <a:solidFill>
            <a:srgbClr val="0E9C8A">
              <a:alpha val="7999"/>
            </a:srgbClr>
          </a:solidFill>
          <a:ln cap="flat" cmpd="sng" w="7150">
            <a:solidFill>
              <a:srgbClr val="0E9C8A"/>
            </a:solidFill>
            <a:prstDash val="solid"/>
            <a:round/>
            <a:headEnd len="sm" w="sm" type="none"/>
            <a:tailEnd len="sm" w="sm" type="none"/>
          </a:ln>
          <a:effectLst>
            <a:outerShdw blurRad="45001" rotWithShape="0" dir="5400000" dist="18750">
              <a:srgbClr val="8A93A6">
                <a:alpha val="32159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" name="Google Shape;269;p27"/>
          <p:cNvSpPr txBox="1"/>
          <p:nvPr/>
        </p:nvSpPr>
        <p:spPr>
          <a:xfrm>
            <a:off x="377200" y="233175"/>
            <a:ext cx="1773600" cy="45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9050" lIns="0" spcFirstLastPara="1" rIns="0" wrap="square" tIns="190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fr" sz="1800" u="none" cap="none" strike="noStrike">
                <a:solidFill>
                  <a:srgbClr val="0E9C8A"/>
                </a:solidFill>
                <a:latin typeface="Calibri"/>
                <a:ea typeface="Calibri"/>
                <a:cs typeface="Calibri"/>
                <a:sym typeface="Calibri"/>
              </a:rPr>
              <a:t>P</a:t>
            </a:r>
            <a:r>
              <a:rPr b="1" lang="fr" sz="1800">
                <a:solidFill>
                  <a:srgbClr val="0E9C8A"/>
                </a:solidFill>
                <a:latin typeface="Calibri"/>
                <a:ea typeface="Calibri"/>
                <a:cs typeface="Calibri"/>
                <a:sym typeface="Calibri"/>
              </a:rPr>
              <a:t>oint de départ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" name="Google Shape;270;p27"/>
          <p:cNvSpPr txBox="1"/>
          <p:nvPr/>
        </p:nvSpPr>
        <p:spPr>
          <a:xfrm>
            <a:off x="377200" y="675550"/>
            <a:ext cx="22938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9050" lIns="0" spcFirstLastPara="1" rIns="0" wrap="square" tIns="190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fr" sz="1100" u="none" cap="none" strike="noStrike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L'existant — le POC </a:t>
            </a:r>
            <a:r>
              <a:rPr b="1" lang="fr" sz="1100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RAG Puls-Events</a:t>
            </a:r>
            <a:endParaRPr sz="1100">
              <a:solidFill>
                <a:srgbClr val="9CA3A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" name="Google Shape;271;p27"/>
          <p:cNvSpPr txBox="1"/>
          <p:nvPr/>
        </p:nvSpPr>
        <p:spPr>
          <a:xfrm>
            <a:off x="651526" y="1220725"/>
            <a:ext cx="21552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0" spcFirstLastPara="1" rIns="0" wrap="square" tIns="190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fr" sz="1400" u="none" cap="none" strike="noStrike">
                <a:solidFill>
                  <a:srgbClr val="0E9C8A"/>
                </a:solidFill>
                <a:latin typeface="Calibri"/>
                <a:ea typeface="Calibri"/>
                <a:cs typeface="Calibri"/>
                <a:sym typeface="Calibri"/>
              </a:rPr>
              <a:t>Ce qui fonctionne déjà</a:t>
            </a:r>
            <a:endParaRPr sz="1100">
              <a:solidFill>
                <a:srgbClr val="0E9C8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p27"/>
          <p:cNvSpPr/>
          <p:nvPr/>
        </p:nvSpPr>
        <p:spPr>
          <a:xfrm>
            <a:off x="665244" y="1721358"/>
            <a:ext cx="109800" cy="109800"/>
          </a:xfrm>
          <a:prstGeom prst="rect">
            <a:avLst/>
          </a:prstGeom>
          <a:solidFill>
            <a:srgbClr val="0E9C8A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" name="Google Shape;273;p27"/>
          <p:cNvSpPr txBox="1"/>
          <p:nvPr/>
        </p:nvSpPr>
        <p:spPr>
          <a:xfrm>
            <a:off x="802390" y="1625348"/>
            <a:ext cx="2090700" cy="3900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0" spcFirstLastPara="1" rIns="0" wrap="square" tIns="190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fr" sz="1200" u="none" cap="none" strike="noStrike">
                <a:solidFill>
                  <a:srgbClr val="0E9C8A"/>
                </a:solidFill>
                <a:latin typeface="Calibri"/>
                <a:ea typeface="Calibri"/>
                <a:cs typeface="Calibri"/>
                <a:sym typeface="Calibri"/>
              </a:rPr>
              <a:t>RAG fonctionnel</a:t>
            </a:r>
            <a:endParaRPr sz="1200">
              <a:solidFill>
                <a:srgbClr val="0E9C8A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100"/>
              </a:spcBef>
              <a:spcAft>
                <a:spcPts val="0"/>
              </a:spcAft>
              <a:buNone/>
            </a:pPr>
            <a:r>
              <a:rPr i="0" lang="fr" sz="1000" u="none" cap="none" strike="noStrike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LangChain + Mistral + FAISS</a:t>
            </a:r>
            <a:endParaRPr sz="1100">
              <a:solidFill>
                <a:srgbClr val="9CA3A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" name="Google Shape;274;p27"/>
          <p:cNvSpPr/>
          <p:nvPr/>
        </p:nvSpPr>
        <p:spPr>
          <a:xfrm>
            <a:off x="665244" y="2420874"/>
            <a:ext cx="109800" cy="109800"/>
          </a:xfrm>
          <a:prstGeom prst="rect">
            <a:avLst/>
          </a:prstGeom>
          <a:solidFill>
            <a:srgbClr val="0E9C8A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" name="Google Shape;275;p27"/>
          <p:cNvSpPr txBox="1"/>
          <p:nvPr/>
        </p:nvSpPr>
        <p:spPr>
          <a:xfrm>
            <a:off x="802390" y="2324865"/>
            <a:ext cx="2090700" cy="3900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0" spcFirstLastPara="1" rIns="0" wrap="square" tIns="190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fr" sz="1200" u="none" cap="none" strike="noStrike">
                <a:solidFill>
                  <a:srgbClr val="0E9C8A"/>
                </a:solidFill>
                <a:latin typeface="Calibri"/>
                <a:ea typeface="Calibri"/>
                <a:cs typeface="Calibri"/>
                <a:sym typeface="Calibri"/>
              </a:rPr>
              <a:t>Retriever hybride</a:t>
            </a:r>
            <a:endParaRPr sz="1200">
              <a:solidFill>
                <a:srgbClr val="0E9C8A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100"/>
              </a:spcBef>
              <a:spcAft>
                <a:spcPts val="0"/>
              </a:spcAft>
              <a:buNone/>
            </a:pPr>
            <a:r>
              <a:rPr i="0" lang="fr" sz="1000" u="none" cap="none" strike="noStrike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BM25 (lexical) + dense (embeddings)</a:t>
            </a:r>
            <a:endParaRPr sz="1100">
              <a:solidFill>
                <a:srgbClr val="9CA3A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" name="Google Shape;276;p27"/>
          <p:cNvSpPr/>
          <p:nvPr/>
        </p:nvSpPr>
        <p:spPr>
          <a:xfrm>
            <a:off x="665244" y="3120390"/>
            <a:ext cx="109800" cy="109800"/>
          </a:xfrm>
          <a:prstGeom prst="rect">
            <a:avLst/>
          </a:prstGeom>
          <a:solidFill>
            <a:srgbClr val="0E9C8A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" name="Google Shape;277;p27"/>
          <p:cNvSpPr txBox="1"/>
          <p:nvPr/>
        </p:nvSpPr>
        <p:spPr>
          <a:xfrm>
            <a:off x="802390" y="3024382"/>
            <a:ext cx="2090700" cy="3900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0" spcFirstLastPara="1" rIns="0" wrap="square" tIns="190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fr" sz="1200" u="none" cap="none" strike="noStrike">
                <a:solidFill>
                  <a:srgbClr val="0E9C8A"/>
                </a:solidFill>
                <a:latin typeface="Calibri"/>
                <a:ea typeface="Calibri"/>
                <a:cs typeface="Calibri"/>
                <a:sym typeface="Calibri"/>
              </a:rPr>
              <a:t>Périmètre cadré</a:t>
            </a:r>
            <a:endParaRPr sz="1200">
              <a:solidFill>
                <a:srgbClr val="0E9C8A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100"/>
              </a:spcBef>
              <a:spcAft>
                <a:spcPts val="0"/>
              </a:spcAft>
              <a:buNone/>
            </a:pPr>
            <a:r>
              <a:rPr i="0" lang="fr" sz="1000" u="none" cap="none" strike="noStrike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événements Pays de la Loire &lt; 1 an</a:t>
            </a:r>
            <a:endParaRPr sz="1100">
              <a:solidFill>
                <a:srgbClr val="9CA3A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8" name="Google Shape;278;p27"/>
          <p:cNvSpPr/>
          <p:nvPr/>
        </p:nvSpPr>
        <p:spPr>
          <a:xfrm>
            <a:off x="665244" y="3819905"/>
            <a:ext cx="109800" cy="109800"/>
          </a:xfrm>
          <a:prstGeom prst="rect">
            <a:avLst/>
          </a:prstGeom>
          <a:solidFill>
            <a:srgbClr val="0E9C8A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" name="Google Shape;279;p27"/>
          <p:cNvSpPr txBox="1"/>
          <p:nvPr/>
        </p:nvSpPr>
        <p:spPr>
          <a:xfrm>
            <a:off x="802390" y="3723899"/>
            <a:ext cx="2090700" cy="3900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0" spcFirstLastPara="1" rIns="0" wrap="square" tIns="190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fr" sz="1200" u="none" cap="none" strike="noStrike">
                <a:solidFill>
                  <a:srgbClr val="0E9C8A"/>
                </a:solidFill>
                <a:latin typeface="Calibri"/>
                <a:ea typeface="Calibri"/>
                <a:cs typeface="Calibri"/>
                <a:sym typeface="Calibri"/>
              </a:rPr>
              <a:t>Réponses sourcées</a:t>
            </a:r>
            <a:endParaRPr sz="1200">
              <a:solidFill>
                <a:srgbClr val="0E9C8A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100"/>
              </a:spcBef>
              <a:spcAft>
                <a:spcPts val="0"/>
              </a:spcAft>
              <a:buNone/>
            </a:pPr>
            <a:r>
              <a:rPr i="0" lang="fr" sz="1000" cap="none" strike="noStrike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citations des documents récupérés</a:t>
            </a:r>
            <a:endParaRPr sz="1100">
              <a:solidFill>
                <a:srgbClr val="9CA3A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" name="Google Shape;280;p27"/>
          <p:cNvSpPr txBox="1"/>
          <p:nvPr/>
        </p:nvSpPr>
        <p:spPr>
          <a:xfrm>
            <a:off x="4629273" y="1110996"/>
            <a:ext cx="41148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0" spcFirstLastPara="1" rIns="0" wrap="square" tIns="190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fr" sz="1400" u="none" cap="none" strike="noStrike">
                <a:solidFill>
                  <a:srgbClr val="4F46E5"/>
                </a:solidFill>
                <a:latin typeface="Calibri"/>
                <a:ea typeface="Calibri"/>
                <a:cs typeface="Calibri"/>
                <a:sym typeface="Calibri"/>
              </a:rPr>
              <a:t>Ses limites</a:t>
            </a:r>
            <a:r>
              <a:rPr b="1" i="0" lang="fr" sz="14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1" i="0" lang="fr" sz="1400" u="none" cap="none" strike="noStrike">
                <a:solidFill>
                  <a:srgbClr val="0E9C8A"/>
                </a:solidFill>
                <a:latin typeface="Calibri"/>
                <a:ea typeface="Calibri"/>
                <a:cs typeface="Calibri"/>
                <a:sym typeface="Calibri"/>
              </a:rPr>
              <a:t>= nos 4 défis</a:t>
            </a:r>
            <a:endParaRPr sz="11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1" name="Google Shape;281;p27"/>
          <p:cNvSpPr/>
          <p:nvPr/>
        </p:nvSpPr>
        <p:spPr>
          <a:xfrm>
            <a:off x="4629273" y="1577340"/>
            <a:ext cx="4114800" cy="685800"/>
          </a:xfrm>
          <a:prstGeom prst="roundRect">
            <a:avLst>
              <a:gd fmla="val 6000" name="adj"/>
            </a:avLst>
          </a:prstGeom>
          <a:solidFill>
            <a:srgbClr val="4F46E5">
              <a:alpha val="23999"/>
            </a:srgbClr>
          </a:solidFill>
          <a:ln cap="flat" cmpd="sng" w="7150">
            <a:solidFill>
              <a:srgbClr val="4F46E5"/>
            </a:solidFill>
            <a:prstDash val="solid"/>
            <a:round/>
            <a:headEnd len="sm" w="sm" type="none"/>
            <a:tailEnd len="sm" w="sm" type="none"/>
          </a:ln>
          <a:effectLst>
            <a:outerShdw blurRad="45001" rotWithShape="0" dir="5400000" dist="18750">
              <a:srgbClr val="8A93A6">
                <a:alpha val="32159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" name="Google Shape;282;p27"/>
          <p:cNvSpPr/>
          <p:nvPr/>
        </p:nvSpPr>
        <p:spPr>
          <a:xfrm>
            <a:off x="4766437" y="1762506"/>
            <a:ext cx="315600" cy="315600"/>
          </a:xfrm>
          <a:prstGeom prst="ellipse">
            <a:avLst/>
          </a:prstGeom>
          <a:solidFill>
            <a:srgbClr val="4F46E5">
              <a:alpha val="7999"/>
            </a:srgbClr>
          </a:solidFill>
          <a:ln cap="flat" cmpd="sng" w="9525">
            <a:solidFill>
              <a:srgbClr val="4F46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fr" sz="1100" u="none" cap="none" strike="noStrike">
                <a:solidFill>
                  <a:srgbClr val="4F46E5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sz="1100">
              <a:solidFill>
                <a:srgbClr val="4F46E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" name="Google Shape;283;p27"/>
          <p:cNvSpPr txBox="1"/>
          <p:nvPr/>
        </p:nvSpPr>
        <p:spPr>
          <a:xfrm>
            <a:off x="5225935" y="1687068"/>
            <a:ext cx="3429000" cy="3900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0" spcFirstLastPara="1" rIns="0" wrap="square" tIns="190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fr" sz="1200" u="none" cap="none" strike="noStrike">
                <a:solidFill>
                  <a:srgbClr val="4F46E5"/>
                </a:solidFill>
                <a:latin typeface="Calibri"/>
                <a:ea typeface="Calibri"/>
                <a:cs typeface="Calibri"/>
                <a:sym typeface="Calibri"/>
              </a:rPr>
              <a:t>Stateless</a:t>
            </a:r>
            <a:endParaRPr sz="1100">
              <a:solidFill>
                <a:srgbClr val="4F46E5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100"/>
              </a:spcBef>
              <a:spcAft>
                <a:spcPts val="0"/>
              </a:spcAft>
              <a:buNone/>
            </a:pPr>
            <a:r>
              <a:rPr i="0" lang="fr" sz="10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aucune mémoire de conversation</a:t>
            </a:r>
            <a:endParaRPr sz="11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" name="Google Shape;284;p27"/>
          <p:cNvSpPr/>
          <p:nvPr/>
        </p:nvSpPr>
        <p:spPr>
          <a:xfrm>
            <a:off x="4629273" y="2359151"/>
            <a:ext cx="4114800" cy="685800"/>
          </a:xfrm>
          <a:prstGeom prst="roundRect">
            <a:avLst>
              <a:gd fmla="val 6000" name="adj"/>
            </a:avLst>
          </a:prstGeom>
          <a:solidFill>
            <a:srgbClr val="4F46E5">
              <a:alpha val="15999"/>
            </a:srgbClr>
          </a:solidFill>
          <a:ln cap="flat" cmpd="sng" w="7150">
            <a:solidFill>
              <a:srgbClr val="4F46E5"/>
            </a:solidFill>
            <a:prstDash val="solid"/>
            <a:round/>
            <a:headEnd len="sm" w="sm" type="none"/>
            <a:tailEnd len="sm" w="sm" type="none"/>
          </a:ln>
          <a:effectLst>
            <a:outerShdw blurRad="45001" rotWithShape="0" dir="5400000" dist="18750">
              <a:srgbClr val="8A93A6">
                <a:alpha val="32159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5" name="Google Shape;285;p27"/>
          <p:cNvSpPr/>
          <p:nvPr/>
        </p:nvSpPr>
        <p:spPr>
          <a:xfrm>
            <a:off x="4766437" y="2544317"/>
            <a:ext cx="315600" cy="315600"/>
          </a:xfrm>
          <a:prstGeom prst="ellipse">
            <a:avLst/>
          </a:prstGeom>
          <a:solidFill>
            <a:srgbClr val="4F46E5">
              <a:alpha val="7999"/>
            </a:srgbClr>
          </a:solidFill>
          <a:ln cap="flat" cmpd="sng" w="9525">
            <a:solidFill>
              <a:srgbClr val="4F46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fr" sz="1100" u="none" cap="none" strike="noStrike">
                <a:solidFill>
                  <a:srgbClr val="4F46E5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sz="1100">
              <a:solidFill>
                <a:srgbClr val="4F46E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6" name="Google Shape;286;p27"/>
          <p:cNvSpPr txBox="1"/>
          <p:nvPr/>
        </p:nvSpPr>
        <p:spPr>
          <a:xfrm>
            <a:off x="5225935" y="2468879"/>
            <a:ext cx="3429000" cy="3900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0" spcFirstLastPara="1" rIns="0" wrap="square" tIns="190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fr" sz="1200" u="none" cap="none" strike="noStrike">
                <a:solidFill>
                  <a:srgbClr val="4F46E5"/>
                </a:solidFill>
                <a:latin typeface="Calibri"/>
                <a:ea typeface="Calibri"/>
                <a:cs typeface="Calibri"/>
                <a:sym typeface="Calibri"/>
              </a:rPr>
              <a:t>Pas de contexte géographique</a:t>
            </a:r>
            <a:endParaRPr sz="1100">
              <a:solidFill>
                <a:srgbClr val="4F46E5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100"/>
              </a:spcBef>
              <a:spcAft>
                <a:spcPts val="0"/>
              </a:spcAft>
              <a:buNone/>
            </a:pPr>
            <a:r>
              <a:rPr i="0" lang="fr" sz="10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impossible de filtrer par distance</a:t>
            </a:r>
            <a:endParaRPr sz="11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7" name="Google Shape;287;p27"/>
          <p:cNvSpPr/>
          <p:nvPr/>
        </p:nvSpPr>
        <p:spPr>
          <a:xfrm>
            <a:off x="4629273" y="3140963"/>
            <a:ext cx="4114800" cy="685800"/>
          </a:xfrm>
          <a:prstGeom prst="roundRect">
            <a:avLst>
              <a:gd fmla="val 6000" name="adj"/>
            </a:avLst>
          </a:prstGeom>
          <a:solidFill>
            <a:srgbClr val="4F46E5">
              <a:alpha val="7999"/>
            </a:srgbClr>
          </a:solidFill>
          <a:ln cap="flat" cmpd="sng" w="7150">
            <a:solidFill>
              <a:srgbClr val="4F46E5"/>
            </a:solidFill>
            <a:prstDash val="solid"/>
            <a:round/>
            <a:headEnd len="sm" w="sm" type="none"/>
            <a:tailEnd len="sm" w="sm" type="none"/>
          </a:ln>
          <a:effectLst>
            <a:outerShdw blurRad="45001" rotWithShape="0" dir="5400000" dist="18750">
              <a:srgbClr val="8A93A6">
                <a:alpha val="32159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" name="Google Shape;288;p27"/>
          <p:cNvSpPr/>
          <p:nvPr/>
        </p:nvSpPr>
        <p:spPr>
          <a:xfrm>
            <a:off x="4766437" y="3326130"/>
            <a:ext cx="315600" cy="315600"/>
          </a:xfrm>
          <a:prstGeom prst="ellipse">
            <a:avLst/>
          </a:prstGeom>
          <a:solidFill>
            <a:srgbClr val="4F46E5">
              <a:alpha val="7999"/>
            </a:srgbClr>
          </a:solidFill>
          <a:ln cap="flat" cmpd="sng" w="9525">
            <a:solidFill>
              <a:srgbClr val="4F46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fr" sz="1100" u="none" cap="none" strike="noStrike">
                <a:solidFill>
                  <a:srgbClr val="4F46E5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sz="1100">
              <a:solidFill>
                <a:srgbClr val="4F46E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9" name="Google Shape;289;p27"/>
          <p:cNvSpPr txBox="1"/>
          <p:nvPr/>
        </p:nvSpPr>
        <p:spPr>
          <a:xfrm>
            <a:off x="5225935" y="3250691"/>
            <a:ext cx="3429000" cy="3900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0" spcFirstLastPara="1" rIns="0" wrap="square" tIns="190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fr" sz="1200" u="none" cap="none" strike="noStrike">
                <a:solidFill>
                  <a:srgbClr val="4F46E5"/>
                </a:solidFill>
                <a:latin typeface="Calibri"/>
                <a:ea typeface="Calibri"/>
                <a:cs typeface="Calibri"/>
                <a:sym typeface="Calibri"/>
              </a:rPr>
              <a:t>Connaissance figée</a:t>
            </a:r>
            <a:endParaRPr sz="1100">
              <a:solidFill>
                <a:srgbClr val="4F46E5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100"/>
              </a:spcBef>
              <a:spcAft>
                <a:spcPts val="0"/>
              </a:spcAft>
              <a:buNone/>
            </a:pPr>
            <a:r>
              <a:rPr i="0" lang="fr" sz="10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pas d'accès web temps réel</a:t>
            </a:r>
            <a:endParaRPr sz="11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0" name="Google Shape;290;p27"/>
          <p:cNvSpPr/>
          <p:nvPr/>
        </p:nvSpPr>
        <p:spPr>
          <a:xfrm>
            <a:off x="4629273" y="3922775"/>
            <a:ext cx="4114800" cy="685800"/>
          </a:xfrm>
          <a:prstGeom prst="roundRect">
            <a:avLst>
              <a:gd fmla="val 6000" name="adj"/>
            </a:avLst>
          </a:prstGeom>
          <a:solidFill>
            <a:srgbClr val="4F46E5">
              <a:alpha val="3999"/>
            </a:srgbClr>
          </a:solidFill>
          <a:ln cap="flat" cmpd="sng" w="7150">
            <a:solidFill>
              <a:srgbClr val="4F46E5"/>
            </a:solidFill>
            <a:prstDash val="solid"/>
            <a:round/>
            <a:headEnd len="sm" w="sm" type="none"/>
            <a:tailEnd len="sm" w="sm" type="none"/>
          </a:ln>
          <a:effectLst>
            <a:outerShdw blurRad="45001" rotWithShape="0" dir="5400000" dist="18750">
              <a:srgbClr val="8A93A6">
                <a:alpha val="32159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" name="Google Shape;291;p27"/>
          <p:cNvSpPr/>
          <p:nvPr/>
        </p:nvSpPr>
        <p:spPr>
          <a:xfrm>
            <a:off x="4766437" y="4107941"/>
            <a:ext cx="315600" cy="315600"/>
          </a:xfrm>
          <a:prstGeom prst="ellipse">
            <a:avLst/>
          </a:prstGeom>
          <a:solidFill>
            <a:srgbClr val="4F46E5">
              <a:alpha val="7999"/>
            </a:srgbClr>
          </a:solidFill>
          <a:ln cap="flat" cmpd="sng" w="9525">
            <a:solidFill>
              <a:srgbClr val="4F46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fr" sz="1100" u="none" cap="none" strike="noStrike">
                <a:solidFill>
                  <a:srgbClr val="4F46E5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sz="1100">
              <a:solidFill>
                <a:srgbClr val="4F46E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2" name="Google Shape;292;p27"/>
          <p:cNvSpPr txBox="1"/>
          <p:nvPr/>
        </p:nvSpPr>
        <p:spPr>
          <a:xfrm>
            <a:off x="5225935" y="4032503"/>
            <a:ext cx="3429000" cy="3900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0" spcFirstLastPara="1" rIns="0" wrap="square" tIns="190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fr" sz="1200" u="none" cap="none" strike="noStrike">
                <a:solidFill>
                  <a:srgbClr val="4F46E5"/>
                </a:solidFill>
                <a:latin typeface="Calibri"/>
                <a:ea typeface="Calibri"/>
                <a:cs typeface="Calibri"/>
                <a:sym typeface="Calibri"/>
              </a:rPr>
              <a:t>Aucun monitoring</a:t>
            </a:r>
            <a:endParaRPr sz="1100">
              <a:solidFill>
                <a:srgbClr val="4F46E5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100"/>
              </a:spcBef>
              <a:spcAft>
                <a:spcPts val="0"/>
              </a:spcAft>
              <a:buNone/>
            </a:pPr>
            <a:r>
              <a:rPr i="0" lang="fr" sz="10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ni qualité, ni coût, ni satisfaction</a:t>
            </a:r>
            <a:endParaRPr sz="11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3" name="Google Shape;293;p27"/>
          <p:cNvSpPr txBox="1"/>
          <p:nvPr/>
        </p:nvSpPr>
        <p:spPr>
          <a:xfrm>
            <a:off x="377200" y="4945850"/>
            <a:ext cx="999000" cy="166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700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MVP RAG Puls-Events</a:t>
            </a:r>
            <a:endParaRPr sz="700">
              <a:solidFill>
                <a:srgbClr val="9CA3A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p28"/>
          <p:cNvSpPr txBox="1"/>
          <p:nvPr/>
        </p:nvSpPr>
        <p:spPr>
          <a:xfrm>
            <a:off x="377200" y="233175"/>
            <a:ext cx="1773600" cy="45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9050" lIns="0" spcFirstLastPara="1" rIns="0" wrap="square" tIns="190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1800">
                <a:solidFill>
                  <a:srgbClr val="0E9C8A"/>
                </a:solidFill>
                <a:latin typeface="Calibri"/>
                <a:ea typeface="Calibri"/>
                <a:cs typeface="Calibri"/>
                <a:sym typeface="Calibri"/>
              </a:rPr>
              <a:t>Le besoin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0" name="Google Shape;300;p28"/>
          <p:cNvSpPr txBox="1"/>
          <p:nvPr/>
        </p:nvSpPr>
        <p:spPr>
          <a:xfrm>
            <a:off x="377200" y="675550"/>
            <a:ext cx="26754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9050" lIns="0" spcFirstLastPara="1" rIns="0" wrap="square" tIns="190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1100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Quatre défis + des contraintes transverses</a:t>
            </a:r>
            <a:endParaRPr b="1" sz="1100">
              <a:solidFill>
                <a:srgbClr val="9CA3A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1" name="Google Shape;301;p28"/>
          <p:cNvSpPr txBox="1"/>
          <p:nvPr/>
        </p:nvSpPr>
        <p:spPr>
          <a:xfrm>
            <a:off x="377200" y="4945850"/>
            <a:ext cx="999000" cy="166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700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MVP RAG Puls-Events</a:t>
            </a:r>
            <a:endParaRPr sz="700">
              <a:solidFill>
                <a:srgbClr val="9CA3A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2" name="Google Shape;302;p28"/>
          <p:cNvSpPr/>
          <p:nvPr/>
        </p:nvSpPr>
        <p:spPr>
          <a:xfrm>
            <a:off x="302882" y="994410"/>
            <a:ext cx="4149000" cy="1337400"/>
          </a:xfrm>
          <a:prstGeom prst="roundRect">
            <a:avLst>
              <a:gd fmla="val 6000" name="adj"/>
            </a:avLst>
          </a:prstGeom>
          <a:solidFill>
            <a:srgbClr val="0E9C8A">
              <a:alpha val="7999"/>
            </a:srgbClr>
          </a:solidFill>
          <a:ln cap="flat" cmpd="sng" w="7150">
            <a:solidFill>
              <a:srgbClr val="0E9C8A"/>
            </a:solidFill>
            <a:prstDash val="solid"/>
            <a:round/>
            <a:headEnd len="sm" w="sm" type="none"/>
            <a:tailEnd len="sm" w="sm" type="none"/>
          </a:ln>
          <a:effectLst>
            <a:outerShdw blurRad="45001" rotWithShape="0" dir="5400000" dist="18750">
              <a:srgbClr val="8A93A6">
                <a:alpha val="32159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3" name="Google Shape;303;p28"/>
          <p:cNvSpPr/>
          <p:nvPr/>
        </p:nvSpPr>
        <p:spPr>
          <a:xfrm>
            <a:off x="522344" y="1227582"/>
            <a:ext cx="411600" cy="411600"/>
          </a:xfrm>
          <a:prstGeom prst="ellipse">
            <a:avLst/>
          </a:prstGeom>
          <a:noFill/>
          <a:ln cap="flat" cmpd="sng" w="9525">
            <a:solidFill>
              <a:srgbClr val="0E9C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fr" sz="1100" u="none" cap="none" strike="noStrike">
                <a:solidFill>
                  <a:srgbClr val="0E9C8A"/>
                </a:solidFill>
                <a:latin typeface="Cambria"/>
                <a:ea typeface="Cambria"/>
                <a:cs typeface="Cambria"/>
                <a:sym typeface="Cambria"/>
              </a:rPr>
              <a:t>1</a:t>
            </a:r>
            <a:endParaRPr sz="1100">
              <a:solidFill>
                <a:srgbClr val="0E9C8A"/>
              </a:solidFill>
            </a:endParaRPr>
          </a:p>
        </p:txBody>
      </p:sp>
      <p:sp>
        <p:nvSpPr>
          <p:cNvPr id="304" name="Google Shape;304;p28"/>
          <p:cNvSpPr txBox="1"/>
          <p:nvPr/>
        </p:nvSpPr>
        <p:spPr>
          <a:xfrm>
            <a:off x="1091573" y="1227582"/>
            <a:ext cx="31890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0" spcFirstLastPara="1" rIns="0" wrap="square" tIns="190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fr" sz="1300" u="none" cap="none" strike="noStrike">
                <a:solidFill>
                  <a:srgbClr val="0E9C8A"/>
                </a:solidFill>
                <a:latin typeface="Cambria"/>
                <a:ea typeface="Cambria"/>
                <a:cs typeface="Cambria"/>
                <a:sym typeface="Cambria"/>
              </a:rPr>
              <a:t>Mémoire conversationnelle</a:t>
            </a:r>
            <a:endParaRPr sz="1100">
              <a:solidFill>
                <a:srgbClr val="0E9C8A"/>
              </a:solidFill>
            </a:endParaRPr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fr" sz="1000" u="none" cap="none" strike="noStrike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Historique de session + personnalisation persistante</a:t>
            </a:r>
            <a:endParaRPr sz="1100">
              <a:solidFill>
                <a:srgbClr val="9CA3AF"/>
              </a:solidFill>
            </a:endParaRPr>
          </a:p>
        </p:txBody>
      </p:sp>
      <p:sp>
        <p:nvSpPr>
          <p:cNvPr id="305" name="Google Shape;305;p28"/>
          <p:cNvSpPr/>
          <p:nvPr/>
        </p:nvSpPr>
        <p:spPr>
          <a:xfrm>
            <a:off x="4692118" y="994410"/>
            <a:ext cx="4149000" cy="1337400"/>
          </a:xfrm>
          <a:prstGeom prst="roundRect">
            <a:avLst>
              <a:gd fmla="val 6000" name="adj"/>
            </a:avLst>
          </a:prstGeom>
          <a:solidFill>
            <a:srgbClr val="0E9C8A">
              <a:alpha val="7999"/>
            </a:srgbClr>
          </a:solidFill>
          <a:ln cap="flat" cmpd="sng" w="7150">
            <a:solidFill>
              <a:srgbClr val="0E9C8A"/>
            </a:solidFill>
            <a:prstDash val="solid"/>
            <a:round/>
            <a:headEnd len="sm" w="sm" type="none"/>
            <a:tailEnd len="sm" w="sm" type="none"/>
          </a:ln>
          <a:effectLst>
            <a:outerShdw blurRad="45001" rotWithShape="0" dir="5400000" dist="18750">
              <a:srgbClr val="8A93A6">
                <a:alpha val="32159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6" name="Google Shape;306;p28"/>
          <p:cNvSpPr/>
          <p:nvPr/>
        </p:nvSpPr>
        <p:spPr>
          <a:xfrm>
            <a:off x="4911581" y="1227582"/>
            <a:ext cx="411600" cy="411600"/>
          </a:xfrm>
          <a:prstGeom prst="ellipse">
            <a:avLst/>
          </a:prstGeom>
          <a:noFill/>
          <a:ln cap="flat" cmpd="sng" w="9525">
            <a:solidFill>
              <a:srgbClr val="0E9C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fr" sz="1100" u="none" cap="none" strike="noStrike">
                <a:solidFill>
                  <a:srgbClr val="0E9C8A"/>
                </a:solidFill>
                <a:latin typeface="Cambria"/>
                <a:ea typeface="Cambria"/>
                <a:cs typeface="Cambria"/>
                <a:sym typeface="Cambria"/>
              </a:rPr>
              <a:t>2</a:t>
            </a:r>
            <a:endParaRPr sz="1100">
              <a:solidFill>
                <a:srgbClr val="0E9C8A"/>
              </a:solidFill>
            </a:endParaRPr>
          </a:p>
        </p:txBody>
      </p:sp>
      <p:sp>
        <p:nvSpPr>
          <p:cNvPr id="307" name="Google Shape;307;p28"/>
          <p:cNvSpPr txBox="1"/>
          <p:nvPr/>
        </p:nvSpPr>
        <p:spPr>
          <a:xfrm>
            <a:off x="5480810" y="1227582"/>
            <a:ext cx="31890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0" spcFirstLastPara="1" rIns="0" wrap="square" tIns="190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fr" sz="1300" u="none" cap="none" strike="noStrike">
                <a:solidFill>
                  <a:srgbClr val="0E9C8A"/>
                </a:solidFill>
                <a:latin typeface="Cambria"/>
                <a:ea typeface="Cambria"/>
                <a:cs typeface="Cambria"/>
                <a:sym typeface="Cambria"/>
              </a:rPr>
              <a:t>Contexte géographique</a:t>
            </a:r>
            <a:endParaRPr sz="1100">
              <a:solidFill>
                <a:srgbClr val="0E9C8A"/>
              </a:solidFill>
            </a:endParaRPr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fr" sz="1000" u="none" cap="none" strike="noStrike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Recherche par rayon / distance (« à 20 km de moi »)</a:t>
            </a:r>
            <a:endParaRPr sz="1100">
              <a:solidFill>
                <a:srgbClr val="9CA3AF"/>
              </a:solidFill>
            </a:endParaRPr>
          </a:p>
        </p:txBody>
      </p:sp>
      <p:sp>
        <p:nvSpPr>
          <p:cNvPr id="308" name="Google Shape;308;p28"/>
          <p:cNvSpPr/>
          <p:nvPr/>
        </p:nvSpPr>
        <p:spPr>
          <a:xfrm>
            <a:off x="302882" y="2537460"/>
            <a:ext cx="4149000" cy="1337400"/>
          </a:xfrm>
          <a:prstGeom prst="roundRect">
            <a:avLst>
              <a:gd fmla="val 6000" name="adj"/>
            </a:avLst>
          </a:prstGeom>
          <a:solidFill>
            <a:srgbClr val="0E9C8A">
              <a:alpha val="7999"/>
            </a:srgbClr>
          </a:solidFill>
          <a:ln cap="flat" cmpd="sng" w="7150">
            <a:solidFill>
              <a:srgbClr val="0E9C8A"/>
            </a:solidFill>
            <a:prstDash val="solid"/>
            <a:round/>
            <a:headEnd len="sm" w="sm" type="none"/>
            <a:tailEnd len="sm" w="sm" type="none"/>
          </a:ln>
          <a:effectLst>
            <a:outerShdw blurRad="45001" rotWithShape="0" dir="5400000" dist="18750">
              <a:srgbClr val="8A93A6">
                <a:alpha val="32159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9" name="Google Shape;309;p28"/>
          <p:cNvSpPr/>
          <p:nvPr/>
        </p:nvSpPr>
        <p:spPr>
          <a:xfrm>
            <a:off x="522344" y="2770632"/>
            <a:ext cx="411600" cy="411600"/>
          </a:xfrm>
          <a:prstGeom prst="ellipse">
            <a:avLst/>
          </a:prstGeom>
          <a:noFill/>
          <a:ln cap="flat" cmpd="sng" w="9525">
            <a:solidFill>
              <a:srgbClr val="0E9C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fr" sz="1100" u="none" cap="none" strike="noStrike">
                <a:solidFill>
                  <a:srgbClr val="0E9C8A"/>
                </a:solidFill>
                <a:latin typeface="Cambria"/>
                <a:ea typeface="Cambria"/>
                <a:cs typeface="Cambria"/>
                <a:sym typeface="Cambria"/>
              </a:rPr>
              <a:t>3</a:t>
            </a:r>
            <a:endParaRPr sz="1100">
              <a:solidFill>
                <a:srgbClr val="0E9C8A"/>
              </a:solidFill>
            </a:endParaRPr>
          </a:p>
        </p:txBody>
      </p:sp>
      <p:sp>
        <p:nvSpPr>
          <p:cNvPr id="310" name="Google Shape;310;p28"/>
          <p:cNvSpPr txBox="1"/>
          <p:nvPr/>
        </p:nvSpPr>
        <p:spPr>
          <a:xfrm>
            <a:off x="1091573" y="2770632"/>
            <a:ext cx="31890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0" spcFirstLastPara="1" rIns="0" wrap="square" tIns="190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fr" sz="1300" u="none" cap="none" strike="noStrike">
                <a:solidFill>
                  <a:srgbClr val="0E9C8A"/>
                </a:solidFill>
                <a:latin typeface="Cambria"/>
                <a:ea typeface="Cambria"/>
                <a:cs typeface="Cambria"/>
                <a:sym typeface="Cambria"/>
              </a:rPr>
              <a:t>Recherche web temps réel</a:t>
            </a:r>
            <a:endParaRPr sz="1100">
              <a:solidFill>
                <a:srgbClr val="0E9C8A"/>
              </a:solidFill>
            </a:endParaRPr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fr" sz="1000" u="none" cap="none" strike="noStrike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Compléter le RAG sur l'actualité la plus fraîche</a:t>
            </a:r>
            <a:endParaRPr sz="1100">
              <a:solidFill>
                <a:srgbClr val="9CA3AF"/>
              </a:solidFill>
            </a:endParaRPr>
          </a:p>
        </p:txBody>
      </p:sp>
      <p:sp>
        <p:nvSpPr>
          <p:cNvPr id="311" name="Google Shape;311;p28"/>
          <p:cNvSpPr/>
          <p:nvPr/>
        </p:nvSpPr>
        <p:spPr>
          <a:xfrm>
            <a:off x="4692118" y="2537460"/>
            <a:ext cx="4149000" cy="1337400"/>
          </a:xfrm>
          <a:prstGeom prst="roundRect">
            <a:avLst>
              <a:gd fmla="val 6000" name="adj"/>
            </a:avLst>
          </a:prstGeom>
          <a:solidFill>
            <a:srgbClr val="0E9C8A">
              <a:alpha val="7999"/>
            </a:srgbClr>
          </a:solidFill>
          <a:ln cap="flat" cmpd="sng" w="7150">
            <a:solidFill>
              <a:srgbClr val="0E9C8A"/>
            </a:solidFill>
            <a:prstDash val="solid"/>
            <a:round/>
            <a:headEnd len="sm" w="sm" type="none"/>
            <a:tailEnd len="sm" w="sm" type="none"/>
          </a:ln>
          <a:effectLst>
            <a:outerShdw blurRad="45001" rotWithShape="0" dir="5400000" dist="18750">
              <a:srgbClr val="8A93A6">
                <a:alpha val="32159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2" name="Google Shape;312;p28"/>
          <p:cNvSpPr/>
          <p:nvPr/>
        </p:nvSpPr>
        <p:spPr>
          <a:xfrm>
            <a:off x="4911581" y="2770632"/>
            <a:ext cx="411600" cy="411600"/>
          </a:xfrm>
          <a:prstGeom prst="ellipse">
            <a:avLst/>
          </a:prstGeom>
          <a:noFill/>
          <a:ln cap="flat" cmpd="sng" w="9525">
            <a:solidFill>
              <a:srgbClr val="0E9C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fr" sz="1100" u="none" cap="none" strike="noStrike">
                <a:solidFill>
                  <a:srgbClr val="0E9C8A"/>
                </a:solidFill>
                <a:latin typeface="Cambria"/>
                <a:ea typeface="Cambria"/>
                <a:cs typeface="Cambria"/>
                <a:sym typeface="Cambria"/>
              </a:rPr>
              <a:t>4</a:t>
            </a:r>
            <a:endParaRPr sz="1100">
              <a:solidFill>
                <a:srgbClr val="0E9C8A"/>
              </a:solidFill>
            </a:endParaRPr>
          </a:p>
        </p:txBody>
      </p:sp>
      <p:sp>
        <p:nvSpPr>
          <p:cNvPr id="313" name="Google Shape;313;p28"/>
          <p:cNvSpPr txBox="1"/>
          <p:nvPr/>
        </p:nvSpPr>
        <p:spPr>
          <a:xfrm>
            <a:off x="5480810" y="2770632"/>
            <a:ext cx="31890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0" spcFirstLastPara="1" rIns="0" wrap="square" tIns="190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fr" sz="1300" u="none" cap="none" strike="noStrike">
                <a:solidFill>
                  <a:srgbClr val="0E9C8A"/>
                </a:solidFill>
                <a:latin typeface="Cambria"/>
                <a:ea typeface="Cambria"/>
                <a:cs typeface="Cambria"/>
                <a:sym typeface="Cambria"/>
              </a:rPr>
              <a:t>Monitoring</a:t>
            </a:r>
            <a:endParaRPr sz="1100">
              <a:solidFill>
                <a:srgbClr val="0E9C8A"/>
              </a:solidFill>
            </a:endParaRPr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fr" sz="1000" u="none" cap="none" strike="noStrike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Qualité du RAG, coût par requête, satisfaction</a:t>
            </a:r>
            <a:endParaRPr sz="1100">
              <a:solidFill>
                <a:srgbClr val="9CA3AF"/>
              </a:solidFill>
            </a:endParaRPr>
          </a:p>
        </p:txBody>
      </p:sp>
      <p:sp>
        <p:nvSpPr>
          <p:cNvPr id="314" name="Google Shape;314;p28"/>
          <p:cNvSpPr/>
          <p:nvPr/>
        </p:nvSpPr>
        <p:spPr>
          <a:xfrm>
            <a:off x="208125" y="936625"/>
            <a:ext cx="8705700" cy="3059700"/>
          </a:xfrm>
          <a:prstGeom prst="rect">
            <a:avLst/>
          </a:prstGeom>
          <a:solidFill>
            <a:srgbClr val="111113">
              <a:alpha val="69999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p29"/>
          <p:cNvSpPr txBox="1"/>
          <p:nvPr/>
        </p:nvSpPr>
        <p:spPr>
          <a:xfrm>
            <a:off x="377200" y="233175"/>
            <a:ext cx="1773600" cy="45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9050" lIns="0" spcFirstLastPara="1" rIns="0" wrap="square" tIns="190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1800">
                <a:solidFill>
                  <a:srgbClr val="0E9C8A"/>
                </a:solidFill>
                <a:latin typeface="Calibri"/>
                <a:ea typeface="Calibri"/>
                <a:cs typeface="Calibri"/>
                <a:sym typeface="Calibri"/>
              </a:rPr>
              <a:t>Le besoin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1" name="Google Shape;321;p29"/>
          <p:cNvSpPr txBox="1"/>
          <p:nvPr/>
        </p:nvSpPr>
        <p:spPr>
          <a:xfrm>
            <a:off x="377200" y="675550"/>
            <a:ext cx="26754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9050" lIns="0" spcFirstLastPara="1" rIns="0" wrap="square" tIns="190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1100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Quatre défis + des contraintes transverses</a:t>
            </a:r>
            <a:endParaRPr b="1" sz="1100">
              <a:solidFill>
                <a:srgbClr val="9CA3A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2" name="Google Shape;322;p29"/>
          <p:cNvSpPr txBox="1"/>
          <p:nvPr/>
        </p:nvSpPr>
        <p:spPr>
          <a:xfrm>
            <a:off x="377200" y="4945850"/>
            <a:ext cx="999000" cy="166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700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MVP RAG Puls-Events</a:t>
            </a:r>
            <a:endParaRPr sz="700">
              <a:solidFill>
                <a:srgbClr val="9CA3A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3" name="Google Shape;323;p29"/>
          <p:cNvSpPr/>
          <p:nvPr/>
        </p:nvSpPr>
        <p:spPr>
          <a:xfrm>
            <a:off x="302882" y="994410"/>
            <a:ext cx="4149000" cy="1337400"/>
          </a:xfrm>
          <a:prstGeom prst="roundRect">
            <a:avLst>
              <a:gd fmla="val 6000" name="adj"/>
            </a:avLst>
          </a:prstGeom>
          <a:solidFill>
            <a:srgbClr val="0E9C8A">
              <a:alpha val="7999"/>
            </a:srgbClr>
          </a:solidFill>
          <a:ln cap="flat" cmpd="sng" w="7150">
            <a:solidFill>
              <a:srgbClr val="0E9C8A"/>
            </a:solidFill>
            <a:prstDash val="solid"/>
            <a:round/>
            <a:headEnd len="sm" w="sm" type="none"/>
            <a:tailEnd len="sm" w="sm" type="none"/>
          </a:ln>
          <a:effectLst>
            <a:outerShdw blurRad="45001" rotWithShape="0" dir="5400000" dist="18750">
              <a:srgbClr val="8A93A6">
                <a:alpha val="32159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4" name="Google Shape;324;p29"/>
          <p:cNvSpPr/>
          <p:nvPr/>
        </p:nvSpPr>
        <p:spPr>
          <a:xfrm>
            <a:off x="522344" y="1227582"/>
            <a:ext cx="411600" cy="411600"/>
          </a:xfrm>
          <a:prstGeom prst="ellipse">
            <a:avLst/>
          </a:prstGeom>
          <a:noFill/>
          <a:ln cap="flat" cmpd="sng" w="9525">
            <a:solidFill>
              <a:srgbClr val="0E9C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fr" sz="1100" u="none" cap="none" strike="noStrike">
                <a:solidFill>
                  <a:srgbClr val="0E9C8A"/>
                </a:solidFill>
                <a:latin typeface="Cambria"/>
                <a:ea typeface="Cambria"/>
                <a:cs typeface="Cambria"/>
                <a:sym typeface="Cambria"/>
              </a:rPr>
              <a:t>1</a:t>
            </a:r>
            <a:endParaRPr sz="1100">
              <a:solidFill>
                <a:srgbClr val="0E9C8A"/>
              </a:solidFill>
            </a:endParaRPr>
          </a:p>
        </p:txBody>
      </p:sp>
      <p:sp>
        <p:nvSpPr>
          <p:cNvPr id="325" name="Google Shape;325;p29"/>
          <p:cNvSpPr txBox="1"/>
          <p:nvPr/>
        </p:nvSpPr>
        <p:spPr>
          <a:xfrm>
            <a:off x="1091573" y="1227582"/>
            <a:ext cx="31890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0" spcFirstLastPara="1" rIns="0" wrap="square" tIns="190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fr" sz="1300" u="none" cap="none" strike="noStrike">
                <a:solidFill>
                  <a:srgbClr val="0E9C8A"/>
                </a:solidFill>
                <a:latin typeface="Cambria"/>
                <a:ea typeface="Cambria"/>
                <a:cs typeface="Cambria"/>
                <a:sym typeface="Cambria"/>
              </a:rPr>
              <a:t>Mémoire conversationnelle</a:t>
            </a:r>
            <a:endParaRPr sz="1100">
              <a:solidFill>
                <a:srgbClr val="0E9C8A"/>
              </a:solidFill>
            </a:endParaRPr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fr" sz="1000" u="none" cap="none" strike="noStrike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Historique de session + personnalisation persistante</a:t>
            </a:r>
            <a:endParaRPr sz="1100">
              <a:solidFill>
                <a:srgbClr val="9CA3AF"/>
              </a:solidFill>
            </a:endParaRPr>
          </a:p>
        </p:txBody>
      </p:sp>
      <p:sp>
        <p:nvSpPr>
          <p:cNvPr id="326" name="Google Shape;326;p29"/>
          <p:cNvSpPr/>
          <p:nvPr/>
        </p:nvSpPr>
        <p:spPr>
          <a:xfrm>
            <a:off x="4692118" y="994410"/>
            <a:ext cx="4149000" cy="1337400"/>
          </a:xfrm>
          <a:prstGeom prst="roundRect">
            <a:avLst>
              <a:gd fmla="val 6000" name="adj"/>
            </a:avLst>
          </a:prstGeom>
          <a:solidFill>
            <a:srgbClr val="0E9C8A">
              <a:alpha val="7999"/>
            </a:srgbClr>
          </a:solidFill>
          <a:ln cap="flat" cmpd="sng" w="7150">
            <a:solidFill>
              <a:srgbClr val="0E9C8A"/>
            </a:solidFill>
            <a:prstDash val="solid"/>
            <a:round/>
            <a:headEnd len="sm" w="sm" type="none"/>
            <a:tailEnd len="sm" w="sm" type="none"/>
          </a:ln>
          <a:effectLst>
            <a:outerShdw blurRad="45001" rotWithShape="0" dir="5400000" dist="18750">
              <a:srgbClr val="8A93A6">
                <a:alpha val="32159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7" name="Google Shape;327;p29"/>
          <p:cNvSpPr/>
          <p:nvPr/>
        </p:nvSpPr>
        <p:spPr>
          <a:xfrm>
            <a:off x="4911581" y="1227582"/>
            <a:ext cx="411600" cy="411600"/>
          </a:xfrm>
          <a:prstGeom prst="ellipse">
            <a:avLst/>
          </a:prstGeom>
          <a:noFill/>
          <a:ln cap="flat" cmpd="sng" w="9525">
            <a:solidFill>
              <a:srgbClr val="0E9C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fr" sz="1100" u="none" cap="none" strike="noStrike">
                <a:solidFill>
                  <a:srgbClr val="0E9C8A"/>
                </a:solidFill>
                <a:latin typeface="Cambria"/>
                <a:ea typeface="Cambria"/>
                <a:cs typeface="Cambria"/>
                <a:sym typeface="Cambria"/>
              </a:rPr>
              <a:t>2</a:t>
            </a:r>
            <a:endParaRPr sz="1100">
              <a:solidFill>
                <a:srgbClr val="0E9C8A"/>
              </a:solidFill>
            </a:endParaRPr>
          </a:p>
        </p:txBody>
      </p:sp>
      <p:sp>
        <p:nvSpPr>
          <p:cNvPr id="328" name="Google Shape;328;p29"/>
          <p:cNvSpPr txBox="1"/>
          <p:nvPr/>
        </p:nvSpPr>
        <p:spPr>
          <a:xfrm>
            <a:off x="5480810" y="1227582"/>
            <a:ext cx="31890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0" spcFirstLastPara="1" rIns="0" wrap="square" tIns="190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fr" sz="1300" u="none" cap="none" strike="noStrike">
                <a:solidFill>
                  <a:srgbClr val="0E9C8A"/>
                </a:solidFill>
                <a:latin typeface="Cambria"/>
                <a:ea typeface="Cambria"/>
                <a:cs typeface="Cambria"/>
                <a:sym typeface="Cambria"/>
              </a:rPr>
              <a:t>Contexte géographique</a:t>
            </a:r>
            <a:endParaRPr sz="1100">
              <a:solidFill>
                <a:srgbClr val="0E9C8A"/>
              </a:solidFill>
            </a:endParaRPr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fr" sz="1000" u="none" cap="none" strike="noStrike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Recherche par rayon / distance (« à 20 km de moi »)</a:t>
            </a:r>
            <a:endParaRPr sz="1100">
              <a:solidFill>
                <a:srgbClr val="9CA3AF"/>
              </a:solidFill>
            </a:endParaRPr>
          </a:p>
        </p:txBody>
      </p:sp>
      <p:sp>
        <p:nvSpPr>
          <p:cNvPr id="329" name="Google Shape;329;p29"/>
          <p:cNvSpPr/>
          <p:nvPr/>
        </p:nvSpPr>
        <p:spPr>
          <a:xfrm>
            <a:off x="302882" y="2537460"/>
            <a:ext cx="4149000" cy="1337400"/>
          </a:xfrm>
          <a:prstGeom prst="roundRect">
            <a:avLst>
              <a:gd fmla="val 6000" name="adj"/>
            </a:avLst>
          </a:prstGeom>
          <a:solidFill>
            <a:srgbClr val="0E9C8A">
              <a:alpha val="7999"/>
            </a:srgbClr>
          </a:solidFill>
          <a:ln cap="flat" cmpd="sng" w="7150">
            <a:solidFill>
              <a:srgbClr val="0E9C8A"/>
            </a:solidFill>
            <a:prstDash val="solid"/>
            <a:round/>
            <a:headEnd len="sm" w="sm" type="none"/>
            <a:tailEnd len="sm" w="sm" type="none"/>
          </a:ln>
          <a:effectLst>
            <a:outerShdw blurRad="45001" rotWithShape="0" dir="5400000" dist="18750">
              <a:srgbClr val="8A93A6">
                <a:alpha val="32159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0" name="Google Shape;330;p29"/>
          <p:cNvSpPr/>
          <p:nvPr/>
        </p:nvSpPr>
        <p:spPr>
          <a:xfrm>
            <a:off x="522344" y="2770632"/>
            <a:ext cx="411600" cy="411600"/>
          </a:xfrm>
          <a:prstGeom prst="ellipse">
            <a:avLst/>
          </a:prstGeom>
          <a:noFill/>
          <a:ln cap="flat" cmpd="sng" w="9525">
            <a:solidFill>
              <a:srgbClr val="0E9C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fr" sz="1100" u="none" cap="none" strike="noStrike">
                <a:solidFill>
                  <a:srgbClr val="0E9C8A"/>
                </a:solidFill>
                <a:latin typeface="Cambria"/>
                <a:ea typeface="Cambria"/>
                <a:cs typeface="Cambria"/>
                <a:sym typeface="Cambria"/>
              </a:rPr>
              <a:t>3</a:t>
            </a:r>
            <a:endParaRPr sz="1100">
              <a:solidFill>
                <a:srgbClr val="0E9C8A"/>
              </a:solidFill>
            </a:endParaRPr>
          </a:p>
        </p:txBody>
      </p:sp>
      <p:sp>
        <p:nvSpPr>
          <p:cNvPr id="331" name="Google Shape;331;p29"/>
          <p:cNvSpPr txBox="1"/>
          <p:nvPr/>
        </p:nvSpPr>
        <p:spPr>
          <a:xfrm>
            <a:off x="1091573" y="2770632"/>
            <a:ext cx="31890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0" spcFirstLastPara="1" rIns="0" wrap="square" tIns="190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fr" sz="1300" u="none" cap="none" strike="noStrike">
                <a:solidFill>
                  <a:srgbClr val="0E9C8A"/>
                </a:solidFill>
                <a:latin typeface="Cambria"/>
                <a:ea typeface="Cambria"/>
                <a:cs typeface="Cambria"/>
                <a:sym typeface="Cambria"/>
              </a:rPr>
              <a:t>Recherche web temps réel</a:t>
            </a:r>
            <a:endParaRPr sz="1100">
              <a:solidFill>
                <a:srgbClr val="0E9C8A"/>
              </a:solidFill>
            </a:endParaRPr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fr" sz="1000" u="none" cap="none" strike="noStrike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Compléter le RAG sur l'actualité la plus fraîche</a:t>
            </a:r>
            <a:endParaRPr sz="1100">
              <a:solidFill>
                <a:srgbClr val="9CA3AF"/>
              </a:solidFill>
            </a:endParaRPr>
          </a:p>
        </p:txBody>
      </p:sp>
      <p:sp>
        <p:nvSpPr>
          <p:cNvPr id="332" name="Google Shape;332;p29"/>
          <p:cNvSpPr/>
          <p:nvPr/>
        </p:nvSpPr>
        <p:spPr>
          <a:xfrm>
            <a:off x="4692118" y="2537460"/>
            <a:ext cx="4149000" cy="1337400"/>
          </a:xfrm>
          <a:prstGeom prst="roundRect">
            <a:avLst>
              <a:gd fmla="val 6000" name="adj"/>
            </a:avLst>
          </a:prstGeom>
          <a:solidFill>
            <a:srgbClr val="0E9C8A">
              <a:alpha val="7999"/>
            </a:srgbClr>
          </a:solidFill>
          <a:ln cap="flat" cmpd="sng" w="7150">
            <a:solidFill>
              <a:srgbClr val="0E9C8A"/>
            </a:solidFill>
            <a:prstDash val="solid"/>
            <a:round/>
            <a:headEnd len="sm" w="sm" type="none"/>
            <a:tailEnd len="sm" w="sm" type="none"/>
          </a:ln>
          <a:effectLst>
            <a:outerShdw blurRad="45001" rotWithShape="0" dir="5400000" dist="18750">
              <a:srgbClr val="8A93A6">
                <a:alpha val="32159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3" name="Google Shape;333;p29"/>
          <p:cNvSpPr/>
          <p:nvPr/>
        </p:nvSpPr>
        <p:spPr>
          <a:xfrm>
            <a:off x="4911581" y="2770632"/>
            <a:ext cx="411600" cy="411600"/>
          </a:xfrm>
          <a:prstGeom prst="ellipse">
            <a:avLst/>
          </a:prstGeom>
          <a:noFill/>
          <a:ln cap="flat" cmpd="sng" w="9525">
            <a:solidFill>
              <a:srgbClr val="0E9C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fr" sz="1100" u="none" cap="none" strike="noStrike">
                <a:solidFill>
                  <a:srgbClr val="0E9C8A"/>
                </a:solidFill>
                <a:latin typeface="Cambria"/>
                <a:ea typeface="Cambria"/>
                <a:cs typeface="Cambria"/>
                <a:sym typeface="Cambria"/>
              </a:rPr>
              <a:t>4</a:t>
            </a:r>
            <a:endParaRPr sz="1100">
              <a:solidFill>
                <a:srgbClr val="0E9C8A"/>
              </a:solidFill>
            </a:endParaRPr>
          </a:p>
        </p:txBody>
      </p:sp>
      <p:sp>
        <p:nvSpPr>
          <p:cNvPr id="334" name="Google Shape;334;p29"/>
          <p:cNvSpPr txBox="1"/>
          <p:nvPr/>
        </p:nvSpPr>
        <p:spPr>
          <a:xfrm>
            <a:off x="5480810" y="2770632"/>
            <a:ext cx="31890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0" spcFirstLastPara="1" rIns="0" wrap="square" tIns="190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fr" sz="1300" u="none" cap="none" strike="noStrike">
                <a:solidFill>
                  <a:srgbClr val="0E9C8A"/>
                </a:solidFill>
                <a:latin typeface="Cambria"/>
                <a:ea typeface="Cambria"/>
                <a:cs typeface="Cambria"/>
                <a:sym typeface="Cambria"/>
              </a:rPr>
              <a:t>Monitoring</a:t>
            </a:r>
            <a:endParaRPr sz="1100">
              <a:solidFill>
                <a:srgbClr val="0E9C8A"/>
              </a:solidFill>
            </a:endParaRPr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fr" sz="1000" u="none" cap="none" strike="noStrike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Qualité du RAG, coût par requête, satisfaction</a:t>
            </a:r>
            <a:endParaRPr sz="1100">
              <a:solidFill>
                <a:srgbClr val="9CA3AF"/>
              </a:solidFill>
            </a:endParaRPr>
          </a:p>
        </p:txBody>
      </p:sp>
      <p:sp>
        <p:nvSpPr>
          <p:cNvPr id="335" name="Google Shape;335;p29"/>
          <p:cNvSpPr/>
          <p:nvPr/>
        </p:nvSpPr>
        <p:spPr>
          <a:xfrm>
            <a:off x="4619375" y="936625"/>
            <a:ext cx="4294500" cy="3059700"/>
          </a:xfrm>
          <a:prstGeom prst="rect">
            <a:avLst/>
          </a:prstGeom>
          <a:solidFill>
            <a:srgbClr val="111113">
              <a:alpha val="69999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6" name="Google Shape;336;p29"/>
          <p:cNvSpPr/>
          <p:nvPr/>
        </p:nvSpPr>
        <p:spPr>
          <a:xfrm>
            <a:off x="230125" y="2469925"/>
            <a:ext cx="4294500" cy="1526400"/>
          </a:xfrm>
          <a:prstGeom prst="rect">
            <a:avLst/>
          </a:prstGeom>
          <a:solidFill>
            <a:srgbClr val="111113">
              <a:alpha val="69999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p30"/>
          <p:cNvSpPr txBox="1"/>
          <p:nvPr/>
        </p:nvSpPr>
        <p:spPr>
          <a:xfrm>
            <a:off x="377200" y="233175"/>
            <a:ext cx="1773600" cy="45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9050" lIns="0" spcFirstLastPara="1" rIns="0" wrap="square" tIns="190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1800">
                <a:solidFill>
                  <a:srgbClr val="0E9C8A"/>
                </a:solidFill>
                <a:latin typeface="Calibri"/>
                <a:ea typeface="Calibri"/>
                <a:cs typeface="Calibri"/>
                <a:sym typeface="Calibri"/>
              </a:rPr>
              <a:t>Le besoin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3" name="Google Shape;343;p30"/>
          <p:cNvSpPr txBox="1"/>
          <p:nvPr/>
        </p:nvSpPr>
        <p:spPr>
          <a:xfrm>
            <a:off x="377200" y="675550"/>
            <a:ext cx="26754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9050" lIns="0" spcFirstLastPara="1" rIns="0" wrap="square" tIns="190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1100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Quatre défis + des contraintes transverses</a:t>
            </a:r>
            <a:endParaRPr b="1" sz="1100">
              <a:solidFill>
                <a:srgbClr val="9CA3A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4" name="Google Shape;344;p30"/>
          <p:cNvSpPr txBox="1"/>
          <p:nvPr/>
        </p:nvSpPr>
        <p:spPr>
          <a:xfrm>
            <a:off x="377200" y="4945850"/>
            <a:ext cx="999000" cy="166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700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MVP RAG Puls-Events</a:t>
            </a:r>
            <a:endParaRPr sz="700">
              <a:solidFill>
                <a:srgbClr val="9CA3A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5" name="Google Shape;345;p30"/>
          <p:cNvSpPr/>
          <p:nvPr/>
        </p:nvSpPr>
        <p:spPr>
          <a:xfrm>
            <a:off x="302882" y="994410"/>
            <a:ext cx="4149000" cy="1337400"/>
          </a:xfrm>
          <a:prstGeom prst="roundRect">
            <a:avLst>
              <a:gd fmla="val 6000" name="adj"/>
            </a:avLst>
          </a:prstGeom>
          <a:solidFill>
            <a:srgbClr val="0E9C8A">
              <a:alpha val="7999"/>
            </a:srgbClr>
          </a:solidFill>
          <a:ln cap="flat" cmpd="sng" w="7150">
            <a:solidFill>
              <a:srgbClr val="0E9C8A"/>
            </a:solidFill>
            <a:prstDash val="solid"/>
            <a:round/>
            <a:headEnd len="sm" w="sm" type="none"/>
            <a:tailEnd len="sm" w="sm" type="none"/>
          </a:ln>
          <a:effectLst>
            <a:outerShdw blurRad="45001" rotWithShape="0" dir="5400000" dist="18750">
              <a:srgbClr val="8A93A6">
                <a:alpha val="32159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6" name="Google Shape;346;p30"/>
          <p:cNvSpPr/>
          <p:nvPr/>
        </p:nvSpPr>
        <p:spPr>
          <a:xfrm>
            <a:off x="522344" y="1227582"/>
            <a:ext cx="411600" cy="411600"/>
          </a:xfrm>
          <a:prstGeom prst="ellipse">
            <a:avLst/>
          </a:prstGeom>
          <a:noFill/>
          <a:ln cap="flat" cmpd="sng" w="9525">
            <a:solidFill>
              <a:srgbClr val="0E9C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fr" sz="1100" u="none" cap="none" strike="noStrike">
                <a:solidFill>
                  <a:srgbClr val="0E9C8A"/>
                </a:solidFill>
                <a:latin typeface="Cambria"/>
                <a:ea typeface="Cambria"/>
                <a:cs typeface="Cambria"/>
                <a:sym typeface="Cambria"/>
              </a:rPr>
              <a:t>1</a:t>
            </a:r>
            <a:endParaRPr sz="1100">
              <a:solidFill>
                <a:srgbClr val="0E9C8A"/>
              </a:solidFill>
            </a:endParaRPr>
          </a:p>
        </p:txBody>
      </p:sp>
      <p:sp>
        <p:nvSpPr>
          <p:cNvPr id="347" name="Google Shape;347;p30"/>
          <p:cNvSpPr txBox="1"/>
          <p:nvPr/>
        </p:nvSpPr>
        <p:spPr>
          <a:xfrm>
            <a:off x="1091573" y="1227582"/>
            <a:ext cx="31890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0" spcFirstLastPara="1" rIns="0" wrap="square" tIns="190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fr" sz="1300" u="none" cap="none" strike="noStrike">
                <a:solidFill>
                  <a:srgbClr val="0E9C8A"/>
                </a:solidFill>
                <a:latin typeface="Cambria"/>
                <a:ea typeface="Cambria"/>
                <a:cs typeface="Cambria"/>
                <a:sym typeface="Cambria"/>
              </a:rPr>
              <a:t>Mémoire conversationnelle</a:t>
            </a:r>
            <a:endParaRPr sz="1100">
              <a:solidFill>
                <a:srgbClr val="0E9C8A"/>
              </a:solidFill>
            </a:endParaRPr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fr" sz="1000" u="none" cap="none" strike="noStrike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Historique de session + personnalisation persistante</a:t>
            </a:r>
            <a:endParaRPr sz="1100">
              <a:solidFill>
                <a:srgbClr val="9CA3AF"/>
              </a:solidFill>
            </a:endParaRPr>
          </a:p>
        </p:txBody>
      </p:sp>
      <p:sp>
        <p:nvSpPr>
          <p:cNvPr id="348" name="Google Shape;348;p30"/>
          <p:cNvSpPr/>
          <p:nvPr/>
        </p:nvSpPr>
        <p:spPr>
          <a:xfrm>
            <a:off x="4692118" y="994410"/>
            <a:ext cx="4149000" cy="1337400"/>
          </a:xfrm>
          <a:prstGeom prst="roundRect">
            <a:avLst>
              <a:gd fmla="val 6000" name="adj"/>
            </a:avLst>
          </a:prstGeom>
          <a:solidFill>
            <a:srgbClr val="0E9C8A">
              <a:alpha val="7999"/>
            </a:srgbClr>
          </a:solidFill>
          <a:ln cap="flat" cmpd="sng" w="7150">
            <a:solidFill>
              <a:srgbClr val="0E9C8A"/>
            </a:solidFill>
            <a:prstDash val="solid"/>
            <a:round/>
            <a:headEnd len="sm" w="sm" type="none"/>
            <a:tailEnd len="sm" w="sm" type="none"/>
          </a:ln>
          <a:effectLst>
            <a:outerShdw blurRad="45001" rotWithShape="0" dir="5400000" dist="18750">
              <a:srgbClr val="8A93A6">
                <a:alpha val="32159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9" name="Google Shape;349;p30"/>
          <p:cNvSpPr/>
          <p:nvPr/>
        </p:nvSpPr>
        <p:spPr>
          <a:xfrm>
            <a:off x="4911581" y="1227582"/>
            <a:ext cx="411600" cy="411600"/>
          </a:xfrm>
          <a:prstGeom prst="ellipse">
            <a:avLst/>
          </a:prstGeom>
          <a:noFill/>
          <a:ln cap="flat" cmpd="sng" w="9525">
            <a:solidFill>
              <a:srgbClr val="0E9C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fr" sz="1100" u="none" cap="none" strike="noStrike">
                <a:solidFill>
                  <a:srgbClr val="0E9C8A"/>
                </a:solidFill>
                <a:latin typeface="Cambria"/>
                <a:ea typeface="Cambria"/>
                <a:cs typeface="Cambria"/>
                <a:sym typeface="Cambria"/>
              </a:rPr>
              <a:t>2</a:t>
            </a:r>
            <a:endParaRPr sz="1100">
              <a:solidFill>
                <a:srgbClr val="0E9C8A"/>
              </a:solidFill>
            </a:endParaRPr>
          </a:p>
        </p:txBody>
      </p:sp>
      <p:sp>
        <p:nvSpPr>
          <p:cNvPr id="350" name="Google Shape;350;p30"/>
          <p:cNvSpPr txBox="1"/>
          <p:nvPr/>
        </p:nvSpPr>
        <p:spPr>
          <a:xfrm>
            <a:off x="5480810" y="1227582"/>
            <a:ext cx="31890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0" spcFirstLastPara="1" rIns="0" wrap="square" tIns="190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fr" sz="1300" u="none" cap="none" strike="noStrike">
                <a:solidFill>
                  <a:srgbClr val="0E9C8A"/>
                </a:solidFill>
                <a:latin typeface="Cambria"/>
                <a:ea typeface="Cambria"/>
                <a:cs typeface="Cambria"/>
                <a:sym typeface="Cambria"/>
              </a:rPr>
              <a:t>Contexte géographique</a:t>
            </a:r>
            <a:endParaRPr sz="1100">
              <a:solidFill>
                <a:srgbClr val="0E9C8A"/>
              </a:solidFill>
            </a:endParaRPr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fr" sz="1000" u="none" cap="none" strike="noStrike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Recherche par rayon / distance (« à 20 km de moi »)</a:t>
            </a:r>
            <a:endParaRPr sz="1100">
              <a:solidFill>
                <a:srgbClr val="9CA3AF"/>
              </a:solidFill>
            </a:endParaRPr>
          </a:p>
        </p:txBody>
      </p:sp>
      <p:sp>
        <p:nvSpPr>
          <p:cNvPr id="351" name="Google Shape;351;p30"/>
          <p:cNvSpPr/>
          <p:nvPr/>
        </p:nvSpPr>
        <p:spPr>
          <a:xfrm>
            <a:off x="302882" y="2537460"/>
            <a:ext cx="4149000" cy="1337400"/>
          </a:xfrm>
          <a:prstGeom prst="roundRect">
            <a:avLst>
              <a:gd fmla="val 6000" name="adj"/>
            </a:avLst>
          </a:prstGeom>
          <a:solidFill>
            <a:srgbClr val="0E9C8A">
              <a:alpha val="7999"/>
            </a:srgbClr>
          </a:solidFill>
          <a:ln cap="flat" cmpd="sng" w="7150">
            <a:solidFill>
              <a:srgbClr val="0E9C8A"/>
            </a:solidFill>
            <a:prstDash val="solid"/>
            <a:round/>
            <a:headEnd len="sm" w="sm" type="none"/>
            <a:tailEnd len="sm" w="sm" type="none"/>
          </a:ln>
          <a:effectLst>
            <a:outerShdw blurRad="45001" rotWithShape="0" dir="5400000" dist="18750">
              <a:srgbClr val="8A93A6">
                <a:alpha val="32159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2" name="Google Shape;352;p30"/>
          <p:cNvSpPr/>
          <p:nvPr/>
        </p:nvSpPr>
        <p:spPr>
          <a:xfrm>
            <a:off x="522344" y="2770632"/>
            <a:ext cx="411600" cy="411600"/>
          </a:xfrm>
          <a:prstGeom prst="ellipse">
            <a:avLst/>
          </a:prstGeom>
          <a:noFill/>
          <a:ln cap="flat" cmpd="sng" w="9525">
            <a:solidFill>
              <a:srgbClr val="0E9C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fr" sz="1100" u="none" cap="none" strike="noStrike">
                <a:solidFill>
                  <a:srgbClr val="0E9C8A"/>
                </a:solidFill>
                <a:latin typeface="Cambria"/>
                <a:ea typeface="Cambria"/>
                <a:cs typeface="Cambria"/>
                <a:sym typeface="Cambria"/>
              </a:rPr>
              <a:t>3</a:t>
            </a:r>
            <a:endParaRPr sz="1100">
              <a:solidFill>
                <a:srgbClr val="0E9C8A"/>
              </a:solidFill>
            </a:endParaRPr>
          </a:p>
        </p:txBody>
      </p:sp>
      <p:sp>
        <p:nvSpPr>
          <p:cNvPr id="353" name="Google Shape;353;p30"/>
          <p:cNvSpPr txBox="1"/>
          <p:nvPr/>
        </p:nvSpPr>
        <p:spPr>
          <a:xfrm>
            <a:off x="1091573" y="2770632"/>
            <a:ext cx="31890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0" spcFirstLastPara="1" rIns="0" wrap="square" tIns="190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fr" sz="1300" u="none" cap="none" strike="noStrike">
                <a:solidFill>
                  <a:srgbClr val="0E9C8A"/>
                </a:solidFill>
                <a:latin typeface="Cambria"/>
                <a:ea typeface="Cambria"/>
                <a:cs typeface="Cambria"/>
                <a:sym typeface="Cambria"/>
              </a:rPr>
              <a:t>Recherche web temps réel</a:t>
            </a:r>
            <a:endParaRPr sz="1100">
              <a:solidFill>
                <a:srgbClr val="0E9C8A"/>
              </a:solidFill>
            </a:endParaRPr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fr" sz="1000" u="none" cap="none" strike="noStrike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Compléter le RAG sur l'actualité la plus fraîche</a:t>
            </a:r>
            <a:endParaRPr sz="1100">
              <a:solidFill>
                <a:srgbClr val="9CA3AF"/>
              </a:solidFill>
            </a:endParaRPr>
          </a:p>
        </p:txBody>
      </p:sp>
      <p:sp>
        <p:nvSpPr>
          <p:cNvPr id="354" name="Google Shape;354;p30"/>
          <p:cNvSpPr/>
          <p:nvPr/>
        </p:nvSpPr>
        <p:spPr>
          <a:xfrm>
            <a:off x="4692118" y="2537460"/>
            <a:ext cx="4149000" cy="1337400"/>
          </a:xfrm>
          <a:prstGeom prst="roundRect">
            <a:avLst>
              <a:gd fmla="val 6000" name="adj"/>
            </a:avLst>
          </a:prstGeom>
          <a:solidFill>
            <a:srgbClr val="0E9C8A">
              <a:alpha val="7999"/>
            </a:srgbClr>
          </a:solidFill>
          <a:ln cap="flat" cmpd="sng" w="7150">
            <a:solidFill>
              <a:srgbClr val="0E9C8A"/>
            </a:solidFill>
            <a:prstDash val="solid"/>
            <a:round/>
            <a:headEnd len="sm" w="sm" type="none"/>
            <a:tailEnd len="sm" w="sm" type="none"/>
          </a:ln>
          <a:effectLst>
            <a:outerShdw blurRad="45001" rotWithShape="0" dir="5400000" dist="18750">
              <a:srgbClr val="8A93A6">
                <a:alpha val="32159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5" name="Google Shape;355;p30"/>
          <p:cNvSpPr/>
          <p:nvPr/>
        </p:nvSpPr>
        <p:spPr>
          <a:xfrm>
            <a:off x="4911581" y="2770632"/>
            <a:ext cx="411600" cy="411600"/>
          </a:xfrm>
          <a:prstGeom prst="ellipse">
            <a:avLst/>
          </a:prstGeom>
          <a:noFill/>
          <a:ln cap="flat" cmpd="sng" w="9525">
            <a:solidFill>
              <a:srgbClr val="0E9C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fr" sz="1100" u="none" cap="none" strike="noStrike">
                <a:solidFill>
                  <a:srgbClr val="0E9C8A"/>
                </a:solidFill>
                <a:latin typeface="Cambria"/>
                <a:ea typeface="Cambria"/>
                <a:cs typeface="Cambria"/>
                <a:sym typeface="Cambria"/>
              </a:rPr>
              <a:t>4</a:t>
            </a:r>
            <a:endParaRPr sz="1100">
              <a:solidFill>
                <a:srgbClr val="0E9C8A"/>
              </a:solidFill>
            </a:endParaRPr>
          </a:p>
        </p:txBody>
      </p:sp>
      <p:sp>
        <p:nvSpPr>
          <p:cNvPr id="356" name="Google Shape;356;p30"/>
          <p:cNvSpPr txBox="1"/>
          <p:nvPr/>
        </p:nvSpPr>
        <p:spPr>
          <a:xfrm>
            <a:off x="5480810" y="2770632"/>
            <a:ext cx="31890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0" spcFirstLastPara="1" rIns="0" wrap="square" tIns="190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fr" sz="1300" u="none" cap="none" strike="noStrike">
                <a:solidFill>
                  <a:srgbClr val="0E9C8A"/>
                </a:solidFill>
                <a:latin typeface="Cambria"/>
                <a:ea typeface="Cambria"/>
                <a:cs typeface="Cambria"/>
                <a:sym typeface="Cambria"/>
              </a:rPr>
              <a:t>Monitoring</a:t>
            </a:r>
            <a:endParaRPr sz="1100">
              <a:solidFill>
                <a:srgbClr val="0E9C8A"/>
              </a:solidFill>
            </a:endParaRPr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fr" sz="1000" u="none" cap="none" strike="noStrike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Qualité du RAG, coût par requête, satisfaction</a:t>
            </a:r>
            <a:endParaRPr sz="1100">
              <a:solidFill>
                <a:srgbClr val="9CA3AF"/>
              </a:solidFill>
            </a:endParaRPr>
          </a:p>
        </p:txBody>
      </p:sp>
      <p:sp>
        <p:nvSpPr>
          <p:cNvPr id="357" name="Google Shape;357;p30"/>
          <p:cNvSpPr/>
          <p:nvPr/>
        </p:nvSpPr>
        <p:spPr>
          <a:xfrm>
            <a:off x="215075" y="915800"/>
            <a:ext cx="4294500" cy="3059700"/>
          </a:xfrm>
          <a:prstGeom prst="rect">
            <a:avLst/>
          </a:prstGeom>
          <a:solidFill>
            <a:srgbClr val="111113">
              <a:alpha val="69999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8" name="Google Shape;358;p30"/>
          <p:cNvSpPr/>
          <p:nvPr/>
        </p:nvSpPr>
        <p:spPr>
          <a:xfrm>
            <a:off x="4619375" y="2483750"/>
            <a:ext cx="4294500" cy="1526400"/>
          </a:xfrm>
          <a:prstGeom prst="rect">
            <a:avLst/>
          </a:prstGeom>
          <a:solidFill>
            <a:srgbClr val="111113">
              <a:alpha val="69999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3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p31"/>
          <p:cNvSpPr txBox="1"/>
          <p:nvPr/>
        </p:nvSpPr>
        <p:spPr>
          <a:xfrm>
            <a:off x="377200" y="233175"/>
            <a:ext cx="1773600" cy="45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9050" lIns="0" spcFirstLastPara="1" rIns="0" wrap="square" tIns="190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1800">
                <a:solidFill>
                  <a:srgbClr val="0E9C8A"/>
                </a:solidFill>
                <a:latin typeface="Calibri"/>
                <a:ea typeface="Calibri"/>
                <a:cs typeface="Calibri"/>
                <a:sym typeface="Calibri"/>
              </a:rPr>
              <a:t>Le besoin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5" name="Google Shape;365;p31"/>
          <p:cNvSpPr txBox="1"/>
          <p:nvPr/>
        </p:nvSpPr>
        <p:spPr>
          <a:xfrm>
            <a:off x="377200" y="675550"/>
            <a:ext cx="26754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9050" lIns="0" spcFirstLastPara="1" rIns="0" wrap="square" tIns="190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1100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Quatre défis + des contraintes transverses</a:t>
            </a:r>
            <a:endParaRPr b="1" sz="1100">
              <a:solidFill>
                <a:srgbClr val="9CA3A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6" name="Google Shape;366;p31"/>
          <p:cNvSpPr txBox="1"/>
          <p:nvPr/>
        </p:nvSpPr>
        <p:spPr>
          <a:xfrm>
            <a:off x="377200" y="4945850"/>
            <a:ext cx="999000" cy="166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700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MVP RAG Puls-Events</a:t>
            </a:r>
            <a:endParaRPr sz="700">
              <a:solidFill>
                <a:srgbClr val="9CA3A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7" name="Google Shape;367;p31"/>
          <p:cNvSpPr/>
          <p:nvPr/>
        </p:nvSpPr>
        <p:spPr>
          <a:xfrm>
            <a:off x="302882" y="994410"/>
            <a:ext cx="4149000" cy="1337400"/>
          </a:xfrm>
          <a:prstGeom prst="roundRect">
            <a:avLst>
              <a:gd fmla="val 6000" name="adj"/>
            </a:avLst>
          </a:prstGeom>
          <a:solidFill>
            <a:srgbClr val="0E9C8A">
              <a:alpha val="7999"/>
            </a:srgbClr>
          </a:solidFill>
          <a:ln cap="flat" cmpd="sng" w="7150">
            <a:solidFill>
              <a:srgbClr val="0E9C8A"/>
            </a:solidFill>
            <a:prstDash val="solid"/>
            <a:round/>
            <a:headEnd len="sm" w="sm" type="none"/>
            <a:tailEnd len="sm" w="sm" type="none"/>
          </a:ln>
          <a:effectLst>
            <a:outerShdw blurRad="45001" rotWithShape="0" dir="5400000" dist="18750">
              <a:srgbClr val="8A93A6">
                <a:alpha val="32159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8" name="Google Shape;368;p31"/>
          <p:cNvSpPr/>
          <p:nvPr/>
        </p:nvSpPr>
        <p:spPr>
          <a:xfrm>
            <a:off x="522344" y="1227582"/>
            <a:ext cx="411600" cy="411600"/>
          </a:xfrm>
          <a:prstGeom prst="ellipse">
            <a:avLst/>
          </a:prstGeom>
          <a:noFill/>
          <a:ln cap="flat" cmpd="sng" w="9525">
            <a:solidFill>
              <a:srgbClr val="0E9C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fr" sz="1100" u="none" cap="none" strike="noStrike">
                <a:solidFill>
                  <a:srgbClr val="0E9C8A"/>
                </a:solidFill>
                <a:latin typeface="Cambria"/>
                <a:ea typeface="Cambria"/>
                <a:cs typeface="Cambria"/>
                <a:sym typeface="Cambria"/>
              </a:rPr>
              <a:t>1</a:t>
            </a:r>
            <a:endParaRPr sz="1100">
              <a:solidFill>
                <a:srgbClr val="0E9C8A"/>
              </a:solidFill>
            </a:endParaRPr>
          </a:p>
        </p:txBody>
      </p:sp>
      <p:sp>
        <p:nvSpPr>
          <p:cNvPr id="369" name="Google Shape;369;p31"/>
          <p:cNvSpPr txBox="1"/>
          <p:nvPr/>
        </p:nvSpPr>
        <p:spPr>
          <a:xfrm>
            <a:off x="1091573" y="1227582"/>
            <a:ext cx="31890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0" spcFirstLastPara="1" rIns="0" wrap="square" tIns="190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fr" sz="1300" u="none" cap="none" strike="noStrike">
                <a:solidFill>
                  <a:srgbClr val="0E9C8A"/>
                </a:solidFill>
                <a:latin typeface="Cambria"/>
                <a:ea typeface="Cambria"/>
                <a:cs typeface="Cambria"/>
                <a:sym typeface="Cambria"/>
              </a:rPr>
              <a:t>Mémoire conversationnelle</a:t>
            </a:r>
            <a:endParaRPr sz="1100">
              <a:solidFill>
                <a:srgbClr val="0E9C8A"/>
              </a:solidFill>
            </a:endParaRPr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fr" sz="1000" u="none" cap="none" strike="noStrike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Historique de session + personnalisation persistante</a:t>
            </a:r>
            <a:endParaRPr sz="1100">
              <a:solidFill>
                <a:srgbClr val="9CA3AF"/>
              </a:solidFill>
            </a:endParaRPr>
          </a:p>
        </p:txBody>
      </p:sp>
      <p:sp>
        <p:nvSpPr>
          <p:cNvPr id="370" name="Google Shape;370;p31"/>
          <p:cNvSpPr/>
          <p:nvPr/>
        </p:nvSpPr>
        <p:spPr>
          <a:xfrm>
            <a:off x="4692118" y="994410"/>
            <a:ext cx="4149000" cy="1337400"/>
          </a:xfrm>
          <a:prstGeom prst="roundRect">
            <a:avLst>
              <a:gd fmla="val 6000" name="adj"/>
            </a:avLst>
          </a:prstGeom>
          <a:solidFill>
            <a:srgbClr val="0E9C8A">
              <a:alpha val="7999"/>
            </a:srgbClr>
          </a:solidFill>
          <a:ln cap="flat" cmpd="sng" w="7150">
            <a:solidFill>
              <a:srgbClr val="0E9C8A"/>
            </a:solidFill>
            <a:prstDash val="solid"/>
            <a:round/>
            <a:headEnd len="sm" w="sm" type="none"/>
            <a:tailEnd len="sm" w="sm" type="none"/>
          </a:ln>
          <a:effectLst>
            <a:outerShdw blurRad="45001" rotWithShape="0" dir="5400000" dist="18750">
              <a:srgbClr val="8A93A6">
                <a:alpha val="32159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1" name="Google Shape;371;p31"/>
          <p:cNvSpPr/>
          <p:nvPr/>
        </p:nvSpPr>
        <p:spPr>
          <a:xfrm>
            <a:off x="4911581" y="1227582"/>
            <a:ext cx="411600" cy="411600"/>
          </a:xfrm>
          <a:prstGeom prst="ellipse">
            <a:avLst/>
          </a:prstGeom>
          <a:noFill/>
          <a:ln cap="flat" cmpd="sng" w="9525">
            <a:solidFill>
              <a:srgbClr val="0E9C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fr" sz="1100" u="none" cap="none" strike="noStrike">
                <a:solidFill>
                  <a:srgbClr val="0E9C8A"/>
                </a:solidFill>
                <a:latin typeface="Cambria"/>
                <a:ea typeface="Cambria"/>
                <a:cs typeface="Cambria"/>
                <a:sym typeface="Cambria"/>
              </a:rPr>
              <a:t>2</a:t>
            </a:r>
            <a:endParaRPr sz="1100">
              <a:solidFill>
                <a:srgbClr val="0E9C8A"/>
              </a:solidFill>
            </a:endParaRPr>
          </a:p>
        </p:txBody>
      </p:sp>
      <p:sp>
        <p:nvSpPr>
          <p:cNvPr id="372" name="Google Shape;372;p31"/>
          <p:cNvSpPr txBox="1"/>
          <p:nvPr/>
        </p:nvSpPr>
        <p:spPr>
          <a:xfrm>
            <a:off x="5480810" y="1227582"/>
            <a:ext cx="31890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0" spcFirstLastPara="1" rIns="0" wrap="square" tIns="190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fr" sz="1300" u="none" cap="none" strike="noStrike">
                <a:solidFill>
                  <a:srgbClr val="0E9C8A"/>
                </a:solidFill>
                <a:latin typeface="Cambria"/>
                <a:ea typeface="Cambria"/>
                <a:cs typeface="Cambria"/>
                <a:sym typeface="Cambria"/>
              </a:rPr>
              <a:t>Contexte géographique</a:t>
            </a:r>
            <a:endParaRPr sz="1100">
              <a:solidFill>
                <a:srgbClr val="0E9C8A"/>
              </a:solidFill>
            </a:endParaRPr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fr" sz="1000" u="none" cap="none" strike="noStrike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Recherche par rayon / distance (« à 20 km de moi »)</a:t>
            </a:r>
            <a:endParaRPr sz="1100">
              <a:solidFill>
                <a:srgbClr val="9CA3AF"/>
              </a:solidFill>
            </a:endParaRPr>
          </a:p>
        </p:txBody>
      </p:sp>
      <p:sp>
        <p:nvSpPr>
          <p:cNvPr id="373" name="Google Shape;373;p31"/>
          <p:cNvSpPr/>
          <p:nvPr/>
        </p:nvSpPr>
        <p:spPr>
          <a:xfrm>
            <a:off x="302882" y="2537460"/>
            <a:ext cx="4149000" cy="1337400"/>
          </a:xfrm>
          <a:prstGeom prst="roundRect">
            <a:avLst>
              <a:gd fmla="val 6000" name="adj"/>
            </a:avLst>
          </a:prstGeom>
          <a:solidFill>
            <a:srgbClr val="0E9C8A">
              <a:alpha val="7999"/>
            </a:srgbClr>
          </a:solidFill>
          <a:ln cap="flat" cmpd="sng" w="7150">
            <a:solidFill>
              <a:srgbClr val="0E9C8A"/>
            </a:solidFill>
            <a:prstDash val="solid"/>
            <a:round/>
            <a:headEnd len="sm" w="sm" type="none"/>
            <a:tailEnd len="sm" w="sm" type="none"/>
          </a:ln>
          <a:effectLst>
            <a:outerShdw blurRad="45001" rotWithShape="0" dir="5400000" dist="18750">
              <a:srgbClr val="8A93A6">
                <a:alpha val="32159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4" name="Google Shape;374;p31"/>
          <p:cNvSpPr/>
          <p:nvPr/>
        </p:nvSpPr>
        <p:spPr>
          <a:xfrm>
            <a:off x="522344" y="2770632"/>
            <a:ext cx="411600" cy="411600"/>
          </a:xfrm>
          <a:prstGeom prst="ellipse">
            <a:avLst/>
          </a:prstGeom>
          <a:noFill/>
          <a:ln cap="flat" cmpd="sng" w="9525">
            <a:solidFill>
              <a:srgbClr val="0E9C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fr" sz="1100" u="none" cap="none" strike="noStrike">
                <a:solidFill>
                  <a:srgbClr val="0E9C8A"/>
                </a:solidFill>
                <a:latin typeface="Cambria"/>
                <a:ea typeface="Cambria"/>
                <a:cs typeface="Cambria"/>
                <a:sym typeface="Cambria"/>
              </a:rPr>
              <a:t>3</a:t>
            </a:r>
            <a:endParaRPr sz="1100">
              <a:solidFill>
                <a:srgbClr val="0E9C8A"/>
              </a:solidFill>
            </a:endParaRPr>
          </a:p>
        </p:txBody>
      </p:sp>
      <p:sp>
        <p:nvSpPr>
          <p:cNvPr id="375" name="Google Shape;375;p31"/>
          <p:cNvSpPr txBox="1"/>
          <p:nvPr/>
        </p:nvSpPr>
        <p:spPr>
          <a:xfrm>
            <a:off x="1091573" y="2770632"/>
            <a:ext cx="31890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0" spcFirstLastPara="1" rIns="0" wrap="square" tIns="190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fr" sz="1300" u="none" cap="none" strike="noStrike">
                <a:solidFill>
                  <a:srgbClr val="0E9C8A"/>
                </a:solidFill>
                <a:latin typeface="Cambria"/>
                <a:ea typeface="Cambria"/>
                <a:cs typeface="Cambria"/>
                <a:sym typeface="Cambria"/>
              </a:rPr>
              <a:t>Recherche web temps réel</a:t>
            </a:r>
            <a:endParaRPr sz="1100">
              <a:solidFill>
                <a:srgbClr val="0E9C8A"/>
              </a:solidFill>
            </a:endParaRPr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fr" sz="1000" u="none" cap="none" strike="noStrike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Compléter le RAG sur l'actualité la plus fraîche</a:t>
            </a:r>
            <a:endParaRPr sz="1100">
              <a:solidFill>
                <a:srgbClr val="9CA3AF"/>
              </a:solidFill>
            </a:endParaRPr>
          </a:p>
        </p:txBody>
      </p:sp>
      <p:sp>
        <p:nvSpPr>
          <p:cNvPr id="376" name="Google Shape;376;p31"/>
          <p:cNvSpPr/>
          <p:nvPr/>
        </p:nvSpPr>
        <p:spPr>
          <a:xfrm>
            <a:off x="4692118" y="2537460"/>
            <a:ext cx="4149000" cy="1337400"/>
          </a:xfrm>
          <a:prstGeom prst="roundRect">
            <a:avLst>
              <a:gd fmla="val 6000" name="adj"/>
            </a:avLst>
          </a:prstGeom>
          <a:solidFill>
            <a:srgbClr val="0E9C8A">
              <a:alpha val="7999"/>
            </a:srgbClr>
          </a:solidFill>
          <a:ln cap="flat" cmpd="sng" w="7150">
            <a:solidFill>
              <a:srgbClr val="0E9C8A"/>
            </a:solidFill>
            <a:prstDash val="solid"/>
            <a:round/>
            <a:headEnd len="sm" w="sm" type="none"/>
            <a:tailEnd len="sm" w="sm" type="none"/>
          </a:ln>
          <a:effectLst>
            <a:outerShdw blurRad="45001" rotWithShape="0" dir="5400000" dist="18750">
              <a:srgbClr val="8A93A6">
                <a:alpha val="32159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7" name="Google Shape;377;p31"/>
          <p:cNvSpPr/>
          <p:nvPr/>
        </p:nvSpPr>
        <p:spPr>
          <a:xfrm>
            <a:off x="4911581" y="2770632"/>
            <a:ext cx="411600" cy="411600"/>
          </a:xfrm>
          <a:prstGeom prst="ellipse">
            <a:avLst/>
          </a:prstGeom>
          <a:noFill/>
          <a:ln cap="flat" cmpd="sng" w="9525">
            <a:solidFill>
              <a:srgbClr val="0E9C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fr" sz="1100" u="none" cap="none" strike="noStrike">
                <a:solidFill>
                  <a:srgbClr val="0E9C8A"/>
                </a:solidFill>
                <a:latin typeface="Cambria"/>
                <a:ea typeface="Cambria"/>
                <a:cs typeface="Cambria"/>
                <a:sym typeface="Cambria"/>
              </a:rPr>
              <a:t>4</a:t>
            </a:r>
            <a:endParaRPr sz="1100">
              <a:solidFill>
                <a:srgbClr val="0E9C8A"/>
              </a:solidFill>
            </a:endParaRPr>
          </a:p>
        </p:txBody>
      </p:sp>
      <p:sp>
        <p:nvSpPr>
          <p:cNvPr id="378" name="Google Shape;378;p31"/>
          <p:cNvSpPr txBox="1"/>
          <p:nvPr/>
        </p:nvSpPr>
        <p:spPr>
          <a:xfrm>
            <a:off x="5480810" y="2770632"/>
            <a:ext cx="31890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0" spcFirstLastPara="1" rIns="0" wrap="square" tIns="190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fr" sz="1300" u="none" cap="none" strike="noStrike">
                <a:solidFill>
                  <a:srgbClr val="0E9C8A"/>
                </a:solidFill>
                <a:latin typeface="Cambria"/>
                <a:ea typeface="Cambria"/>
                <a:cs typeface="Cambria"/>
                <a:sym typeface="Cambria"/>
              </a:rPr>
              <a:t>Monitoring</a:t>
            </a:r>
            <a:endParaRPr sz="1100">
              <a:solidFill>
                <a:srgbClr val="0E9C8A"/>
              </a:solidFill>
            </a:endParaRPr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fr" sz="1000" u="none" cap="none" strike="noStrike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Qualité du RAG, coût par requête, satisfaction</a:t>
            </a:r>
            <a:endParaRPr sz="1100">
              <a:solidFill>
                <a:srgbClr val="9CA3AF"/>
              </a:solidFill>
            </a:endParaRPr>
          </a:p>
        </p:txBody>
      </p:sp>
      <p:sp>
        <p:nvSpPr>
          <p:cNvPr id="379" name="Google Shape;379;p31"/>
          <p:cNvSpPr/>
          <p:nvPr/>
        </p:nvSpPr>
        <p:spPr>
          <a:xfrm>
            <a:off x="4619375" y="936625"/>
            <a:ext cx="4294500" cy="3059700"/>
          </a:xfrm>
          <a:prstGeom prst="rect">
            <a:avLst/>
          </a:prstGeom>
          <a:solidFill>
            <a:srgbClr val="111113">
              <a:alpha val="69999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0" name="Google Shape;380;p31"/>
          <p:cNvSpPr/>
          <p:nvPr/>
        </p:nvSpPr>
        <p:spPr>
          <a:xfrm>
            <a:off x="230125" y="899900"/>
            <a:ext cx="4294500" cy="1526400"/>
          </a:xfrm>
          <a:prstGeom prst="rect">
            <a:avLst/>
          </a:prstGeom>
          <a:solidFill>
            <a:srgbClr val="111113">
              <a:alpha val="69999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5" name="Shape 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Google Shape;386;p32"/>
          <p:cNvSpPr txBox="1"/>
          <p:nvPr/>
        </p:nvSpPr>
        <p:spPr>
          <a:xfrm>
            <a:off x="377200" y="233175"/>
            <a:ext cx="1773600" cy="45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9050" lIns="0" spcFirstLastPara="1" rIns="0" wrap="square" tIns="190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1800">
                <a:solidFill>
                  <a:srgbClr val="0E9C8A"/>
                </a:solidFill>
                <a:latin typeface="Calibri"/>
                <a:ea typeface="Calibri"/>
                <a:cs typeface="Calibri"/>
                <a:sym typeface="Calibri"/>
              </a:rPr>
              <a:t>Le besoin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7" name="Google Shape;387;p32"/>
          <p:cNvSpPr txBox="1"/>
          <p:nvPr/>
        </p:nvSpPr>
        <p:spPr>
          <a:xfrm>
            <a:off x="377200" y="675550"/>
            <a:ext cx="26754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9050" lIns="0" spcFirstLastPara="1" rIns="0" wrap="square" tIns="190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1100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Quatre défis + des contraintes transverses</a:t>
            </a:r>
            <a:endParaRPr b="1" sz="1100">
              <a:solidFill>
                <a:srgbClr val="9CA3A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8" name="Google Shape;388;p32"/>
          <p:cNvSpPr txBox="1"/>
          <p:nvPr/>
        </p:nvSpPr>
        <p:spPr>
          <a:xfrm>
            <a:off x="377200" y="4945850"/>
            <a:ext cx="999000" cy="166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700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MVP RAG Puls-Events</a:t>
            </a:r>
            <a:endParaRPr sz="700">
              <a:solidFill>
                <a:srgbClr val="9CA3A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9" name="Google Shape;389;p32"/>
          <p:cNvSpPr/>
          <p:nvPr/>
        </p:nvSpPr>
        <p:spPr>
          <a:xfrm>
            <a:off x="302882" y="994410"/>
            <a:ext cx="4149000" cy="1337400"/>
          </a:xfrm>
          <a:prstGeom prst="roundRect">
            <a:avLst>
              <a:gd fmla="val 6000" name="adj"/>
            </a:avLst>
          </a:prstGeom>
          <a:solidFill>
            <a:srgbClr val="0E9C8A">
              <a:alpha val="7999"/>
            </a:srgbClr>
          </a:solidFill>
          <a:ln cap="flat" cmpd="sng" w="7150">
            <a:solidFill>
              <a:srgbClr val="0E9C8A"/>
            </a:solidFill>
            <a:prstDash val="solid"/>
            <a:round/>
            <a:headEnd len="sm" w="sm" type="none"/>
            <a:tailEnd len="sm" w="sm" type="none"/>
          </a:ln>
          <a:effectLst>
            <a:outerShdw blurRad="45001" rotWithShape="0" dir="5400000" dist="18750">
              <a:srgbClr val="8A93A6">
                <a:alpha val="32159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0" name="Google Shape;390;p32"/>
          <p:cNvSpPr/>
          <p:nvPr/>
        </p:nvSpPr>
        <p:spPr>
          <a:xfrm>
            <a:off x="522344" y="1227582"/>
            <a:ext cx="411600" cy="411600"/>
          </a:xfrm>
          <a:prstGeom prst="ellipse">
            <a:avLst/>
          </a:prstGeom>
          <a:noFill/>
          <a:ln cap="flat" cmpd="sng" w="9525">
            <a:solidFill>
              <a:srgbClr val="0E9C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fr" sz="1100" u="none" cap="none" strike="noStrike">
                <a:solidFill>
                  <a:srgbClr val="0E9C8A"/>
                </a:solidFill>
                <a:latin typeface="Cambria"/>
                <a:ea typeface="Cambria"/>
                <a:cs typeface="Cambria"/>
                <a:sym typeface="Cambria"/>
              </a:rPr>
              <a:t>1</a:t>
            </a:r>
            <a:endParaRPr sz="1100">
              <a:solidFill>
                <a:srgbClr val="0E9C8A"/>
              </a:solidFill>
            </a:endParaRPr>
          </a:p>
        </p:txBody>
      </p:sp>
      <p:sp>
        <p:nvSpPr>
          <p:cNvPr id="391" name="Google Shape;391;p32"/>
          <p:cNvSpPr txBox="1"/>
          <p:nvPr/>
        </p:nvSpPr>
        <p:spPr>
          <a:xfrm>
            <a:off x="1091573" y="1227582"/>
            <a:ext cx="31890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0" spcFirstLastPara="1" rIns="0" wrap="square" tIns="190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fr" sz="1300" u="none" cap="none" strike="noStrike">
                <a:solidFill>
                  <a:srgbClr val="0E9C8A"/>
                </a:solidFill>
                <a:latin typeface="Cambria"/>
                <a:ea typeface="Cambria"/>
                <a:cs typeface="Cambria"/>
                <a:sym typeface="Cambria"/>
              </a:rPr>
              <a:t>Mémoire conversationnelle</a:t>
            </a:r>
            <a:endParaRPr sz="1100">
              <a:solidFill>
                <a:srgbClr val="0E9C8A"/>
              </a:solidFill>
            </a:endParaRPr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fr" sz="1000" u="none" cap="none" strike="noStrike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Historique de session + personnalisation persistante</a:t>
            </a:r>
            <a:endParaRPr sz="1100">
              <a:solidFill>
                <a:srgbClr val="9CA3AF"/>
              </a:solidFill>
            </a:endParaRPr>
          </a:p>
        </p:txBody>
      </p:sp>
      <p:sp>
        <p:nvSpPr>
          <p:cNvPr id="392" name="Google Shape;392;p32"/>
          <p:cNvSpPr/>
          <p:nvPr/>
        </p:nvSpPr>
        <p:spPr>
          <a:xfrm>
            <a:off x="4692118" y="994410"/>
            <a:ext cx="4149000" cy="1337400"/>
          </a:xfrm>
          <a:prstGeom prst="roundRect">
            <a:avLst>
              <a:gd fmla="val 6000" name="adj"/>
            </a:avLst>
          </a:prstGeom>
          <a:solidFill>
            <a:srgbClr val="0E9C8A">
              <a:alpha val="7999"/>
            </a:srgbClr>
          </a:solidFill>
          <a:ln cap="flat" cmpd="sng" w="7150">
            <a:solidFill>
              <a:srgbClr val="0E9C8A"/>
            </a:solidFill>
            <a:prstDash val="solid"/>
            <a:round/>
            <a:headEnd len="sm" w="sm" type="none"/>
            <a:tailEnd len="sm" w="sm" type="none"/>
          </a:ln>
          <a:effectLst>
            <a:outerShdw blurRad="45001" rotWithShape="0" dir="5400000" dist="18750">
              <a:srgbClr val="8A93A6">
                <a:alpha val="32159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3" name="Google Shape;393;p32"/>
          <p:cNvSpPr/>
          <p:nvPr/>
        </p:nvSpPr>
        <p:spPr>
          <a:xfrm>
            <a:off x="4911581" y="1227582"/>
            <a:ext cx="411600" cy="411600"/>
          </a:xfrm>
          <a:prstGeom prst="ellipse">
            <a:avLst/>
          </a:prstGeom>
          <a:noFill/>
          <a:ln cap="flat" cmpd="sng" w="9525">
            <a:solidFill>
              <a:srgbClr val="0E9C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fr" sz="1100" u="none" cap="none" strike="noStrike">
                <a:solidFill>
                  <a:srgbClr val="0E9C8A"/>
                </a:solidFill>
                <a:latin typeface="Cambria"/>
                <a:ea typeface="Cambria"/>
                <a:cs typeface="Cambria"/>
                <a:sym typeface="Cambria"/>
              </a:rPr>
              <a:t>2</a:t>
            </a:r>
            <a:endParaRPr sz="1100">
              <a:solidFill>
                <a:srgbClr val="0E9C8A"/>
              </a:solidFill>
            </a:endParaRPr>
          </a:p>
        </p:txBody>
      </p:sp>
      <p:sp>
        <p:nvSpPr>
          <p:cNvPr id="394" name="Google Shape;394;p32"/>
          <p:cNvSpPr txBox="1"/>
          <p:nvPr/>
        </p:nvSpPr>
        <p:spPr>
          <a:xfrm>
            <a:off x="5480810" y="1227582"/>
            <a:ext cx="31890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0" spcFirstLastPara="1" rIns="0" wrap="square" tIns="190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fr" sz="1300" u="none" cap="none" strike="noStrike">
                <a:solidFill>
                  <a:srgbClr val="0E9C8A"/>
                </a:solidFill>
                <a:latin typeface="Cambria"/>
                <a:ea typeface="Cambria"/>
                <a:cs typeface="Cambria"/>
                <a:sym typeface="Cambria"/>
              </a:rPr>
              <a:t>Contexte géographique</a:t>
            </a:r>
            <a:endParaRPr sz="1100">
              <a:solidFill>
                <a:srgbClr val="0E9C8A"/>
              </a:solidFill>
            </a:endParaRPr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fr" sz="1000" u="none" cap="none" strike="noStrike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Recherche par rayon / distance (« à 20 km de moi »)</a:t>
            </a:r>
            <a:endParaRPr sz="1100">
              <a:solidFill>
                <a:srgbClr val="9CA3AF"/>
              </a:solidFill>
            </a:endParaRPr>
          </a:p>
        </p:txBody>
      </p:sp>
      <p:sp>
        <p:nvSpPr>
          <p:cNvPr id="395" name="Google Shape;395;p32"/>
          <p:cNvSpPr/>
          <p:nvPr/>
        </p:nvSpPr>
        <p:spPr>
          <a:xfrm>
            <a:off x="302882" y="2537460"/>
            <a:ext cx="4149000" cy="1337400"/>
          </a:xfrm>
          <a:prstGeom prst="roundRect">
            <a:avLst>
              <a:gd fmla="val 6000" name="adj"/>
            </a:avLst>
          </a:prstGeom>
          <a:solidFill>
            <a:srgbClr val="0E9C8A">
              <a:alpha val="7999"/>
            </a:srgbClr>
          </a:solidFill>
          <a:ln cap="flat" cmpd="sng" w="7150">
            <a:solidFill>
              <a:srgbClr val="0E9C8A"/>
            </a:solidFill>
            <a:prstDash val="solid"/>
            <a:round/>
            <a:headEnd len="sm" w="sm" type="none"/>
            <a:tailEnd len="sm" w="sm" type="none"/>
          </a:ln>
          <a:effectLst>
            <a:outerShdw blurRad="45001" rotWithShape="0" dir="5400000" dist="18750">
              <a:srgbClr val="8A93A6">
                <a:alpha val="32159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6" name="Google Shape;396;p32"/>
          <p:cNvSpPr/>
          <p:nvPr/>
        </p:nvSpPr>
        <p:spPr>
          <a:xfrm>
            <a:off x="522344" y="2770632"/>
            <a:ext cx="411600" cy="411600"/>
          </a:xfrm>
          <a:prstGeom prst="ellipse">
            <a:avLst/>
          </a:prstGeom>
          <a:noFill/>
          <a:ln cap="flat" cmpd="sng" w="9525">
            <a:solidFill>
              <a:srgbClr val="0E9C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fr" sz="1100" u="none" cap="none" strike="noStrike">
                <a:solidFill>
                  <a:srgbClr val="0E9C8A"/>
                </a:solidFill>
                <a:latin typeface="Cambria"/>
                <a:ea typeface="Cambria"/>
                <a:cs typeface="Cambria"/>
                <a:sym typeface="Cambria"/>
              </a:rPr>
              <a:t>3</a:t>
            </a:r>
            <a:endParaRPr sz="1100">
              <a:solidFill>
                <a:srgbClr val="0E9C8A"/>
              </a:solidFill>
            </a:endParaRPr>
          </a:p>
        </p:txBody>
      </p:sp>
      <p:sp>
        <p:nvSpPr>
          <p:cNvPr id="397" name="Google Shape;397;p32"/>
          <p:cNvSpPr txBox="1"/>
          <p:nvPr/>
        </p:nvSpPr>
        <p:spPr>
          <a:xfrm>
            <a:off x="1091573" y="2770632"/>
            <a:ext cx="31890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0" spcFirstLastPara="1" rIns="0" wrap="square" tIns="190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fr" sz="1300" u="none" cap="none" strike="noStrike">
                <a:solidFill>
                  <a:srgbClr val="0E9C8A"/>
                </a:solidFill>
                <a:latin typeface="Cambria"/>
                <a:ea typeface="Cambria"/>
                <a:cs typeface="Cambria"/>
                <a:sym typeface="Cambria"/>
              </a:rPr>
              <a:t>Recherche web temps réel</a:t>
            </a:r>
            <a:endParaRPr sz="1100">
              <a:solidFill>
                <a:srgbClr val="0E9C8A"/>
              </a:solidFill>
            </a:endParaRPr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fr" sz="1000" u="none" cap="none" strike="noStrike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Compléter le RAG sur l'actualité la plus fraîche</a:t>
            </a:r>
            <a:endParaRPr sz="1100">
              <a:solidFill>
                <a:srgbClr val="9CA3AF"/>
              </a:solidFill>
            </a:endParaRPr>
          </a:p>
        </p:txBody>
      </p:sp>
      <p:sp>
        <p:nvSpPr>
          <p:cNvPr id="398" name="Google Shape;398;p32"/>
          <p:cNvSpPr/>
          <p:nvPr/>
        </p:nvSpPr>
        <p:spPr>
          <a:xfrm>
            <a:off x="4692118" y="2537460"/>
            <a:ext cx="4149000" cy="1337400"/>
          </a:xfrm>
          <a:prstGeom prst="roundRect">
            <a:avLst>
              <a:gd fmla="val 6000" name="adj"/>
            </a:avLst>
          </a:prstGeom>
          <a:solidFill>
            <a:srgbClr val="0E9C8A">
              <a:alpha val="7999"/>
            </a:srgbClr>
          </a:solidFill>
          <a:ln cap="flat" cmpd="sng" w="7150">
            <a:solidFill>
              <a:srgbClr val="0E9C8A"/>
            </a:solidFill>
            <a:prstDash val="solid"/>
            <a:round/>
            <a:headEnd len="sm" w="sm" type="none"/>
            <a:tailEnd len="sm" w="sm" type="none"/>
          </a:ln>
          <a:effectLst>
            <a:outerShdw blurRad="45001" rotWithShape="0" dir="5400000" dist="18750">
              <a:srgbClr val="8A93A6">
                <a:alpha val="32159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9" name="Google Shape;399;p32"/>
          <p:cNvSpPr/>
          <p:nvPr/>
        </p:nvSpPr>
        <p:spPr>
          <a:xfrm>
            <a:off x="4911581" y="2770632"/>
            <a:ext cx="411600" cy="411600"/>
          </a:xfrm>
          <a:prstGeom prst="ellipse">
            <a:avLst/>
          </a:prstGeom>
          <a:noFill/>
          <a:ln cap="flat" cmpd="sng" w="9525">
            <a:solidFill>
              <a:srgbClr val="0E9C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fr" sz="1100" u="none" cap="none" strike="noStrike">
                <a:solidFill>
                  <a:srgbClr val="0E9C8A"/>
                </a:solidFill>
                <a:latin typeface="Cambria"/>
                <a:ea typeface="Cambria"/>
                <a:cs typeface="Cambria"/>
                <a:sym typeface="Cambria"/>
              </a:rPr>
              <a:t>4</a:t>
            </a:r>
            <a:endParaRPr sz="1100">
              <a:solidFill>
                <a:srgbClr val="0E9C8A"/>
              </a:solidFill>
            </a:endParaRPr>
          </a:p>
        </p:txBody>
      </p:sp>
      <p:sp>
        <p:nvSpPr>
          <p:cNvPr id="400" name="Google Shape;400;p32"/>
          <p:cNvSpPr txBox="1"/>
          <p:nvPr/>
        </p:nvSpPr>
        <p:spPr>
          <a:xfrm>
            <a:off x="5480810" y="2770632"/>
            <a:ext cx="31890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0" spcFirstLastPara="1" rIns="0" wrap="square" tIns="190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fr" sz="1300" u="none" cap="none" strike="noStrike">
                <a:solidFill>
                  <a:srgbClr val="0E9C8A"/>
                </a:solidFill>
                <a:latin typeface="Cambria"/>
                <a:ea typeface="Cambria"/>
                <a:cs typeface="Cambria"/>
                <a:sym typeface="Cambria"/>
              </a:rPr>
              <a:t>Monitoring</a:t>
            </a:r>
            <a:endParaRPr sz="1100">
              <a:solidFill>
                <a:srgbClr val="0E9C8A"/>
              </a:solidFill>
            </a:endParaRPr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fr" sz="1000" u="none" cap="none" strike="noStrike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Qualité du RAG, coût par requête, satisfaction</a:t>
            </a:r>
            <a:endParaRPr sz="1100">
              <a:solidFill>
                <a:srgbClr val="9CA3AF"/>
              </a:solidFill>
            </a:endParaRPr>
          </a:p>
        </p:txBody>
      </p:sp>
      <p:sp>
        <p:nvSpPr>
          <p:cNvPr id="401" name="Google Shape;401;p32"/>
          <p:cNvSpPr/>
          <p:nvPr/>
        </p:nvSpPr>
        <p:spPr>
          <a:xfrm>
            <a:off x="215075" y="915800"/>
            <a:ext cx="4294500" cy="3059700"/>
          </a:xfrm>
          <a:prstGeom prst="rect">
            <a:avLst/>
          </a:prstGeom>
          <a:solidFill>
            <a:srgbClr val="111113">
              <a:alpha val="69999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2" name="Google Shape;402;p32"/>
          <p:cNvSpPr/>
          <p:nvPr/>
        </p:nvSpPr>
        <p:spPr>
          <a:xfrm>
            <a:off x="4619375" y="915800"/>
            <a:ext cx="4294500" cy="1526400"/>
          </a:xfrm>
          <a:prstGeom prst="rect">
            <a:avLst/>
          </a:prstGeom>
          <a:solidFill>
            <a:srgbClr val="111113">
              <a:alpha val="69999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7" name="Shape 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" name="Google Shape;408;p33"/>
          <p:cNvSpPr txBox="1"/>
          <p:nvPr/>
        </p:nvSpPr>
        <p:spPr>
          <a:xfrm>
            <a:off x="377200" y="233175"/>
            <a:ext cx="1773600" cy="45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9050" lIns="0" spcFirstLastPara="1" rIns="0" wrap="square" tIns="190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1800">
                <a:solidFill>
                  <a:srgbClr val="0E9C8A"/>
                </a:solidFill>
                <a:latin typeface="Calibri"/>
                <a:ea typeface="Calibri"/>
                <a:cs typeface="Calibri"/>
                <a:sym typeface="Calibri"/>
              </a:rPr>
              <a:t>Le besoin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9" name="Google Shape;409;p33"/>
          <p:cNvSpPr txBox="1"/>
          <p:nvPr/>
        </p:nvSpPr>
        <p:spPr>
          <a:xfrm>
            <a:off x="377200" y="675550"/>
            <a:ext cx="26754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9050" lIns="0" spcFirstLastPara="1" rIns="0" wrap="square" tIns="190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1100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Quatre défis + des contraintes transverses</a:t>
            </a:r>
            <a:endParaRPr b="1" sz="1100">
              <a:solidFill>
                <a:srgbClr val="9CA3A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0" name="Google Shape;410;p33"/>
          <p:cNvSpPr txBox="1"/>
          <p:nvPr/>
        </p:nvSpPr>
        <p:spPr>
          <a:xfrm>
            <a:off x="377200" y="4945850"/>
            <a:ext cx="999000" cy="166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700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MVP RAG Puls-Events</a:t>
            </a:r>
            <a:endParaRPr sz="700">
              <a:solidFill>
                <a:srgbClr val="9CA3A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1" name="Google Shape;411;p33"/>
          <p:cNvSpPr/>
          <p:nvPr/>
        </p:nvSpPr>
        <p:spPr>
          <a:xfrm>
            <a:off x="302882" y="994410"/>
            <a:ext cx="4149000" cy="1337400"/>
          </a:xfrm>
          <a:prstGeom prst="roundRect">
            <a:avLst>
              <a:gd fmla="val 6000" name="adj"/>
            </a:avLst>
          </a:prstGeom>
          <a:solidFill>
            <a:srgbClr val="0E9C8A">
              <a:alpha val="7999"/>
            </a:srgbClr>
          </a:solidFill>
          <a:ln cap="flat" cmpd="sng" w="7150">
            <a:solidFill>
              <a:srgbClr val="0E9C8A"/>
            </a:solidFill>
            <a:prstDash val="solid"/>
            <a:round/>
            <a:headEnd len="sm" w="sm" type="none"/>
            <a:tailEnd len="sm" w="sm" type="none"/>
          </a:ln>
          <a:effectLst>
            <a:outerShdw blurRad="45001" rotWithShape="0" dir="5400000" dist="18750">
              <a:srgbClr val="8A93A6">
                <a:alpha val="32159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2" name="Google Shape;412;p33"/>
          <p:cNvSpPr/>
          <p:nvPr/>
        </p:nvSpPr>
        <p:spPr>
          <a:xfrm>
            <a:off x="522344" y="1227582"/>
            <a:ext cx="411600" cy="411600"/>
          </a:xfrm>
          <a:prstGeom prst="ellipse">
            <a:avLst/>
          </a:prstGeom>
          <a:noFill/>
          <a:ln cap="flat" cmpd="sng" w="9525">
            <a:solidFill>
              <a:srgbClr val="0E9C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fr" sz="1100" u="none" cap="none" strike="noStrike">
                <a:solidFill>
                  <a:srgbClr val="0E9C8A"/>
                </a:solidFill>
                <a:latin typeface="Cambria"/>
                <a:ea typeface="Cambria"/>
                <a:cs typeface="Cambria"/>
                <a:sym typeface="Cambria"/>
              </a:rPr>
              <a:t>1</a:t>
            </a:r>
            <a:endParaRPr sz="1100">
              <a:solidFill>
                <a:srgbClr val="0E9C8A"/>
              </a:solidFill>
            </a:endParaRPr>
          </a:p>
        </p:txBody>
      </p:sp>
      <p:sp>
        <p:nvSpPr>
          <p:cNvPr id="413" name="Google Shape;413;p33"/>
          <p:cNvSpPr txBox="1"/>
          <p:nvPr/>
        </p:nvSpPr>
        <p:spPr>
          <a:xfrm>
            <a:off x="1091573" y="1227582"/>
            <a:ext cx="31890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0" spcFirstLastPara="1" rIns="0" wrap="square" tIns="190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fr" sz="1300" u="none" cap="none" strike="noStrike">
                <a:solidFill>
                  <a:srgbClr val="0E9C8A"/>
                </a:solidFill>
                <a:latin typeface="Cambria"/>
                <a:ea typeface="Cambria"/>
                <a:cs typeface="Cambria"/>
                <a:sym typeface="Cambria"/>
              </a:rPr>
              <a:t>Mémoire conversationnelle</a:t>
            </a:r>
            <a:endParaRPr sz="1100">
              <a:solidFill>
                <a:srgbClr val="0E9C8A"/>
              </a:solidFill>
            </a:endParaRPr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fr" sz="1000" u="none" cap="none" strike="noStrike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Historique de session + personnalisation persistante</a:t>
            </a:r>
            <a:endParaRPr sz="1100">
              <a:solidFill>
                <a:srgbClr val="9CA3AF"/>
              </a:solidFill>
            </a:endParaRPr>
          </a:p>
        </p:txBody>
      </p:sp>
      <p:sp>
        <p:nvSpPr>
          <p:cNvPr id="414" name="Google Shape;414;p33"/>
          <p:cNvSpPr/>
          <p:nvPr/>
        </p:nvSpPr>
        <p:spPr>
          <a:xfrm>
            <a:off x="4692118" y="994410"/>
            <a:ext cx="4149000" cy="1337400"/>
          </a:xfrm>
          <a:prstGeom prst="roundRect">
            <a:avLst>
              <a:gd fmla="val 6000" name="adj"/>
            </a:avLst>
          </a:prstGeom>
          <a:solidFill>
            <a:srgbClr val="0E9C8A">
              <a:alpha val="7999"/>
            </a:srgbClr>
          </a:solidFill>
          <a:ln cap="flat" cmpd="sng" w="7150">
            <a:solidFill>
              <a:srgbClr val="0E9C8A"/>
            </a:solidFill>
            <a:prstDash val="solid"/>
            <a:round/>
            <a:headEnd len="sm" w="sm" type="none"/>
            <a:tailEnd len="sm" w="sm" type="none"/>
          </a:ln>
          <a:effectLst>
            <a:outerShdw blurRad="45001" rotWithShape="0" dir="5400000" dist="18750">
              <a:srgbClr val="8A93A6">
                <a:alpha val="32159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5" name="Google Shape;415;p33"/>
          <p:cNvSpPr/>
          <p:nvPr/>
        </p:nvSpPr>
        <p:spPr>
          <a:xfrm>
            <a:off x="4911581" y="1227582"/>
            <a:ext cx="411600" cy="411600"/>
          </a:xfrm>
          <a:prstGeom prst="ellipse">
            <a:avLst/>
          </a:prstGeom>
          <a:noFill/>
          <a:ln cap="flat" cmpd="sng" w="9525">
            <a:solidFill>
              <a:srgbClr val="0E9C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fr" sz="1100" u="none" cap="none" strike="noStrike">
                <a:solidFill>
                  <a:srgbClr val="0E9C8A"/>
                </a:solidFill>
                <a:latin typeface="Cambria"/>
                <a:ea typeface="Cambria"/>
                <a:cs typeface="Cambria"/>
                <a:sym typeface="Cambria"/>
              </a:rPr>
              <a:t>2</a:t>
            </a:r>
            <a:endParaRPr sz="1100">
              <a:solidFill>
                <a:srgbClr val="0E9C8A"/>
              </a:solidFill>
            </a:endParaRPr>
          </a:p>
        </p:txBody>
      </p:sp>
      <p:sp>
        <p:nvSpPr>
          <p:cNvPr id="416" name="Google Shape;416;p33"/>
          <p:cNvSpPr txBox="1"/>
          <p:nvPr/>
        </p:nvSpPr>
        <p:spPr>
          <a:xfrm>
            <a:off x="5480810" y="1227582"/>
            <a:ext cx="31890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0" spcFirstLastPara="1" rIns="0" wrap="square" tIns="190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fr" sz="1300" u="none" cap="none" strike="noStrike">
                <a:solidFill>
                  <a:srgbClr val="0E9C8A"/>
                </a:solidFill>
                <a:latin typeface="Cambria"/>
                <a:ea typeface="Cambria"/>
                <a:cs typeface="Cambria"/>
                <a:sym typeface="Cambria"/>
              </a:rPr>
              <a:t>Contexte géographique</a:t>
            </a:r>
            <a:endParaRPr sz="1100">
              <a:solidFill>
                <a:srgbClr val="0E9C8A"/>
              </a:solidFill>
            </a:endParaRPr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fr" sz="1000" u="none" cap="none" strike="noStrike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Recherche par rayon / distance (« à 20 km de moi »)</a:t>
            </a:r>
            <a:endParaRPr sz="1100">
              <a:solidFill>
                <a:srgbClr val="9CA3AF"/>
              </a:solidFill>
            </a:endParaRPr>
          </a:p>
        </p:txBody>
      </p:sp>
      <p:sp>
        <p:nvSpPr>
          <p:cNvPr id="417" name="Google Shape;417;p33"/>
          <p:cNvSpPr/>
          <p:nvPr/>
        </p:nvSpPr>
        <p:spPr>
          <a:xfrm>
            <a:off x="302882" y="2537460"/>
            <a:ext cx="4149000" cy="1337400"/>
          </a:xfrm>
          <a:prstGeom prst="roundRect">
            <a:avLst>
              <a:gd fmla="val 6000" name="adj"/>
            </a:avLst>
          </a:prstGeom>
          <a:solidFill>
            <a:srgbClr val="0E9C8A">
              <a:alpha val="7999"/>
            </a:srgbClr>
          </a:solidFill>
          <a:ln cap="flat" cmpd="sng" w="7150">
            <a:solidFill>
              <a:srgbClr val="0E9C8A"/>
            </a:solidFill>
            <a:prstDash val="solid"/>
            <a:round/>
            <a:headEnd len="sm" w="sm" type="none"/>
            <a:tailEnd len="sm" w="sm" type="none"/>
          </a:ln>
          <a:effectLst>
            <a:outerShdw blurRad="45001" rotWithShape="0" dir="5400000" dist="18750">
              <a:srgbClr val="8A93A6">
                <a:alpha val="32159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8" name="Google Shape;418;p33"/>
          <p:cNvSpPr/>
          <p:nvPr/>
        </p:nvSpPr>
        <p:spPr>
          <a:xfrm>
            <a:off x="522344" y="2770632"/>
            <a:ext cx="411600" cy="411600"/>
          </a:xfrm>
          <a:prstGeom prst="ellipse">
            <a:avLst/>
          </a:prstGeom>
          <a:noFill/>
          <a:ln cap="flat" cmpd="sng" w="9525">
            <a:solidFill>
              <a:srgbClr val="0E9C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fr" sz="1100" u="none" cap="none" strike="noStrike">
                <a:solidFill>
                  <a:srgbClr val="0E9C8A"/>
                </a:solidFill>
                <a:latin typeface="Cambria"/>
                <a:ea typeface="Cambria"/>
                <a:cs typeface="Cambria"/>
                <a:sym typeface="Cambria"/>
              </a:rPr>
              <a:t>3</a:t>
            </a:r>
            <a:endParaRPr sz="1100">
              <a:solidFill>
                <a:srgbClr val="0E9C8A"/>
              </a:solidFill>
            </a:endParaRPr>
          </a:p>
        </p:txBody>
      </p:sp>
      <p:sp>
        <p:nvSpPr>
          <p:cNvPr id="419" name="Google Shape;419;p33"/>
          <p:cNvSpPr txBox="1"/>
          <p:nvPr/>
        </p:nvSpPr>
        <p:spPr>
          <a:xfrm>
            <a:off x="1091573" y="2770632"/>
            <a:ext cx="31890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0" spcFirstLastPara="1" rIns="0" wrap="square" tIns="190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fr" sz="1300" u="none" cap="none" strike="noStrike">
                <a:solidFill>
                  <a:srgbClr val="0E9C8A"/>
                </a:solidFill>
                <a:latin typeface="Cambria"/>
                <a:ea typeface="Cambria"/>
                <a:cs typeface="Cambria"/>
                <a:sym typeface="Cambria"/>
              </a:rPr>
              <a:t>Recherche web temps réel</a:t>
            </a:r>
            <a:endParaRPr sz="1100">
              <a:solidFill>
                <a:srgbClr val="0E9C8A"/>
              </a:solidFill>
            </a:endParaRPr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fr" sz="1000" u="none" cap="none" strike="noStrike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Compléter le RAG sur l'actualité la plus fraîche</a:t>
            </a:r>
            <a:endParaRPr sz="1100">
              <a:solidFill>
                <a:srgbClr val="9CA3AF"/>
              </a:solidFill>
            </a:endParaRPr>
          </a:p>
        </p:txBody>
      </p:sp>
      <p:sp>
        <p:nvSpPr>
          <p:cNvPr id="420" name="Google Shape;420;p33"/>
          <p:cNvSpPr/>
          <p:nvPr/>
        </p:nvSpPr>
        <p:spPr>
          <a:xfrm>
            <a:off x="4692118" y="2537460"/>
            <a:ext cx="4149000" cy="1337400"/>
          </a:xfrm>
          <a:prstGeom prst="roundRect">
            <a:avLst>
              <a:gd fmla="val 6000" name="adj"/>
            </a:avLst>
          </a:prstGeom>
          <a:solidFill>
            <a:srgbClr val="0E9C8A">
              <a:alpha val="7999"/>
            </a:srgbClr>
          </a:solidFill>
          <a:ln cap="flat" cmpd="sng" w="7150">
            <a:solidFill>
              <a:srgbClr val="0E9C8A"/>
            </a:solidFill>
            <a:prstDash val="solid"/>
            <a:round/>
            <a:headEnd len="sm" w="sm" type="none"/>
            <a:tailEnd len="sm" w="sm" type="none"/>
          </a:ln>
          <a:effectLst>
            <a:outerShdw blurRad="45001" rotWithShape="0" dir="5400000" dist="18750">
              <a:srgbClr val="8A93A6">
                <a:alpha val="32159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1" name="Google Shape;421;p33"/>
          <p:cNvSpPr/>
          <p:nvPr/>
        </p:nvSpPr>
        <p:spPr>
          <a:xfrm>
            <a:off x="4911581" y="2770632"/>
            <a:ext cx="411600" cy="411600"/>
          </a:xfrm>
          <a:prstGeom prst="ellipse">
            <a:avLst/>
          </a:prstGeom>
          <a:noFill/>
          <a:ln cap="flat" cmpd="sng" w="9525">
            <a:solidFill>
              <a:srgbClr val="0E9C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fr" sz="1100" u="none" cap="none" strike="noStrike">
                <a:solidFill>
                  <a:srgbClr val="0E9C8A"/>
                </a:solidFill>
                <a:latin typeface="Cambria"/>
                <a:ea typeface="Cambria"/>
                <a:cs typeface="Cambria"/>
                <a:sym typeface="Cambria"/>
              </a:rPr>
              <a:t>4</a:t>
            </a:r>
            <a:endParaRPr sz="1100">
              <a:solidFill>
                <a:srgbClr val="0E9C8A"/>
              </a:solidFill>
            </a:endParaRPr>
          </a:p>
        </p:txBody>
      </p:sp>
      <p:sp>
        <p:nvSpPr>
          <p:cNvPr id="422" name="Google Shape;422;p33"/>
          <p:cNvSpPr txBox="1"/>
          <p:nvPr/>
        </p:nvSpPr>
        <p:spPr>
          <a:xfrm>
            <a:off x="5480810" y="2770632"/>
            <a:ext cx="31890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0" spcFirstLastPara="1" rIns="0" wrap="square" tIns="190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fr" sz="1300" u="none" cap="none" strike="noStrike">
                <a:solidFill>
                  <a:srgbClr val="0E9C8A"/>
                </a:solidFill>
                <a:latin typeface="Cambria"/>
                <a:ea typeface="Cambria"/>
                <a:cs typeface="Cambria"/>
                <a:sym typeface="Cambria"/>
              </a:rPr>
              <a:t>Monitoring</a:t>
            </a:r>
            <a:endParaRPr sz="1100">
              <a:solidFill>
                <a:srgbClr val="0E9C8A"/>
              </a:solidFill>
            </a:endParaRPr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fr" sz="1000" u="none" cap="none" strike="noStrike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Qualité du RAG, coût par requête, satisfaction</a:t>
            </a:r>
            <a:endParaRPr sz="1100">
              <a:solidFill>
                <a:srgbClr val="9CA3AF"/>
              </a:solidFill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7" name="Shape 4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" name="Google Shape;428;p34"/>
          <p:cNvSpPr txBox="1"/>
          <p:nvPr/>
        </p:nvSpPr>
        <p:spPr>
          <a:xfrm>
            <a:off x="377200" y="233175"/>
            <a:ext cx="1773600" cy="45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9050" lIns="0" spcFirstLastPara="1" rIns="0" wrap="square" tIns="190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1800">
                <a:solidFill>
                  <a:srgbClr val="0E9C8A"/>
                </a:solidFill>
                <a:latin typeface="Calibri"/>
                <a:ea typeface="Calibri"/>
                <a:cs typeface="Calibri"/>
                <a:sym typeface="Calibri"/>
              </a:rPr>
              <a:t>Le besoin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9" name="Google Shape;429;p34"/>
          <p:cNvSpPr txBox="1"/>
          <p:nvPr/>
        </p:nvSpPr>
        <p:spPr>
          <a:xfrm>
            <a:off x="377200" y="675550"/>
            <a:ext cx="26754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9050" lIns="0" spcFirstLastPara="1" rIns="0" wrap="square" tIns="190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1100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Quatre défis + des contraintes transverses</a:t>
            </a:r>
            <a:endParaRPr b="1" sz="1100">
              <a:solidFill>
                <a:srgbClr val="9CA3A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0" name="Google Shape;430;p34"/>
          <p:cNvSpPr txBox="1"/>
          <p:nvPr/>
        </p:nvSpPr>
        <p:spPr>
          <a:xfrm>
            <a:off x="377200" y="4945850"/>
            <a:ext cx="999000" cy="166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700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MVP RAG Puls-Events</a:t>
            </a:r>
            <a:endParaRPr sz="700">
              <a:solidFill>
                <a:srgbClr val="9CA3A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1" name="Google Shape;431;p34"/>
          <p:cNvSpPr/>
          <p:nvPr/>
        </p:nvSpPr>
        <p:spPr>
          <a:xfrm>
            <a:off x="302850" y="994410"/>
            <a:ext cx="4149000" cy="1337400"/>
          </a:xfrm>
          <a:prstGeom prst="roundRect">
            <a:avLst>
              <a:gd fmla="val 6000" name="adj"/>
            </a:avLst>
          </a:prstGeom>
          <a:solidFill>
            <a:srgbClr val="0E9C8A">
              <a:alpha val="7999"/>
            </a:srgbClr>
          </a:solidFill>
          <a:ln cap="flat" cmpd="sng" w="7150">
            <a:solidFill>
              <a:srgbClr val="0E9C8A"/>
            </a:solidFill>
            <a:prstDash val="solid"/>
            <a:round/>
            <a:headEnd len="sm" w="sm" type="none"/>
            <a:tailEnd len="sm" w="sm" type="none"/>
          </a:ln>
          <a:effectLst>
            <a:outerShdw blurRad="45001" rotWithShape="0" dir="5400000" dist="18750">
              <a:srgbClr val="8A93A6">
                <a:alpha val="32159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2" name="Google Shape;432;p34"/>
          <p:cNvSpPr/>
          <p:nvPr/>
        </p:nvSpPr>
        <p:spPr>
          <a:xfrm>
            <a:off x="522312" y="1227582"/>
            <a:ext cx="411600" cy="411600"/>
          </a:xfrm>
          <a:prstGeom prst="ellipse">
            <a:avLst/>
          </a:prstGeom>
          <a:noFill/>
          <a:ln cap="flat" cmpd="sng" w="9525">
            <a:solidFill>
              <a:srgbClr val="0E9C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fr" sz="1100" u="none" cap="none" strike="noStrike">
                <a:solidFill>
                  <a:srgbClr val="0E9C8A"/>
                </a:solidFill>
                <a:latin typeface="Cambria"/>
                <a:ea typeface="Cambria"/>
                <a:cs typeface="Cambria"/>
                <a:sym typeface="Cambria"/>
              </a:rPr>
              <a:t>1</a:t>
            </a:r>
            <a:endParaRPr sz="1100">
              <a:solidFill>
                <a:srgbClr val="0E9C8A"/>
              </a:solidFill>
            </a:endParaRPr>
          </a:p>
        </p:txBody>
      </p:sp>
      <p:sp>
        <p:nvSpPr>
          <p:cNvPr id="433" name="Google Shape;433;p34"/>
          <p:cNvSpPr txBox="1"/>
          <p:nvPr/>
        </p:nvSpPr>
        <p:spPr>
          <a:xfrm>
            <a:off x="1091541" y="1227582"/>
            <a:ext cx="31890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0" spcFirstLastPara="1" rIns="0" wrap="square" tIns="190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fr" sz="1300" u="none" cap="none" strike="noStrike">
                <a:solidFill>
                  <a:srgbClr val="0E9C8A"/>
                </a:solidFill>
                <a:latin typeface="Cambria"/>
                <a:ea typeface="Cambria"/>
                <a:cs typeface="Cambria"/>
                <a:sym typeface="Cambria"/>
              </a:rPr>
              <a:t>Mémoire conversationnelle</a:t>
            </a:r>
            <a:endParaRPr sz="1100">
              <a:solidFill>
                <a:srgbClr val="0E9C8A"/>
              </a:solidFill>
            </a:endParaRPr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fr" sz="1000" u="none" cap="none" strike="noStrike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Historique de session + personnalisation persistante</a:t>
            </a:r>
            <a:endParaRPr sz="1100">
              <a:solidFill>
                <a:srgbClr val="9CA3AF"/>
              </a:solidFill>
            </a:endParaRPr>
          </a:p>
        </p:txBody>
      </p:sp>
      <p:sp>
        <p:nvSpPr>
          <p:cNvPr id="434" name="Google Shape;434;p34"/>
          <p:cNvSpPr/>
          <p:nvPr/>
        </p:nvSpPr>
        <p:spPr>
          <a:xfrm>
            <a:off x="4692086" y="994410"/>
            <a:ext cx="4149000" cy="1337400"/>
          </a:xfrm>
          <a:prstGeom prst="roundRect">
            <a:avLst>
              <a:gd fmla="val 6000" name="adj"/>
            </a:avLst>
          </a:prstGeom>
          <a:solidFill>
            <a:srgbClr val="0E9C8A">
              <a:alpha val="7999"/>
            </a:srgbClr>
          </a:solidFill>
          <a:ln cap="flat" cmpd="sng" w="7150">
            <a:solidFill>
              <a:srgbClr val="0E9C8A"/>
            </a:solidFill>
            <a:prstDash val="solid"/>
            <a:round/>
            <a:headEnd len="sm" w="sm" type="none"/>
            <a:tailEnd len="sm" w="sm" type="none"/>
          </a:ln>
          <a:effectLst>
            <a:outerShdw blurRad="45001" rotWithShape="0" dir="5400000" dist="18750">
              <a:srgbClr val="8A93A6">
                <a:alpha val="32159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5" name="Google Shape;435;p34"/>
          <p:cNvSpPr/>
          <p:nvPr/>
        </p:nvSpPr>
        <p:spPr>
          <a:xfrm>
            <a:off x="4911549" y="1227582"/>
            <a:ext cx="411600" cy="411600"/>
          </a:xfrm>
          <a:prstGeom prst="ellipse">
            <a:avLst/>
          </a:prstGeom>
          <a:noFill/>
          <a:ln cap="flat" cmpd="sng" w="9525">
            <a:solidFill>
              <a:srgbClr val="0E9C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fr" sz="1100" u="none" cap="none" strike="noStrike">
                <a:solidFill>
                  <a:srgbClr val="0E9C8A"/>
                </a:solidFill>
                <a:latin typeface="Cambria"/>
                <a:ea typeface="Cambria"/>
                <a:cs typeface="Cambria"/>
                <a:sym typeface="Cambria"/>
              </a:rPr>
              <a:t>2</a:t>
            </a:r>
            <a:endParaRPr sz="1100">
              <a:solidFill>
                <a:srgbClr val="0E9C8A"/>
              </a:solidFill>
            </a:endParaRPr>
          </a:p>
        </p:txBody>
      </p:sp>
      <p:sp>
        <p:nvSpPr>
          <p:cNvPr id="436" name="Google Shape;436;p34"/>
          <p:cNvSpPr txBox="1"/>
          <p:nvPr/>
        </p:nvSpPr>
        <p:spPr>
          <a:xfrm>
            <a:off x="5480778" y="1227582"/>
            <a:ext cx="31890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0" spcFirstLastPara="1" rIns="0" wrap="square" tIns="190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fr" sz="1300" u="none" cap="none" strike="noStrike">
                <a:solidFill>
                  <a:srgbClr val="0E9C8A"/>
                </a:solidFill>
                <a:latin typeface="Cambria"/>
                <a:ea typeface="Cambria"/>
                <a:cs typeface="Cambria"/>
                <a:sym typeface="Cambria"/>
              </a:rPr>
              <a:t>Contexte géographique</a:t>
            </a:r>
            <a:endParaRPr sz="1100">
              <a:solidFill>
                <a:srgbClr val="0E9C8A"/>
              </a:solidFill>
            </a:endParaRPr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fr" sz="1000" u="none" cap="none" strike="noStrike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Recherche par rayon / distance (« à 20 km de moi »)</a:t>
            </a:r>
            <a:endParaRPr sz="1100">
              <a:solidFill>
                <a:srgbClr val="9CA3AF"/>
              </a:solidFill>
            </a:endParaRPr>
          </a:p>
        </p:txBody>
      </p:sp>
      <p:sp>
        <p:nvSpPr>
          <p:cNvPr id="437" name="Google Shape;437;p34"/>
          <p:cNvSpPr/>
          <p:nvPr/>
        </p:nvSpPr>
        <p:spPr>
          <a:xfrm>
            <a:off x="302850" y="2537460"/>
            <a:ext cx="4149000" cy="1337400"/>
          </a:xfrm>
          <a:prstGeom prst="roundRect">
            <a:avLst>
              <a:gd fmla="val 6000" name="adj"/>
            </a:avLst>
          </a:prstGeom>
          <a:solidFill>
            <a:srgbClr val="0E9C8A">
              <a:alpha val="7999"/>
            </a:srgbClr>
          </a:solidFill>
          <a:ln cap="flat" cmpd="sng" w="7150">
            <a:solidFill>
              <a:srgbClr val="0E9C8A"/>
            </a:solidFill>
            <a:prstDash val="solid"/>
            <a:round/>
            <a:headEnd len="sm" w="sm" type="none"/>
            <a:tailEnd len="sm" w="sm" type="none"/>
          </a:ln>
          <a:effectLst>
            <a:outerShdw blurRad="45001" rotWithShape="0" dir="5400000" dist="18750">
              <a:srgbClr val="8A93A6">
                <a:alpha val="32159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8" name="Google Shape;438;p34"/>
          <p:cNvSpPr/>
          <p:nvPr/>
        </p:nvSpPr>
        <p:spPr>
          <a:xfrm>
            <a:off x="522312" y="2770632"/>
            <a:ext cx="411600" cy="411600"/>
          </a:xfrm>
          <a:prstGeom prst="ellipse">
            <a:avLst/>
          </a:prstGeom>
          <a:noFill/>
          <a:ln cap="flat" cmpd="sng" w="9525">
            <a:solidFill>
              <a:srgbClr val="0E9C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fr" sz="1100" u="none" cap="none" strike="noStrike">
                <a:solidFill>
                  <a:srgbClr val="0E9C8A"/>
                </a:solidFill>
                <a:latin typeface="Cambria"/>
                <a:ea typeface="Cambria"/>
                <a:cs typeface="Cambria"/>
                <a:sym typeface="Cambria"/>
              </a:rPr>
              <a:t>3</a:t>
            </a:r>
            <a:endParaRPr sz="1100">
              <a:solidFill>
                <a:srgbClr val="0E9C8A"/>
              </a:solidFill>
            </a:endParaRPr>
          </a:p>
        </p:txBody>
      </p:sp>
      <p:sp>
        <p:nvSpPr>
          <p:cNvPr id="439" name="Google Shape;439;p34"/>
          <p:cNvSpPr txBox="1"/>
          <p:nvPr/>
        </p:nvSpPr>
        <p:spPr>
          <a:xfrm>
            <a:off x="1091541" y="2770632"/>
            <a:ext cx="31890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0" spcFirstLastPara="1" rIns="0" wrap="square" tIns="190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fr" sz="1300" u="none" cap="none" strike="noStrike">
                <a:solidFill>
                  <a:srgbClr val="0E9C8A"/>
                </a:solidFill>
                <a:latin typeface="Cambria"/>
                <a:ea typeface="Cambria"/>
                <a:cs typeface="Cambria"/>
                <a:sym typeface="Cambria"/>
              </a:rPr>
              <a:t>Recherche web temps réel</a:t>
            </a:r>
            <a:endParaRPr sz="1100">
              <a:solidFill>
                <a:srgbClr val="0E9C8A"/>
              </a:solidFill>
            </a:endParaRPr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fr" sz="1000" u="none" cap="none" strike="noStrike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Compléter le RAG sur l'actualité la plus fraîche</a:t>
            </a:r>
            <a:endParaRPr sz="1100">
              <a:solidFill>
                <a:srgbClr val="9CA3AF"/>
              </a:solidFill>
            </a:endParaRPr>
          </a:p>
        </p:txBody>
      </p:sp>
      <p:sp>
        <p:nvSpPr>
          <p:cNvPr id="440" name="Google Shape;440;p34"/>
          <p:cNvSpPr/>
          <p:nvPr/>
        </p:nvSpPr>
        <p:spPr>
          <a:xfrm>
            <a:off x="4692086" y="2537460"/>
            <a:ext cx="4149000" cy="1337400"/>
          </a:xfrm>
          <a:prstGeom prst="roundRect">
            <a:avLst>
              <a:gd fmla="val 6000" name="adj"/>
            </a:avLst>
          </a:prstGeom>
          <a:solidFill>
            <a:srgbClr val="0E9C8A">
              <a:alpha val="7999"/>
            </a:srgbClr>
          </a:solidFill>
          <a:ln cap="flat" cmpd="sng" w="7150">
            <a:solidFill>
              <a:srgbClr val="0E9C8A"/>
            </a:solidFill>
            <a:prstDash val="solid"/>
            <a:round/>
            <a:headEnd len="sm" w="sm" type="none"/>
            <a:tailEnd len="sm" w="sm" type="none"/>
          </a:ln>
          <a:effectLst>
            <a:outerShdw blurRad="45001" rotWithShape="0" dir="5400000" dist="18750">
              <a:srgbClr val="8A93A6">
                <a:alpha val="32159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1" name="Google Shape;441;p34"/>
          <p:cNvSpPr/>
          <p:nvPr/>
        </p:nvSpPr>
        <p:spPr>
          <a:xfrm>
            <a:off x="4911549" y="2770632"/>
            <a:ext cx="411600" cy="411600"/>
          </a:xfrm>
          <a:prstGeom prst="ellipse">
            <a:avLst/>
          </a:prstGeom>
          <a:noFill/>
          <a:ln cap="flat" cmpd="sng" w="9525">
            <a:solidFill>
              <a:srgbClr val="0E9C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fr" sz="1100" u="none" cap="none" strike="noStrike">
                <a:solidFill>
                  <a:srgbClr val="0E9C8A"/>
                </a:solidFill>
                <a:latin typeface="Cambria"/>
                <a:ea typeface="Cambria"/>
                <a:cs typeface="Cambria"/>
                <a:sym typeface="Cambria"/>
              </a:rPr>
              <a:t>4</a:t>
            </a:r>
            <a:endParaRPr sz="1100">
              <a:solidFill>
                <a:srgbClr val="0E9C8A"/>
              </a:solidFill>
            </a:endParaRPr>
          </a:p>
        </p:txBody>
      </p:sp>
      <p:sp>
        <p:nvSpPr>
          <p:cNvPr id="442" name="Google Shape;442;p34"/>
          <p:cNvSpPr txBox="1"/>
          <p:nvPr/>
        </p:nvSpPr>
        <p:spPr>
          <a:xfrm>
            <a:off x="5480778" y="2770632"/>
            <a:ext cx="31890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0" spcFirstLastPara="1" rIns="0" wrap="square" tIns="190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fr" sz="1300" u="none" cap="none" strike="noStrike">
                <a:solidFill>
                  <a:srgbClr val="0E9C8A"/>
                </a:solidFill>
                <a:latin typeface="Cambria"/>
                <a:ea typeface="Cambria"/>
                <a:cs typeface="Cambria"/>
                <a:sym typeface="Cambria"/>
              </a:rPr>
              <a:t>Monitoring</a:t>
            </a:r>
            <a:endParaRPr sz="1100">
              <a:solidFill>
                <a:srgbClr val="0E9C8A"/>
              </a:solidFill>
            </a:endParaRPr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fr" sz="1000" u="none" cap="none" strike="noStrike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Qualité du RAG, coût par requête, satisfaction</a:t>
            </a:r>
            <a:endParaRPr sz="1100">
              <a:solidFill>
                <a:srgbClr val="9CA3AF"/>
              </a:solidFill>
            </a:endParaRPr>
          </a:p>
        </p:txBody>
      </p:sp>
      <p:sp>
        <p:nvSpPr>
          <p:cNvPr id="443" name="Google Shape;443;p34"/>
          <p:cNvSpPr/>
          <p:nvPr/>
        </p:nvSpPr>
        <p:spPr>
          <a:xfrm>
            <a:off x="302850" y="3998225"/>
            <a:ext cx="8538300" cy="630900"/>
          </a:xfrm>
          <a:prstGeom prst="roundRect">
            <a:avLst>
              <a:gd fmla="val 6000" name="adj"/>
            </a:avLst>
          </a:prstGeom>
          <a:solidFill>
            <a:srgbClr val="4F46E5">
              <a:alpha val="7999"/>
            </a:srgbClr>
          </a:solidFill>
          <a:ln cap="flat" cmpd="sng" w="9525">
            <a:solidFill>
              <a:srgbClr val="4F46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4" name="Google Shape;444;p34"/>
          <p:cNvSpPr txBox="1"/>
          <p:nvPr/>
        </p:nvSpPr>
        <p:spPr>
          <a:xfrm>
            <a:off x="577176" y="4087375"/>
            <a:ext cx="4641900" cy="3873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0" spcFirstLastPara="1" rIns="0" wrap="square" tIns="190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fr" sz="1000" u="none" cap="none" strike="noStrike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Contraintes transverses</a:t>
            </a:r>
            <a:endParaRPr sz="1100">
              <a:solidFill>
                <a:srgbClr val="9CA3AF"/>
              </a:solidFill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1" i="0" lang="fr" sz="1100" u="none" cap="none" strike="noStrike">
                <a:solidFill>
                  <a:srgbClr val="4F46E5"/>
                </a:solidFill>
                <a:latin typeface="Calibri"/>
                <a:ea typeface="Calibri"/>
                <a:cs typeface="Calibri"/>
                <a:sym typeface="Calibri"/>
              </a:rPr>
              <a:t>Souveraineté FR / RGPD      Scalabilité multi-instances      Budget MVP maîtrisé</a:t>
            </a:r>
            <a:endParaRPr b="1" sz="1100">
              <a:solidFill>
                <a:srgbClr val="4F46E5"/>
              </a:solidFill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9" name="Shape 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" name="Google Shape;450;p35"/>
          <p:cNvSpPr txBox="1"/>
          <p:nvPr/>
        </p:nvSpPr>
        <p:spPr>
          <a:xfrm>
            <a:off x="377200" y="233175"/>
            <a:ext cx="1773600" cy="45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9050" lIns="0" spcFirstLastPara="1" rIns="0" wrap="square" tIns="190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1800">
                <a:solidFill>
                  <a:srgbClr val="0E9C8A"/>
                </a:solidFill>
                <a:latin typeface="Calibri"/>
                <a:ea typeface="Calibri"/>
                <a:cs typeface="Calibri"/>
                <a:sym typeface="Calibri"/>
              </a:rPr>
              <a:t>Du POC au MVP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1" name="Google Shape;451;p35"/>
          <p:cNvSpPr txBox="1"/>
          <p:nvPr/>
        </p:nvSpPr>
        <p:spPr>
          <a:xfrm>
            <a:off x="377200" y="675550"/>
            <a:ext cx="37122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9050" lIns="0" spcFirstLastPara="1" rIns="0" wrap="square" tIns="190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1100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Le schéma du POC RAG Puls-Events, augmenté par les besoins</a:t>
            </a:r>
            <a:endParaRPr b="1" sz="1100">
              <a:solidFill>
                <a:srgbClr val="9CA3A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2" name="Google Shape;452;p35"/>
          <p:cNvSpPr txBox="1"/>
          <p:nvPr/>
        </p:nvSpPr>
        <p:spPr>
          <a:xfrm>
            <a:off x="377200" y="4945850"/>
            <a:ext cx="999000" cy="166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700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MVP RAG Puls-Events</a:t>
            </a:r>
            <a:endParaRPr sz="700">
              <a:solidFill>
                <a:srgbClr val="9CA3A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7" name="Shape 4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8" name="Google Shape;458;p36"/>
          <p:cNvSpPr/>
          <p:nvPr/>
        </p:nvSpPr>
        <p:spPr>
          <a:xfrm>
            <a:off x="480073" y="1248156"/>
            <a:ext cx="2434500" cy="219300"/>
          </a:xfrm>
          <a:prstGeom prst="roundRect">
            <a:avLst>
              <a:gd fmla="val 16667" name="adj"/>
            </a:avLst>
          </a:prstGeom>
          <a:solidFill>
            <a:srgbClr val="185FA5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BATCH — construction de l'index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9" name="Google Shape;459;p36"/>
          <p:cNvSpPr/>
          <p:nvPr/>
        </p:nvSpPr>
        <p:spPr>
          <a:xfrm>
            <a:off x="480098" y="2016165"/>
            <a:ext cx="2434500" cy="219300"/>
          </a:xfrm>
          <a:prstGeom prst="roundRect">
            <a:avLst>
              <a:gd fmla="val 16667" name="adj"/>
            </a:avLst>
          </a:prstGeom>
          <a:solidFill>
            <a:srgbClr val="185FA5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RUNTIME — réponse à une question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0" name="Google Shape;460;p36"/>
          <p:cNvSpPr txBox="1"/>
          <p:nvPr/>
        </p:nvSpPr>
        <p:spPr>
          <a:xfrm>
            <a:off x="377200" y="233175"/>
            <a:ext cx="1773600" cy="45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9050" lIns="0" spcFirstLastPara="1" rIns="0" wrap="square" tIns="190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1800">
                <a:solidFill>
                  <a:srgbClr val="0E9C8A"/>
                </a:solidFill>
                <a:latin typeface="Calibri"/>
                <a:ea typeface="Calibri"/>
                <a:cs typeface="Calibri"/>
                <a:sym typeface="Calibri"/>
              </a:rPr>
              <a:t>Du POC au MVP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1" name="Google Shape;461;p36"/>
          <p:cNvSpPr txBox="1"/>
          <p:nvPr/>
        </p:nvSpPr>
        <p:spPr>
          <a:xfrm>
            <a:off x="377200" y="675550"/>
            <a:ext cx="37122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9050" lIns="0" spcFirstLastPara="1" rIns="0" wrap="square" tIns="190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1100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Le schéma du POC RAG Puls-Events, augmenté par les besoins</a:t>
            </a:r>
            <a:endParaRPr b="1" sz="1100">
              <a:solidFill>
                <a:srgbClr val="9CA3A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2" name="Google Shape;462;p36"/>
          <p:cNvSpPr txBox="1"/>
          <p:nvPr/>
        </p:nvSpPr>
        <p:spPr>
          <a:xfrm>
            <a:off x="377200" y="4945850"/>
            <a:ext cx="999000" cy="166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700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MVP RAG Puls-Events</a:t>
            </a:r>
            <a:endParaRPr sz="700">
              <a:solidFill>
                <a:srgbClr val="9CA3A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7" name="Shape 4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" name="Google Shape;468;p37"/>
          <p:cNvSpPr/>
          <p:nvPr/>
        </p:nvSpPr>
        <p:spPr>
          <a:xfrm>
            <a:off x="6478535" y="530960"/>
            <a:ext cx="150900" cy="150900"/>
          </a:xfrm>
          <a:prstGeom prst="roundRect">
            <a:avLst>
              <a:gd fmla="val 16667" name="adj"/>
            </a:avLst>
          </a:prstGeom>
          <a:solidFill>
            <a:srgbClr val="185FA5">
              <a:alpha val="6960"/>
            </a:srgbClr>
          </a:solidFill>
          <a:ln cap="flat" cmpd="sng" w="9525">
            <a:solidFill>
              <a:srgbClr val="185FA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9" name="Google Shape;469;p37"/>
          <p:cNvSpPr txBox="1"/>
          <p:nvPr/>
        </p:nvSpPr>
        <p:spPr>
          <a:xfrm>
            <a:off x="6691151" y="510375"/>
            <a:ext cx="1371600" cy="17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9050" lIns="0" spcFirstLastPara="1" rIns="0" wrap="square" tIns="190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fr" sz="800" u="none" cap="none" strike="noStrike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hérité (</a:t>
            </a:r>
            <a:r>
              <a:rPr lang="fr" sz="900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POC RAG Puls-Events</a:t>
            </a:r>
            <a:r>
              <a:rPr b="0" i="0" lang="fr" sz="800" u="none" cap="none" strike="noStrike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)</a:t>
            </a:r>
            <a:endParaRPr sz="1100">
              <a:solidFill>
                <a:srgbClr val="9CA3AF"/>
              </a:solidFill>
            </a:endParaRPr>
          </a:p>
        </p:txBody>
      </p:sp>
      <p:sp>
        <p:nvSpPr>
          <p:cNvPr id="470" name="Google Shape;470;p37"/>
          <p:cNvSpPr/>
          <p:nvPr/>
        </p:nvSpPr>
        <p:spPr>
          <a:xfrm>
            <a:off x="480073" y="1248156"/>
            <a:ext cx="2434500" cy="219300"/>
          </a:xfrm>
          <a:prstGeom prst="roundRect">
            <a:avLst>
              <a:gd fmla="val 16667" name="adj"/>
            </a:avLst>
          </a:prstGeom>
          <a:solidFill>
            <a:srgbClr val="185FA5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BATCH — construction de l'index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1" name="Google Shape;471;p37"/>
          <p:cNvSpPr/>
          <p:nvPr/>
        </p:nvSpPr>
        <p:spPr>
          <a:xfrm>
            <a:off x="651527" y="1495044"/>
            <a:ext cx="1680300" cy="397800"/>
          </a:xfrm>
          <a:prstGeom prst="roundRect">
            <a:avLst>
              <a:gd fmla="val 6000" name="adj"/>
            </a:avLst>
          </a:prstGeom>
          <a:solidFill>
            <a:srgbClr val="185FA5">
              <a:alpha val="6960"/>
            </a:srgbClr>
          </a:solidFill>
          <a:ln cap="flat" cmpd="sng" w="9525">
            <a:solidFill>
              <a:srgbClr val="185FA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900">
                <a:solidFill>
                  <a:srgbClr val="185FA5"/>
                </a:solidFill>
                <a:latin typeface="Cambria"/>
                <a:ea typeface="Cambria"/>
                <a:cs typeface="Cambria"/>
                <a:sym typeface="Cambria"/>
              </a:rPr>
              <a:t>Open Agenda</a:t>
            </a:r>
            <a:endParaRPr sz="1100">
              <a:solidFill>
                <a:srgbClr val="185FA5"/>
              </a:solidFill>
            </a:endParaRPr>
          </a:p>
          <a:p>
            <a:pPr indent="0" lvl="0" marL="0" rtl="0" algn="ctr">
              <a:spcBef>
                <a:spcPts val="100"/>
              </a:spcBef>
              <a:spcAft>
                <a:spcPts val="0"/>
              </a:spcAft>
              <a:buNone/>
            </a:pPr>
            <a:r>
              <a:rPr lang="fr" sz="700">
                <a:solidFill>
                  <a:srgbClr val="185FA5"/>
                </a:solidFill>
                <a:latin typeface="Calibri"/>
                <a:ea typeface="Calibri"/>
                <a:cs typeface="Calibri"/>
                <a:sym typeface="Calibri"/>
              </a:rPr>
              <a:t>API Opendatasoft</a:t>
            </a:r>
            <a:endParaRPr>
              <a:solidFill>
                <a:srgbClr val="185FA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2" name="Google Shape;472;p37"/>
          <p:cNvSpPr/>
          <p:nvPr/>
        </p:nvSpPr>
        <p:spPr>
          <a:xfrm>
            <a:off x="480098" y="2016165"/>
            <a:ext cx="2434500" cy="219300"/>
          </a:xfrm>
          <a:prstGeom prst="roundRect">
            <a:avLst>
              <a:gd fmla="val 16667" name="adj"/>
            </a:avLst>
          </a:prstGeom>
          <a:solidFill>
            <a:srgbClr val="185FA5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RUNTIME — réponse à une question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3" name="Google Shape;473;p37"/>
          <p:cNvSpPr txBox="1"/>
          <p:nvPr/>
        </p:nvSpPr>
        <p:spPr>
          <a:xfrm>
            <a:off x="377200" y="233175"/>
            <a:ext cx="1773600" cy="45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9050" lIns="0" spcFirstLastPara="1" rIns="0" wrap="square" tIns="190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1800">
                <a:solidFill>
                  <a:srgbClr val="0E9C8A"/>
                </a:solidFill>
                <a:latin typeface="Calibri"/>
                <a:ea typeface="Calibri"/>
                <a:cs typeface="Calibri"/>
                <a:sym typeface="Calibri"/>
              </a:rPr>
              <a:t>Du POC au MVP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4" name="Google Shape;474;p37"/>
          <p:cNvSpPr txBox="1"/>
          <p:nvPr/>
        </p:nvSpPr>
        <p:spPr>
          <a:xfrm>
            <a:off x="377200" y="675550"/>
            <a:ext cx="37122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9050" lIns="0" spcFirstLastPara="1" rIns="0" wrap="square" tIns="190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1100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Le schéma du POC RAG Puls-Events, augmenté par les besoins</a:t>
            </a:r>
            <a:endParaRPr b="1" sz="1100">
              <a:solidFill>
                <a:srgbClr val="9CA3A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5" name="Google Shape;475;p37"/>
          <p:cNvSpPr txBox="1"/>
          <p:nvPr/>
        </p:nvSpPr>
        <p:spPr>
          <a:xfrm>
            <a:off x="377200" y="4945850"/>
            <a:ext cx="999000" cy="166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700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MVP RAG Puls-Events</a:t>
            </a:r>
            <a:endParaRPr sz="700">
              <a:solidFill>
                <a:srgbClr val="9CA3A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0" name="Shape 4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" name="Google Shape;481;p38"/>
          <p:cNvSpPr/>
          <p:nvPr/>
        </p:nvSpPr>
        <p:spPr>
          <a:xfrm>
            <a:off x="6478535" y="530960"/>
            <a:ext cx="150900" cy="150900"/>
          </a:xfrm>
          <a:prstGeom prst="roundRect">
            <a:avLst>
              <a:gd fmla="val 16667" name="adj"/>
            </a:avLst>
          </a:prstGeom>
          <a:solidFill>
            <a:srgbClr val="185FA5">
              <a:alpha val="6960"/>
            </a:srgbClr>
          </a:solidFill>
          <a:ln cap="flat" cmpd="sng" w="9525">
            <a:solidFill>
              <a:srgbClr val="185FA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2" name="Google Shape;482;p38"/>
          <p:cNvSpPr txBox="1"/>
          <p:nvPr/>
        </p:nvSpPr>
        <p:spPr>
          <a:xfrm>
            <a:off x="6691151" y="510375"/>
            <a:ext cx="1371600" cy="17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9050" lIns="0" spcFirstLastPara="1" rIns="0" wrap="square" tIns="190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fr" sz="800" u="none" cap="none" strike="noStrike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hérité (</a:t>
            </a:r>
            <a:r>
              <a:rPr lang="fr" sz="900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POC RAG Puls-Events</a:t>
            </a:r>
            <a:r>
              <a:rPr b="0" i="0" lang="fr" sz="800" u="none" cap="none" strike="noStrike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)</a:t>
            </a:r>
            <a:endParaRPr sz="1100">
              <a:solidFill>
                <a:srgbClr val="9CA3AF"/>
              </a:solidFill>
            </a:endParaRPr>
          </a:p>
        </p:txBody>
      </p:sp>
      <p:sp>
        <p:nvSpPr>
          <p:cNvPr id="483" name="Google Shape;483;p38"/>
          <p:cNvSpPr/>
          <p:nvPr/>
        </p:nvSpPr>
        <p:spPr>
          <a:xfrm>
            <a:off x="480073" y="1248156"/>
            <a:ext cx="2434500" cy="219300"/>
          </a:xfrm>
          <a:prstGeom prst="roundRect">
            <a:avLst>
              <a:gd fmla="val 16667" name="adj"/>
            </a:avLst>
          </a:prstGeom>
          <a:solidFill>
            <a:srgbClr val="185FA5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BATCH — construction de l'index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4" name="Google Shape;484;p38"/>
          <p:cNvSpPr/>
          <p:nvPr/>
        </p:nvSpPr>
        <p:spPr>
          <a:xfrm>
            <a:off x="651527" y="1495044"/>
            <a:ext cx="1680300" cy="397800"/>
          </a:xfrm>
          <a:prstGeom prst="roundRect">
            <a:avLst>
              <a:gd fmla="val 6000" name="adj"/>
            </a:avLst>
          </a:prstGeom>
          <a:solidFill>
            <a:srgbClr val="185FA5">
              <a:alpha val="6960"/>
            </a:srgbClr>
          </a:solidFill>
          <a:ln cap="flat" cmpd="sng" w="9525">
            <a:solidFill>
              <a:srgbClr val="185FA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900">
                <a:solidFill>
                  <a:srgbClr val="185FA5"/>
                </a:solidFill>
                <a:latin typeface="Cambria"/>
                <a:ea typeface="Cambria"/>
                <a:cs typeface="Cambria"/>
                <a:sym typeface="Cambria"/>
              </a:rPr>
              <a:t>Open Agenda</a:t>
            </a:r>
            <a:endParaRPr sz="1100">
              <a:solidFill>
                <a:srgbClr val="185FA5"/>
              </a:solidFill>
            </a:endParaRPr>
          </a:p>
          <a:p>
            <a:pPr indent="0" lvl="0" marL="0" rtl="0" algn="ctr">
              <a:spcBef>
                <a:spcPts val="100"/>
              </a:spcBef>
              <a:spcAft>
                <a:spcPts val="0"/>
              </a:spcAft>
              <a:buNone/>
            </a:pPr>
            <a:r>
              <a:rPr lang="fr" sz="700">
                <a:solidFill>
                  <a:srgbClr val="185FA5"/>
                </a:solidFill>
                <a:latin typeface="Calibri"/>
                <a:ea typeface="Calibri"/>
                <a:cs typeface="Calibri"/>
                <a:sym typeface="Calibri"/>
              </a:rPr>
              <a:t>API Opendatasoft</a:t>
            </a:r>
            <a:endParaRPr>
              <a:solidFill>
                <a:srgbClr val="185FA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5" name="Google Shape;485;p38"/>
          <p:cNvSpPr/>
          <p:nvPr/>
        </p:nvSpPr>
        <p:spPr>
          <a:xfrm>
            <a:off x="2674691" y="1495044"/>
            <a:ext cx="1680300" cy="397800"/>
          </a:xfrm>
          <a:prstGeom prst="roundRect">
            <a:avLst>
              <a:gd fmla="val 6000" name="adj"/>
            </a:avLst>
          </a:prstGeom>
          <a:solidFill>
            <a:srgbClr val="185FA5">
              <a:alpha val="6960"/>
            </a:srgbClr>
          </a:solidFill>
          <a:ln cap="flat" cmpd="sng" w="9525">
            <a:solidFill>
              <a:srgbClr val="185FA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900">
                <a:solidFill>
                  <a:srgbClr val="185FA5"/>
                </a:solidFill>
                <a:latin typeface="Cambria"/>
                <a:ea typeface="Cambria"/>
                <a:cs typeface="Cambria"/>
                <a:sym typeface="Cambria"/>
              </a:rPr>
              <a:t>Ingestion</a:t>
            </a:r>
            <a:endParaRPr sz="1100">
              <a:solidFill>
                <a:srgbClr val="185FA5"/>
              </a:solidFill>
            </a:endParaRPr>
          </a:p>
          <a:p>
            <a:pPr indent="0" lvl="0" marL="0" rtl="0" algn="ctr">
              <a:spcBef>
                <a:spcPts val="200"/>
              </a:spcBef>
              <a:spcAft>
                <a:spcPts val="0"/>
              </a:spcAft>
              <a:buNone/>
            </a:pPr>
            <a:r>
              <a:rPr i="1" lang="fr" sz="700">
                <a:solidFill>
                  <a:srgbClr val="185FA5"/>
                </a:solidFill>
                <a:latin typeface="Calibri"/>
                <a:ea typeface="Calibri"/>
                <a:cs typeface="Calibri"/>
                <a:sym typeface="Calibri"/>
              </a:rPr>
              <a:t>script Python</a:t>
            </a:r>
            <a:endParaRPr>
              <a:solidFill>
                <a:srgbClr val="185FA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6" name="Google Shape;486;p38"/>
          <p:cNvSpPr/>
          <p:nvPr/>
        </p:nvSpPr>
        <p:spPr>
          <a:xfrm>
            <a:off x="480098" y="2016165"/>
            <a:ext cx="2434500" cy="219300"/>
          </a:xfrm>
          <a:prstGeom prst="roundRect">
            <a:avLst>
              <a:gd fmla="val 16667" name="adj"/>
            </a:avLst>
          </a:prstGeom>
          <a:solidFill>
            <a:srgbClr val="185FA5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RUNTIME — réponse à une question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7" name="Google Shape;487;p38"/>
          <p:cNvSpPr txBox="1"/>
          <p:nvPr/>
        </p:nvSpPr>
        <p:spPr>
          <a:xfrm>
            <a:off x="377200" y="233175"/>
            <a:ext cx="1773600" cy="45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9050" lIns="0" spcFirstLastPara="1" rIns="0" wrap="square" tIns="190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1800">
                <a:solidFill>
                  <a:srgbClr val="0E9C8A"/>
                </a:solidFill>
                <a:latin typeface="Calibri"/>
                <a:ea typeface="Calibri"/>
                <a:cs typeface="Calibri"/>
                <a:sym typeface="Calibri"/>
              </a:rPr>
              <a:t>Du POC au MVP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8" name="Google Shape;488;p38"/>
          <p:cNvSpPr txBox="1"/>
          <p:nvPr/>
        </p:nvSpPr>
        <p:spPr>
          <a:xfrm>
            <a:off x="377200" y="675550"/>
            <a:ext cx="37122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9050" lIns="0" spcFirstLastPara="1" rIns="0" wrap="square" tIns="190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1100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Le schéma du POC RAG Puls-Events, augmenté par les besoins</a:t>
            </a:r>
            <a:endParaRPr b="1" sz="1100">
              <a:solidFill>
                <a:srgbClr val="9CA3A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9" name="Google Shape;489;p38"/>
          <p:cNvSpPr/>
          <p:nvPr/>
        </p:nvSpPr>
        <p:spPr>
          <a:xfrm>
            <a:off x="2284350" y="1593125"/>
            <a:ext cx="461700" cy="2013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0E9C8A">
              <a:alpha val="60000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0" name="Google Shape;490;p38"/>
          <p:cNvSpPr txBox="1"/>
          <p:nvPr/>
        </p:nvSpPr>
        <p:spPr>
          <a:xfrm>
            <a:off x="377200" y="4945850"/>
            <a:ext cx="999000" cy="166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700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MVP RAG Puls-Events</a:t>
            </a:r>
            <a:endParaRPr sz="700">
              <a:solidFill>
                <a:srgbClr val="9CA3A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5" name="Shape 4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6" name="Google Shape;496;p39"/>
          <p:cNvSpPr/>
          <p:nvPr/>
        </p:nvSpPr>
        <p:spPr>
          <a:xfrm>
            <a:off x="6478535" y="530960"/>
            <a:ext cx="150900" cy="150900"/>
          </a:xfrm>
          <a:prstGeom prst="roundRect">
            <a:avLst>
              <a:gd fmla="val 16667" name="adj"/>
            </a:avLst>
          </a:prstGeom>
          <a:solidFill>
            <a:srgbClr val="185FA5">
              <a:alpha val="6960"/>
            </a:srgbClr>
          </a:solidFill>
          <a:ln cap="flat" cmpd="sng" w="9525">
            <a:solidFill>
              <a:srgbClr val="185FA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7" name="Google Shape;497;p39"/>
          <p:cNvSpPr txBox="1"/>
          <p:nvPr/>
        </p:nvSpPr>
        <p:spPr>
          <a:xfrm>
            <a:off x="6691151" y="510375"/>
            <a:ext cx="1371600" cy="17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9050" lIns="0" spcFirstLastPara="1" rIns="0" wrap="square" tIns="190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fr" sz="800" u="none" cap="none" strike="noStrike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hérité (</a:t>
            </a:r>
            <a:r>
              <a:rPr lang="fr" sz="900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POC RAG Puls-Events</a:t>
            </a:r>
            <a:r>
              <a:rPr b="0" i="0" lang="fr" sz="800" u="none" cap="none" strike="noStrike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)</a:t>
            </a:r>
            <a:endParaRPr sz="1100">
              <a:solidFill>
                <a:srgbClr val="9CA3AF"/>
              </a:solidFill>
            </a:endParaRPr>
          </a:p>
        </p:txBody>
      </p:sp>
      <p:sp>
        <p:nvSpPr>
          <p:cNvPr id="498" name="Google Shape;498;p39"/>
          <p:cNvSpPr/>
          <p:nvPr/>
        </p:nvSpPr>
        <p:spPr>
          <a:xfrm>
            <a:off x="480073" y="1248156"/>
            <a:ext cx="2434500" cy="219300"/>
          </a:xfrm>
          <a:prstGeom prst="roundRect">
            <a:avLst>
              <a:gd fmla="val 16667" name="adj"/>
            </a:avLst>
          </a:prstGeom>
          <a:solidFill>
            <a:srgbClr val="185FA5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BATCH — construction de l'index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9" name="Google Shape;499;p39"/>
          <p:cNvSpPr/>
          <p:nvPr/>
        </p:nvSpPr>
        <p:spPr>
          <a:xfrm>
            <a:off x="651527" y="1495044"/>
            <a:ext cx="1680300" cy="397800"/>
          </a:xfrm>
          <a:prstGeom prst="roundRect">
            <a:avLst>
              <a:gd fmla="val 6000" name="adj"/>
            </a:avLst>
          </a:prstGeom>
          <a:solidFill>
            <a:srgbClr val="185FA5">
              <a:alpha val="6960"/>
            </a:srgbClr>
          </a:solidFill>
          <a:ln cap="flat" cmpd="sng" w="9525">
            <a:solidFill>
              <a:srgbClr val="185FA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900">
                <a:solidFill>
                  <a:srgbClr val="185FA5"/>
                </a:solidFill>
                <a:latin typeface="Cambria"/>
                <a:ea typeface="Cambria"/>
                <a:cs typeface="Cambria"/>
                <a:sym typeface="Cambria"/>
              </a:rPr>
              <a:t>Open Agenda</a:t>
            </a:r>
            <a:endParaRPr sz="1100">
              <a:solidFill>
                <a:srgbClr val="185FA5"/>
              </a:solidFill>
            </a:endParaRPr>
          </a:p>
          <a:p>
            <a:pPr indent="0" lvl="0" marL="0" rtl="0" algn="ctr">
              <a:spcBef>
                <a:spcPts val="100"/>
              </a:spcBef>
              <a:spcAft>
                <a:spcPts val="0"/>
              </a:spcAft>
              <a:buNone/>
            </a:pPr>
            <a:r>
              <a:rPr lang="fr" sz="700">
                <a:solidFill>
                  <a:srgbClr val="185FA5"/>
                </a:solidFill>
                <a:latin typeface="Calibri"/>
                <a:ea typeface="Calibri"/>
                <a:cs typeface="Calibri"/>
                <a:sym typeface="Calibri"/>
              </a:rPr>
              <a:t>API Opendatasoft</a:t>
            </a:r>
            <a:endParaRPr>
              <a:solidFill>
                <a:srgbClr val="185FA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0" name="Google Shape;500;p39"/>
          <p:cNvSpPr/>
          <p:nvPr/>
        </p:nvSpPr>
        <p:spPr>
          <a:xfrm>
            <a:off x="2674691" y="1495044"/>
            <a:ext cx="1680300" cy="397800"/>
          </a:xfrm>
          <a:prstGeom prst="roundRect">
            <a:avLst>
              <a:gd fmla="val 6000" name="adj"/>
            </a:avLst>
          </a:prstGeom>
          <a:solidFill>
            <a:srgbClr val="185FA5">
              <a:alpha val="6960"/>
            </a:srgbClr>
          </a:solidFill>
          <a:ln cap="flat" cmpd="sng" w="9525">
            <a:solidFill>
              <a:srgbClr val="185FA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900">
                <a:solidFill>
                  <a:srgbClr val="185FA5"/>
                </a:solidFill>
                <a:latin typeface="Cambria"/>
                <a:ea typeface="Cambria"/>
                <a:cs typeface="Cambria"/>
                <a:sym typeface="Cambria"/>
              </a:rPr>
              <a:t>Ingestion</a:t>
            </a:r>
            <a:endParaRPr sz="1100">
              <a:solidFill>
                <a:srgbClr val="185FA5"/>
              </a:solidFill>
            </a:endParaRPr>
          </a:p>
          <a:p>
            <a:pPr indent="0" lvl="0" marL="0" rtl="0" algn="ctr">
              <a:spcBef>
                <a:spcPts val="200"/>
              </a:spcBef>
              <a:spcAft>
                <a:spcPts val="0"/>
              </a:spcAft>
              <a:buNone/>
            </a:pPr>
            <a:r>
              <a:rPr i="1" lang="fr" sz="700">
                <a:solidFill>
                  <a:srgbClr val="185FA5"/>
                </a:solidFill>
                <a:latin typeface="Calibri"/>
                <a:ea typeface="Calibri"/>
                <a:cs typeface="Calibri"/>
                <a:sym typeface="Calibri"/>
              </a:rPr>
              <a:t>script Python</a:t>
            </a:r>
            <a:endParaRPr>
              <a:solidFill>
                <a:srgbClr val="185FA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1" name="Google Shape;501;p39"/>
          <p:cNvSpPr/>
          <p:nvPr/>
        </p:nvSpPr>
        <p:spPr>
          <a:xfrm>
            <a:off x="4697855" y="1494882"/>
            <a:ext cx="1680300" cy="397800"/>
          </a:xfrm>
          <a:prstGeom prst="roundRect">
            <a:avLst>
              <a:gd fmla="val 6000" name="adj"/>
            </a:avLst>
          </a:prstGeom>
          <a:solidFill>
            <a:srgbClr val="185FA5">
              <a:alpha val="6960"/>
            </a:srgbClr>
          </a:solidFill>
          <a:ln cap="flat" cmpd="sng" w="9525">
            <a:solidFill>
              <a:srgbClr val="185FA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900">
                <a:solidFill>
                  <a:srgbClr val="185FA5"/>
                </a:solidFill>
                <a:latin typeface="Cambria"/>
                <a:ea typeface="Cambria"/>
                <a:cs typeface="Cambria"/>
                <a:sym typeface="Cambria"/>
              </a:rPr>
              <a:t>Embeddings</a:t>
            </a:r>
            <a:endParaRPr sz="1100">
              <a:solidFill>
                <a:srgbClr val="185FA5"/>
              </a:solidFill>
            </a:endParaRPr>
          </a:p>
          <a:p>
            <a:pPr indent="0" lvl="0" marL="0" rtl="0" algn="ctr">
              <a:spcBef>
                <a:spcPts val="100"/>
              </a:spcBef>
              <a:spcAft>
                <a:spcPts val="0"/>
              </a:spcAft>
              <a:buNone/>
            </a:pPr>
            <a:r>
              <a:rPr lang="fr" sz="700">
                <a:solidFill>
                  <a:srgbClr val="185FA5"/>
                </a:solidFill>
                <a:latin typeface="Calibri"/>
                <a:ea typeface="Calibri"/>
                <a:cs typeface="Calibri"/>
                <a:sym typeface="Calibri"/>
              </a:rPr>
              <a:t>mistral-embed</a:t>
            </a:r>
            <a:endParaRPr sz="1100">
              <a:solidFill>
                <a:srgbClr val="185FA5"/>
              </a:solidFill>
            </a:endParaRPr>
          </a:p>
        </p:txBody>
      </p:sp>
      <p:sp>
        <p:nvSpPr>
          <p:cNvPr id="502" name="Google Shape;502;p39"/>
          <p:cNvSpPr/>
          <p:nvPr/>
        </p:nvSpPr>
        <p:spPr>
          <a:xfrm>
            <a:off x="480098" y="2016165"/>
            <a:ext cx="2434500" cy="219300"/>
          </a:xfrm>
          <a:prstGeom prst="roundRect">
            <a:avLst>
              <a:gd fmla="val 16667" name="adj"/>
            </a:avLst>
          </a:prstGeom>
          <a:solidFill>
            <a:srgbClr val="185FA5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RUNTIME — réponse à une question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3" name="Google Shape;503;p39"/>
          <p:cNvSpPr txBox="1"/>
          <p:nvPr/>
        </p:nvSpPr>
        <p:spPr>
          <a:xfrm>
            <a:off x="377200" y="233175"/>
            <a:ext cx="1773600" cy="45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9050" lIns="0" spcFirstLastPara="1" rIns="0" wrap="square" tIns="190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1800">
                <a:solidFill>
                  <a:srgbClr val="0E9C8A"/>
                </a:solidFill>
                <a:latin typeface="Calibri"/>
                <a:ea typeface="Calibri"/>
                <a:cs typeface="Calibri"/>
                <a:sym typeface="Calibri"/>
              </a:rPr>
              <a:t>Du POC au MVP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4" name="Google Shape;504;p39"/>
          <p:cNvSpPr txBox="1"/>
          <p:nvPr/>
        </p:nvSpPr>
        <p:spPr>
          <a:xfrm>
            <a:off x="377200" y="675550"/>
            <a:ext cx="37122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9050" lIns="0" spcFirstLastPara="1" rIns="0" wrap="square" tIns="190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1100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Le schéma du POC RAG Puls-Events, augmenté par les besoins</a:t>
            </a:r>
            <a:endParaRPr b="1" sz="1100">
              <a:solidFill>
                <a:srgbClr val="9CA3A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5" name="Google Shape;505;p39"/>
          <p:cNvSpPr/>
          <p:nvPr/>
        </p:nvSpPr>
        <p:spPr>
          <a:xfrm>
            <a:off x="2284350" y="1593125"/>
            <a:ext cx="461700" cy="2013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0E9C8A">
              <a:alpha val="60000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6" name="Google Shape;506;p39"/>
          <p:cNvSpPr/>
          <p:nvPr/>
        </p:nvSpPr>
        <p:spPr>
          <a:xfrm>
            <a:off x="4295575" y="1603525"/>
            <a:ext cx="461700" cy="2013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0E9C8A">
              <a:alpha val="60000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7" name="Google Shape;507;p39"/>
          <p:cNvSpPr txBox="1"/>
          <p:nvPr/>
        </p:nvSpPr>
        <p:spPr>
          <a:xfrm>
            <a:off x="377200" y="4945850"/>
            <a:ext cx="999000" cy="166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700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MVP RAG Puls-Events</a:t>
            </a:r>
            <a:endParaRPr sz="700">
              <a:solidFill>
                <a:srgbClr val="9CA3A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2" name="Shape 5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3" name="Google Shape;513;p40"/>
          <p:cNvSpPr/>
          <p:nvPr/>
        </p:nvSpPr>
        <p:spPr>
          <a:xfrm>
            <a:off x="6478535" y="530960"/>
            <a:ext cx="150900" cy="150900"/>
          </a:xfrm>
          <a:prstGeom prst="roundRect">
            <a:avLst>
              <a:gd fmla="val 16667" name="adj"/>
            </a:avLst>
          </a:prstGeom>
          <a:solidFill>
            <a:srgbClr val="185FA5">
              <a:alpha val="6960"/>
            </a:srgbClr>
          </a:solidFill>
          <a:ln cap="flat" cmpd="sng" w="9525">
            <a:solidFill>
              <a:srgbClr val="185FA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4" name="Google Shape;514;p40"/>
          <p:cNvSpPr txBox="1"/>
          <p:nvPr/>
        </p:nvSpPr>
        <p:spPr>
          <a:xfrm>
            <a:off x="6691151" y="510375"/>
            <a:ext cx="1371600" cy="17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9050" lIns="0" spcFirstLastPara="1" rIns="0" wrap="square" tIns="190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fr" sz="800" u="none" cap="none" strike="noStrike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hérité (</a:t>
            </a:r>
            <a:r>
              <a:rPr lang="fr" sz="900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POC RAG Puls-Events</a:t>
            </a:r>
            <a:r>
              <a:rPr b="0" i="0" lang="fr" sz="800" u="none" cap="none" strike="noStrike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)</a:t>
            </a:r>
            <a:endParaRPr sz="1100">
              <a:solidFill>
                <a:srgbClr val="9CA3AF"/>
              </a:solidFill>
            </a:endParaRPr>
          </a:p>
        </p:txBody>
      </p:sp>
      <p:sp>
        <p:nvSpPr>
          <p:cNvPr id="515" name="Google Shape;515;p40"/>
          <p:cNvSpPr/>
          <p:nvPr/>
        </p:nvSpPr>
        <p:spPr>
          <a:xfrm>
            <a:off x="480073" y="1248156"/>
            <a:ext cx="2434500" cy="219300"/>
          </a:xfrm>
          <a:prstGeom prst="roundRect">
            <a:avLst>
              <a:gd fmla="val 16667" name="adj"/>
            </a:avLst>
          </a:prstGeom>
          <a:solidFill>
            <a:srgbClr val="185FA5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BATCH — construction de l'index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6" name="Google Shape;516;p40"/>
          <p:cNvSpPr/>
          <p:nvPr/>
        </p:nvSpPr>
        <p:spPr>
          <a:xfrm>
            <a:off x="651527" y="1495044"/>
            <a:ext cx="1680300" cy="397800"/>
          </a:xfrm>
          <a:prstGeom prst="roundRect">
            <a:avLst>
              <a:gd fmla="val 6000" name="adj"/>
            </a:avLst>
          </a:prstGeom>
          <a:solidFill>
            <a:srgbClr val="185FA5">
              <a:alpha val="6960"/>
            </a:srgbClr>
          </a:solidFill>
          <a:ln cap="flat" cmpd="sng" w="9525">
            <a:solidFill>
              <a:srgbClr val="185FA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900">
                <a:solidFill>
                  <a:srgbClr val="185FA5"/>
                </a:solidFill>
                <a:latin typeface="Cambria"/>
                <a:ea typeface="Cambria"/>
                <a:cs typeface="Cambria"/>
                <a:sym typeface="Cambria"/>
              </a:rPr>
              <a:t>Open Agenda</a:t>
            </a:r>
            <a:endParaRPr sz="1100">
              <a:solidFill>
                <a:srgbClr val="185FA5"/>
              </a:solidFill>
            </a:endParaRPr>
          </a:p>
          <a:p>
            <a:pPr indent="0" lvl="0" marL="0" rtl="0" algn="ctr">
              <a:spcBef>
                <a:spcPts val="100"/>
              </a:spcBef>
              <a:spcAft>
                <a:spcPts val="0"/>
              </a:spcAft>
              <a:buNone/>
            </a:pPr>
            <a:r>
              <a:rPr lang="fr" sz="700">
                <a:solidFill>
                  <a:srgbClr val="185FA5"/>
                </a:solidFill>
                <a:latin typeface="Calibri"/>
                <a:ea typeface="Calibri"/>
                <a:cs typeface="Calibri"/>
                <a:sym typeface="Calibri"/>
              </a:rPr>
              <a:t>API Opendatasoft</a:t>
            </a:r>
            <a:endParaRPr>
              <a:solidFill>
                <a:srgbClr val="185FA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7" name="Google Shape;517;p40"/>
          <p:cNvSpPr/>
          <p:nvPr/>
        </p:nvSpPr>
        <p:spPr>
          <a:xfrm>
            <a:off x="2674691" y="1495044"/>
            <a:ext cx="1680300" cy="397800"/>
          </a:xfrm>
          <a:prstGeom prst="roundRect">
            <a:avLst>
              <a:gd fmla="val 6000" name="adj"/>
            </a:avLst>
          </a:prstGeom>
          <a:solidFill>
            <a:srgbClr val="185FA5">
              <a:alpha val="6960"/>
            </a:srgbClr>
          </a:solidFill>
          <a:ln cap="flat" cmpd="sng" w="9525">
            <a:solidFill>
              <a:srgbClr val="185FA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900">
                <a:solidFill>
                  <a:srgbClr val="185FA5"/>
                </a:solidFill>
                <a:latin typeface="Cambria"/>
                <a:ea typeface="Cambria"/>
                <a:cs typeface="Cambria"/>
                <a:sym typeface="Cambria"/>
              </a:rPr>
              <a:t>Ingestion</a:t>
            </a:r>
            <a:endParaRPr sz="1100">
              <a:solidFill>
                <a:srgbClr val="185FA5"/>
              </a:solidFill>
            </a:endParaRPr>
          </a:p>
          <a:p>
            <a:pPr indent="0" lvl="0" marL="0" rtl="0" algn="ctr">
              <a:spcBef>
                <a:spcPts val="200"/>
              </a:spcBef>
              <a:spcAft>
                <a:spcPts val="0"/>
              </a:spcAft>
              <a:buNone/>
            </a:pPr>
            <a:r>
              <a:rPr i="1" lang="fr" sz="700">
                <a:solidFill>
                  <a:srgbClr val="185FA5"/>
                </a:solidFill>
                <a:latin typeface="Calibri"/>
                <a:ea typeface="Calibri"/>
                <a:cs typeface="Calibri"/>
                <a:sym typeface="Calibri"/>
              </a:rPr>
              <a:t>script Python</a:t>
            </a:r>
            <a:endParaRPr>
              <a:solidFill>
                <a:srgbClr val="185FA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8" name="Google Shape;518;p40"/>
          <p:cNvSpPr/>
          <p:nvPr/>
        </p:nvSpPr>
        <p:spPr>
          <a:xfrm>
            <a:off x="4697855" y="1494882"/>
            <a:ext cx="1680300" cy="397800"/>
          </a:xfrm>
          <a:prstGeom prst="roundRect">
            <a:avLst>
              <a:gd fmla="val 6000" name="adj"/>
            </a:avLst>
          </a:prstGeom>
          <a:solidFill>
            <a:srgbClr val="185FA5">
              <a:alpha val="6960"/>
            </a:srgbClr>
          </a:solidFill>
          <a:ln cap="flat" cmpd="sng" w="9525">
            <a:solidFill>
              <a:srgbClr val="185FA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900">
                <a:solidFill>
                  <a:srgbClr val="185FA5"/>
                </a:solidFill>
                <a:latin typeface="Cambria"/>
                <a:ea typeface="Cambria"/>
                <a:cs typeface="Cambria"/>
                <a:sym typeface="Cambria"/>
              </a:rPr>
              <a:t>Embeddings</a:t>
            </a:r>
            <a:endParaRPr sz="1100">
              <a:solidFill>
                <a:srgbClr val="185FA5"/>
              </a:solidFill>
            </a:endParaRPr>
          </a:p>
          <a:p>
            <a:pPr indent="0" lvl="0" marL="0" rtl="0" algn="ctr">
              <a:spcBef>
                <a:spcPts val="100"/>
              </a:spcBef>
              <a:spcAft>
                <a:spcPts val="0"/>
              </a:spcAft>
              <a:buNone/>
            </a:pPr>
            <a:r>
              <a:rPr lang="fr" sz="700">
                <a:solidFill>
                  <a:srgbClr val="185FA5"/>
                </a:solidFill>
                <a:latin typeface="Calibri"/>
                <a:ea typeface="Calibri"/>
                <a:cs typeface="Calibri"/>
                <a:sym typeface="Calibri"/>
              </a:rPr>
              <a:t>mistral-embed</a:t>
            </a:r>
            <a:endParaRPr sz="1100">
              <a:solidFill>
                <a:srgbClr val="185FA5"/>
              </a:solidFill>
            </a:endParaRPr>
          </a:p>
        </p:txBody>
      </p:sp>
      <p:sp>
        <p:nvSpPr>
          <p:cNvPr id="519" name="Google Shape;519;p40"/>
          <p:cNvSpPr/>
          <p:nvPr/>
        </p:nvSpPr>
        <p:spPr>
          <a:xfrm>
            <a:off x="6721019" y="1495044"/>
            <a:ext cx="1680300" cy="397800"/>
          </a:xfrm>
          <a:prstGeom prst="roundRect">
            <a:avLst>
              <a:gd fmla="val 6000" name="adj"/>
            </a:avLst>
          </a:prstGeom>
          <a:solidFill>
            <a:srgbClr val="185FA5">
              <a:alpha val="6960"/>
            </a:srgbClr>
          </a:solidFill>
          <a:ln cap="flat" cmpd="sng" w="9525">
            <a:solidFill>
              <a:srgbClr val="185FA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900">
                <a:solidFill>
                  <a:srgbClr val="185FA5"/>
                </a:solidFill>
                <a:latin typeface="Cambria"/>
                <a:ea typeface="Cambria"/>
                <a:cs typeface="Cambria"/>
                <a:sym typeface="Cambria"/>
              </a:rPr>
              <a:t>Index vectoriel</a:t>
            </a:r>
            <a:endParaRPr sz="1100">
              <a:solidFill>
                <a:srgbClr val="185FA5"/>
              </a:solidFill>
            </a:endParaRPr>
          </a:p>
          <a:p>
            <a:pPr indent="0" lvl="0" marL="0" rtl="0" algn="ctr">
              <a:spcBef>
                <a:spcPts val="200"/>
              </a:spcBef>
              <a:spcAft>
                <a:spcPts val="0"/>
              </a:spcAft>
              <a:buNone/>
            </a:pPr>
            <a:r>
              <a:rPr i="1" lang="fr" sz="700">
                <a:solidFill>
                  <a:srgbClr val="185FA5"/>
                </a:solidFill>
                <a:latin typeface="Calibri"/>
                <a:ea typeface="Calibri"/>
                <a:cs typeface="Calibri"/>
                <a:sym typeface="Calibri"/>
              </a:rPr>
              <a:t>FAISS local</a:t>
            </a:r>
            <a:endParaRPr>
              <a:solidFill>
                <a:srgbClr val="185FA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0" name="Google Shape;520;p40"/>
          <p:cNvSpPr/>
          <p:nvPr/>
        </p:nvSpPr>
        <p:spPr>
          <a:xfrm>
            <a:off x="480098" y="2016165"/>
            <a:ext cx="2434500" cy="219300"/>
          </a:xfrm>
          <a:prstGeom prst="roundRect">
            <a:avLst>
              <a:gd fmla="val 16667" name="adj"/>
            </a:avLst>
          </a:prstGeom>
          <a:solidFill>
            <a:srgbClr val="185FA5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RUNTIME — réponse à une question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1" name="Google Shape;521;p40"/>
          <p:cNvSpPr txBox="1"/>
          <p:nvPr/>
        </p:nvSpPr>
        <p:spPr>
          <a:xfrm>
            <a:off x="377200" y="233175"/>
            <a:ext cx="1773600" cy="45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9050" lIns="0" spcFirstLastPara="1" rIns="0" wrap="square" tIns="190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1800">
                <a:solidFill>
                  <a:srgbClr val="0E9C8A"/>
                </a:solidFill>
                <a:latin typeface="Calibri"/>
                <a:ea typeface="Calibri"/>
                <a:cs typeface="Calibri"/>
                <a:sym typeface="Calibri"/>
              </a:rPr>
              <a:t>Du POC au MVP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2" name="Google Shape;522;p40"/>
          <p:cNvSpPr txBox="1"/>
          <p:nvPr/>
        </p:nvSpPr>
        <p:spPr>
          <a:xfrm>
            <a:off x="377200" y="675550"/>
            <a:ext cx="37122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9050" lIns="0" spcFirstLastPara="1" rIns="0" wrap="square" tIns="190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1100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Le schéma du POC RAG Puls-Events, augmenté par les besoins</a:t>
            </a:r>
            <a:endParaRPr b="1" sz="1100">
              <a:solidFill>
                <a:srgbClr val="9CA3A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3" name="Google Shape;523;p40"/>
          <p:cNvSpPr/>
          <p:nvPr/>
        </p:nvSpPr>
        <p:spPr>
          <a:xfrm>
            <a:off x="2284350" y="1593125"/>
            <a:ext cx="461700" cy="2013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0E9C8A">
              <a:alpha val="60000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4" name="Google Shape;524;p40"/>
          <p:cNvSpPr/>
          <p:nvPr/>
        </p:nvSpPr>
        <p:spPr>
          <a:xfrm>
            <a:off x="4295575" y="1603525"/>
            <a:ext cx="461700" cy="2013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0E9C8A">
              <a:alpha val="60000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5" name="Google Shape;525;p40"/>
          <p:cNvSpPr/>
          <p:nvPr/>
        </p:nvSpPr>
        <p:spPr>
          <a:xfrm>
            <a:off x="6323275" y="1598638"/>
            <a:ext cx="461700" cy="2013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0E9C8A">
              <a:alpha val="60000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6" name="Google Shape;526;p40"/>
          <p:cNvSpPr txBox="1"/>
          <p:nvPr/>
        </p:nvSpPr>
        <p:spPr>
          <a:xfrm>
            <a:off x="377200" y="4945850"/>
            <a:ext cx="999000" cy="166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700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MVP RAG Puls-Events</a:t>
            </a:r>
            <a:endParaRPr sz="700">
              <a:solidFill>
                <a:srgbClr val="9CA3A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1" name="Shape 5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p41"/>
          <p:cNvSpPr/>
          <p:nvPr/>
        </p:nvSpPr>
        <p:spPr>
          <a:xfrm>
            <a:off x="6478535" y="530960"/>
            <a:ext cx="150900" cy="150900"/>
          </a:xfrm>
          <a:prstGeom prst="roundRect">
            <a:avLst>
              <a:gd fmla="val 16667" name="adj"/>
            </a:avLst>
          </a:prstGeom>
          <a:solidFill>
            <a:srgbClr val="185FA5">
              <a:alpha val="6960"/>
            </a:srgbClr>
          </a:solidFill>
          <a:ln cap="flat" cmpd="sng" w="9525">
            <a:solidFill>
              <a:srgbClr val="185FA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3" name="Google Shape;533;p41"/>
          <p:cNvSpPr txBox="1"/>
          <p:nvPr/>
        </p:nvSpPr>
        <p:spPr>
          <a:xfrm>
            <a:off x="6691151" y="510375"/>
            <a:ext cx="1371600" cy="17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9050" lIns="0" spcFirstLastPara="1" rIns="0" wrap="square" tIns="190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fr" sz="800" u="none" cap="none" strike="noStrike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hérité (</a:t>
            </a:r>
            <a:r>
              <a:rPr lang="fr" sz="900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POC RAG Puls-Events</a:t>
            </a:r>
            <a:r>
              <a:rPr b="0" i="0" lang="fr" sz="800" u="none" cap="none" strike="noStrike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)</a:t>
            </a:r>
            <a:endParaRPr sz="1100">
              <a:solidFill>
                <a:srgbClr val="9CA3AF"/>
              </a:solidFill>
            </a:endParaRPr>
          </a:p>
        </p:txBody>
      </p:sp>
      <p:sp>
        <p:nvSpPr>
          <p:cNvPr id="534" name="Google Shape;534;p41"/>
          <p:cNvSpPr/>
          <p:nvPr/>
        </p:nvSpPr>
        <p:spPr>
          <a:xfrm>
            <a:off x="480073" y="1248156"/>
            <a:ext cx="2434500" cy="219300"/>
          </a:xfrm>
          <a:prstGeom prst="roundRect">
            <a:avLst>
              <a:gd fmla="val 16667" name="adj"/>
            </a:avLst>
          </a:prstGeom>
          <a:solidFill>
            <a:srgbClr val="185FA5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BATCH — construction de l'index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5" name="Google Shape;535;p41"/>
          <p:cNvSpPr/>
          <p:nvPr/>
        </p:nvSpPr>
        <p:spPr>
          <a:xfrm>
            <a:off x="651527" y="1495044"/>
            <a:ext cx="1680300" cy="397800"/>
          </a:xfrm>
          <a:prstGeom prst="roundRect">
            <a:avLst>
              <a:gd fmla="val 6000" name="adj"/>
            </a:avLst>
          </a:prstGeom>
          <a:solidFill>
            <a:srgbClr val="185FA5">
              <a:alpha val="6960"/>
            </a:srgbClr>
          </a:solidFill>
          <a:ln cap="flat" cmpd="sng" w="9525">
            <a:solidFill>
              <a:srgbClr val="185FA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900">
                <a:solidFill>
                  <a:srgbClr val="185FA5"/>
                </a:solidFill>
                <a:latin typeface="Cambria"/>
                <a:ea typeface="Cambria"/>
                <a:cs typeface="Cambria"/>
                <a:sym typeface="Cambria"/>
              </a:rPr>
              <a:t>Open Agenda</a:t>
            </a:r>
            <a:endParaRPr sz="1100">
              <a:solidFill>
                <a:srgbClr val="185FA5"/>
              </a:solidFill>
            </a:endParaRPr>
          </a:p>
          <a:p>
            <a:pPr indent="0" lvl="0" marL="0" rtl="0" algn="ctr">
              <a:spcBef>
                <a:spcPts val="100"/>
              </a:spcBef>
              <a:spcAft>
                <a:spcPts val="0"/>
              </a:spcAft>
              <a:buNone/>
            </a:pPr>
            <a:r>
              <a:rPr lang="fr" sz="700">
                <a:solidFill>
                  <a:srgbClr val="185FA5"/>
                </a:solidFill>
                <a:latin typeface="Calibri"/>
                <a:ea typeface="Calibri"/>
                <a:cs typeface="Calibri"/>
                <a:sym typeface="Calibri"/>
              </a:rPr>
              <a:t>API Opendatasoft</a:t>
            </a:r>
            <a:endParaRPr>
              <a:solidFill>
                <a:srgbClr val="185FA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6" name="Google Shape;536;p41"/>
          <p:cNvSpPr/>
          <p:nvPr/>
        </p:nvSpPr>
        <p:spPr>
          <a:xfrm>
            <a:off x="2674691" y="1495044"/>
            <a:ext cx="1680300" cy="397800"/>
          </a:xfrm>
          <a:prstGeom prst="roundRect">
            <a:avLst>
              <a:gd fmla="val 6000" name="adj"/>
            </a:avLst>
          </a:prstGeom>
          <a:solidFill>
            <a:srgbClr val="185FA5">
              <a:alpha val="6960"/>
            </a:srgbClr>
          </a:solidFill>
          <a:ln cap="flat" cmpd="sng" w="9525">
            <a:solidFill>
              <a:srgbClr val="185FA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900">
                <a:solidFill>
                  <a:srgbClr val="185FA5"/>
                </a:solidFill>
                <a:latin typeface="Cambria"/>
                <a:ea typeface="Cambria"/>
                <a:cs typeface="Cambria"/>
                <a:sym typeface="Cambria"/>
              </a:rPr>
              <a:t>Ingestion</a:t>
            </a:r>
            <a:endParaRPr sz="1100">
              <a:solidFill>
                <a:srgbClr val="185FA5"/>
              </a:solidFill>
            </a:endParaRPr>
          </a:p>
          <a:p>
            <a:pPr indent="0" lvl="0" marL="0" rtl="0" algn="ctr">
              <a:spcBef>
                <a:spcPts val="200"/>
              </a:spcBef>
              <a:spcAft>
                <a:spcPts val="0"/>
              </a:spcAft>
              <a:buNone/>
            </a:pPr>
            <a:r>
              <a:rPr i="1" lang="fr" sz="700">
                <a:solidFill>
                  <a:srgbClr val="185FA5"/>
                </a:solidFill>
                <a:latin typeface="Calibri"/>
                <a:ea typeface="Calibri"/>
                <a:cs typeface="Calibri"/>
                <a:sym typeface="Calibri"/>
              </a:rPr>
              <a:t>script Python</a:t>
            </a:r>
            <a:endParaRPr>
              <a:solidFill>
                <a:srgbClr val="185FA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7" name="Google Shape;537;p41"/>
          <p:cNvSpPr/>
          <p:nvPr/>
        </p:nvSpPr>
        <p:spPr>
          <a:xfrm>
            <a:off x="4697855" y="1494882"/>
            <a:ext cx="1680300" cy="397800"/>
          </a:xfrm>
          <a:prstGeom prst="roundRect">
            <a:avLst>
              <a:gd fmla="val 6000" name="adj"/>
            </a:avLst>
          </a:prstGeom>
          <a:solidFill>
            <a:srgbClr val="185FA5">
              <a:alpha val="6960"/>
            </a:srgbClr>
          </a:solidFill>
          <a:ln cap="flat" cmpd="sng" w="9525">
            <a:solidFill>
              <a:srgbClr val="185FA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900">
                <a:solidFill>
                  <a:srgbClr val="185FA5"/>
                </a:solidFill>
                <a:latin typeface="Cambria"/>
                <a:ea typeface="Cambria"/>
                <a:cs typeface="Cambria"/>
                <a:sym typeface="Cambria"/>
              </a:rPr>
              <a:t>Embeddings</a:t>
            </a:r>
            <a:endParaRPr sz="1100">
              <a:solidFill>
                <a:srgbClr val="185FA5"/>
              </a:solidFill>
            </a:endParaRPr>
          </a:p>
          <a:p>
            <a:pPr indent="0" lvl="0" marL="0" rtl="0" algn="ctr">
              <a:spcBef>
                <a:spcPts val="100"/>
              </a:spcBef>
              <a:spcAft>
                <a:spcPts val="0"/>
              </a:spcAft>
              <a:buNone/>
            </a:pPr>
            <a:r>
              <a:rPr lang="fr" sz="700">
                <a:solidFill>
                  <a:srgbClr val="185FA5"/>
                </a:solidFill>
                <a:latin typeface="Calibri"/>
                <a:ea typeface="Calibri"/>
                <a:cs typeface="Calibri"/>
                <a:sym typeface="Calibri"/>
              </a:rPr>
              <a:t>mistral-embed</a:t>
            </a:r>
            <a:endParaRPr sz="1100">
              <a:solidFill>
                <a:srgbClr val="185FA5"/>
              </a:solidFill>
            </a:endParaRPr>
          </a:p>
        </p:txBody>
      </p:sp>
      <p:sp>
        <p:nvSpPr>
          <p:cNvPr id="538" name="Google Shape;538;p41"/>
          <p:cNvSpPr/>
          <p:nvPr/>
        </p:nvSpPr>
        <p:spPr>
          <a:xfrm>
            <a:off x="6721019" y="1495044"/>
            <a:ext cx="1680300" cy="397800"/>
          </a:xfrm>
          <a:prstGeom prst="roundRect">
            <a:avLst>
              <a:gd fmla="val 6000" name="adj"/>
            </a:avLst>
          </a:prstGeom>
          <a:solidFill>
            <a:srgbClr val="185FA5">
              <a:alpha val="6960"/>
            </a:srgbClr>
          </a:solidFill>
          <a:ln cap="flat" cmpd="sng" w="9525">
            <a:solidFill>
              <a:srgbClr val="185FA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900">
                <a:solidFill>
                  <a:srgbClr val="185FA5"/>
                </a:solidFill>
                <a:latin typeface="Cambria"/>
                <a:ea typeface="Cambria"/>
                <a:cs typeface="Cambria"/>
                <a:sym typeface="Cambria"/>
              </a:rPr>
              <a:t>Index vectoriel</a:t>
            </a:r>
            <a:endParaRPr sz="1100">
              <a:solidFill>
                <a:srgbClr val="185FA5"/>
              </a:solidFill>
            </a:endParaRPr>
          </a:p>
          <a:p>
            <a:pPr indent="0" lvl="0" marL="0" rtl="0" algn="ctr">
              <a:spcBef>
                <a:spcPts val="200"/>
              </a:spcBef>
              <a:spcAft>
                <a:spcPts val="0"/>
              </a:spcAft>
              <a:buNone/>
            </a:pPr>
            <a:r>
              <a:rPr i="1" lang="fr" sz="700">
                <a:solidFill>
                  <a:srgbClr val="185FA5"/>
                </a:solidFill>
                <a:latin typeface="Calibri"/>
                <a:ea typeface="Calibri"/>
                <a:cs typeface="Calibri"/>
                <a:sym typeface="Calibri"/>
              </a:rPr>
              <a:t>FAISS local</a:t>
            </a:r>
            <a:endParaRPr>
              <a:solidFill>
                <a:srgbClr val="185FA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9" name="Google Shape;539;p41"/>
          <p:cNvSpPr/>
          <p:nvPr/>
        </p:nvSpPr>
        <p:spPr>
          <a:xfrm>
            <a:off x="480098" y="2016165"/>
            <a:ext cx="2434500" cy="219300"/>
          </a:xfrm>
          <a:prstGeom prst="roundRect">
            <a:avLst>
              <a:gd fmla="val 16667" name="adj"/>
            </a:avLst>
          </a:prstGeom>
          <a:solidFill>
            <a:srgbClr val="185FA5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RUNTIME — réponse à une question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0" name="Google Shape;540;p41"/>
          <p:cNvSpPr/>
          <p:nvPr/>
        </p:nvSpPr>
        <p:spPr>
          <a:xfrm>
            <a:off x="480100" y="2263051"/>
            <a:ext cx="1371600" cy="397800"/>
          </a:xfrm>
          <a:prstGeom prst="roundRect">
            <a:avLst>
              <a:gd fmla="val 6000" name="adj"/>
            </a:avLst>
          </a:prstGeom>
          <a:solidFill>
            <a:srgbClr val="185FA5">
              <a:alpha val="6960"/>
            </a:srgbClr>
          </a:solidFill>
          <a:ln cap="flat" cmpd="sng" w="9525">
            <a:solidFill>
              <a:srgbClr val="185FA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900">
                <a:solidFill>
                  <a:srgbClr val="185FA5"/>
                </a:solidFill>
                <a:latin typeface="Cambria"/>
                <a:ea typeface="Cambria"/>
                <a:cs typeface="Cambria"/>
                <a:sym typeface="Cambria"/>
              </a:rPr>
              <a:t>Utilisateur</a:t>
            </a:r>
            <a:endParaRPr sz="1100">
              <a:solidFill>
                <a:srgbClr val="185FA5"/>
              </a:solidFill>
            </a:endParaRPr>
          </a:p>
          <a:p>
            <a:pPr indent="0" lvl="0" marL="0" rtl="0" algn="ctr">
              <a:spcBef>
                <a:spcPts val="100"/>
              </a:spcBef>
              <a:spcAft>
                <a:spcPts val="0"/>
              </a:spcAft>
              <a:buNone/>
            </a:pPr>
            <a:r>
              <a:rPr lang="fr" sz="700">
                <a:solidFill>
                  <a:srgbClr val="185FA5"/>
                </a:solidFill>
                <a:latin typeface="Calibri"/>
                <a:ea typeface="Calibri"/>
                <a:cs typeface="Calibri"/>
                <a:sym typeface="Calibri"/>
              </a:rPr>
              <a:t>question</a:t>
            </a:r>
            <a:endParaRPr>
              <a:solidFill>
                <a:srgbClr val="185FA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1" name="Google Shape;541;p41"/>
          <p:cNvSpPr txBox="1"/>
          <p:nvPr/>
        </p:nvSpPr>
        <p:spPr>
          <a:xfrm>
            <a:off x="377200" y="233175"/>
            <a:ext cx="1773600" cy="45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9050" lIns="0" spcFirstLastPara="1" rIns="0" wrap="square" tIns="190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1800">
                <a:solidFill>
                  <a:srgbClr val="0E9C8A"/>
                </a:solidFill>
                <a:latin typeface="Calibri"/>
                <a:ea typeface="Calibri"/>
                <a:cs typeface="Calibri"/>
                <a:sym typeface="Calibri"/>
              </a:rPr>
              <a:t>Du POC au MVP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2" name="Google Shape;542;p41"/>
          <p:cNvSpPr txBox="1"/>
          <p:nvPr/>
        </p:nvSpPr>
        <p:spPr>
          <a:xfrm>
            <a:off x="377200" y="675550"/>
            <a:ext cx="37122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9050" lIns="0" spcFirstLastPara="1" rIns="0" wrap="square" tIns="190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1100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Le schéma du POC RAG Puls-Events, augmenté par les besoins</a:t>
            </a:r>
            <a:endParaRPr b="1" sz="1100">
              <a:solidFill>
                <a:srgbClr val="9CA3A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3" name="Google Shape;543;p41"/>
          <p:cNvSpPr/>
          <p:nvPr/>
        </p:nvSpPr>
        <p:spPr>
          <a:xfrm>
            <a:off x="2284350" y="1593125"/>
            <a:ext cx="461700" cy="2013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0E9C8A">
              <a:alpha val="60000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4" name="Google Shape;544;p41"/>
          <p:cNvSpPr/>
          <p:nvPr/>
        </p:nvSpPr>
        <p:spPr>
          <a:xfrm>
            <a:off x="4295575" y="1603525"/>
            <a:ext cx="461700" cy="2013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0E9C8A">
              <a:alpha val="60000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5" name="Google Shape;545;p41"/>
          <p:cNvSpPr/>
          <p:nvPr/>
        </p:nvSpPr>
        <p:spPr>
          <a:xfrm>
            <a:off x="6323275" y="1598638"/>
            <a:ext cx="461700" cy="2013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0E9C8A">
              <a:alpha val="60000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6" name="Google Shape;546;p41"/>
          <p:cNvSpPr txBox="1"/>
          <p:nvPr/>
        </p:nvSpPr>
        <p:spPr>
          <a:xfrm>
            <a:off x="377200" y="4945850"/>
            <a:ext cx="999000" cy="166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700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MVP RAG Puls-Events</a:t>
            </a:r>
            <a:endParaRPr sz="700">
              <a:solidFill>
                <a:srgbClr val="9CA3A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1" name="Shape 5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" name="Google Shape;552;p42"/>
          <p:cNvSpPr/>
          <p:nvPr/>
        </p:nvSpPr>
        <p:spPr>
          <a:xfrm>
            <a:off x="6478535" y="530960"/>
            <a:ext cx="150900" cy="150900"/>
          </a:xfrm>
          <a:prstGeom prst="roundRect">
            <a:avLst>
              <a:gd fmla="val 16667" name="adj"/>
            </a:avLst>
          </a:prstGeom>
          <a:solidFill>
            <a:srgbClr val="185FA5">
              <a:alpha val="6960"/>
            </a:srgbClr>
          </a:solidFill>
          <a:ln cap="flat" cmpd="sng" w="9525">
            <a:solidFill>
              <a:srgbClr val="185FA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3" name="Google Shape;553;p42"/>
          <p:cNvSpPr txBox="1"/>
          <p:nvPr/>
        </p:nvSpPr>
        <p:spPr>
          <a:xfrm>
            <a:off x="6691151" y="510375"/>
            <a:ext cx="1371600" cy="17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9050" lIns="0" spcFirstLastPara="1" rIns="0" wrap="square" tIns="190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fr" sz="800" u="none" cap="none" strike="noStrike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hérité (</a:t>
            </a:r>
            <a:r>
              <a:rPr lang="fr" sz="900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POC RAG Puls-Events</a:t>
            </a:r>
            <a:r>
              <a:rPr b="0" i="0" lang="fr" sz="800" u="none" cap="none" strike="noStrike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)</a:t>
            </a:r>
            <a:endParaRPr sz="1100">
              <a:solidFill>
                <a:srgbClr val="9CA3AF"/>
              </a:solidFill>
            </a:endParaRPr>
          </a:p>
        </p:txBody>
      </p:sp>
      <p:sp>
        <p:nvSpPr>
          <p:cNvPr id="554" name="Google Shape;554;p42"/>
          <p:cNvSpPr/>
          <p:nvPr/>
        </p:nvSpPr>
        <p:spPr>
          <a:xfrm>
            <a:off x="480073" y="1248156"/>
            <a:ext cx="2434500" cy="219300"/>
          </a:xfrm>
          <a:prstGeom prst="roundRect">
            <a:avLst>
              <a:gd fmla="val 16667" name="adj"/>
            </a:avLst>
          </a:prstGeom>
          <a:solidFill>
            <a:srgbClr val="185FA5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BATCH — construction de l'index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5" name="Google Shape;555;p42"/>
          <p:cNvSpPr/>
          <p:nvPr/>
        </p:nvSpPr>
        <p:spPr>
          <a:xfrm>
            <a:off x="651527" y="1495044"/>
            <a:ext cx="1680300" cy="397800"/>
          </a:xfrm>
          <a:prstGeom prst="roundRect">
            <a:avLst>
              <a:gd fmla="val 6000" name="adj"/>
            </a:avLst>
          </a:prstGeom>
          <a:solidFill>
            <a:srgbClr val="185FA5">
              <a:alpha val="6960"/>
            </a:srgbClr>
          </a:solidFill>
          <a:ln cap="flat" cmpd="sng" w="9525">
            <a:solidFill>
              <a:srgbClr val="185FA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900">
                <a:solidFill>
                  <a:srgbClr val="185FA5"/>
                </a:solidFill>
                <a:latin typeface="Cambria"/>
                <a:ea typeface="Cambria"/>
                <a:cs typeface="Cambria"/>
                <a:sym typeface="Cambria"/>
              </a:rPr>
              <a:t>Open Agenda</a:t>
            </a:r>
            <a:endParaRPr sz="1100">
              <a:solidFill>
                <a:srgbClr val="185FA5"/>
              </a:solidFill>
            </a:endParaRPr>
          </a:p>
          <a:p>
            <a:pPr indent="0" lvl="0" marL="0" rtl="0" algn="ctr">
              <a:spcBef>
                <a:spcPts val="100"/>
              </a:spcBef>
              <a:spcAft>
                <a:spcPts val="0"/>
              </a:spcAft>
              <a:buNone/>
            </a:pPr>
            <a:r>
              <a:rPr lang="fr" sz="700">
                <a:solidFill>
                  <a:srgbClr val="185FA5"/>
                </a:solidFill>
                <a:latin typeface="Calibri"/>
                <a:ea typeface="Calibri"/>
                <a:cs typeface="Calibri"/>
                <a:sym typeface="Calibri"/>
              </a:rPr>
              <a:t>API Opendatasoft</a:t>
            </a:r>
            <a:endParaRPr>
              <a:solidFill>
                <a:srgbClr val="185FA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6" name="Google Shape;556;p42"/>
          <p:cNvSpPr/>
          <p:nvPr/>
        </p:nvSpPr>
        <p:spPr>
          <a:xfrm>
            <a:off x="2674691" y="1495044"/>
            <a:ext cx="1680300" cy="397800"/>
          </a:xfrm>
          <a:prstGeom prst="roundRect">
            <a:avLst>
              <a:gd fmla="val 6000" name="adj"/>
            </a:avLst>
          </a:prstGeom>
          <a:solidFill>
            <a:srgbClr val="185FA5">
              <a:alpha val="6960"/>
            </a:srgbClr>
          </a:solidFill>
          <a:ln cap="flat" cmpd="sng" w="9525">
            <a:solidFill>
              <a:srgbClr val="185FA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900">
                <a:solidFill>
                  <a:srgbClr val="185FA5"/>
                </a:solidFill>
                <a:latin typeface="Cambria"/>
                <a:ea typeface="Cambria"/>
                <a:cs typeface="Cambria"/>
                <a:sym typeface="Cambria"/>
              </a:rPr>
              <a:t>Ingestion</a:t>
            </a:r>
            <a:endParaRPr sz="1100">
              <a:solidFill>
                <a:srgbClr val="185FA5"/>
              </a:solidFill>
            </a:endParaRPr>
          </a:p>
          <a:p>
            <a:pPr indent="0" lvl="0" marL="0" rtl="0" algn="ctr">
              <a:spcBef>
                <a:spcPts val="200"/>
              </a:spcBef>
              <a:spcAft>
                <a:spcPts val="0"/>
              </a:spcAft>
              <a:buNone/>
            </a:pPr>
            <a:r>
              <a:rPr i="1" lang="fr" sz="700">
                <a:solidFill>
                  <a:srgbClr val="185FA5"/>
                </a:solidFill>
                <a:latin typeface="Calibri"/>
                <a:ea typeface="Calibri"/>
                <a:cs typeface="Calibri"/>
                <a:sym typeface="Calibri"/>
              </a:rPr>
              <a:t>script Python</a:t>
            </a:r>
            <a:endParaRPr>
              <a:solidFill>
                <a:srgbClr val="185FA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7" name="Google Shape;557;p42"/>
          <p:cNvSpPr/>
          <p:nvPr/>
        </p:nvSpPr>
        <p:spPr>
          <a:xfrm>
            <a:off x="4697855" y="1494882"/>
            <a:ext cx="1680300" cy="397800"/>
          </a:xfrm>
          <a:prstGeom prst="roundRect">
            <a:avLst>
              <a:gd fmla="val 6000" name="adj"/>
            </a:avLst>
          </a:prstGeom>
          <a:solidFill>
            <a:srgbClr val="185FA5">
              <a:alpha val="6960"/>
            </a:srgbClr>
          </a:solidFill>
          <a:ln cap="flat" cmpd="sng" w="9525">
            <a:solidFill>
              <a:srgbClr val="185FA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900">
                <a:solidFill>
                  <a:srgbClr val="185FA5"/>
                </a:solidFill>
                <a:latin typeface="Cambria"/>
                <a:ea typeface="Cambria"/>
                <a:cs typeface="Cambria"/>
                <a:sym typeface="Cambria"/>
              </a:rPr>
              <a:t>Embeddings</a:t>
            </a:r>
            <a:endParaRPr sz="1100">
              <a:solidFill>
                <a:srgbClr val="185FA5"/>
              </a:solidFill>
            </a:endParaRPr>
          </a:p>
          <a:p>
            <a:pPr indent="0" lvl="0" marL="0" rtl="0" algn="ctr">
              <a:spcBef>
                <a:spcPts val="100"/>
              </a:spcBef>
              <a:spcAft>
                <a:spcPts val="0"/>
              </a:spcAft>
              <a:buNone/>
            </a:pPr>
            <a:r>
              <a:rPr lang="fr" sz="700">
                <a:solidFill>
                  <a:srgbClr val="185FA5"/>
                </a:solidFill>
                <a:latin typeface="Calibri"/>
                <a:ea typeface="Calibri"/>
                <a:cs typeface="Calibri"/>
                <a:sym typeface="Calibri"/>
              </a:rPr>
              <a:t>mistral-embed</a:t>
            </a:r>
            <a:endParaRPr sz="1100">
              <a:solidFill>
                <a:srgbClr val="185FA5"/>
              </a:solidFill>
            </a:endParaRPr>
          </a:p>
        </p:txBody>
      </p:sp>
      <p:sp>
        <p:nvSpPr>
          <p:cNvPr id="558" name="Google Shape;558;p42"/>
          <p:cNvSpPr/>
          <p:nvPr/>
        </p:nvSpPr>
        <p:spPr>
          <a:xfrm>
            <a:off x="6721019" y="1495044"/>
            <a:ext cx="1680300" cy="397800"/>
          </a:xfrm>
          <a:prstGeom prst="roundRect">
            <a:avLst>
              <a:gd fmla="val 6000" name="adj"/>
            </a:avLst>
          </a:prstGeom>
          <a:solidFill>
            <a:srgbClr val="185FA5">
              <a:alpha val="6960"/>
            </a:srgbClr>
          </a:solidFill>
          <a:ln cap="flat" cmpd="sng" w="9525">
            <a:solidFill>
              <a:srgbClr val="185FA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900">
                <a:solidFill>
                  <a:srgbClr val="185FA5"/>
                </a:solidFill>
                <a:latin typeface="Cambria"/>
                <a:ea typeface="Cambria"/>
                <a:cs typeface="Cambria"/>
                <a:sym typeface="Cambria"/>
              </a:rPr>
              <a:t>Index vectoriel</a:t>
            </a:r>
            <a:endParaRPr sz="1100">
              <a:solidFill>
                <a:srgbClr val="185FA5"/>
              </a:solidFill>
            </a:endParaRPr>
          </a:p>
          <a:p>
            <a:pPr indent="0" lvl="0" marL="0" rtl="0" algn="ctr">
              <a:spcBef>
                <a:spcPts val="200"/>
              </a:spcBef>
              <a:spcAft>
                <a:spcPts val="0"/>
              </a:spcAft>
              <a:buNone/>
            </a:pPr>
            <a:r>
              <a:rPr i="1" lang="fr" sz="700">
                <a:solidFill>
                  <a:srgbClr val="185FA5"/>
                </a:solidFill>
                <a:latin typeface="Calibri"/>
                <a:ea typeface="Calibri"/>
                <a:cs typeface="Calibri"/>
                <a:sym typeface="Calibri"/>
              </a:rPr>
              <a:t>FAISS local</a:t>
            </a:r>
            <a:endParaRPr>
              <a:solidFill>
                <a:srgbClr val="185FA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9" name="Google Shape;559;p42"/>
          <p:cNvSpPr/>
          <p:nvPr/>
        </p:nvSpPr>
        <p:spPr>
          <a:xfrm>
            <a:off x="480098" y="2016165"/>
            <a:ext cx="2434500" cy="219300"/>
          </a:xfrm>
          <a:prstGeom prst="roundRect">
            <a:avLst>
              <a:gd fmla="val 16667" name="adj"/>
            </a:avLst>
          </a:prstGeom>
          <a:solidFill>
            <a:srgbClr val="185FA5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RUNTIME — réponse à une question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0" name="Google Shape;560;p42"/>
          <p:cNvSpPr/>
          <p:nvPr/>
        </p:nvSpPr>
        <p:spPr>
          <a:xfrm>
            <a:off x="480100" y="2263051"/>
            <a:ext cx="1371600" cy="397800"/>
          </a:xfrm>
          <a:prstGeom prst="roundRect">
            <a:avLst>
              <a:gd fmla="val 6000" name="adj"/>
            </a:avLst>
          </a:prstGeom>
          <a:solidFill>
            <a:srgbClr val="185FA5">
              <a:alpha val="6960"/>
            </a:srgbClr>
          </a:solidFill>
          <a:ln cap="flat" cmpd="sng" w="9525">
            <a:solidFill>
              <a:srgbClr val="185FA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900">
                <a:solidFill>
                  <a:srgbClr val="185FA5"/>
                </a:solidFill>
                <a:latin typeface="Cambria"/>
                <a:ea typeface="Cambria"/>
                <a:cs typeface="Cambria"/>
                <a:sym typeface="Cambria"/>
              </a:rPr>
              <a:t>Utilisateur</a:t>
            </a:r>
            <a:endParaRPr sz="1100">
              <a:solidFill>
                <a:srgbClr val="185FA5"/>
              </a:solidFill>
            </a:endParaRPr>
          </a:p>
          <a:p>
            <a:pPr indent="0" lvl="0" marL="0" rtl="0" algn="ctr">
              <a:spcBef>
                <a:spcPts val="100"/>
              </a:spcBef>
              <a:spcAft>
                <a:spcPts val="0"/>
              </a:spcAft>
              <a:buNone/>
            </a:pPr>
            <a:r>
              <a:rPr lang="fr" sz="700">
                <a:solidFill>
                  <a:srgbClr val="185FA5"/>
                </a:solidFill>
                <a:latin typeface="Calibri"/>
                <a:ea typeface="Calibri"/>
                <a:cs typeface="Calibri"/>
                <a:sym typeface="Calibri"/>
              </a:rPr>
              <a:t>question</a:t>
            </a:r>
            <a:endParaRPr>
              <a:solidFill>
                <a:srgbClr val="185FA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1" name="Google Shape;561;p42"/>
          <p:cNvSpPr/>
          <p:nvPr/>
        </p:nvSpPr>
        <p:spPr>
          <a:xfrm>
            <a:off x="2160350" y="2263051"/>
            <a:ext cx="1371600" cy="397800"/>
          </a:xfrm>
          <a:prstGeom prst="roundRect">
            <a:avLst>
              <a:gd fmla="val 6000" name="adj"/>
            </a:avLst>
          </a:prstGeom>
          <a:solidFill>
            <a:srgbClr val="185FA5">
              <a:alpha val="6960"/>
            </a:srgbClr>
          </a:solidFill>
          <a:ln cap="flat" cmpd="sng" w="9525">
            <a:solidFill>
              <a:srgbClr val="185FA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900">
                <a:solidFill>
                  <a:srgbClr val="185FA5"/>
                </a:solidFill>
                <a:latin typeface="Cambria"/>
                <a:ea typeface="Cambria"/>
                <a:cs typeface="Cambria"/>
                <a:sym typeface="Cambria"/>
              </a:rPr>
              <a:t>Interface</a:t>
            </a:r>
            <a:endParaRPr sz="1100">
              <a:solidFill>
                <a:srgbClr val="185FA5"/>
              </a:solidFill>
            </a:endParaRPr>
          </a:p>
          <a:p>
            <a:pPr indent="0" lvl="0" marL="0" rtl="0" algn="ctr">
              <a:spcBef>
                <a:spcPts val="200"/>
              </a:spcBef>
              <a:spcAft>
                <a:spcPts val="0"/>
              </a:spcAft>
              <a:buNone/>
            </a:pPr>
            <a:r>
              <a:rPr i="1" lang="fr" sz="700">
                <a:solidFill>
                  <a:srgbClr val="185FA5"/>
                </a:solidFill>
                <a:latin typeface="Calibri"/>
                <a:ea typeface="Calibri"/>
                <a:cs typeface="Calibri"/>
                <a:sym typeface="Calibri"/>
              </a:rPr>
              <a:t>Streamlit / CLI</a:t>
            </a:r>
            <a:endParaRPr>
              <a:solidFill>
                <a:srgbClr val="185FA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2" name="Google Shape;562;p42"/>
          <p:cNvSpPr txBox="1"/>
          <p:nvPr/>
        </p:nvSpPr>
        <p:spPr>
          <a:xfrm>
            <a:off x="377200" y="233175"/>
            <a:ext cx="1773600" cy="45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9050" lIns="0" spcFirstLastPara="1" rIns="0" wrap="square" tIns="190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1800">
                <a:solidFill>
                  <a:srgbClr val="0E9C8A"/>
                </a:solidFill>
                <a:latin typeface="Calibri"/>
                <a:ea typeface="Calibri"/>
                <a:cs typeface="Calibri"/>
                <a:sym typeface="Calibri"/>
              </a:rPr>
              <a:t>Du POC au MVP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3" name="Google Shape;563;p42"/>
          <p:cNvSpPr txBox="1"/>
          <p:nvPr/>
        </p:nvSpPr>
        <p:spPr>
          <a:xfrm>
            <a:off x="377200" y="675550"/>
            <a:ext cx="37122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9050" lIns="0" spcFirstLastPara="1" rIns="0" wrap="square" tIns="190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1100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Le schéma du POC RAG Puls-Events, augmenté par les besoins</a:t>
            </a:r>
            <a:endParaRPr b="1" sz="1100">
              <a:solidFill>
                <a:srgbClr val="9CA3A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4" name="Google Shape;564;p42"/>
          <p:cNvSpPr/>
          <p:nvPr/>
        </p:nvSpPr>
        <p:spPr>
          <a:xfrm>
            <a:off x="2284350" y="1593125"/>
            <a:ext cx="461700" cy="2013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0E9C8A">
              <a:alpha val="60000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5" name="Google Shape;565;p42"/>
          <p:cNvSpPr/>
          <p:nvPr/>
        </p:nvSpPr>
        <p:spPr>
          <a:xfrm>
            <a:off x="4295575" y="1603525"/>
            <a:ext cx="461700" cy="2013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0E9C8A">
              <a:alpha val="60000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6" name="Google Shape;566;p42"/>
          <p:cNvSpPr/>
          <p:nvPr/>
        </p:nvSpPr>
        <p:spPr>
          <a:xfrm>
            <a:off x="6323275" y="1598638"/>
            <a:ext cx="461700" cy="2013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0E9C8A">
              <a:alpha val="60000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7" name="Google Shape;567;p42"/>
          <p:cNvSpPr/>
          <p:nvPr/>
        </p:nvSpPr>
        <p:spPr>
          <a:xfrm>
            <a:off x="1775200" y="2340188"/>
            <a:ext cx="461700" cy="2013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0E9C8A">
              <a:alpha val="60000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8" name="Google Shape;568;p42"/>
          <p:cNvSpPr txBox="1"/>
          <p:nvPr/>
        </p:nvSpPr>
        <p:spPr>
          <a:xfrm>
            <a:off x="377200" y="4945850"/>
            <a:ext cx="999000" cy="166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700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MVP RAG Puls-Events</a:t>
            </a:r>
            <a:endParaRPr sz="700">
              <a:solidFill>
                <a:srgbClr val="9CA3A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3" name="Shape 5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4" name="Google Shape;574;p43"/>
          <p:cNvSpPr/>
          <p:nvPr/>
        </p:nvSpPr>
        <p:spPr>
          <a:xfrm>
            <a:off x="6478535" y="530960"/>
            <a:ext cx="150900" cy="150900"/>
          </a:xfrm>
          <a:prstGeom prst="roundRect">
            <a:avLst>
              <a:gd fmla="val 16667" name="adj"/>
            </a:avLst>
          </a:prstGeom>
          <a:solidFill>
            <a:srgbClr val="185FA5">
              <a:alpha val="6960"/>
            </a:srgbClr>
          </a:solidFill>
          <a:ln cap="flat" cmpd="sng" w="9525">
            <a:solidFill>
              <a:srgbClr val="185FA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5" name="Google Shape;575;p43"/>
          <p:cNvSpPr txBox="1"/>
          <p:nvPr/>
        </p:nvSpPr>
        <p:spPr>
          <a:xfrm>
            <a:off x="6691151" y="510375"/>
            <a:ext cx="1371600" cy="17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9050" lIns="0" spcFirstLastPara="1" rIns="0" wrap="square" tIns="190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fr" sz="800" u="none" cap="none" strike="noStrike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hérité (</a:t>
            </a:r>
            <a:r>
              <a:rPr lang="fr" sz="900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POC RAG Puls-Events</a:t>
            </a:r>
            <a:r>
              <a:rPr b="0" i="0" lang="fr" sz="800" u="none" cap="none" strike="noStrike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)</a:t>
            </a:r>
            <a:endParaRPr sz="1100">
              <a:solidFill>
                <a:srgbClr val="9CA3AF"/>
              </a:solidFill>
            </a:endParaRPr>
          </a:p>
        </p:txBody>
      </p:sp>
      <p:sp>
        <p:nvSpPr>
          <p:cNvPr id="576" name="Google Shape;576;p43"/>
          <p:cNvSpPr/>
          <p:nvPr/>
        </p:nvSpPr>
        <p:spPr>
          <a:xfrm>
            <a:off x="480073" y="1248156"/>
            <a:ext cx="2434500" cy="219300"/>
          </a:xfrm>
          <a:prstGeom prst="roundRect">
            <a:avLst>
              <a:gd fmla="val 16667" name="adj"/>
            </a:avLst>
          </a:prstGeom>
          <a:solidFill>
            <a:srgbClr val="185FA5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BATCH — construction de l'index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7" name="Google Shape;577;p43"/>
          <p:cNvSpPr/>
          <p:nvPr/>
        </p:nvSpPr>
        <p:spPr>
          <a:xfrm>
            <a:off x="651527" y="1495044"/>
            <a:ext cx="1680300" cy="397800"/>
          </a:xfrm>
          <a:prstGeom prst="roundRect">
            <a:avLst>
              <a:gd fmla="val 6000" name="adj"/>
            </a:avLst>
          </a:prstGeom>
          <a:solidFill>
            <a:srgbClr val="185FA5">
              <a:alpha val="6960"/>
            </a:srgbClr>
          </a:solidFill>
          <a:ln cap="flat" cmpd="sng" w="9525">
            <a:solidFill>
              <a:srgbClr val="185FA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900">
                <a:solidFill>
                  <a:srgbClr val="185FA5"/>
                </a:solidFill>
                <a:latin typeface="Cambria"/>
                <a:ea typeface="Cambria"/>
                <a:cs typeface="Cambria"/>
                <a:sym typeface="Cambria"/>
              </a:rPr>
              <a:t>Open Agenda</a:t>
            </a:r>
            <a:endParaRPr sz="1100">
              <a:solidFill>
                <a:srgbClr val="185FA5"/>
              </a:solidFill>
            </a:endParaRPr>
          </a:p>
          <a:p>
            <a:pPr indent="0" lvl="0" marL="0" rtl="0" algn="ctr">
              <a:spcBef>
                <a:spcPts val="100"/>
              </a:spcBef>
              <a:spcAft>
                <a:spcPts val="0"/>
              </a:spcAft>
              <a:buNone/>
            </a:pPr>
            <a:r>
              <a:rPr lang="fr" sz="700">
                <a:solidFill>
                  <a:srgbClr val="185FA5"/>
                </a:solidFill>
                <a:latin typeface="Calibri"/>
                <a:ea typeface="Calibri"/>
                <a:cs typeface="Calibri"/>
                <a:sym typeface="Calibri"/>
              </a:rPr>
              <a:t>API Opendatasoft</a:t>
            </a:r>
            <a:endParaRPr>
              <a:solidFill>
                <a:srgbClr val="185FA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8" name="Google Shape;578;p43"/>
          <p:cNvSpPr/>
          <p:nvPr/>
        </p:nvSpPr>
        <p:spPr>
          <a:xfrm>
            <a:off x="2674691" y="1495044"/>
            <a:ext cx="1680300" cy="397800"/>
          </a:xfrm>
          <a:prstGeom prst="roundRect">
            <a:avLst>
              <a:gd fmla="val 6000" name="adj"/>
            </a:avLst>
          </a:prstGeom>
          <a:solidFill>
            <a:srgbClr val="185FA5">
              <a:alpha val="6960"/>
            </a:srgbClr>
          </a:solidFill>
          <a:ln cap="flat" cmpd="sng" w="9525">
            <a:solidFill>
              <a:srgbClr val="185FA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900">
                <a:solidFill>
                  <a:srgbClr val="185FA5"/>
                </a:solidFill>
                <a:latin typeface="Cambria"/>
                <a:ea typeface="Cambria"/>
                <a:cs typeface="Cambria"/>
                <a:sym typeface="Cambria"/>
              </a:rPr>
              <a:t>Ingestion</a:t>
            </a:r>
            <a:endParaRPr sz="1100">
              <a:solidFill>
                <a:srgbClr val="185FA5"/>
              </a:solidFill>
            </a:endParaRPr>
          </a:p>
          <a:p>
            <a:pPr indent="0" lvl="0" marL="0" rtl="0" algn="ctr">
              <a:spcBef>
                <a:spcPts val="200"/>
              </a:spcBef>
              <a:spcAft>
                <a:spcPts val="0"/>
              </a:spcAft>
              <a:buNone/>
            </a:pPr>
            <a:r>
              <a:rPr i="1" lang="fr" sz="700">
                <a:solidFill>
                  <a:srgbClr val="185FA5"/>
                </a:solidFill>
                <a:latin typeface="Calibri"/>
                <a:ea typeface="Calibri"/>
                <a:cs typeface="Calibri"/>
                <a:sym typeface="Calibri"/>
              </a:rPr>
              <a:t>script Python</a:t>
            </a:r>
            <a:endParaRPr>
              <a:solidFill>
                <a:srgbClr val="185FA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9" name="Google Shape;579;p43"/>
          <p:cNvSpPr/>
          <p:nvPr/>
        </p:nvSpPr>
        <p:spPr>
          <a:xfrm>
            <a:off x="4697855" y="1494882"/>
            <a:ext cx="1680300" cy="397800"/>
          </a:xfrm>
          <a:prstGeom prst="roundRect">
            <a:avLst>
              <a:gd fmla="val 6000" name="adj"/>
            </a:avLst>
          </a:prstGeom>
          <a:solidFill>
            <a:srgbClr val="185FA5">
              <a:alpha val="6960"/>
            </a:srgbClr>
          </a:solidFill>
          <a:ln cap="flat" cmpd="sng" w="9525">
            <a:solidFill>
              <a:srgbClr val="185FA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900">
                <a:solidFill>
                  <a:srgbClr val="185FA5"/>
                </a:solidFill>
                <a:latin typeface="Cambria"/>
                <a:ea typeface="Cambria"/>
                <a:cs typeface="Cambria"/>
                <a:sym typeface="Cambria"/>
              </a:rPr>
              <a:t>Embeddings</a:t>
            </a:r>
            <a:endParaRPr sz="1100">
              <a:solidFill>
                <a:srgbClr val="185FA5"/>
              </a:solidFill>
            </a:endParaRPr>
          </a:p>
          <a:p>
            <a:pPr indent="0" lvl="0" marL="0" rtl="0" algn="ctr">
              <a:spcBef>
                <a:spcPts val="100"/>
              </a:spcBef>
              <a:spcAft>
                <a:spcPts val="0"/>
              </a:spcAft>
              <a:buNone/>
            </a:pPr>
            <a:r>
              <a:rPr lang="fr" sz="700">
                <a:solidFill>
                  <a:srgbClr val="185FA5"/>
                </a:solidFill>
                <a:latin typeface="Calibri"/>
                <a:ea typeface="Calibri"/>
                <a:cs typeface="Calibri"/>
                <a:sym typeface="Calibri"/>
              </a:rPr>
              <a:t>mistral-embed</a:t>
            </a:r>
            <a:endParaRPr sz="1100">
              <a:solidFill>
                <a:srgbClr val="185FA5"/>
              </a:solidFill>
            </a:endParaRPr>
          </a:p>
        </p:txBody>
      </p:sp>
      <p:sp>
        <p:nvSpPr>
          <p:cNvPr id="580" name="Google Shape;580;p43"/>
          <p:cNvSpPr/>
          <p:nvPr/>
        </p:nvSpPr>
        <p:spPr>
          <a:xfrm>
            <a:off x="6721019" y="1495044"/>
            <a:ext cx="1680300" cy="397800"/>
          </a:xfrm>
          <a:prstGeom prst="roundRect">
            <a:avLst>
              <a:gd fmla="val 6000" name="adj"/>
            </a:avLst>
          </a:prstGeom>
          <a:solidFill>
            <a:srgbClr val="185FA5">
              <a:alpha val="6960"/>
            </a:srgbClr>
          </a:solidFill>
          <a:ln cap="flat" cmpd="sng" w="9525">
            <a:solidFill>
              <a:srgbClr val="185FA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900">
                <a:solidFill>
                  <a:srgbClr val="185FA5"/>
                </a:solidFill>
                <a:latin typeface="Cambria"/>
                <a:ea typeface="Cambria"/>
                <a:cs typeface="Cambria"/>
                <a:sym typeface="Cambria"/>
              </a:rPr>
              <a:t>Index vectoriel</a:t>
            </a:r>
            <a:endParaRPr sz="1100">
              <a:solidFill>
                <a:srgbClr val="185FA5"/>
              </a:solidFill>
            </a:endParaRPr>
          </a:p>
          <a:p>
            <a:pPr indent="0" lvl="0" marL="0" rtl="0" algn="ctr">
              <a:spcBef>
                <a:spcPts val="200"/>
              </a:spcBef>
              <a:spcAft>
                <a:spcPts val="0"/>
              </a:spcAft>
              <a:buNone/>
            </a:pPr>
            <a:r>
              <a:rPr i="1" lang="fr" sz="700">
                <a:solidFill>
                  <a:srgbClr val="185FA5"/>
                </a:solidFill>
                <a:latin typeface="Calibri"/>
                <a:ea typeface="Calibri"/>
                <a:cs typeface="Calibri"/>
                <a:sym typeface="Calibri"/>
              </a:rPr>
              <a:t>FAISS local</a:t>
            </a:r>
            <a:endParaRPr>
              <a:solidFill>
                <a:srgbClr val="185FA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1" name="Google Shape;581;p43"/>
          <p:cNvSpPr/>
          <p:nvPr/>
        </p:nvSpPr>
        <p:spPr>
          <a:xfrm>
            <a:off x="480098" y="2016165"/>
            <a:ext cx="2434500" cy="219300"/>
          </a:xfrm>
          <a:prstGeom prst="roundRect">
            <a:avLst>
              <a:gd fmla="val 16667" name="adj"/>
            </a:avLst>
          </a:prstGeom>
          <a:solidFill>
            <a:srgbClr val="185FA5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RUNTIME — réponse à une question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2" name="Google Shape;582;p43"/>
          <p:cNvSpPr/>
          <p:nvPr/>
        </p:nvSpPr>
        <p:spPr>
          <a:xfrm>
            <a:off x="480100" y="2263051"/>
            <a:ext cx="1371600" cy="397800"/>
          </a:xfrm>
          <a:prstGeom prst="roundRect">
            <a:avLst>
              <a:gd fmla="val 6000" name="adj"/>
            </a:avLst>
          </a:prstGeom>
          <a:solidFill>
            <a:srgbClr val="185FA5">
              <a:alpha val="6960"/>
            </a:srgbClr>
          </a:solidFill>
          <a:ln cap="flat" cmpd="sng" w="9525">
            <a:solidFill>
              <a:srgbClr val="185FA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900">
                <a:solidFill>
                  <a:srgbClr val="185FA5"/>
                </a:solidFill>
                <a:latin typeface="Cambria"/>
                <a:ea typeface="Cambria"/>
                <a:cs typeface="Cambria"/>
                <a:sym typeface="Cambria"/>
              </a:rPr>
              <a:t>Utilisateur</a:t>
            </a:r>
            <a:endParaRPr sz="1100">
              <a:solidFill>
                <a:srgbClr val="185FA5"/>
              </a:solidFill>
            </a:endParaRPr>
          </a:p>
          <a:p>
            <a:pPr indent="0" lvl="0" marL="0" rtl="0" algn="ctr">
              <a:spcBef>
                <a:spcPts val="100"/>
              </a:spcBef>
              <a:spcAft>
                <a:spcPts val="0"/>
              </a:spcAft>
              <a:buNone/>
            </a:pPr>
            <a:r>
              <a:rPr lang="fr" sz="700">
                <a:solidFill>
                  <a:srgbClr val="185FA5"/>
                </a:solidFill>
                <a:latin typeface="Calibri"/>
                <a:ea typeface="Calibri"/>
                <a:cs typeface="Calibri"/>
                <a:sym typeface="Calibri"/>
              </a:rPr>
              <a:t>question</a:t>
            </a:r>
            <a:endParaRPr>
              <a:solidFill>
                <a:srgbClr val="185FA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3" name="Google Shape;583;p43"/>
          <p:cNvSpPr/>
          <p:nvPr/>
        </p:nvSpPr>
        <p:spPr>
          <a:xfrm>
            <a:off x="2160350" y="2263051"/>
            <a:ext cx="1371600" cy="397800"/>
          </a:xfrm>
          <a:prstGeom prst="roundRect">
            <a:avLst>
              <a:gd fmla="val 6000" name="adj"/>
            </a:avLst>
          </a:prstGeom>
          <a:solidFill>
            <a:srgbClr val="185FA5">
              <a:alpha val="6960"/>
            </a:srgbClr>
          </a:solidFill>
          <a:ln cap="flat" cmpd="sng" w="9525">
            <a:solidFill>
              <a:srgbClr val="185FA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900">
                <a:solidFill>
                  <a:srgbClr val="185FA5"/>
                </a:solidFill>
                <a:latin typeface="Cambria"/>
                <a:ea typeface="Cambria"/>
                <a:cs typeface="Cambria"/>
                <a:sym typeface="Cambria"/>
              </a:rPr>
              <a:t>Interface</a:t>
            </a:r>
            <a:endParaRPr sz="1100">
              <a:solidFill>
                <a:srgbClr val="185FA5"/>
              </a:solidFill>
            </a:endParaRPr>
          </a:p>
          <a:p>
            <a:pPr indent="0" lvl="0" marL="0" rtl="0" algn="ctr">
              <a:spcBef>
                <a:spcPts val="200"/>
              </a:spcBef>
              <a:spcAft>
                <a:spcPts val="0"/>
              </a:spcAft>
              <a:buNone/>
            </a:pPr>
            <a:r>
              <a:rPr i="1" lang="fr" sz="700">
                <a:solidFill>
                  <a:srgbClr val="185FA5"/>
                </a:solidFill>
                <a:latin typeface="Calibri"/>
                <a:ea typeface="Calibri"/>
                <a:cs typeface="Calibri"/>
                <a:sym typeface="Calibri"/>
              </a:rPr>
              <a:t>Streamlit / CLI</a:t>
            </a:r>
            <a:endParaRPr>
              <a:solidFill>
                <a:srgbClr val="185FA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4" name="Google Shape;584;p43"/>
          <p:cNvSpPr/>
          <p:nvPr/>
        </p:nvSpPr>
        <p:spPr>
          <a:xfrm>
            <a:off x="3840608" y="2263051"/>
            <a:ext cx="1371600" cy="397800"/>
          </a:xfrm>
          <a:prstGeom prst="roundRect">
            <a:avLst>
              <a:gd fmla="val 6000" name="adj"/>
            </a:avLst>
          </a:prstGeom>
          <a:solidFill>
            <a:srgbClr val="185FA5">
              <a:alpha val="6960"/>
            </a:srgbClr>
          </a:solidFill>
          <a:ln cap="flat" cmpd="sng" w="9525">
            <a:solidFill>
              <a:srgbClr val="185FA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900">
                <a:solidFill>
                  <a:srgbClr val="185FA5"/>
                </a:solidFill>
                <a:latin typeface="Cambria"/>
                <a:ea typeface="Cambria"/>
                <a:cs typeface="Cambria"/>
                <a:sym typeface="Cambria"/>
              </a:rPr>
              <a:t>Retriever hybride</a:t>
            </a:r>
            <a:endParaRPr sz="1100">
              <a:solidFill>
                <a:srgbClr val="185FA5"/>
              </a:solidFill>
            </a:endParaRPr>
          </a:p>
          <a:p>
            <a:pPr indent="0" lvl="0" marL="0" rtl="0" algn="ctr">
              <a:spcBef>
                <a:spcPts val="100"/>
              </a:spcBef>
              <a:spcAft>
                <a:spcPts val="0"/>
              </a:spcAft>
              <a:buNone/>
            </a:pPr>
            <a:r>
              <a:rPr lang="fr" sz="700">
                <a:solidFill>
                  <a:srgbClr val="185FA5"/>
                </a:solidFill>
                <a:latin typeface="Calibri"/>
                <a:ea typeface="Calibri"/>
                <a:cs typeface="Calibri"/>
                <a:sym typeface="Calibri"/>
              </a:rPr>
              <a:t>BM25 + dense (MMR)</a:t>
            </a:r>
            <a:endParaRPr>
              <a:solidFill>
                <a:srgbClr val="185FA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85" name="Google Shape;585;p43"/>
          <p:cNvCxnSpPr>
            <a:stCxn id="580" idx="2"/>
            <a:endCxn id="584" idx="0"/>
          </p:cNvCxnSpPr>
          <p:nvPr/>
        </p:nvCxnSpPr>
        <p:spPr>
          <a:xfrm flipH="1">
            <a:off x="4526369" y="1892844"/>
            <a:ext cx="3034800" cy="370200"/>
          </a:xfrm>
          <a:prstGeom prst="straightConnector1">
            <a:avLst/>
          </a:prstGeom>
          <a:noFill/>
          <a:ln cap="flat" cmpd="sng" w="15225">
            <a:solidFill>
              <a:srgbClr val="FFFB8C"/>
            </a:solidFill>
            <a:prstDash val="dash"/>
            <a:round/>
            <a:headEnd len="sm" w="sm" type="oval"/>
            <a:tailEnd len="med" w="med" type="oval"/>
          </a:ln>
        </p:spPr>
      </p:cxnSp>
      <p:sp>
        <p:nvSpPr>
          <p:cNvPr id="586" name="Google Shape;586;p43"/>
          <p:cNvSpPr txBox="1"/>
          <p:nvPr/>
        </p:nvSpPr>
        <p:spPr>
          <a:xfrm>
            <a:off x="4764446" y="1938063"/>
            <a:ext cx="1097400" cy="1461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0" spcFirstLastPara="1" rIns="0" wrap="square" tIns="190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fr" sz="700" u="none" cap="none" strike="noStrike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embeddings + métadonnées</a:t>
            </a:r>
            <a:endParaRPr sz="1100">
              <a:solidFill>
                <a:srgbClr val="9CA3AF"/>
              </a:solidFill>
            </a:endParaRPr>
          </a:p>
        </p:txBody>
      </p:sp>
      <p:sp>
        <p:nvSpPr>
          <p:cNvPr id="587" name="Google Shape;587;p43"/>
          <p:cNvSpPr txBox="1"/>
          <p:nvPr/>
        </p:nvSpPr>
        <p:spPr>
          <a:xfrm>
            <a:off x="377200" y="233175"/>
            <a:ext cx="1773600" cy="45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9050" lIns="0" spcFirstLastPara="1" rIns="0" wrap="square" tIns="190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1800">
                <a:solidFill>
                  <a:srgbClr val="0E9C8A"/>
                </a:solidFill>
                <a:latin typeface="Calibri"/>
                <a:ea typeface="Calibri"/>
                <a:cs typeface="Calibri"/>
                <a:sym typeface="Calibri"/>
              </a:rPr>
              <a:t>Du POC au MVP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8" name="Google Shape;588;p43"/>
          <p:cNvSpPr txBox="1"/>
          <p:nvPr/>
        </p:nvSpPr>
        <p:spPr>
          <a:xfrm>
            <a:off x="377200" y="675550"/>
            <a:ext cx="37122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9050" lIns="0" spcFirstLastPara="1" rIns="0" wrap="square" tIns="190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1100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Le schéma du POC RAG Puls-Events, augmenté par les besoins</a:t>
            </a:r>
            <a:endParaRPr b="1" sz="1100">
              <a:solidFill>
                <a:srgbClr val="9CA3A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9" name="Google Shape;589;p43"/>
          <p:cNvSpPr/>
          <p:nvPr/>
        </p:nvSpPr>
        <p:spPr>
          <a:xfrm>
            <a:off x="2284350" y="1593125"/>
            <a:ext cx="461700" cy="2013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0E9C8A">
              <a:alpha val="60000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0" name="Google Shape;590;p43"/>
          <p:cNvSpPr/>
          <p:nvPr/>
        </p:nvSpPr>
        <p:spPr>
          <a:xfrm>
            <a:off x="4295575" y="1603525"/>
            <a:ext cx="461700" cy="2013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0E9C8A">
              <a:alpha val="60000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1" name="Google Shape;591;p43"/>
          <p:cNvSpPr/>
          <p:nvPr/>
        </p:nvSpPr>
        <p:spPr>
          <a:xfrm>
            <a:off x="6323275" y="1598638"/>
            <a:ext cx="461700" cy="2013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0E9C8A">
              <a:alpha val="60000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2" name="Google Shape;592;p43"/>
          <p:cNvSpPr/>
          <p:nvPr/>
        </p:nvSpPr>
        <p:spPr>
          <a:xfrm>
            <a:off x="1775200" y="2340188"/>
            <a:ext cx="461700" cy="2013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0E9C8A">
              <a:alpha val="60000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3" name="Google Shape;593;p43"/>
          <p:cNvSpPr/>
          <p:nvPr/>
        </p:nvSpPr>
        <p:spPr>
          <a:xfrm>
            <a:off x="3455450" y="2340188"/>
            <a:ext cx="461700" cy="2013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0E9C8A">
              <a:alpha val="60000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4" name="Google Shape;594;p43"/>
          <p:cNvSpPr txBox="1"/>
          <p:nvPr/>
        </p:nvSpPr>
        <p:spPr>
          <a:xfrm>
            <a:off x="377200" y="4945850"/>
            <a:ext cx="999000" cy="166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700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MVP RAG Puls-Events</a:t>
            </a:r>
            <a:endParaRPr sz="700">
              <a:solidFill>
                <a:srgbClr val="9CA3A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9" name="Shape 5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0" name="Google Shape;600;p44"/>
          <p:cNvSpPr/>
          <p:nvPr/>
        </p:nvSpPr>
        <p:spPr>
          <a:xfrm>
            <a:off x="6478535" y="530960"/>
            <a:ext cx="150900" cy="150900"/>
          </a:xfrm>
          <a:prstGeom prst="roundRect">
            <a:avLst>
              <a:gd fmla="val 16667" name="adj"/>
            </a:avLst>
          </a:prstGeom>
          <a:solidFill>
            <a:srgbClr val="185FA5">
              <a:alpha val="6960"/>
            </a:srgbClr>
          </a:solidFill>
          <a:ln cap="flat" cmpd="sng" w="9525">
            <a:solidFill>
              <a:srgbClr val="185FA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1" name="Google Shape;601;p44"/>
          <p:cNvSpPr txBox="1"/>
          <p:nvPr/>
        </p:nvSpPr>
        <p:spPr>
          <a:xfrm>
            <a:off x="6691151" y="510375"/>
            <a:ext cx="1371600" cy="17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9050" lIns="0" spcFirstLastPara="1" rIns="0" wrap="square" tIns="190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fr" sz="800" u="none" cap="none" strike="noStrike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hérité (</a:t>
            </a:r>
            <a:r>
              <a:rPr lang="fr" sz="900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POC RAG Puls-Events</a:t>
            </a:r>
            <a:r>
              <a:rPr b="0" i="0" lang="fr" sz="800" u="none" cap="none" strike="noStrike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)</a:t>
            </a:r>
            <a:endParaRPr sz="1100">
              <a:solidFill>
                <a:srgbClr val="9CA3AF"/>
              </a:solidFill>
            </a:endParaRPr>
          </a:p>
        </p:txBody>
      </p:sp>
      <p:sp>
        <p:nvSpPr>
          <p:cNvPr id="602" name="Google Shape;602;p44"/>
          <p:cNvSpPr/>
          <p:nvPr/>
        </p:nvSpPr>
        <p:spPr>
          <a:xfrm>
            <a:off x="480073" y="1248156"/>
            <a:ext cx="2434500" cy="219300"/>
          </a:xfrm>
          <a:prstGeom prst="roundRect">
            <a:avLst>
              <a:gd fmla="val 16667" name="adj"/>
            </a:avLst>
          </a:prstGeom>
          <a:solidFill>
            <a:srgbClr val="185FA5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BATCH — construction de l'index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3" name="Google Shape;603;p44"/>
          <p:cNvSpPr/>
          <p:nvPr/>
        </p:nvSpPr>
        <p:spPr>
          <a:xfrm>
            <a:off x="651527" y="1495044"/>
            <a:ext cx="1680300" cy="397800"/>
          </a:xfrm>
          <a:prstGeom prst="roundRect">
            <a:avLst>
              <a:gd fmla="val 6000" name="adj"/>
            </a:avLst>
          </a:prstGeom>
          <a:solidFill>
            <a:srgbClr val="185FA5">
              <a:alpha val="6960"/>
            </a:srgbClr>
          </a:solidFill>
          <a:ln cap="flat" cmpd="sng" w="9525">
            <a:solidFill>
              <a:srgbClr val="185FA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900">
                <a:solidFill>
                  <a:srgbClr val="185FA5"/>
                </a:solidFill>
                <a:latin typeface="Cambria"/>
                <a:ea typeface="Cambria"/>
                <a:cs typeface="Cambria"/>
                <a:sym typeface="Cambria"/>
              </a:rPr>
              <a:t>Open Agenda</a:t>
            </a:r>
            <a:endParaRPr sz="1100">
              <a:solidFill>
                <a:srgbClr val="185FA5"/>
              </a:solidFill>
            </a:endParaRPr>
          </a:p>
          <a:p>
            <a:pPr indent="0" lvl="0" marL="0" rtl="0" algn="ctr">
              <a:spcBef>
                <a:spcPts val="100"/>
              </a:spcBef>
              <a:spcAft>
                <a:spcPts val="0"/>
              </a:spcAft>
              <a:buNone/>
            </a:pPr>
            <a:r>
              <a:rPr lang="fr" sz="700">
                <a:solidFill>
                  <a:srgbClr val="185FA5"/>
                </a:solidFill>
                <a:latin typeface="Calibri"/>
                <a:ea typeface="Calibri"/>
                <a:cs typeface="Calibri"/>
                <a:sym typeface="Calibri"/>
              </a:rPr>
              <a:t>API Opendatasoft</a:t>
            </a:r>
            <a:endParaRPr>
              <a:solidFill>
                <a:srgbClr val="185FA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4" name="Google Shape;604;p44"/>
          <p:cNvSpPr/>
          <p:nvPr/>
        </p:nvSpPr>
        <p:spPr>
          <a:xfrm>
            <a:off x="2674691" y="1495044"/>
            <a:ext cx="1680300" cy="397800"/>
          </a:xfrm>
          <a:prstGeom prst="roundRect">
            <a:avLst>
              <a:gd fmla="val 6000" name="adj"/>
            </a:avLst>
          </a:prstGeom>
          <a:solidFill>
            <a:srgbClr val="185FA5">
              <a:alpha val="6960"/>
            </a:srgbClr>
          </a:solidFill>
          <a:ln cap="flat" cmpd="sng" w="9525">
            <a:solidFill>
              <a:srgbClr val="185FA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900">
                <a:solidFill>
                  <a:srgbClr val="185FA5"/>
                </a:solidFill>
                <a:latin typeface="Cambria"/>
                <a:ea typeface="Cambria"/>
                <a:cs typeface="Cambria"/>
                <a:sym typeface="Cambria"/>
              </a:rPr>
              <a:t>Ingestion</a:t>
            </a:r>
            <a:endParaRPr sz="1100">
              <a:solidFill>
                <a:srgbClr val="185FA5"/>
              </a:solidFill>
            </a:endParaRPr>
          </a:p>
          <a:p>
            <a:pPr indent="0" lvl="0" marL="0" rtl="0" algn="ctr">
              <a:spcBef>
                <a:spcPts val="200"/>
              </a:spcBef>
              <a:spcAft>
                <a:spcPts val="0"/>
              </a:spcAft>
              <a:buNone/>
            </a:pPr>
            <a:r>
              <a:rPr i="1" lang="fr" sz="700">
                <a:solidFill>
                  <a:srgbClr val="185FA5"/>
                </a:solidFill>
                <a:latin typeface="Calibri"/>
                <a:ea typeface="Calibri"/>
                <a:cs typeface="Calibri"/>
                <a:sym typeface="Calibri"/>
              </a:rPr>
              <a:t>script Python</a:t>
            </a:r>
            <a:endParaRPr>
              <a:solidFill>
                <a:srgbClr val="185FA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5" name="Google Shape;605;p44"/>
          <p:cNvSpPr/>
          <p:nvPr/>
        </p:nvSpPr>
        <p:spPr>
          <a:xfrm>
            <a:off x="4697855" y="1494882"/>
            <a:ext cx="1680300" cy="397800"/>
          </a:xfrm>
          <a:prstGeom prst="roundRect">
            <a:avLst>
              <a:gd fmla="val 6000" name="adj"/>
            </a:avLst>
          </a:prstGeom>
          <a:solidFill>
            <a:srgbClr val="185FA5">
              <a:alpha val="6960"/>
            </a:srgbClr>
          </a:solidFill>
          <a:ln cap="flat" cmpd="sng" w="9525">
            <a:solidFill>
              <a:srgbClr val="185FA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900">
                <a:solidFill>
                  <a:srgbClr val="185FA5"/>
                </a:solidFill>
                <a:latin typeface="Cambria"/>
                <a:ea typeface="Cambria"/>
                <a:cs typeface="Cambria"/>
                <a:sym typeface="Cambria"/>
              </a:rPr>
              <a:t>Embeddings</a:t>
            </a:r>
            <a:endParaRPr sz="1100">
              <a:solidFill>
                <a:srgbClr val="185FA5"/>
              </a:solidFill>
            </a:endParaRPr>
          </a:p>
          <a:p>
            <a:pPr indent="0" lvl="0" marL="0" rtl="0" algn="ctr">
              <a:spcBef>
                <a:spcPts val="100"/>
              </a:spcBef>
              <a:spcAft>
                <a:spcPts val="0"/>
              </a:spcAft>
              <a:buNone/>
            </a:pPr>
            <a:r>
              <a:rPr lang="fr" sz="700">
                <a:solidFill>
                  <a:srgbClr val="185FA5"/>
                </a:solidFill>
                <a:latin typeface="Calibri"/>
                <a:ea typeface="Calibri"/>
                <a:cs typeface="Calibri"/>
                <a:sym typeface="Calibri"/>
              </a:rPr>
              <a:t>mistral-embed</a:t>
            </a:r>
            <a:endParaRPr sz="1100">
              <a:solidFill>
                <a:srgbClr val="185FA5"/>
              </a:solidFill>
            </a:endParaRPr>
          </a:p>
        </p:txBody>
      </p:sp>
      <p:sp>
        <p:nvSpPr>
          <p:cNvPr id="606" name="Google Shape;606;p44"/>
          <p:cNvSpPr/>
          <p:nvPr/>
        </p:nvSpPr>
        <p:spPr>
          <a:xfrm>
            <a:off x="6721019" y="1495044"/>
            <a:ext cx="1680300" cy="397800"/>
          </a:xfrm>
          <a:prstGeom prst="roundRect">
            <a:avLst>
              <a:gd fmla="val 6000" name="adj"/>
            </a:avLst>
          </a:prstGeom>
          <a:solidFill>
            <a:srgbClr val="185FA5">
              <a:alpha val="6960"/>
            </a:srgbClr>
          </a:solidFill>
          <a:ln cap="flat" cmpd="sng" w="9525">
            <a:solidFill>
              <a:srgbClr val="185FA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900">
                <a:solidFill>
                  <a:srgbClr val="185FA5"/>
                </a:solidFill>
                <a:latin typeface="Cambria"/>
                <a:ea typeface="Cambria"/>
                <a:cs typeface="Cambria"/>
                <a:sym typeface="Cambria"/>
              </a:rPr>
              <a:t>Index vectoriel</a:t>
            </a:r>
            <a:endParaRPr sz="1100">
              <a:solidFill>
                <a:srgbClr val="185FA5"/>
              </a:solidFill>
            </a:endParaRPr>
          </a:p>
          <a:p>
            <a:pPr indent="0" lvl="0" marL="0" rtl="0" algn="ctr">
              <a:spcBef>
                <a:spcPts val="200"/>
              </a:spcBef>
              <a:spcAft>
                <a:spcPts val="0"/>
              </a:spcAft>
              <a:buNone/>
            </a:pPr>
            <a:r>
              <a:rPr i="1" lang="fr" sz="700">
                <a:solidFill>
                  <a:srgbClr val="185FA5"/>
                </a:solidFill>
                <a:latin typeface="Calibri"/>
                <a:ea typeface="Calibri"/>
                <a:cs typeface="Calibri"/>
                <a:sym typeface="Calibri"/>
              </a:rPr>
              <a:t>FAISS local</a:t>
            </a:r>
            <a:endParaRPr>
              <a:solidFill>
                <a:srgbClr val="185FA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7" name="Google Shape;607;p44"/>
          <p:cNvSpPr/>
          <p:nvPr/>
        </p:nvSpPr>
        <p:spPr>
          <a:xfrm>
            <a:off x="480098" y="2016165"/>
            <a:ext cx="2434500" cy="219300"/>
          </a:xfrm>
          <a:prstGeom prst="roundRect">
            <a:avLst>
              <a:gd fmla="val 16667" name="adj"/>
            </a:avLst>
          </a:prstGeom>
          <a:solidFill>
            <a:srgbClr val="185FA5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RUNTIME — réponse à une question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8" name="Google Shape;608;p44"/>
          <p:cNvSpPr/>
          <p:nvPr/>
        </p:nvSpPr>
        <p:spPr>
          <a:xfrm>
            <a:off x="480100" y="2263051"/>
            <a:ext cx="1371600" cy="397800"/>
          </a:xfrm>
          <a:prstGeom prst="roundRect">
            <a:avLst>
              <a:gd fmla="val 6000" name="adj"/>
            </a:avLst>
          </a:prstGeom>
          <a:solidFill>
            <a:srgbClr val="185FA5">
              <a:alpha val="6960"/>
            </a:srgbClr>
          </a:solidFill>
          <a:ln cap="flat" cmpd="sng" w="9525">
            <a:solidFill>
              <a:srgbClr val="185FA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900">
                <a:solidFill>
                  <a:srgbClr val="185FA5"/>
                </a:solidFill>
                <a:latin typeface="Cambria"/>
                <a:ea typeface="Cambria"/>
                <a:cs typeface="Cambria"/>
                <a:sym typeface="Cambria"/>
              </a:rPr>
              <a:t>Utilisateur</a:t>
            </a:r>
            <a:endParaRPr sz="1100">
              <a:solidFill>
                <a:srgbClr val="185FA5"/>
              </a:solidFill>
            </a:endParaRPr>
          </a:p>
          <a:p>
            <a:pPr indent="0" lvl="0" marL="0" rtl="0" algn="ctr">
              <a:spcBef>
                <a:spcPts val="100"/>
              </a:spcBef>
              <a:spcAft>
                <a:spcPts val="0"/>
              </a:spcAft>
              <a:buNone/>
            </a:pPr>
            <a:r>
              <a:rPr lang="fr" sz="700">
                <a:solidFill>
                  <a:srgbClr val="185FA5"/>
                </a:solidFill>
                <a:latin typeface="Calibri"/>
                <a:ea typeface="Calibri"/>
                <a:cs typeface="Calibri"/>
                <a:sym typeface="Calibri"/>
              </a:rPr>
              <a:t>question</a:t>
            </a:r>
            <a:endParaRPr>
              <a:solidFill>
                <a:srgbClr val="185FA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9" name="Google Shape;609;p44"/>
          <p:cNvSpPr/>
          <p:nvPr/>
        </p:nvSpPr>
        <p:spPr>
          <a:xfrm>
            <a:off x="2160350" y="2263051"/>
            <a:ext cx="1371600" cy="397800"/>
          </a:xfrm>
          <a:prstGeom prst="roundRect">
            <a:avLst>
              <a:gd fmla="val 6000" name="adj"/>
            </a:avLst>
          </a:prstGeom>
          <a:solidFill>
            <a:srgbClr val="185FA5">
              <a:alpha val="6960"/>
            </a:srgbClr>
          </a:solidFill>
          <a:ln cap="flat" cmpd="sng" w="9525">
            <a:solidFill>
              <a:srgbClr val="185FA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900">
                <a:solidFill>
                  <a:srgbClr val="185FA5"/>
                </a:solidFill>
                <a:latin typeface="Cambria"/>
                <a:ea typeface="Cambria"/>
                <a:cs typeface="Cambria"/>
                <a:sym typeface="Cambria"/>
              </a:rPr>
              <a:t>Interface</a:t>
            </a:r>
            <a:endParaRPr sz="1100">
              <a:solidFill>
                <a:srgbClr val="185FA5"/>
              </a:solidFill>
            </a:endParaRPr>
          </a:p>
          <a:p>
            <a:pPr indent="0" lvl="0" marL="0" rtl="0" algn="ctr">
              <a:spcBef>
                <a:spcPts val="200"/>
              </a:spcBef>
              <a:spcAft>
                <a:spcPts val="0"/>
              </a:spcAft>
              <a:buNone/>
            </a:pPr>
            <a:r>
              <a:rPr i="1" lang="fr" sz="700">
                <a:solidFill>
                  <a:srgbClr val="185FA5"/>
                </a:solidFill>
                <a:latin typeface="Calibri"/>
                <a:ea typeface="Calibri"/>
                <a:cs typeface="Calibri"/>
                <a:sym typeface="Calibri"/>
              </a:rPr>
              <a:t>Streamlit / CLI</a:t>
            </a:r>
            <a:endParaRPr>
              <a:solidFill>
                <a:srgbClr val="185FA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0" name="Google Shape;610;p44"/>
          <p:cNvSpPr/>
          <p:nvPr/>
        </p:nvSpPr>
        <p:spPr>
          <a:xfrm>
            <a:off x="3840608" y="2263051"/>
            <a:ext cx="1371600" cy="397800"/>
          </a:xfrm>
          <a:prstGeom prst="roundRect">
            <a:avLst>
              <a:gd fmla="val 6000" name="adj"/>
            </a:avLst>
          </a:prstGeom>
          <a:solidFill>
            <a:srgbClr val="185FA5">
              <a:alpha val="6960"/>
            </a:srgbClr>
          </a:solidFill>
          <a:ln cap="flat" cmpd="sng" w="9525">
            <a:solidFill>
              <a:srgbClr val="185FA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900">
                <a:solidFill>
                  <a:srgbClr val="185FA5"/>
                </a:solidFill>
                <a:latin typeface="Cambria"/>
                <a:ea typeface="Cambria"/>
                <a:cs typeface="Cambria"/>
                <a:sym typeface="Cambria"/>
              </a:rPr>
              <a:t>Retriever hybride</a:t>
            </a:r>
            <a:endParaRPr sz="1100">
              <a:solidFill>
                <a:srgbClr val="185FA5"/>
              </a:solidFill>
            </a:endParaRPr>
          </a:p>
          <a:p>
            <a:pPr indent="0" lvl="0" marL="0" rtl="0" algn="ctr">
              <a:spcBef>
                <a:spcPts val="100"/>
              </a:spcBef>
              <a:spcAft>
                <a:spcPts val="0"/>
              </a:spcAft>
              <a:buNone/>
            </a:pPr>
            <a:r>
              <a:rPr lang="fr" sz="700">
                <a:solidFill>
                  <a:srgbClr val="185FA5"/>
                </a:solidFill>
                <a:latin typeface="Calibri"/>
                <a:ea typeface="Calibri"/>
                <a:cs typeface="Calibri"/>
                <a:sym typeface="Calibri"/>
              </a:rPr>
              <a:t>BM25 + dense (MMR)</a:t>
            </a:r>
            <a:endParaRPr>
              <a:solidFill>
                <a:srgbClr val="185FA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1" name="Google Shape;611;p44"/>
          <p:cNvSpPr/>
          <p:nvPr/>
        </p:nvSpPr>
        <p:spPr>
          <a:xfrm>
            <a:off x="5520865" y="2263051"/>
            <a:ext cx="1371600" cy="397800"/>
          </a:xfrm>
          <a:prstGeom prst="roundRect">
            <a:avLst>
              <a:gd fmla="val 6000" name="adj"/>
            </a:avLst>
          </a:prstGeom>
          <a:solidFill>
            <a:srgbClr val="185FA5">
              <a:alpha val="6960"/>
            </a:srgbClr>
          </a:solidFill>
          <a:ln cap="flat" cmpd="sng" w="9525">
            <a:solidFill>
              <a:srgbClr val="185FA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900">
                <a:solidFill>
                  <a:srgbClr val="185FA5"/>
                </a:solidFill>
                <a:latin typeface="Cambria"/>
                <a:ea typeface="Cambria"/>
                <a:cs typeface="Cambria"/>
                <a:sym typeface="Cambria"/>
              </a:rPr>
              <a:t>mistral-small</a:t>
            </a:r>
            <a:endParaRPr sz="1100">
              <a:solidFill>
                <a:srgbClr val="185FA5"/>
              </a:solidFill>
            </a:endParaRPr>
          </a:p>
          <a:p>
            <a:pPr indent="0" lvl="0" marL="0" rtl="0" algn="ctr">
              <a:spcBef>
                <a:spcPts val="100"/>
              </a:spcBef>
              <a:spcAft>
                <a:spcPts val="0"/>
              </a:spcAft>
              <a:buNone/>
            </a:pPr>
            <a:r>
              <a:rPr lang="fr" sz="700">
                <a:solidFill>
                  <a:srgbClr val="185FA5"/>
                </a:solidFill>
                <a:latin typeface="Calibri"/>
                <a:ea typeface="Calibri"/>
                <a:cs typeface="Calibri"/>
                <a:sym typeface="Calibri"/>
              </a:rPr>
              <a:t>génération · sources</a:t>
            </a:r>
            <a:endParaRPr>
              <a:solidFill>
                <a:srgbClr val="185FA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612" name="Google Shape;612;p44"/>
          <p:cNvCxnSpPr>
            <a:stCxn id="606" idx="2"/>
            <a:endCxn id="610" idx="0"/>
          </p:cNvCxnSpPr>
          <p:nvPr/>
        </p:nvCxnSpPr>
        <p:spPr>
          <a:xfrm flipH="1">
            <a:off x="4526369" y="1892844"/>
            <a:ext cx="3034800" cy="370200"/>
          </a:xfrm>
          <a:prstGeom prst="straightConnector1">
            <a:avLst/>
          </a:prstGeom>
          <a:noFill/>
          <a:ln cap="flat" cmpd="sng" w="15225">
            <a:solidFill>
              <a:srgbClr val="FFFB8C"/>
            </a:solidFill>
            <a:prstDash val="dash"/>
            <a:round/>
            <a:headEnd len="sm" w="sm" type="oval"/>
            <a:tailEnd len="med" w="med" type="oval"/>
          </a:ln>
        </p:spPr>
      </p:cxnSp>
      <p:sp>
        <p:nvSpPr>
          <p:cNvPr id="613" name="Google Shape;613;p44"/>
          <p:cNvSpPr txBox="1"/>
          <p:nvPr/>
        </p:nvSpPr>
        <p:spPr>
          <a:xfrm>
            <a:off x="4764446" y="1938063"/>
            <a:ext cx="1097400" cy="1461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0" spcFirstLastPara="1" rIns="0" wrap="square" tIns="190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fr" sz="700" u="none" cap="none" strike="noStrike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embeddings + métadonnées</a:t>
            </a:r>
            <a:endParaRPr sz="1100">
              <a:solidFill>
                <a:srgbClr val="9CA3AF"/>
              </a:solidFill>
            </a:endParaRPr>
          </a:p>
        </p:txBody>
      </p:sp>
      <p:sp>
        <p:nvSpPr>
          <p:cNvPr id="614" name="Google Shape;614;p44"/>
          <p:cNvSpPr txBox="1"/>
          <p:nvPr/>
        </p:nvSpPr>
        <p:spPr>
          <a:xfrm>
            <a:off x="377200" y="233175"/>
            <a:ext cx="1773600" cy="45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9050" lIns="0" spcFirstLastPara="1" rIns="0" wrap="square" tIns="190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1800">
                <a:solidFill>
                  <a:srgbClr val="0E9C8A"/>
                </a:solidFill>
                <a:latin typeface="Calibri"/>
                <a:ea typeface="Calibri"/>
                <a:cs typeface="Calibri"/>
                <a:sym typeface="Calibri"/>
              </a:rPr>
              <a:t>Du POC au MVP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5" name="Google Shape;615;p44"/>
          <p:cNvSpPr txBox="1"/>
          <p:nvPr/>
        </p:nvSpPr>
        <p:spPr>
          <a:xfrm>
            <a:off x="377200" y="675550"/>
            <a:ext cx="37122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9050" lIns="0" spcFirstLastPara="1" rIns="0" wrap="square" tIns="190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1100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Le schéma du POC RAG Puls-Events, augmenté par les besoins</a:t>
            </a:r>
            <a:endParaRPr b="1" sz="1100">
              <a:solidFill>
                <a:srgbClr val="9CA3A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6" name="Google Shape;616;p44"/>
          <p:cNvSpPr/>
          <p:nvPr/>
        </p:nvSpPr>
        <p:spPr>
          <a:xfrm>
            <a:off x="2284350" y="1593125"/>
            <a:ext cx="461700" cy="2013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0E9C8A">
              <a:alpha val="60000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7" name="Google Shape;617;p44"/>
          <p:cNvSpPr/>
          <p:nvPr/>
        </p:nvSpPr>
        <p:spPr>
          <a:xfrm>
            <a:off x="4295575" y="1603525"/>
            <a:ext cx="461700" cy="2013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0E9C8A">
              <a:alpha val="60000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8" name="Google Shape;618;p44"/>
          <p:cNvSpPr/>
          <p:nvPr/>
        </p:nvSpPr>
        <p:spPr>
          <a:xfrm>
            <a:off x="6323275" y="1598638"/>
            <a:ext cx="461700" cy="2013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0E9C8A">
              <a:alpha val="60000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9" name="Google Shape;619;p44"/>
          <p:cNvSpPr/>
          <p:nvPr/>
        </p:nvSpPr>
        <p:spPr>
          <a:xfrm>
            <a:off x="1775200" y="2340188"/>
            <a:ext cx="461700" cy="2013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0E9C8A">
              <a:alpha val="60000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0" name="Google Shape;620;p44"/>
          <p:cNvSpPr/>
          <p:nvPr/>
        </p:nvSpPr>
        <p:spPr>
          <a:xfrm>
            <a:off x="5135675" y="2335063"/>
            <a:ext cx="461700" cy="2013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0E9C8A">
              <a:alpha val="60000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1" name="Google Shape;621;p44"/>
          <p:cNvSpPr/>
          <p:nvPr/>
        </p:nvSpPr>
        <p:spPr>
          <a:xfrm>
            <a:off x="3455450" y="2340188"/>
            <a:ext cx="461700" cy="2013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0E9C8A">
              <a:alpha val="60000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2" name="Google Shape;622;p44"/>
          <p:cNvSpPr txBox="1"/>
          <p:nvPr/>
        </p:nvSpPr>
        <p:spPr>
          <a:xfrm>
            <a:off x="377200" y="4945850"/>
            <a:ext cx="999000" cy="166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700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MVP RAG Puls-Events</a:t>
            </a:r>
            <a:endParaRPr sz="700">
              <a:solidFill>
                <a:srgbClr val="9CA3A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7" name="Shape 6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8" name="Google Shape;628;p45"/>
          <p:cNvSpPr/>
          <p:nvPr/>
        </p:nvSpPr>
        <p:spPr>
          <a:xfrm>
            <a:off x="6478535" y="530960"/>
            <a:ext cx="150900" cy="150900"/>
          </a:xfrm>
          <a:prstGeom prst="roundRect">
            <a:avLst>
              <a:gd fmla="val 16667" name="adj"/>
            </a:avLst>
          </a:prstGeom>
          <a:solidFill>
            <a:srgbClr val="185FA5">
              <a:alpha val="6960"/>
            </a:srgbClr>
          </a:solidFill>
          <a:ln cap="flat" cmpd="sng" w="9525">
            <a:solidFill>
              <a:srgbClr val="185FA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9" name="Google Shape;629;p45"/>
          <p:cNvSpPr txBox="1"/>
          <p:nvPr/>
        </p:nvSpPr>
        <p:spPr>
          <a:xfrm>
            <a:off x="6691151" y="510375"/>
            <a:ext cx="1371600" cy="17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9050" lIns="0" spcFirstLastPara="1" rIns="0" wrap="square" tIns="190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fr" sz="800" u="none" cap="none" strike="noStrike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hérité (</a:t>
            </a:r>
            <a:r>
              <a:rPr lang="fr" sz="900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POC RAG Puls-Events</a:t>
            </a:r>
            <a:r>
              <a:rPr b="0" i="0" lang="fr" sz="800" u="none" cap="none" strike="noStrike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)</a:t>
            </a:r>
            <a:endParaRPr sz="1100">
              <a:solidFill>
                <a:srgbClr val="9CA3AF"/>
              </a:solidFill>
            </a:endParaRPr>
          </a:p>
        </p:txBody>
      </p:sp>
      <p:sp>
        <p:nvSpPr>
          <p:cNvPr id="630" name="Google Shape;630;p45"/>
          <p:cNvSpPr/>
          <p:nvPr/>
        </p:nvSpPr>
        <p:spPr>
          <a:xfrm>
            <a:off x="480073" y="1248156"/>
            <a:ext cx="2434500" cy="219300"/>
          </a:xfrm>
          <a:prstGeom prst="roundRect">
            <a:avLst>
              <a:gd fmla="val 16667" name="adj"/>
            </a:avLst>
          </a:prstGeom>
          <a:solidFill>
            <a:srgbClr val="185FA5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BATCH — construction de l'index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1" name="Google Shape;631;p45"/>
          <p:cNvSpPr/>
          <p:nvPr/>
        </p:nvSpPr>
        <p:spPr>
          <a:xfrm>
            <a:off x="651527" y="1495044"/>
            <a:ext cx="1680300" cy="397800"/>
          </a:xfrm>
          <a:prstGeom prst="roundRect">
            <a:avLst>
              <a:gd fmla="val 6000" name="adj"/>
            </a:avLst>
          </a:prstGeom>
          <a:solidFill>
            <a:srgbClr val="185FA5">
              <a:alpha val="6960"/>
            </a:srgbClr>
          </a:solidFill>
          <a:ln cap="flat" cmpd="sng" w="9525">
            <a:solidFill>
              <a:srgbClr val="185FA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900">
                <a:solidFill>
                  <a:srgbClr val="185FA5"/>
                </a:solidFill>
                <a:latin typeface="Cambria"/>
                <a:ea typeface="Cambria"/>
                <a:cs typeface="Cambria"/>
                <a:sym typeface="Cambria"/>
              </a:rPr>
              <a:t>Open Agenda</a:t>
            </a:r>
            <a:endParaRPr sz="1100">
              <a:solidFill>
                <a:srgbClr val="185FA5"/>
              </a:solidFill>
            </a:endParaRPr>
          </a:p>
          <a:p>
            <a:pPr indent="0" lvl="0" marL="0" rtl="0" algn="ctr">
              <a:spcBef>
                <a:spcPts val="100"/>
              </a:spcBef>
              <a:spcAft>
                <a:spcPts val="0"/>
              </a:spcAft>
              <a:buNone/>
            </a:pPr>
            <a:r>
              <a:rPr lang="fr" sz="700">
                <a:solidFill>
                  <a:srgbClr val="185FA5"/>
                </a:solidFill>
                <a:latin typeface="Calibri"/>
                <a:ea typeface="Calibri"/>
                <a:cs typeface="Calibri"/>
                <a:sym typeface="Calibri"/>
              </a:rPr>
              <a:t>API Opendatasoft</a:t>
            </a:r>
            <a:endParaRPr>
              <a:solidFill>
                <a:srgbClr val="185FA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2" name="Google Shape;632;p45"/>
          <p:cNvSpPr/>
          <p:nvPr/>
        </p:nvSpPr>
        <p:spPr>
          <a:xfrm>
            <a:off x="2674691" y="1495044"/>
            <a:ext cx="1680300" cy="397800"/>
          </a:xfrm>
          <a:prstGeom prst="roundRect">
            <a:avLst>
              <a:gd fmla="val 6000" name="adj"/>
            </a:avLst>
          </a:prstGeom>
          <a:solidFill>
            <a:srgbClr val="185FA5">
              <a:alpha val="6960"/>
            </a:srgbClr>
          </a:solidFill>
          <a:ln cap="flat" cmpd="sng" w="9525">
            <a:solidFill>
              <a:srgbClr val="185FA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900">
                <a:solidFill>
                  <a:srgbClr val="185FA5"/>
                </a:solidFill>
                <a:latin typeface="Cambria"/>
                <a:ea typeface="Cambria"/>
                <a:cs typeface="Cambria"/>
                <a:sym typeface="Cambria"/>
              </a:rPr>
              <a:t>Ingestion</a:t>
            </a:r>
            <a:endParaRPr sz="1100">
              <a:solidFill>
                <a:srgbClr val="185FA5"/>
              </a:solidFill>
            </a:endParaRPr>
          </a:p>
          <a:p>
            <a:pPr indent="0" lvl="0" marL="0" rtl="0" algn="ctr">
              <a:spcBef>
                <a:spcPts val="200"/>
              </a:spcBef>
              <a:spcAft>
                <a:spcPts val="0"/>
              </a:spcAft>
              <a:buNone/>
            </a:pPr>
            <a:r>
              <a:rPr i="1" lang="fr" sz="700">
                <a:solidFill>
                  <a:srgbClr val="185FA5"/>
                </a:solidFill>
                <a:latin typeface="Calibri"/>
                <a:ea typeface="Calibri"/>
                <a:cs typeface="Calibri"/>
                <a:sym typeface="Calibri"/>
              </a:rPr>
              <a:t>script Python</a:t>
            </a:r>
            <a:endParaRPr>
              <a:solidFill>
                <a:srgbClr val="185FA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3" name="Google Shape;633;p45"/>
          <p:cNvSpPr/>
          <p:nvPr/>
        </p:nvSpPr>
        <p:spPr>
          <a:xfrm>
            <a:off x="4697855" y="1494882"/>
            <a:ext cx="1680300" cy="397800"/>
          </a:xfrm>
          <a:prstGeom prst="roundRect">
            <a:avLst>
              <a:gd fmla="val 6000" name="adj"/>
            </a:avLst>
          </a:prstGeom>
          <a:solidFill>
            <a:srgbClr val="185FA5">
              <a:alpha val="6960"/>
            </a:srgbClr>
          </a:solidFill>
          <a:ln cap="flat" cmpd="sng" w="9525">
            <a:solidFill>
              <a:srgbClr val="185FA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900">
                <a:solidFill>
                  <a:srgbClr val="185FA5"/>
                </a:solidFill>
                <a:latin typeface="Cambria"/>
                <a:ea typeface="Cambria"/>
                <a:cs typeface="Cambria"/>
                <a:sym typeface="Cambria"/>
              </a:rPr>
              <a:t>Embeddings</a:t>
            </a:r>
            <a:endParaRPr sz="1100">
              <a:solidFill>
                <a:srgbClr val="185FA5"/>
              </a:solidFill>
            </a:endParaRPr>
          </a:p>
          <a:p>
            <a:pPr indent="0" lvl="0" marL="0" rtl="0" algn="ctr">
              <a:spcBef>
                <a:spcPts val="100"/>
              </a:spcBef>
              <a:spcAft>
                <a:spcPts val="0"/>
              </a:spcAft>
              <a:buNone/>
            </a:pPr>
            <a:r>
              <a:rPr lang="fr" sz="700">
                <a:solidFill>
                  <a:srgbClr val="185FA5"/>
                </a:solidFill>
                <a:latin typeface="Calibri"/>
                <a:ea typeface="Calibri"/>
                <a:cs typeface="Calibri"/>
                <a:sym typeface="Calibri"/>
              </a:rPr>
              <a:t>mistral-embed</a:t>
            </a:r>
            <a:endParaRPr sz="1100">
              <a:solidFill>
                <a:srgbClr val="185FA5"/>
              </a:solidFill>
            </a:endParaRPr>
          </a:p>
        </p:txBody>
      </p:sp>
      <p:sp>
        <p:nvSpPr>
          <p:cNvPr id="634" name="Google Shape;634;p45"/>
          <p:cNvSpPr/>
          <p:nvPr/>
        </p:nvSpPr>
        <p:spPr>
          <a:xfrm>
            <a:off x="6721019" y="1495044"/>
            <a:ext cx="1680300" cy="397800"/>
          </a:xfrm>
          <a:prstGeom prst="roundRect">
            <a:avLst>
              <a:gd fmla="val 6000" name="adj"/>
            </a:avLst>
          </a:prstGeom>
          <a:solidFill>
            <a:srgbClr val="185FA5">
              <a:alpha val="6960"/>
            </a:srgbClr>
          </a:solidFill>
          <a:ln cap="flat" cmpd="sng" w="9525">
            <a:solidFill>
              <a:srgbClr val="185FA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900">
                <a:solidFill>
                  <a:srgbClr val="185FA5"/>
                </a:solidFill>
                <a:latin typeface="Cambria"/>
                <a:ea typeface="Cambria"/>
                <a:cs typeface="Cambria"/>
                <a:sym typeface="Cambria"/>
              </a:rPr>
              <a:t>Index vectoriel</a:t>
            </a:r>
            <a:endParaRPr sz="1100">
              <a:solidFill>
                <a:srgbClr val="185FA5"/>
              </a:solidFill>
            </a:endParaRPr>
          </a:p>
          <a:p>
            <a:pPr indent="0" lvl="0" marL="0" rtl="0" algn="ctr">
              <a:spcBef>
                <a:spcPts val="200"/>
              </a:spcBef>
              <a:spcAft>
                <a:spcPts val="0"/>
              </a:spcAft>
              <a:buNone/>
            </a:pPr>
            <a:r>
              <a:rPr i="1" lang="fr" sz="700">
                <a:solidFill>
                  <a:srgbClr val="185FA5"/>
                </a:solidFill>
                <a:latin typeface="Calibri"/>
                <a:ea typeface="Calibri"/>
                <a:cs typeface="Calibri"/>
                <a:sym typeface="Calibri"/>
              </a:rPr>
              <a:t>FAISS local</a:t>
            </a:r>
            <a:endParaRPr>
              <a:solidFill>
                <a:srgbClr val="185FA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5" name="Google Shape;635;p45"/>
          <p:cNvSpPr/>
          <p:nvPr/>
        </p:nvSpPr>
        <p:spPr>
          <a:xfrm>
            <a:off x="480098" y="2016165"/>
            <a:ext cx="2434500" cy="219300"/>
          </a:xfrm>
          <a:prstGeom prst="roundRect">
            <a:avLst>
              <a:gd fmla="val 16667" name="adj"/>
            </a:avLst>
          </a:prstGeom>
          <a:solidFill>
            <a:srgbClr val="185FA5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RUNTIME — réponse à une question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6" name="Google Shape;636;p45"/>
          <p:cNvSpPr/>
          <p:nvPr/>
        </p:nvSpPr>
        <p:spPr>
          <a:xfrm>
            <a:off x="480100" y="2263051"/>
            <a:ext cx="1371600" cy="397800"/>
          </a:xfrm>
          <a:prstGeom prst="roundRect">
            <a:avLst>
              <a:gd fmla="val 6000" name="adj"/>
            </a:avLst>
          </a:prstGeom>
          <a:solidFill>
            <a:srgbClr val="185FA5">
              <a:alpha val="6960"/>
            </a:srgbClr>
          </a:solidFill>
          <a:ln cap="flat" cmpd="sng" w="9525">
            <a:solidFill>
              <a:srgbClr val="185FA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900">
                <a:solidFill>
                  <a:srgbClr val="185FA5"/>
                </a:solidFill>
                <a:latin typeface="Cambria"/>
                <a:ea typeface="Cambria"/>
                <a:cs typeface="Cambria"/>
                <a:sym typeface="Cambria"/>
              </a:rPr>
              <a:t>Utilisateur</a:t>
            </a:r>
            <a:endParaRPr sz="1100">
              <a:solidFill>
                <a:srgbClr val="185FA5"/>
              </a:solidFill>
            </a:endParaRPr>
          </a:p>
          <a:p>
            <a:pPr indent="0" lvl="0" marL="0" rtl="0" algn="ctr">
              <a:spcBef>
                <a:spcPts val="100"/>
              </a:spcBef>
              <a:spcAft>
                <a:spcPts val="0"/>
              </a:spcAft>
              <a:buNone/>
            </a:pPr>
            <a:r>
              <a:rPr lang="fr" sz="700">
                <a:solidFill>
                  <a:srgbClr val="185FA5"/>
                </a:solidFill>
                <a:latin typeface="Calibri"/>
                <a:ea typeface="Calibri"/>
                <a:cs typeface="Calibri"/>
                <a:sym typeface="Calibri"/>
              </a:rPr>
              <a:t>question</a:t>
            </a:r>
            <a:endParaRPr>
              <a:solidFill>
                <a:srgbClr val="185FA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7" name="Google Shape;637;p45"/>
          <p:cNvSpPr/>
          <p:nvPr/>
        </p:nvSpPr>
        <p:spPr>
          <a:xfrm>
            <a:off x="2160350" y="2263051"/>
            <a:ext cx="1371600" cy="397800"/>
          </a:xfrm>
          <a:prstGeom prst="roundRect">
            <a:avLst>
              <a:gd fmla="val 6000" name="adj"/>
            </a:avLst>
          </a:prstGeom>
          <a:solidFill>
            <a:srgbClr val="185FA5">
              <a:alpha val="6960"/>
            </a:srgbClr>
          </a:solidFill>
          <a:ln cap="flat" cmpd="sng" w="9525">
            <a:solidFill>
              <a:srgbClr val="185FA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900">
                <a:solidFill>
                  <a:srgbClr val="185FA5"/>
                </a:solidFill>
                <a:latin typeface="Cambria"/>
                <a:ea typeface="Cambria"/>
                <a:cs typeface="Cambria"/>
                <a:sym typeface="Cambria"/>
              </a:rPr>
              <a:t>Interface</a:t>
            </a:r>
            <a:endParaRPr sz="1100">
              <a:solidFill>
                <a:srgbClr val="185FA5"/>
              </a:solidFill>
            </a:endParaRPr>
          </a:p>
          <a:p>
            <a:pPr indent="0" lvl="0" marL="0" rtl="0" algn="ctr">
              <a:spcBef>
                <a:spcPts val="200"/>
              </a:spcBef>
              <a:spcAft>
                <a:spcPts val="0"/>
              </a:spcAft>
              <a:buNone/>
            </a:pPr>
            <a:r>
              <a:rPr i="1" lang="fr" sz="700">
                <a:solidFill>
                  <a:srgbClr val="185FA5"/>
                </a:solidFill>
                <a:latin typeface="Calibri"/>
                <a:ea typeface="Calibri"/>
                <a:cs typeface="Calibri"/>
                <a:sym typeface="Calibri"/>
              </a:rPr>
              <a:t>Streamlit / CLI</a:t>
            </a:r>
            <a:endParaRPr>
              <a:solidFill>
                <a:srgbClr val="185FA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8" name="Google Shape;638;p45"/>
          <p:cNvSpPr/>
          <p:nvPr/>
        </p:nvSpPr>
        <p:spPr>
          <a:xfrm>
            <a:off x="3840608" y="2263051"/>
            <a:ext cx="1371600" cy="397800"/>
          </a:xfrm>
          <a:prstGeom prst="roundRect">
            <a:avLst>
              <a:gd fmla="val 6000" name="adj"/>
            </a:avLst>
          </a:prstGeom>
          <a:solidFill>
            <a:srgbClr val="185FA5">
              <a:alpha val="6960"/>
            </a:srgbClr>
          </a:solidFill>
          <a:ln cap="flat" cmpd="sng" w="9525">
            <a:solidFill>
              <a:srgbClr val="185FA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900">
                <a:solidFill>
                  <a:srgbClr val="185FA5"/>
                </a:solidFill>
                <a:latin typeface="Cambria"/>
                <a:ea typeface="Cambria"/>
                <a:cs typeface="Cambria"/>
                <a:sym typeface="Cambria"/>
              </a:rPr>
              <a:t>Retriever hybride</a:t>
            </a:r>
            <a:endParaRPr sz="1100">
              <a:solidFill>
                <a:srgbClr val="185FA5"/>
              </a:solidFill>
            </a:endParaRPr>
          </a:p>
          <a:p>
            <a:pPr indent="0" lvl="0" marL="0" rtl="0" algn="ctr">
              <a:spcBef>
                <a:spcPts val="100"/>
              </a:spcBef>
              <a:spcAft>
                <a:spcPts val="0"/>
              </a:spcAft>
              <a:buNone/>
            </a:pPr>
            <a:r>
              <a:rPr lang="fr" sz="700">
                <a:solidFill>
                  <a:srgbClr val="185FA5"/>
                </a:solidFill>
                <a:latin typeface="Calibri"/>
                <a:ea typeface="Calibri"/>
                <a:cs typeface="Calibri"/>
                <a:sym typeface="Calibri"/>
              </a:rPr>
              <a:t>BM25 + dense (MMR)</a:t>
            </a:r>
            <a:endParaRPr>
              <a:solidFill>
                <a:srgbClr val="185FA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9" name="Google Shape;639;p45"/>
          <p:cNvSpPr/>
          <p:nvPr/>
        </p:nvSpPr>
        <p:spPr>
          <a:xfrm>
            <a:off x="5520865" y="2263051"/>
            <a:ext cx="1371600" cy="397800"/>
          </a:xfrm>
          <a:prstGeom prst="roundRect">
            <a:avLst>
              <a:gd fmla="val 6000" name="adj"/>
            </a:avLst>
          </a:prstGeom>
          <a:solidFill>
            <a:srgbClr val="185FA5">
              <a:alpha val="6960"/>
            </a:srgbClr>
          </a:solidFill>
          <a:ln cap="flat" cmpd="sng" w="9525">
            <a:solidFill>
              <a:srgbClr val="185FA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900">
                <a:solidFill>
                  <a:srgbClr val="185FA5"/>
                </a:solidFill>
                <a:latin typeface="Cambria"/>
                <a:ea typeface="Cambria"/>
                <a:cs typeface="Cambria"/>
                <a:sym typeface="Cambria"/>
              </a:rPr>
              <a:t>mistral-small</a:t>
            </a:r>
            <a:endParaRPr sz="1100">
              <a:solidFill>
                <a:srgbClr val="185FA5"/>
              </a:solidFill>
            </a:endParaRPr>
          </a:p>
          <a:p>
            <a:pPr indent="0" lvl="0" marL="0" rtl="0" algn="ctr">
              <a:spcBef>
                <a:spcPts val="100"/>
              </a:spcBef>
              <a:spcAft>
                <a:spcPts val="0"/>
              </a:spcAft>
              <a:buNone/>
            </a:pPr>
            <a:r>
              <a:rPr lang="fr" sz="700">
                <a:solidFill>
                  <a:srgbClr val="185FA5"/>
                </a:solidFill>
                <a:latin typeface="Calibri"/>
                <a:ea typeface="Calibri"/>
                <a:cs typeface="Calibri"/>
                <a:sym typeface="Calibri"/>
              </a:rPr>
              <a:t>génération · sources</a:t>
            </a:r>
            <a:endParaRPr>
              <a:solidFill>
                <a:srgbClr val="185FA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0" name="Google Shape;640;p45"/>
          <p:cNvSpPr/>
          <p:nvPr/>
        </p:nvSpPr>
        <p:spPr>
          <a:xfrm>
            <a:off x="7201123" y="2263051"/>
            <a:ext cx="1371600" cy="397800"/>
          </a:xfrm>
          <a:prstGeom prst="roundRect">
            <a:avLst>
              <a:gd fmla="val 6000" name="adj"/>
            </a:avLst>
          </a:prstGeom>
          <a:solidFill>
            <a:srgbClr val="185FA5">
              <a:alpha val="6960"/>
            </a:srgbClr>
          </a:solidFill>
          <a:ln cap="flat" cmpd="sng" w="9525">
            <a:solidFill>
              <a:srgbClr val="185FA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900">
                <a:solidFill>
                  <a:srgbClr val="185FA5"/>
                </a:solidFill>
                <a:latin typeface="Cambria"/>
                <a:ea typeface="Cambria"/>
                <a:cs typeface="Cambria"/>
                <a:sym typeface="Cambria"/>
              </a:rPr>
              <a:t>Réponse + sources</a:t>
            </a:r>
            <a:endParaRPr sz="1100">
              <a:solidFill>
                <a:srgbClr val="185FA5"/>
              </a:solidFill>
            </a:endParaRPr>
          </a:p>
          <a:p>
            <a:pPr indent="0" lvl="0" marL="0" rtl="0" algn="ctr">
              <a:spcBef>
                <a:spcPts val="100"/>
              </a:spcBef>
              <a:spcAft>
                <a:spcPts val="0"/>
              </a:spcAft>
              <a:buNone/>
            </a:pPr>
            <a:r>
              <a:rPr lang="fr" sz="700">
                <a:solidFill>
                  <a:srgbClr val="185FA5"/>
                </a:solidFill>
                <a:latin typeface="Calibri"/>
                <a:ea typeface="Calibri"/>
                <a:cs typeface="Calibri"/>
                <a:sym typeface="Calibri"/>
              </a:rPr>
              <a:t>citations</a:t>
            </a:r>
            <a:endParaRPr>
              <a:solidFill>
                <a:srgbClr val="185FA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641" name="Google Shape;641;p45"/>
          <p:cNvCxnSpPr>
            <a:stCxn id="634" idx="2"/>
            <a:endCxn id="638" idx="0"/>
          </p:cNvCxnSpPr>
          <p:nvPr/>
        </p:nvCxnSpPr>
        <p:spPr>
          <a:xfrm flipH="1">
            <a:off x="4526369" y="1892844"/>
            <a:ext cx="3034800" cy="370200"/>
          </a:xfrm>
          <a:prstGeom prst="straightConnector1">
            <a:avLst/>
          </a:prstGeom>
          <a:noFill/>
          <a:ln cap="flat" cmpd="sng" w="15225">
            <a:solidFill>
              <a:srgbClr val="FFFB8C"/>
            </a:solidFill>
            <a:prstDash val="dash"/>
            <a:round/>
            <a:headEnd len="sm" w="sm" type="oval"/>
            <a:tailEnd len="med" w="med" type="oval"/>
          </a:ln>
        </p:spPr>
      </p:cxnSp>
      <p:sp>
        <p:nvSpPr>
          <p:cNvPr id="642" name="Google Shape;642;p45"/>
          <p:cNvSpPr txBox="1"/>
          <p:nvPr/>
        </p:nvSpPr>
        <p:spPr>
          <a:xfrm>
            <a:off x="4764446" y="1938063"/>
            <a:ext cx="1097400" cy="1461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0" spcFirstLastPara="1" rIns="0" wrap="square" tIns="190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fr" sz="700" u="none" cap="none" strike="noStrike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embeddings + métadonnées</a:t>
            </a:r>
            <a:endParaRPr sz="1100">
              <a:solidFill>
                <a:srgbClr val="9CA3AF"/>
              </a:solidFill>
            </a:endParaRPr>
          </a:p>
        </p:txBody>
      </p:sp>
      <p:sp>
        <p:nvSpPr>
          <p:cNvPr id="643" name="Google Shape;643;p45"/>
          <p:cNvSpPr txBox="1"/>
          <p:nvPr/>
        </p:nvSpPr>
        <p:spPr>
          <a:xfrm>
            <a:off x="377200" y="233175"/>
            <a:ext cx="1773600" cy="45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9050" lIns="0" spcFirstLastPara="1" rIns="0" wrap="square" tIns="190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1800">
                <a:solidFill>
                  <a:srgbClr val="0E9C8A"/>
                </a:solidFill>
                <a:latin typeface="Calibri"/>
                <a:ea typeface="Calibri"/>
                <a:cs typeface="Calibri"/>
                <a:sym typeface="Calibri"/>
              </a:rPr>
              <a:t>Du POC au MVP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4" name="Google Shape;644;p45"/>
          <p:cNvSpPr txBox="1"/>
          <p:nvPr/>
        </p:nvSpPr>
        <p:spPr>
          <a:xfrm>
            <a:off x="377200" y="675550"/>
            <a:ext cx="37122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9050" lIns="0" spcFirstLastPara="1" rIns="0" wrap="square" tIns="190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1100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Le schéma du POC RAG Puls-Events, augmenté par les besoins</a:t>
            </a:r>
            <a:endParaRPr b="1" sz="1100">
              <a:solidFill>
                <a:srgbClr val="9CA3A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5" name="Google Shape;645;p45"/>
          <p:cNvSpPr/>
          <p:nvPr/>
        </p:nvSpPr>
        <p:spPr>
          <a:xfrm>
            <a:off x="2284350" y="1593125"/>
            <a:ext cx="461700" cy="2013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0E9C8A">
              <a:alpha val="60000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6" name="Google Shape;646;p45"/>
          <p:cNvSpPr/>
          <p:nvPr/>
        </p:nvSpPr>
        <p:spPr>
          <a:xfrm>
            <a:off x="4295575" y="1603525"/>
            <a:ext cx="461700" cy="2013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0E9C8A">
              <a:alpha val="60000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7" name="Google Shape;647;p45"/>
          <p:cNvSpPr/>
          <p:nvPr/>
        </p:nvSpPr>
        <p:spPr>
          <a:xfrm>
            <a:off x="6323275" y="1598638"/>
            <a:ext cx="461700" cy="2013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0E9C8A">
              <a:alpha val="60000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8" name="Google Shape;648;p45"/>
          <p:cNvSpPr/>
          <p:nvPr/>
        </p:nvSpPr>
        <p:spPr>
          <a:xfrm>
            <a:off x="6815900" y="2340200"/>
            <a:ext cx="461700" cy="2013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0E9C8A">
              <a:alpha val="60000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9" name="Google Shape;649;p45"/>
          <p:cNvSpPr/>
          <p:nvPr/>
        </p:nvSpPr>
        <p:spPr>
          <a:xfrm>
            <a:off x="1775200" y="2340188"/>
            <a:ext cx="461700" cy="2013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0E9C8A">
              <a:alpha val="60000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0" name="Google Shape;650;p45"/>
          <p:cNvSpPr/>
          <p:nvPr/>
        </p:nvSpPr>
        <p:spPr>
          <a:xfrm>
            <a:off x="5135675" y="2335063"/>
            <a:ext cx="461700" cy="2013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0E9C8A">
              <a:alpha val="60000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1" name="Google Shape;651;p45"/>
          <p:cNvSpPr/>
          <p:nvPr/>
        </p:nvSpPr>
        <p:spPr>
          <a:xfrm>
            <a:off x="3455450" y="2340188"/>
            <a:ext cx="461700" cy="2013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0E9C8A">
              <a:alpha val="60000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2" name="Google Shape;652;p45"/>
          <p:cNvSpPr txBox="1"/>
          <p:nvPr/>
        </p:nvSpPr>
        <p:spPr>
          <a:xfrm>
            <a:off x="377200" y="4945850"/>
            <a:ext cx="999000" cy="166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700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MVP RAG Puls-Events</a:t>
            </a:r>
            <a:endParaRPr sz="700">
              <a:solidFill>
                <a:srgbClr val="9CA3A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7" name="Shape 6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8" name="Google Shape;658;p46"/>
          <p:cNvSpPr/>
          <p:nvPr/>
        </p:nvSpPr>
        <p:spPr>
          <a:xfrm>
            <a:off x="6478535" y="530960"/>
            <a:ext cx="150900" cy="150900"/>
          </a:xfrm>
          <a:prstGeom prst="roundRect">
            <a:avLst>
              <a:gd fmla="val 16667" name="adj"/>
            </a:avLst>
          </a:prstGeom>
          <a:solidFill>
            <a:srgbClr val="185FA5">
              <a:alpha val="6960"/>
            </a:srgbClr>
          </a:solidFill>
          <a:ln cap="flat" cmpd="sng" w="9525">
            <a:solidFill>
              <a:srgbClr val="185FA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9" name="Google Shape;659;p46"/>
          <p:cNvSpPr txBox="1"/>
          <p:nvPr/>
        </p:nvSpPr>
        <p:spPr>
          <a:xfrm>
            <a:off x="6691151" y="510375"/>
            <a:ext cx="1371600" cy="17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9050" lIns="0" spcFirstLastPara="1" rIns="0" wrap="square" tIns="190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fr" sz="800" u="none" cap="none" strike="noStrike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hérité (</a:t>
            </a:r>
            <a:r>
              <a:rPr lang="fr" sz="900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POC RAG Puls-Events</a:t>
            </a:r>
            <a:r>
              <a:rPr b="0" i="0" lang="fr" sz="800" u="none" cap="none" strike="noStrike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)</a:t>
            </a:r>
            <a:endParaRPr sz="1100">
              <a:solidFill>
                <a:srgbClr val="9CA3AF"/>
              </a:solidFill>
            </a:endParaRPr>
          </a:p>
        </p:txBody>
      </p:sp>
      <p:sp>
        <p:nvSpPr>
          <p:cNvPr id="660" name="Google Shape;660;p46"/>
          <p:cNvSpPr/>
          <p:nvPr/>
        </p:nvSpPr>
        <p:spPr>
          <a:xfrm>
            <a:off x="480073" y="1248156"/>
            <a:ext cx="2434500" cy="219300"/>
          </a:xfrm>
          <a:prstGeom prst="roundRect">
            <a:avLst>
              <a:gd fmla="val 16667" name="adj"/>
            </a:avLst>
          </a:prstGeom>
          <a:solidFill>
            <a:srgbClr val="185FA5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BATCH — construction de l'index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1" name="Google Shape;661;p46"/>
          <p:cNvSpPr/>
          <p:nvPr/>
        </p:nvSpPr>
        <p:spPr>
          <a:xfrm>
            <a:off x="651527" y="1495044"/>
            <a:ext cx="1680300" cy="397800"/>
          </a:xfrm>
          <a:prstGeom prst="roundRect">
            <a:avLst>
              <a:gd fmla="val 6000" name="adj"/>
            </a:avLst>
          </a:prstGeom>
          <a:solidFill>
            <a:srgbClr val="185FA5">
              <a:alpha val="6960"/>
            </a:srgbClr>
          </a:solidFill>
          <a:ln cap="flat" cmpd="sng" w="9525">
            <a:solidFill>
              <a:srgbClr val="185FA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900">
                <a:solidFill>
                  <a:srgbClr val="185FA5"/>
                </a:solidFill>
                <a:latin typeface="Cambria"/>
                <a:ea typeface="Cambria"/>
                <a:cs typeface="Cambria"/>
                <a:sym typeface="Cambria"/>
              </a:rPr>
              <a:t>Open Agenda</a:t>
            </a:r>
            <a:endParaRPr sz="1100">
              <a:solidFill>
                <a:srgbClr val="185FA5"/>
              </a:solidFill>
            </a:endParaRPr>
          </a:p>
          <a:p>
            <a:pPr indent="0" lvl="0" marL="0" rtl="0" algn="ctr">
              <a:spcBef>
                <a:spcPts val="100"/>
              </a:spcBef>
              <a:spcAft>
                <a:spcPts val="0"/>
              </a:spcAft>
              <a:buNone/>
            </a:pPr>
            <a:r>
              <a:rPr lang="fr" sz="700">
                <a:solidFill>
                  <a:srgbClr val="185FA5"/>
                </a:solidFill>
                <a:latin typeface="Calibri"/>
                <a:ea typeface="Calibri"/>
                <a:cs typeface="Calibri"/>
                <a:sym typeface="Calibri"/>
              </a:rPr>
              <a:t>API Opendatasoft</a:t>
            </a:r>
            <a:endParaRPr>
              <a:solidFill>
                <a:srgbClr val="185FA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2" name="Google Shape;662;p46"/>
          <p:cNvSpPr/>
          <p:nvPr/>
        </p:nvSpPr>
        <p:spPr>
          <a:xfrm>
            <a:off x="4697855" y="1494882"/>
            <a:ext cx="1680300" cy="397800"/>
          </a:xfrm>
          <a:prstGeom prst="roundRect">
            <a:avLst>
              <a:gd fmla="val 6000" name="adj"/>
            </a:avLst>
          </a:prstGeom>
          <a:solidFill>
            <a:srgbClr val="185FA5">
              <a:alpha val="6960"/>
            </a:srgbClr>
          </a:solidFill>
          <a:ln cap="flat" cmpd="sng" w="9525">
            <a:solidFill>
              <a:srgbClr val="185FA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900">
                <a:solidFill>
                  <a:srgbClr val="185FA5"/>
                </a:solidFill>
                <a:latin typeface="Cambria"/>
                <a:ea typeface="Cambria"/>
                <a:cs typeface="Cambria"/>
                <a:sym typeface="Cambria"/>
              </a:rPr>
              <a:t>Embeddings</a:t>
            </a:r>
            <a:endParaRPr sz="1100">
              <a:solidFill>
                <a:srgbClr val="185FA5"/>
              </a:solidFill>
            </a:endParaRPr>
          </a:p>
          <a:p>
            <a:pPr indent="0" lvl="0" marL="0" rtl="0" algn="ctr">
              <a:spcBef>
                <a:spcPts val="100"/>
              </a:spcBef>
              <a:spcAft>
                <a:spcPts val="0"/>
              </a:spcAft>
              <a:buNone/>
            </a:pPr>
            <a:r>
              <a:rPr lang="fr" sz="700">
                <a:solidFill>
                  <a:srgbClr val="185FA5"/>
                </a:solidFill>
                <a:latin typeface="Calibri"/>
                <a:ea typeface="Calibri"/>
                <a:cs typeface="Calibri"/>
                <a:sym typeface="Calibri"/>
              </a:rPr>
              <a:t>mistral-embed</a:t>
            </a:r>
            <a:endParaRPr sz="1100">
              <a:solidFill>
                <a:srgbClr val="185FA5"/>
              </a:solidFill>
            </a:endParaRPr>
          </a:p>
        </p:txBody>
      </p:sp>
      <p:sp>
        <p:nvSpPr>
          <p:cNvPr id="663" name="Google Shape;663;p46"/>
          <p:cNvSpPr/>
          <p:nvPr/>
        </p:nvSpPr>
        <p:spPr>
          <a:xfrm>
            <a:off x="6721019" y="1495044"/>
            <a:ext cx="1680300" cy="397800"/>
          </a:xfrm>
          <a:prstGeom prst="roundRect">
            <a:avLst>
              <a:gd fmla="val 6000" name="adj"/>
            </a:avLst>
          </a:prstGeom>
          <a:solidFill>
            <a:srgbClr val="185FA5">
              <a:alpha val="6960"/>
            </a:srgbClr>
          </a:solidFill>
          <a:ln cap="flat" cmpd="sng" w="9525">
            <a:solidFill>
              <a:srgbClr val="185FA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900">
                <a:solidFill>
                  <a:srgbClr val="185FA5"/>
                </a:solidFill>
                <a:latin typeface="Cambria"/>
                <a:ea typeface="Cambria"/>
                <a:cs typeface="Cambria"/>
                <a:sym typeface="Cambria"/>
              </a:rPr>
              <a:t>Index vectoriel</a:t>
            </a:r>
            <a:endParaRPr sz="1100">
              <a:solidFill>
                <a:srgbClr val="185FA5"/>
              </a:solidFill>
            </a:endParaRPr>
          </a:p>
          <a:p>
            <a:pPr indent="0" lvl="0" marL="0" rtl="0" algn="ctr">
              <a:spcBef>
                <a:spcPts val="200"/>
              </a:spcBef>
              <a:spcAft>
                <a:spcPts val="0"/>
              </a:spcAft>
              <a:buNone/>
            </a:pPr>
            <a:r>
              <a:rPr i="1" lang="fr" sz="700">
                <a:solidFill>
                  <a:srgbClr val="185FA5"/>
                </a:solidFill>
                <a:latin typeface="Calibri"/>
                <a:ea typeface="Calibri"/>
                <a:cs typeface="Calibri"/>
                <a:sym typeface="Calibri"/>
              </a:rPr>
              <a:t>FAISS local</a:t>
            </a:r>
            <a:endParaRPr>
              <a:solidFill>
                <a:srgbClr val="185FA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4" name="Google Shape;664;p46"/>
          <p:cNvSpPr/>
          <p:nvPr/>
        </p:nvSpPr>
        <p:spPr>
          <a:xfrm>
            <a:off x="480098" y="2016165"/>
            <a:ext cx="2434500" cy="219300"/>
          </a:xfrm>
          <a:prstGeom prst="roundRect">
            <a:avLst>
              <a:gd fmla="val 16667" name="adj"/>
            </a:avLst>
          </a:prstGeom>
          <a:solidFill>
            <a:srgbClr val="185FA5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RUNTIME — réponse à une question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5" name="Google Shape;665;p46"/>
          <p:cNvSpPr/>
          <p:nvPr/>
        </p:nvSpPr>
        <p:spPr>
          <a:xfrm>
            <a:off x="480100" y="2263051"/>
            <a:ext cx="1371600" cy="397800"/>
          </a:xfrm>
          <a:prstGeom prst="roundRect">
            <a:avLst>
              <a:gd fmla="val 6000" name="adj"/>
            </a:avLst>
          </a:prstGeom>
          <a:solidFill>
            <a:srgbClr val="185FA5">
              <a:alpha val="6960"/>
            </a:srgbClr>
          </a:solidFill>
          <a:ln cap="flat" cmpd="sng" w="9525">
            <a:solidFill>
              <a:srgbClr val="185FA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900">
                <a:solidFill>
                  <a:srgbClr val="185FA5"/>
                </a:solidFill>
                <a:latin typeface="Cambria"/>
                <a:ea typeface="Cambria"/>
                <a:cs typeface="Cambria"/>
                <a:sym typeface="Cambria"/>
              </a:rPr>
              <a:t>Utilisateur</a:t>
            </a:r>
            <a:endParaRPr sz="1100">
              <a:solidFill>
                <a:srgbClr val="185FA5"/>
              </a:solidFill>
            </a:endParaRPr>
          </a:p>
          <a:p>
            <a:pPr indent="0" lvl="0" marL="0" rtl="0" algn="ctr">
              <a:spcBef>
                <a:spcPts val="100"/>
              </a:spcBef>
              <a:spcAft>
                <a:spcPts val="0"/>
              </a:spcAft>
              <a:buNone/>
            </a:pPr>
            <a:r>
              <a:rPr lang="fr" sz="700">
                <a:solidFill>
                  <a:srgbClr val="185FA5"/>
                </a:solidFill>
                <a:latin typeface="Calibri"/>
                <a:ea typeface="Calibri"/>
                <a:cs typeface="Calibri"/>
                <a:sym typeface="Calibri"/>
              </a:rPr>
              <a:t>question</a:t>
            </a:r>
            <a:endParaRPr>
              <a:solidFill>
                <a:srgbClr val="185FA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6" name="Google Shape;666;p46"/>
          <p:cNvSpPr/>
          <p:nvPr/>
        </p:nvSpPr>
        <p:spPr>
          <a:xfrm>
            <a:off x="2160350" y="2263051"/>
            <a:ext cx="1371600" cy="397800"/>
          </a:xfrm>
          <a:prstGeom prst="roundRect">
            <a:avLst>
              <a:gd fmla="val 6000" name="adj"/>
            </a:avLst>
          </a:prstGeom>
          <a:solidFill>
            <a:srgbClr val="185FA5">
              <a:alpha val="6960"/>
            </a:srgbClr>
          </a:solidFill>
          <a:ln cap="flat" cmpd="sng" w="9525">
            <a:solidFill>
              <a:srgbClr val="185FA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900">
                <a:solidFill>
                  <a:srgbClr val="185FA5"/>
                </a:solidFill>
                <a:latin typeface="Cambria"/>
                <a:ea typeface="Cambria"/>
                <a:cs typeface="Cambria"/>
                <a:sym typeface="Cambria"/>
              </a:rPr>
              <a:t>Interface</a:t>
            </a:r>
            <a:endParaRPr sz="1100">
              <a:solidFill>
                <a:srgbClr val="185FA5"/>
              </a:solidFill>
            </a:endParaRPr>
          </a:p>
          <a:p>
            <a:pPr indent="0" lvl="0" marL="0" rtl="0" algn="ctr">
              <a:spcBef>
                <a:spcPts val="200"/>
              </a:spcBef>
              <a:spcAft>
                <a:spcPts val="0"/>
              </a:spcAft>
              <a:buNone/>
            </a:pPr>
            <a:r>
              <a:rPr i="1" lang="fr" sz="700">
                <a:solidFill>
                  <a:srgbClr val="185FA5"/>
                </a:solidFill>
                <a:latin typeface="Calibri"/>
                <a:ea typeface="Calibri"/>
                <a:cs typeface="Calibri"/>
                <a:sym typeface="Calibri"/>
              </a:rPr>
              <a:t>Streamlit / CLI</a:t>
            </a:r>
            <a:endParaRPr>
              <a:solidFill>
                <a:srgbClr val="185FA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7" name="Google Shape;667;p46"/>
          <p:cNvSpPr/>
          <p:nvPr/>
        </p:nvSpPr>
        <p:spPr>
          <a:xfrm>
            <a:off x="3840608" y="2263051"/>
            <a:ext cx="1371600" cy="397800"/>
          </a:xfrm>
          <a:prstGeom prst="roundRect">
            <a:avLst>
              <a:gd fmla="val 6000" name="adj"/>
            </a:avLst>
          </a:prstGeom>
          <a:solidFill>
            <a:srgbClr val="185FA5">
              <a:alpha val="6960"/>
            </a:srgbClr>
          </a:solidFill>
          <a:ln cap="flat" cmpd="sng" w="9525">
            <a:solidFill>
              <a:srgbClr val="185FA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900">
                <a:solidFill>
                  <a:srgbClr val="185FA5"/>
                </a:solidFill>
                <a:latin typeface="Cambria"/>
                <a:ea typeface="Cambria"/>
                <a:cs typeface="Cambria"/>
                <a:sym typeface="Cambria"/>
              </a:rPr>
              <a:t>Retriever hybride</a:t>
            </a:r>
            <a:endParaRPr sz="1100">
              <a:solidFill>
                <a:srgbClr val="185FA5"/>
              </a:solidFill>
            </a:endParaRPr>
          </a:p>
          <a:p>
            <a:pPr indent="0" lvl="0" marL="0" rtl="0" algn="ctr">
              <a:spcBef>
                <a:spcPts val="100"/>
              </a:spcBef>
              <a:spcAft>
                <a:spcPts val="0"/>
              </a:spcAft>
              <a:buNone/>
            </a:pPr>
            <a:r>
              <a:rPr lang="fr" sz="700">
                <a:solidFill>
                  <a:srgbClr val="185FA5"/>
                </a:solidFill>
                <a:latin typeface="Calibri"/>
                <a:ea typeface="Calibri"/>
                <a:cs typeface="Calibri"/>
                <a:sym typeface="Calibri"/>
              </a:rPr>
              <a:t>BM25 + dense (MMR)</a:t>
            </a:r>
            <a:endParaRPr>
              <a:solidFill>
                <a:srgbClr val="185FA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8" name="Google Shape;668;p46"/>
          <p:cNvSpPr/>
          <p:nvPr/>
        </p:nvSpPr>
        <p:spPr>
          <a:xfrm>
            <a:off x="5520865" y="2263051"/>
            <a:ext cx="1371600" cy="397800"/>
          </a:xfrm>
          <a:prstGeom prst="roundRect">
            <a:avLst>
              <a:gd fmla="val 6000" name="adj"/>
            </a:avLst>
          </a:prstGeom>
          <a:solidFill>
            <a:srgbClr val="185FA5">
              <a:alpha val="6960"/>
            </a:srgbClr>
          </a:solidFill>
          <a:ln cap="flat" cmpd="sng" w="9525">
            <a:solidFill>
              <a:srgbClr val="185FA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900">
                <a:solidFill>
                  <a:srgbClr val="185FA5"/>
                </a:solidFill>
                <a:latin typeface="Cambria"/>
                <a:ea typeface="Cambria"/>
                <a:cs typeface="Cambria"/>
                <a:sym typeface="Cambria"/>
              </a:rPr>
              <a:t>mistral-small</a:t>
            </a:r>
            <a:endParaRPr sz="1100">
              <a:solidFill>
                <a:srgbClr val="185FA5"/>
              </a:solidFill>
            </a:endParaRPr>
          </a:p>
          <a:p>
            <a:pPr indent="0" lvl="0" marL="0" rtl="0" algn="ctr">
              <a:spcBef>
                <a:spcPts val="100"/>
              </a:spcBef>
              <a:spcAft>
                <a:spcPts val="0"/>
              </a:spcAft>
              <a:buNone/>
            </a:pPr>
            <a:r>
              <a:rPr lang="fr" sz="700">
                <a:solidFill>
                  <a:srgbClr val="185FA5"/>
                </a:solidFill>
                <a:latin typeface="Calibri"/>
                <a:ea typeface="Calibri"/>
                <a:cs typeface="Calibri"/>
                <a:sym typeface="Calibri"/>
              </a:rPr>
              <a:t>génération · sources</a:t>
            </a:r>
            <a:endParaRPr>
              <a:solidFill>
                <a:srgbClr val="185FA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9" name="Google Shape;669;p46"/>
          <p:cNvSpPr/>
          <p:nvPr/>
        </p:nvSpPr>
        <p:spPr>
          <a:xfrm>
            <a:off x="7201123" y="2263051"/>
            <a:ext cx="1371600" cy="397800"/>
          </a:xfrm>
          <a:prstGeom prst="roundRect">
            <a:avLst>
              <a:gd fmla="val 6000" name="adj"/>
            </a:avLst>
          </a:prstGeom>
          <a:solidFill>
            <a:srgbClr val="185FA5">
              <a:alpha val="6960"/>
            </a:srgbClr>
          </a:solidFill>
          <a:ln cap="flat" cmpd="sng" w="9525">
            <a:solidFill>
              <a:srgbClr val="185FA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900">
                <a:solidFill>
                  <a:srgbClr val="185FA5"/>
                </a:solidFill>
                <a:latin typeface="Cambria"/>
                <a:ea typeface="Cambria"/>
                <a:cs typeface="Cambria"/>
                <a:sym typeface="Cambria"/>
              </a:rPr>
              <a:t>Réponse + sources</a:t>
            </a:r>
            <a:endParaRPr sz="1100">
              <a:solidFill>
                <a:srgbClr val="185FA5"/>
              </a:solidFill>
            </a:endParaRPr>
          </a:p>
          <a:p>
            <a:pPr indent="0" lvl="0" marL="0" rtl="0" algn="ctr">
              <a:spcBef>
                <a:spcPts val="100"/>
              </a:spcBef>
              <a:spcAft>
                <a:spcPts val="0"/>
              </a:spcAft>
              <a:buNone/>
            </a:pPr>
            <a:r>
              <a:rPr lang="fr" sz="700">
                <a:solidFill>
                  <a:srgbClr val="185FA5"/>
                </a:solidFill>
                <a:latin typeface="Calibri"/>
                <a:ea typeface="Calibri"/>
                <a:cs typeface="Calibri"/>
                <a:sym typeface="Calibri"/>
              </a:rPr>
              <a:t>citations</a:t>
            </a:r>
            <a:endParaRPr>
              <a:solidFill>
                <a:srgbClr val="185FA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670" name="Google Shape;670;p46"/>
          <p:cNvCxnSpPr>
            <a:stCxn id="663" idx="2"/>
            <a:endCxn id="667" idx="0"/>
          </p:cNvCxnSpPr>
          <p:nvPr/>
        </p:nvCxnSpPr>
        <p:spPr>
          <a:xfrm flipH="1">
            <a:off x="4526369" y="1892844"/>
            <a:ext cx="3034800" cy="370200"/>
          </a:xfrm>
          <a:prstGeom prst="straightConnector1">
            <a:avLst/>
          </a:prstGeom>
          <a:noFill/>
          <a:ln cap="flat" cmpd="sng" w="15225">
            <a:solidFill>
              <a:srgbClr val="FFFB8C"/>
            </a:solidFill>
            <a:prstDash val="dash"/>
            <a:round/>
            <a:headEnd len="sm" w="sm" type="oval"/>
            <a:tailEnd len="med" w="med" type="oval"/>
          </a:ln>
        </p:spPr>
      </p:cxnSp>
      <p:sp>
        <p:nvSpPr>
          <p:cNvPr id="671" name="Google Shape;671;p46"/>
          <p:cNvSpPr txBox="1"/>
          <p:nvPr/>
        </p:nvSpPr>
        <p:spPr>
          <a:xfrm>
            <a:off x="4764446" y="1938063"/>
            <a:ext cx="1097400" cy="1461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0" spcFirstLastPara="1" rIns="0" wrap="square" tIns="190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fr" sz="700" u="none" cap="none" strike="noStrike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embeddings + métadonnées</a:t>
            </a:r>
            <a:endParaRPr sz="1100">
              <a:solidFill>
                <a:srgbClr val="9CA3AF"/>
              </a:solidFill>
            </a:endParaRPr>
          </a:p>
        </p:txBody>
      </p:sp>
      <p:sp>
        <p:nvSpPr>
          <p:cNvPr id="672" name="Google Shape;672;p46"/>
          <p:cNvSpPr txBox="1"/>
          <p:nvPr/>
        </p:nvSpPr>
        <p:spPr>
          <a:xfrm>
            <a:off x="377200" y="233175"/>
            <a:ext cx="1773600" cy="45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9050" lIns="0" spcFirstLastPara="1" rIns="0" wrap="square" tIns="190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1800">
                <a:solidFill>
                  <a:srgbClr val="0E9C8A"/>
                </a:solidFill>
                <a:latin typeface="Calibri"/>
                <a:ea typeface="Calibri"/>
                <a:cs typeface="Calibri"/>
                <a:sym typeface="Calibri"/>
              </a:rPr>
              <a:t>Du POC au MVP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3" name="Google Shape;673;p46"/>
          <p:cNvSpPr txBox="1"/>
          <p:nvPr/>
        </p:nvSpPr>
        <p:spPr>
          <a:xfrm>
            <a:off x="377200" y="675550"/>
            <a:ext cx="37122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9050" lIns="0" spcFirstLastPara="1" rIns="0" wrap="square" tIns="190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1100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Le schéma du POC RAG Puls-Events, augmenté par les besoins</a:t>
            </a:r>
            <a:endParaRPr b="1" sz="1100">
              <a:solidFill>
                <a:srgbClr val="9CA3A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4" name="Google Shape;674;p46"/>
          <p:cNvSpPr/>
          <p:nvPr/>
        </p:nvSpPr>
        <p:spPr>
          <a:xfrm>
            <a:off x="2284350" y="1593125"/>
            <a:ext cx="461700" cy="2013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0E9C8A">
              <a:alpha val="60000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5" name="Google Shape;675;p46"/>
          <p:cNvSpPr/>
          <p:nvPr/>
        </p:nvSpPr>
        <p:spPr>
          <a:xfrm>
            <a:off x="4295575" y="1603525"/>
            <a:ext cx="461700" cy="2013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0E9C8A">
              <a:alpha val="60000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6" name="Google Shape;676;p46"/>
          <p:cNvSpPr/>
          <p:nvPr/>
        </p:nvSpPr>
        <p:spPr>
          <a:xfrm>
            <a:off x="6323275" y="1598638"/>
            <a:ext cx="461700" cy="2013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0E9C8A">
              <a:alpha val="60000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7" name="Google Shape;677;p46"/>
          <p:cNvSpPr/>
          <p:nvPr/>
        </p:nvSpPr>
        <p:spPr>
          <a:xfrm>
            <a:off x="6815900" y="2340200"/>
            <a:ext cx="461700" cy="2013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0E9C8A">
              <a:alpha val="60000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8" name="Google Shape;678;p46"/>
          <p:cNvSpPr/>
          <p:nvPr/>
        </p:nvSpPr>
        <p:spPr>
          <a:xfrm>
            <a:off x="1775200" y="2340188"/>
            <a:ext cx="461700" cy="2013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0E9C8A">
              <a:alpha val="60000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9" name="Google Shape;679;p46"/>
          <p:cNvSpPr/>
          <p:nvPr/>
        </p:nvSpPr>
        <p:spPr>
          <a:xfrm>
            <a:off x="5135675" y="2335063"/>
            <a:ext cx="461700" cy="2013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0E9C8A">
              <a:alpha val="60000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0" name="Google Shape;680;p46"/>
          <p:cNvSpPr/>
          <p:nvPr/>
        </p:nvSpPr>
        <p:spPr>
          <a:xfrm>
            <a:off x="3455450" y="2340188"/>
            <a:ext cx="461700" cy="2013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0E9C8A">
              <a:alpha val="60000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1" name="Google Shape;681;p46"/>
          <p:cNvSpPr txBox="1"/>
          <p:nvPr/>
        </p:nvSpPr>
        <p:spPr>
          <a:xfrm>
            <a:off x="377200" y="4945850"/>
            <a:ext cx="999000" cy="166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700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MVP RAG Puls-Events</a:t>
            </a:r>
            <a:endParaRPr sz="700">
              <a:solidFill>
                <a:srgbClr val="9CA3A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2" name="Google Shape;682;p46"/>
          <p:cNvSpPr/>
          <p:nvPr/>
        </p:nvSpPr>
        <p:spPr>
          <a:xfrm>
            <a:off x="6478515" y="769260"/>
            <a:ext cx="150900" cy="150900"/>
          </a:xfrm>
          <a:prstGeom prst="roundRect">
            <a:avLst>
              <a:gd fmla="val 16667" name="adj"/>
            </a:avLst>
          </a:prstGeom>
          <a:solidFill>
            <a:srgbClr val="0E9C8A">
              <a:alpha val="7999"/>
            </a:srgbClr>
          </a:solidFill>
          <a:ln cap="flat" cmpd="sng" w="11900">
            <a:solidFill>
              <a:srgbClr val="0E9C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3" name="Google Shape;683;p46"/>
          <p:cNvSpPr txBox="1"/>
          <p:nvPr/>
        </p:nvSpPr>
        <p:spPr>
          <a:xfrm>
            <a:off x="6691125" y="748675"/>
            <a:ext cx="1497900" cy="17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9050" lIns="0" spcFirstLastPara="1" rIns="0" wrap="square" tIns="190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fr" sz="800" u="none" cap="none" strike="noStrike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nouveau (</a:t>
            </a:r>
            <a:r>
              <a:rPr lang="fr" sz="900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MVP RAG Puls-Events</a:t>
            </a:r>
            <a:r>
              <a:rPr b="0" i="0" lang="fr" sz="800" u="none" cap="none" strike="noStrike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)</a:t>
            </a:r>
            <a:endParaRPr sz="1100">
              <a:solidFill>
                <a:srgbClr val="9CA3AF"/>
              </a:solidFill>
            </a:endParaRPr>
          </a:p>
        </p:txBody>
      </p:sp>
      <p:sp>
        <p:nvSpPr>
          <p:cNvPr id="684" name="Google Shape;684;p46"/>
          <p:cNvSpPr txBox="1"/>
          <p:nvPr/>
        </p:nvSpPr>
        <p:spPr>
          <a:xfrm>
            <a:off x="6478515" y="992299"/>
            <a:ext cx="1097400" cy="19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9050" lIns="0" spcFirstLastPara="1" rIns="0" wrap="square" tIns="190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fr" sz="1000" u="none" cap="none" strike="noStrike">
                <a:solidFill>
                  <a:srgbClr val="0E9C8A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r>
              <a:rPr b="1" i="0" lang="fr" sz="1000" u="none" cap="none" strike="noStrike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    </a:t>
            </a:r>
            <a:r>
              <a:rPr b="0" i="0" lang="fr" sz="800" u="none" cap="none" strike="noStrike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fait évoluer</a:t>
            </a:r>
            <a:endParaRPr sz="1100">
              <a:solidFill>
                <a:srgbClr val="9CA3AF"/>
              </a:solidFill>
            </a:endParaRPr>
          </a:p>
        </p:txBody>
      </p:sp>
      <p:sp>
        <p:nvSpPr>
          <p:cNvPr id="685" name="Google Shape;685;p46"/>
          <p:cNvSpPr/>
          <p:nvPr/>
        </p:nvSpPr>
        <p:spPr>
          <a:xfrm>
            <a:off x="2674691" y="1495044"/>
            <a:ext cx="1680300" cy="397800"/>
          </a:xfrm>
          <a:prstGeom prst="roundRect">
            <a:avLst>
              <a:gd fmla="val 6000" name="adj"/>
            </a:avLst>
          </a:prstGeom>
          <a:solidFill>
            <a:srgbClr val="0E9C8A">
              <a:alpha val="7999"/>
            </a:srgbClr>
          </a:solidFill>
          <a:ln cap="flat" cmpd="sng" w="9525">
            <a:solidFill>
              <a:srgbClr val="0E9C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900">
                <a:solidFill>
                  <a:srgbClr val="0E9C8A"/>
                </a:solidFill>
                <a:latin typeface="Cambria"/>
                <a:ea typeface="Cambria"/>
                <a:cs typeface="Cambria"/>
                <a:sym typeface="Cambria"/>
              </a:rPr>
              <a:t>Ingestion</a:t>
            </a:r>
            <a:endParaRPr sz="1100">
              <a:solidFill>
                <a:srgbClr val="0E9C8A"/>
              </a:solidFill>
            </a:endParaRPr>
          </a:p>
          <a:p>
            <a:pPr indent="0" lvl="0" marL="0" rtl="0" algn="ctr">
              <a:spcBef>
                <a:spcPts val="200"/>
              </a:spcBef>
              <a:spcAft>
                <a:spcPts val="0"/>
              </a:spcAft>
              <a:buNone/>
            </a:pPr>
            <a:r>
              <a:rPr i="1" lang="fr" sz="700">
                <a:solidFill>
                  <a:srgbClr val="185FA5"/>
                </a:solidFill>
                <a:latin typeface="Calibri"/>
                <a:ea typeface="Calibri"/>
                <a:cs typeface="Calibri"/>
                <a:sym typeface="Calibri"/>
              </a:rPr>
              <a:t>script Python </a:t>
            </a:r>
            <a:r>
              <a:rPr b="1" lang="fr" sz="700">
                <a:solidFill>
                  <a:srgbClr val="0E9C8A"/>
                </a:solidFill>
                <a:latin typeface="Calibri"/>
                <a:ea typeface="Calibri"/>
                <a:cs typeface="Calibri"/>
                <a:sym typeface="Calibri"/>
              </a:rPr>
              <a:t>→ Kestra</a:t>
            </a:r>
            <a:endParaRPr>
              <a:solidFill>
                <a:srgbClr val="185FA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0" name="Shape 6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1" name="Google Shape;691;p47"/>
          <p:cNvSpPr/>
          <p:nvPr/>
        </p:nvSpPr>
        <p:spPr>
          <a:xfrm>
            <a:off x="6478535" y="530960"/>
            <a:ext cx="150900" cy="150900"/>
          </a:xfrm>
          <a:prstGeom prst="roundRect">
            <a:avLst>
              <a:gd fmla="val 16667" name="adj"/>
            </a:avLst>
          </a:prstGeom>
          <a:solidFill>
            <a:srgbClr val="185FA5">
              <a:alpha val="6960"/>
            </a:srgbClr>
          </a:solidFill>
          <a:ln cap="flat" cmpd="sng" w="9525">
            <a:solidFill>
              <a:srgbClr val="185FA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2" name="Google Shape;692;p47"/>
          <p:cNvSpPr txBox="1"/>
          <p:nvPr/>
        </p:nvSpPr>
        <p:spPr>
          <a:xfrm>
            <a:off x="6691151" y="510375"/>
            <a:ext cx="1371600" cy="17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9050" lIns="0" spcFirstLastPara="1" rIns="0" wrap="square" tIns="190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fr" sz="800" u="none" cap="none" strike="noStrike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hérité (</a:t>
            </a:r>
            <a:r>
              <a:rPr lang="fr" sz="900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POC RAG Puls-Events</a:t>
            </a:r>
            <a:r>
              <a:rPr b="0" i="0" lang="fr" sz="800" u="none" cap="none" strike="noStrike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)</a:t>
            </a:r>
            <a:endParaRPr sz="1100">
              <a:solidFill>
                <a:srgbClr val="9CA3AF"/>
              </a:solidFill>
            </a:endParaRPr>
          </a:p>
        </p:txBody>
      </p:sp>
      <p:sp>
        <p:nvSpPr>
          <p:cNvPr id="693" name="Google Shape;693;p47"/>
          <p:cNvSpPr/>
          <p:nvPr/>
        </p:nvSpPr>
        <p:spPr>
          <a:xfrm>
            <a:off x="480073" y="1248156"/>
            <a:ext cx="2434500" cy="219300"/>
          </a:xfrm>
          <a:prstGeom prst="roundRect">
            <a:avLst>
              <a:gd fmla="val 16667" name="adj"/>
            </a:avLst>
          </a:prstGeom>
          <a:solidFill>
            <a:srgbClr val="185FA5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BATCH — construction de l'index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4" name="Google Shape;694;p47"/>
          <p:cNvSpPr/>
          <p:nvPr/>
        </p:nvSpPr>
        <p:spPr>
          <a:xfrm>
            <a:off x="651527" y="1495044"/>
            <a:ext cx="1680300" cy="397800"/>
          </a:xfrm>
          <a:prstGeom prst="roundRect">
            <a:avLst>
              <a:gd fmla="val 6000" name="adj"/>
            </a:avLst>
          </a:prstGeom>
          <a:solidFill>
            <a:srgbClr val="185FA5">
              <a:alpha val="6960"/>
            </a:srgbClr>
          </a:solidFill>
          <a:ln cap="flat" cmpd="sng" w="9525">
            <a:solidFill>
              <a:srgbClr val="185FA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900">
                <a:solidFill>
                  <a:srgbClr val="185FA5"/>
                </a:solidFill>
                <a:latin typeface="Cambria"/>
                <a:ea typeface="Cambria"/>
                <a:cs typeface="Cambria"/>
                <a:sym typeface="Cambria"/>
              </a:rPr>
              <a:t>Open Agenda</a:t>
            </a:r>
            <a:endParaRPr sz="1100">
              <a:solidFill>
                <a:srgbClr val="185FA5"/>
              </a:solidFill>
            </a:endParaRPr>
          </a:p>
          <a:p>
            <a:pPr indent="0" lvl="0" marL="0" rtl="0" algn="ctr">
              <a:spcBef>
                <a:spcPts val="100"/>
              </a:spcBef>
              <a:spcAft>
                <a:spcPts val="0"/>
              </a:spcAft>
              <a:buNone/>
            </a:pPr>
            <a:r>
              <a:rPr lang="fr" sz="700">
                <a:solidFill>
                  <a:srgbClr val="185FA5"/>
                </a:solidFill>
                <a:latin typeface="Calibri"/>
                <a:ea typeface="Calibri"/>
                <a:cs typeface="Calibri"/>
                <a:sym typeface="Calibri"/>
              </a:rPr>
              <a:t>API Opendatasoft</a:t>
            </a:r>
            <a:endParaRPr>
              <a:solidFill>
                <a:srgbClr val="185FA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5" name="Google Shape;695;p47"/>
          <p:cNvSpPr/>
          <p:nvPr/>
        </p:nvSpPr>
        <p:spPr>
          <a:xfrm>
            <a:off x="4697855" y="1494882"/>
            <a:ext cx="1680300" cy="397800"/>
          </a:xfrm>
          <a:prstGeom prst="roundRect">
            <a:avLst>
              <a:gd fmla="val 6000" name="adj"/>
            </a:avLst>
          </a:prstGeom>
          <a:solidFill>
            <a:srgbClr val="185FA5">
              <a:alpha val="6960"/>
            </a:srgbClr>
          </a:solidFill>
          <a:ln cap="flat" cmpd="sng" w="9525">
            <a:solidFill>
              <a:srgbClr val="185FA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900">
                <a:solidFill>
                  <a:srgbClr val="185FA5"/>
                </a:solidFill>
                <a:latin typeface="Cambria"/>
                <a:ea typeface="Cambria"/>
                <a:cs typeface="Cambria"/>
                <a:sym typeface="Cambria"/>
              </a:rPr>
              <a:t>Embeddings</a:t>
            </a:r>
            <a:endParaRPr sz="1100">
              <a:solidFill>
                <a:srgbClr val="185FA5"/>
              </a:solidFill>
            </a:endParaRPr>
          </a:p>
          <a:p>
            <a:pPr indent="0" lvl="0" marL="0" rtl="0" algn="ctr">
              <a:spcBef>
                <a:spcPts val="100"/>
              </a:spcBef>
              <a:spcAft>
                <a:spcPts val="0"/>
              </a:spcAft>
              <a:buNone/>
            </a:pPr>
            <a:r>
              <a:rPr lang="fr" sz="700">
                <a:solidFill>
                  <a:srgbClr val="185FA5"/>
                </a:solidFill>
                <a:latin typeface="Calibri"/>
                <a:ea typeface="Calibri"/>
                <a:cs typeface="Calibri"/>
                <a:sym typeface="Calibri"/>
              </a:rPr>
              <a:t>mistral-embed</a:t>
            </a:r>
            <a:endParaRPr sz="1100">
              <a:solidFill>
                <a:srgbClr val="185FA5"/>
              </a:solidFill>
            </a:endParaRPr>
          </a:p>
        </p:txBody>
      </p:sp>
      <p:sp>
        <p:nvSpPr>
          <p:cNvPr id="696" name="Google Shape;696;p47"/>
          <p:cNvSpPr/>
          <p:nvPr/>
        </p:nvSpPr>
        <p:spPr>
          <a:xfrm>
            <a:off x="480098" y="2016165"/>
            <a:ext cx="2434500" cy="219300"/>
          </a:xfrm>
          <a:prstGeom prst="roundRect">
            <a:avLst>
              <a:gd fmla="val 16667" name="adj"/>
            </a:avLst>
          </a:prstGeom>
          <a:solidFill>
            <a:srgbClr val="185FA5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RUNTIME — réponse à une question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7" name="Google Shape;697;p47"/>
          <p:cNvSpPr/>
          <p:nvPr/>
        </p:nvSpPr>
        <p:spPr>
          <a:xfrm>
            <a:off x="480100" y="2263051"/>
            <a:ext cx="1371600" cy="397800"/>
          </a:xfrm>
          <a:prstGeom prst="roundRect">
            <a:avLst>
              <a:gd fmla="val 6000" name="adj"/>
            </a:avLst>
          </a:prstGeom>
          <a:solidFill>
            <a:srgbClr val="185FA5">
              <a:alpha val="6960"/>
            </a:srgbClr>
          </a:solidFill>
          <a:ln cap="flat" cmpd="sng" w="9525">
            <a:solidFill>
              <a:srgbClr val="185FA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900">
                <a:solidFill>
                  <a:srgbClr val="185FA5"/>
                </a:solidFill>
                <a:latin typeface="Cambria"/>
                <a:ea typeface="Cambria"/>
                <a:cs typeface="Cambria"/>
                <a:sym typeface="Cambria"/>
              </a:rPr>
              <a:t>Utilisateur</a:t>
            </a:r>
            <a:endParaRPr sz="1100">
              <a:solidFill>
                <a:srgbClr val="185FA5"/>
              </a:solidFill>
            </a:endParaRPr>
          </a:p>
          <a:p>
            <a:pPr indent="0" lvl="0" marL="0" rtl="0" algn="ctr">
              <a:spcBef>
                <a:spcPts val="100"/>
              </a:spcBef>
              <a:spcAft>
                <a:spcPts val="0"/>
              </a:spcAft>
              <a:buNone/>
            </a:pPr>
            <a:r>
              <a:rPr lang="fr" sz="700">
                <a:solidFill>
                  <a:srgbClr val="185FA5"/>
                </a:solidFill>
                <a:latin typeface="Calibri"/>
                <a:ea typeface="Calibri"/>
                <a:cs typeface="Calibri"/>
                <a:sym typeface="Calibri"/>
              </a:rPr>
              <a:t>question</a:t>
            </a:r>
            <a:endParaRPr>
              <a:solidFill>
                <a:srgbClr val="185FA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8" name="Google Shape;698;p47"/>
          <p:cNvSpPr/>
          <p:nvPr/>
        </p:nvSpPr>
        <p:spPr>
          <a:xfrm>
            <a:off x="2160350" y="2263051"/>
            <a:ext cx="1371600" cy="397800"/>
          </a:xfrm>
          <a:prstGeom prst="roundRect">
            <a:avLst>
              <a:gd fmla="val 6000" name="adj"/>
            </a:avLst>
          </a:prstGeom>
          <a:solidFill>
            <a:srgbClr val="185FA5">
              <a:alpha val="6960"/>
            </a:srgbClr>
          </a:solidFill>
          <a:ln cap="flat" cmpd="sng" w="9525">
            <a:solidFill>
              <a:srgbClr val="185FA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900">
                <a:solidFill>
                  <a:srgbClr val="185FA5"/>
                </a:solidFill>
                <a:latin typeface="Cambria"/>
                <a:ea typeface="Cambria"/>
                <a:cs typeface="Cambria"/>
                <a:sym typeface="Cambria"/>
              </a:rPr>
              <a:t>Interface</a:t>
            </a:r>
            <a:endParaRPr sz="1100">
              <a:solidFill>
                <a:srgbClr val="185FA5"/>
              </a:solidFill>
            </a:endParaRPr>
          </a:p>
          <a:p>
            <a:pPr indent="0" lvl="0" marL="0" rtl="0" algn="ctr">
              <a:spcBef>
                <a:spcPts val="200"/>
              </a:spcBef>
              <a:spcAft>
                <a:spcPts val="0"/>
              </a:spcAft>
              <a:buNone/>
            </a:pPr>
            <a:r>
              <a:rPr i="1" lang="fr" sz="700">
                <a:solidFill>
                  <a:srgbClr val="185FA5"/>
                </a:solidFill>
                <a:latin typeface="Calibri"/>
                <a:ea typeface="Calibri"/>
                <a:cs typeface="Calibri"/>
                <a:sym typeface="Calibri"/>
              </a:rPr>
              <a:t>Streamlit / CLI</a:t>
            </a:r>
            <a:endParaRPr>
              <a:solidFill>
                <a:srgbClr val="185FA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9" name="Google Shape;699;p47"/>
          <p:cNvSpPr/>
          <p:nvPr/>
        </p:nvSpPr>
        <p:spPr>
          <a:xfrm>
            <a:off x="3840608" y="2263051"/>
            <a:ext cx="1371600" cy="397800"/>
          </a:xfrm>
          <a:prstGeom prst="roundRect">
            <a:avLst>
              <a:gd fmla="val 6000" name="adj"/>
            </a:avLst>
          </a:prstGeom>
          <a:solidFill>
            <a:srgbClr val="185FA5">
              <a:alpha val="6960"/>
            </a:srgbClr>
          </a:solidFill>
          <a:ln cap="flat" cmpd="sng" w="9525">
            <a:solidFill>
              <a:srgbClr val="185FA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900">
                <a:solidFill>
                  <a:srgbClr val="185FA5"/>
                </a:solidFill>
                <a:latin typeface="Cambria"/>
                <a:ea typeface="Cambria"/>
                <a:cs typeface="Cambria"/>
                <a:sym typeface="Cambria"/>
              </a:rPr>
              <a:t>Retriever hybride</a:t>
            </a:r>
            <a:endParaRPr sz="1100">
              <a:solidFill>
                <a:srgbClr val="185FA5"/>
              </a:solidFill>
            </a:endParaRPr>
          </a:p>
          <a:p>
            <a:pPr indent="0" lvl="0" marL="0" rtl="0" algn="ctr">
              <a:spcBef>
                <a:spcPts val="100"/>
              </a:spcBef>
              <a:spcAft>
                <a:spcPts val="0"/>
              </a:spcAft>
              <a:buNone/>
            </a:pPr>
            <a:r>
              <a:rPr lang="fr" sz="700">
                <a:solidFill>
                  <a:srgbClr val="185FA5"/>
                </a:solidFill>
                <a:latin typeface="Calibri"/>
                <a:ea typeface="Calibri"/>
                <a:cs typeface="Calibri"/>
                <a:sym typeface="Calibri"/>
              </a:rPr>
              <a:t>BM25 + dense (MMR)</a:t>
            </a:r>
            <a:endParaRPr>
              <a:solidFill>
                <a:srgbClr val="185FA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0" name="Google Shape;700;p47"/>
          <p:cNvSpPr/>
          <p:nvPr/>
        </p:nvSpPr>
        <p:spPr>
          <a:xfrm>
            <a:off x="5520865" y="2263051"/>
            <a:ext cx="1371600" cy="397800"/>
          </a:xfrm>
          <a:prstGeom prst="roundRect">
            <a:avLst>
              <a:gd fmla="val 6000" name="adj"/>
            </a:avLst>
          </a:prstGeom>
          <a:solidFill>
            <a:srgbClr val="185FA5">
              <a:alpha val="6960"/>
            </a:srgbClr>
          </a:solidFill>
          <a:ln cap="flat" cmpd="sng" w="9525">
            <a:solidFill>
              <a:srgbClr val="185FA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900">
                <a:solidFill>
                  <a:srgbClr val="185FA5"/>
                </a:solidFill>
                <a:latin typeface="Cambria"/>
                <a:ea typeface="Cambria"/>
                <a:cs typeface="Cambria"/>
                <a:sym typeface="Cambria"/>
              </a:rPr>
              <a:t>mistral-small</a:t>
            </a:r>
            <a:endParaRPr sz="1100">
              <a:solidFill>
                <a:srgbClr val="185FA5"/>
              </a:solidFill>
            </a:endParaRPr>
          </a:p>
          <a:p>
            <a:pPr indent="0" lvl="0" marL="0" rtl="0" algn="ctr">
              <a:spcBef>
                <a:spcPts val="100"/>
              </a:spcBef>
              <a:spcAft>
                <a:spcPts val="0"/>
              </a:spcAft>
              <a:buNone/>
            </a:pPr>
            <a:r>
              <a:rPr lang="fr" sz="700">
                <a:solidFill>
                  <a:srgbClr val="185FA5"/>
                </a:solidFill>
                <a:latin typeface="Calibri"/>
                <a:ea typeface="Calibri"/>
                <a:cs typeface="Calibri"/>
                <a:sym typeface="Calibri"/>
              </a:rPr>
              <a:t>génération · sources</a:t>
            </a:r>
            <a:endParaRPr>
              <a:solidFill>
                <a:srgbClr val="185FA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1" name="Google Shape;701;p47"/>
          <p:cNvSpPr/>
          <p:nvPr/>
        </p:nvSpPr>
        <p:spPr>
          <a:xfrm>
            <a:off x="7201123" y="2263051"/>
            <a:ext cx="1371600" cy="397800"/>
          </a:xfrm>
          <a:prstGeom prst="roundRect">
            <a:avLst>
              <a:gd fmla="val 6000" name="adj"/>
            </a:avLst>
          </a:prstGeom>
          <a:solidFill>
            <a:srgbClr val="185FA5">
              <a:alpha val="6960"/>
            </a:srgbClr>
          </a:solidFill>
          <a:ln cap="flat" cmpd="sng" w="9525">
            <a:solidFill>
              <a:srgbClr val="185FA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900">
                <a:solidFill>
                  <a:srgbClr val="185FA5"/>
                </a:solidFill>
                <a:latin typeface="Cambria"/>
                <a:ea typeface="Cambria"/>
                <a:cs typeface="Cambria"/>
                <a:sym typeface="Cambria"/>
              </a:rPr>
              <a:t>Réponse + sources</a:t>
            </a:r>
            <a:endParaRPr sz="1100">
              <a:solidFill>
                <a:srgbClr val="185FA5"/>
              </a:solidFill>
            </a:endParaRPr>
          </a:p>
          <a:p>
            <a:pPr indent="0" lvl="0" marL="0" rtl="0" algn="ctr">
              <a:spcBef>
                <a:spcPts val="100"/>
              </a:spcBef>
              <a:spcAft>
                <a:spcPts val="0"/>
              </a:spcAft>
              <a:buNone/>
            </a:pPr>
            <a:r>
              <a:rPr lang="fr" sz="700">
                <a:solidFill>
                  <a:srgbClr val="185FA5"/>
                </a:solidFill>
                <a:latin typeface="Calibri"/>
                <a:ea typeface="Calibri"/>
                <a:cs typeface="Calibri"/>
                <a:sym typeface="Calibri"/>
              </a:rPr>
              <a:t>citations</a:t>
            </a:r>
            <a:endParaRPr>
              <a:solidFill>
                <a:srgbClr val="185FA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702" name="Google Shape;702;p47"/>
          <p:cNvCxnSpPr>
            <a:stCxn id="703" idx="2"/>
            <a:endCxn id="699" idx="0"/>
          </p:cNvCxnSpPr>
          <p:nvPr/>
        </p:nvCxnSpPr>
        <p:spPr>
          <a:xfrm flipH="1">
            <a:off x="4526408" y="1892851"/>
            <a:ext cx="3034800" cy="370200"/>
          </a:xfrm>
          <a:prstGeom prst="straightConnector1">
            <a:avLst/>
          </a:prstGeom>
          <a:noFill/>
          <a:ln cap="flat" cmpd="sng" w="15225">
            <a:solidFill>
              <a:srgbClr val="FFFB8C"/>
            </a:solidFill>
            <a:prstDash val="dash"/>
            <a:round/>
            <a:headEnd len="sm" w="sm" type="oval"/>
            <a:tailEnd len="med" w="med" type="oval"/>
          </a:ln>
        </p:spPr>
      </p:cxnSp>
      <p:sp>
        <p:nvSpPr>
          <p:cNvPr id="704" name="Google Shape;704;p47"/>
          <p:cNvSpPr txBox="1"/>
          <p:nvPr/>
        </p:nvSpPr>
        <p:spPr>
          <a:xfrm>
            <a:off x="4764446" y="1938063"/>
            <a:ext cx="1097400" cy="1461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0" spcFirstLastPara="1" rIns="0" wrap="square" tIns="190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fr" sz="700" u="none" cap="none" strike="noStrike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embeddings + métadonnées</a:t>
            </a:r>
            <a:endParaRPr sz="1100">
              <a:solidFill>
                <a:srgbClr val="9CA3AF"/>
              </a:solidFill>
            </a:endParaRPr>
          </a:p>
        </p:txBody>
      </p:sp>
      <p:sp>
        <p:nvSpPr>
          <p:cNvPr id="705" name="Google Shape;705;p47"/>
          <p:cNvSpPr txBox="1"/>
          <p:nvPr/>
        </p:nvSpPr>
        <p:spPr>
          <a:xfrm>
            <a:off x="377200" y="233175"/>
            <a:ext cx="1773600" cy="45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9050" lIns="0" spcFirstLastPara="1" rIns="0" wrap="square" tIns="190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1800">
                <a:solidFill>
                  <a:srgbClr val="0E9C8A"/>
                </a:solidFill>
                <a:latin typeface="Calibri"/>
                <a:ea typeface="Calibri"/>
                <a:cs typeface="Calibri"/>
                <a:sym typeface="Calibri"/>
              </a:rPr>
              <a:t>Du POC au MVP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6" name="Google Shape;706;p47"/>
          <p:cNvSpPr txBox="1"/>
          <p:nvPr/>
        </p:nvSpPr>
        <p:spPr>
          <a:xfrm>
            <a:off x="377200" y="675550"/>
            <a:ext cx="37122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9050" lIns="0" spcFirstLastPara="1" rIns="0" wrap="square" tIns="190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1100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Le schéma du POC RAG Puls-Events, augmenté par les besoins</a:t>
            </a:r>
            <a:endParaRPr b="1" sz="1100">
              <a:solidFill>
                <a:srgbClr val="9CA3A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7" name="Google Shape;707;p47"/>
          <p:cNvSpPr/>
          <p:nvPr/>
        </p:nvSpPr>
        <p:spPr>
          <a:xfrm>
            <a:off x="2284350" y="1593125"/>
            <a:ext cx="461700" cy="2013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0E9C8A">
              <a:alpha val="60000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8" name="Google Shape;708;p47"/>
          <p:cNvSpPr/>
          <p:nvPr/>
        </p:nvSpPr>
        <p:spPr>
          <a:xfrm>
            <a:off x="4295575" y="1603525"/>
            <a:ext cx="461700" cy="2013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0E9C8A">
              <a:alpha val="60000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9" name="Google Shape;709;p47"/>
          <p:cNvSpPr/>
          <p:nvPr/>
        </p:nvSpPr>
        <p:spPr>
          <a:xfrm>
            <a:off x="6323275" y="1598638"/>
            <a:ext cx="461700" cy="2013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0E9C8A">
              <a:alpha val="60000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0" name="Google Shape;710;p47"/>
          <p:cNvSpPr/>
          <p:nvPr/>
        </p:nvSpPr>
        <p:spPr>
          <a:xfrm>
            <a:off x="6815900" y="2340200"/>
            <a:ext cx="461700" cy="2013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0E9C8A">
              <a:alpha val="60000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1" name="Google Shape;711;p47"/>
          <p:cNvSpPr/>
          <p:nvPr/>
        </p:nvSpPr>
        <p:spPr>
          <a:xfrm>
            <a:off x="1775200" y="2340188"/>
            <a:ext cx="461700" cy="2013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0E9C8A">
              <a:alpha val="60000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2" name="Google Shape;712;p47"/>
          <p:cNvSpPr/>
          <p:nvPr/>
        </p:nvSpPr>
        <p:spPr>
          <a:xfrm>
            <a:off x="5135675" y="2335063"/>
            <a:ext cx="461700" cy="2013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0E9C8A">
              <a:alpha val="60000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3" name="Google Shape;713;p47"/>
          <p:cNvSpPr/>
          <p:nvPr/>
        </p:nvSpPr>
        <p:spPr>
          <a:xfrm>
            <a:off x="3455450" y="2340188"/>
            <a:ext cx="461700" cy="2013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0E9C8A">
              <a:alpha val="60000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4" name="Google Shape;714;p47"/>
          <p:cNvSpPr txBox="1"/>
          <p:nvPr/>
        </p:nvSpPr>
        <p:spPr>
          <a:xfrm>
            <a:off x="377200" y="4945850"/>
            <a:ext cx="999000" cy="166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700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MVP RAG Puls-Events</a:t>
            </a:r>
            <a:endParaRPr sz="700">
              <a:solidFill>
                <a:srgbClr val="9CA3A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5" name="Google Shape;715;p47"/>
          <p:cNvSpPr/>
          <p:nvPr/>
        </p:nvSpPr>
        <p:spPr>
          <a:xfrm>
            <a:off x="6478515" y="769260"/>
            <a:ext cx="150900" cy="150900"/>
          </a:xfrm>
          <a:prstGeom prst="roundRect">
            <a:avLst>
              <a:gd fmla="val 16667" name="adj"/>
            </a:avLst>
          </a:prstGeom>
          <a:solidFill>
            <a:srgbClr val="0E9C8A">
              <a:alpha val="7999"/>
            </a:srgbClr>
          </a:solidFill>
          <a:ln cap="flat" cmpd="sng" w="11900">
            <a:solidFill>
              <a:srgbClr val="0E9C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6" name="Google Shape;716;p47"/>
          <p:cNvSpPr txBox="1"/>
          <p:nvPr/>
        </p:nvSpPr>
        <p:spPr>
          <a:xfrm>
            <a:off x="6691125" y="748675"/>
            <a:ext cx="1497900" cy="17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9050" lIns="0" spcFirstLastPara="1" rIns="0" wrap="square" tIns="190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fr" sz="800" u="none" cap="none" strike="noStrike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nouveau (</a:t>
            </a:r>
            <a:r>
              <a:rPr lang="fr" sz="900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MVP RAG Puls-Events</a:t>
            </a:r>
            <a:r>
              <a:rPr b="0" i="0" lang="fr" sz="800" u="none" cap="none" strike="noStrike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)</a:t>
            </a:r>
            <a:endParaRPr sz="1100">
              <a:solidFill>
                <a:srgbClr val="9CA3AF"/>
              </a:solidFill>
            </a:endParaRPr>
          </a:p>
        </p:txBody>
      </p:sp>
      <p:sp>
        <p:nvSpPr>
          <p:cNvPr id="717" name="Google Shape;717;p47"/>
          <p:cNvSpPr txBox="1"/>
          <p:nvPr/>
        </p:nvSpPr>
        <p:spPr>
          <a:xfrm>
            <a:off x="6478515" y="992299"/>
            <a:ext cx="1097400" cy="19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9050" lIns="0" spcFirstLastPara="1" rIns="0" wrap="square" tIns="190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fr" sz="1000" u="none" cap="none" strike="noStrike">
                <a:solidFill>
                  <a:srgbClr val="0E9C8A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r>
              <a:rPr b="1" i="0" lang="fr" sz="1000" u="none" cap="none" strike="noStrike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    </a:t>
            </a:r>
            <a:r>
              <a:rPr b="0" i="0" lang="fr" sz="800" u="none" cap="none" strike="noStrike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fait évoluer</a:t>
            </a:r>
            <a:endParaRPr sz="1100">
              <a:solidFill>
                <a:srgbClr val="9CA3AF"/>
              </a:solidFill>
            </a:endParaRPr>
          </a:p>
        </p:txBody>
      </p:sp>
      <p:sp>
        <p:nvSpPr>
          <p:cNvPr id="718" name="Google Shape;718;p47"/>
          <p:cNvSpPr/>
          <p:nvPr/>
        </p:nvSpPr>
        <p:spPr>
          <a:xfrm>
            <a:off x="2674691" y="1495044"/>
            <a:ext cx="1680300" cy="397800"/>
          </a:xfrm>
          <a:prstGeom prst="roundRect">
            <a:avLst>
              <a:gd fmla="val 6000" name="adj"/>
            </a:avLst>
          </a:prstGeom>
          <a:solidFill>
            <a:srgbClr val="0E9C8A">
              <a:alpha val="7999"/>
            </a:srgbClr>
          </a:solidFill>
          <a:ln cap="flat" cmpd="sng" w="9525">
            <a:solidFill>
              <a:srgbClr val="0E9C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900">
                <a:solidFill>
                  <a:srgbClr val="0E9C8A"/>
                </a:solidFill>
                <a:latin typeface="Cambria"/>
                <a:ea typeface="Cambria"/>
                <a:cs typeface="Cambria"/>
                <a:sym typeface="Cambria"/>
              </a:rPr>
              <a:t>Ingestion</a:t>
            </a:r>
            <a:endParaRPr sz="1100">
              <a:solidFill>
                <a:srgbClr val="0E9C8A"/>
              </a:solidFill>
            </a:endParaRPr>
          </a:p>
          <a:p>
            <a:pPr indent="0" lvl="0" marL="0" rtl="0" algn="ctr">
              <a:spcBef>
                <a:spcPts val="200"/>
              </a:spcBef>
              <a:spcAft>
                <a:spcPts val="0"/>
              </a:spcAft>
              <a:buNone/>
            </a:pPr>
            <a:r>
              <a:rPr i="1" lang="fr" sz="700">
                <a:solidFill>
                  <a:srgbClr val="185FA5"/>
                </a:solidFill>
                <a:latin typeface="Calibri"/>
                <a:ea typeface="Calibri"/>
                <a:cs typeface="Calibri"/>
                <a:sym typeface="Calibri"/>
              </a:rPr>
              <a:t>script Python </a:t>
            </a:r>
            <a:r>
              <a:rPr b="1" lang="fr" sz="700">
                <a:solidFill>
                  <a:srgbClr val="0E9C8A"/>
                </a:solidFill>
                <a:latin typeface="Calibri"/>
                <a:ea typeface="Calibri"/>
                <a:cs typeface="Calibri"/>
                <a:sym typeface="Calibri"/>
              </a:rPr>
              <a:t>→ Kestra</a:t>
            </a:r>
            <a:endParaRPr>
              <a:solidFill>
                <a:srgbClr val="185FA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9" name="Google Shape;719;p47"/>
          <p:cNvSpPr/>
          <p:nvPr/>
        </p:nvSpPr>
        <p:spPr>
          <a:xfrm>
            <a:off x="6721019" y="1495044"/>
            <a:ext cx="1680300" cy="397800"/>
          </a:xfrm>
          <a:prstGeom prst="roundRect">
            <a:avLst>
              <a:gd fmla="val 6000" name="adj"/>
            </a:avLst>
          </a:prstGeom>
          <a:solidFill>
            <a:srgbClr val="0E9C8A">
              <a:alpha val="7999"/>
            </a:srgbClr>
          </a:solidFill>
          <a:ln cap="flat" cmpd="sng" w="9525">
            <a:solidFill>
              <a:srgbClr val="0E9C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900">
                <a:solidFill>
                  <a:srgbClr val="0E9C8A"/>
                </a:solidFill>
                <a:latin typeface="Cambria"/>
                <a:ea typeface="Cambria"/>
                <a:cs typeface="Cambria"/>
                <a:sym typeface="Cambria"/>
              </a:rPr>
              <a:t>Index vectoriel</a:t>
            </a:r>
            <a:endParaRPr sz="1100">
              <a:solidFill>
                <a:srgbClr val="0E9C8A"/>
              </a:solidFill>
            </a:endParaRPr>
          </a:p>
          <a:p>
            <a:pPr indent="0" lvl="0" marL="0" rtl="0" algn="ctr">
              <a:spcBef>
                <a:spcPts val="200"/>
              </a:spcBef>
              <a:spcAft>
                <a:spcPts val="0"/>
              </a:spcAft>
              <a:buNone/>
            </a:pPr>
            <a:r>
              <a:rPr i="1" lang="fr" sz="700">
                <a:solidFill>
                  <a:srgbClr val="185FA5"/>
                </a:solidFill>
                <a:latin typeface="Calibri"/>
                <a:ea typeface="Calibri"/>
                <a:cs typeface="Calibri"/>
                <a:sym typeface="Calibri"/>
              </a:rPr>
              <a:t>FAISS local </a:t>
            </a:r>
            <a:r>
              <a:rPr b="1" lang="fr" sz="700">
                <a:solidFill>
                  <a:srgbClr val="0E9C8A"/>
                </a:solidFill>
                <a:latin typeface="Calibri"/>
                <a:ea typeface="Calibri"/>
                <a:cs typeface="Calibri"/>
                <a:sym typeface="Calibri"/>
              </a:rPr>
              <a:t>→ pgvector</a:t>
            </a:r>
            <a:endParaRPr>
              <a:solidFill>
                <a:srgbClr val="185FA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4" name="Shape 7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5" name="Google Shape;725;p48"/>
          <p:cNvSpPr/>
          <p:nvPr/>
        </p:nvSpPr>
        <p:spPr>
          <a:xfrm>
            <a:off x="6478535" y="530960"/>
            <a:ext cx="150900" cy="150900"/>
          </a:xfrm>
          <a:prstGeom prst="roundRect">
            <a:avLst>
              <a:gd fmla="val 16667" name="adj"/>
            </a:avLst>
          </a:prstGeom>
          <a:solidFill>
            <a:srgbClr val="185FA5">
              <a:alpha val="6960"/>
            </a:srgbClr>
          </a:solidFill>
          <a:ln cap="flat" cmpd="sng" w="9525">
            <a:solidFill>
              <a:srgbClr val="185FA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6" name="Google Shape;726;p48"/>
          <p:cNvSpPr txBox="1"/>
          <p:nvPr/>
        </p:nvSpPr>
        <p:spPr>
          <a:xfrm>
            <a:off x="6691151" y="510375"/>
            <a:ext cx="1371600" cy="17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9050" lIns="0" spcFirstLastPara="1" rIns="0" wrap="square" tIns="190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fr" sz="800" u="none" cap="none" strike="noStrike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hérité (</a:t>
            </a:r>
            <a:r>
              <a:rPr lang="fr" sz="900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POC RAG Puls-Events</a:t>
            </a:r>
            <a:r>
              <a:rPr b="0" i="0" lang="fr" sz="800" u="none" cap="none" strike="noStrike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)</a:t>
            </a:r>
            <a:endParaRPr sz="1100">
              <a:solidFill>
                <a:srgbClr val="9CA3AF"/>
              </a:solidFill>
            </a:endParaRPr>
          </a:p>
        </p:txBody>
      </p:sp>
      <p:sp>
        <p:nvSpPr>
          <p:cNvPr id="727" name="Google Shape;727;p48"/>
          <p:cNvSpPr/>
          <p:nvPr/>
        </p:nvSpPr>
        <p:spPr>
          <a:xfrm>
            <a:off x="6478515" y="769260"/>
            <a:ext cx="150900" cy="150900"/>
          </a:xfrm>
          <a:prstGeom prst="roundRect">
            <a:avLst>
              <a:gd fmla="val 16667" name="adj"/>
            </a:avLst>
          </a:prstGeom>
          <a:solidFill>
            <a:srgbClr val="0E9C8A">
              <a:alpha val="7999"/>
            </a:srgbClr>
          </a:solidFill>
          <a:ln cap="flat" cmpd="sng" w="11900">
            <a:solidFill>
              <a:srgbClr val="0E9C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8" name="Google Shape;728;p48"/>
          <p:cNvSpPr txBox="1"/>
          <p:nvPr/>
        </p:nvSpPr>
        <p:spPr>
          <a:xfrm>
            <a:off x="6691125" y="748675"/>
            <a:ext cx="1497900" cy="17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9050" lIns="0" spcFirstLastPara="1" rIns="0" wrap="square" tIns="190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fr" sz="800" u="none" cap="none" strike="noStrike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nouveau (</a:t>
            </a:r>
            <a:r>
              <a:rPr lang="fr" sz="900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MVP RAG Puls-Events</a:t>
            </a:r>
            <a:r>
              <a:rPr b="0" i="0" lang="fr" sz="800" u="none" cap="none" strike="noStrike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)</a:t>
            </a:r>
            <a:endParaRPr sz="1100">
              <a:solidFill>
                <a:srgbClr val="9CA3AF"/>
              </a:solidFill>
            </a:endParaRPr>
          </a:p>
        </p:txBody>
      </p:sp>
      <p:sp>
        <p:nvSpPr>
          <p:cNvPr id="729" name="Google Shape;729;p48"/>
          <p:cNvSpPr/>
          <p:nvPr/>
        </p:nvSpPr>
        <p:spPr>
          <a:xfrm>
            <a:off x="480073" y="1248156"/>
            <a:ext cx="2434500" cy="219300"/>
          </a:xfrm>
          <a:prstGeom prst="roundRect">
            <a:avLst>
              <a:gd fmla="val 16667" name="adj"/>
            </a:avLst>
          </a:prstGeom>
          <a:solidFill>
            <a:srgbClr val="185FA5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BATCH — construction de l'index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0" name="Google Shape;730;p48"/>
          <p:cNvSpPr/>
          <p:nvPr/>
        </p:nvSpPr>
        <p:spPr>
          <a:xfrm>
            <a:off x="651527" y="1495044"/>
            <a:ext cx="1680300" cy="397800"/>
          </a:xfrm>
          <a:prstGeom prst="roundRect">
            <a:avLst>
              <a:gd fmla="val 6000" name="adj"/>
            </a:avLst>
          </a:prstGeom>
          <a:solidFill>
            <a:srgbClr val="185FA5">
              <a:alpha val="6960"/>
            </a:srgbClr>
          </a:solidFill>
          <a:ln cap="flat" cmpd="sng" w="9525">
            <a:solidFill>
              <a:srgbClr val="185FA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900">
                <a:solidFill>
                  <a:srgbClr val="185FA5"/>
                </a:solidFill>
                <a:latin typeface="Cambria"/>
                <a:ea typeface="Cambria"/>
                <a:cs typeface="Cambria"/>
                <a:sym typeface="Cambria"/>
              </a:rPr>
              <a:t>Open Agenda</a:t>
            </a:r>
            <a:endParaRPr sz="1100">
              <a:solidFill>
                <a:srgbClr val="185FA5"/>
              </a:solidFill>
            </a:endParaRPr>
          </a:p>
          <a:p>
            <a:pPr indent="0" lvl="0" marL="0" rtl="0" algn="ctr">
              <a:spcBef>
                <a:spcPts val="100"/>
              </a:spcBef>
              <a:spcAft>
                <a:spcPts val="0"/>
              </a:spcAft>
              <a:buNone/>
            </a:pPr>
            <a:r>
              <a:rPr lang="fr" sz="700">
                <a:solidFill>
                  <a:srgbClr val="185FA5"/>
                </a:solidFill>
                <a:latin typeface="Calibri"/>
                <a:ea typeface="Calibri"/>
                <a:cs typeface="Calibri"/>
                <a:sym typeface="Calibri"/>
              </a:rPr>
              <a:t>API Opendatasoft</a:t>
            </a:r>
            <a:endParaRPr>
              <a:solidFill>
                <a:srgbClr val="185FA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1" name="Google Shape;731;p48"/>
          <p:cNvSpPr/>
          <p:nvPr/>
        </p:nvSpPr>
        <p:spPr>
          <a:xfrm>
            <a:off x="2674691" y="1495044"/>
            <a:ext cx="1680300" cy="397800"/>
          </a:xfrm>
          <a:prstGeom prst="roundRect">
            <a:avLst>
              <a:gd fmla="val 6000" name="adj"/>
            </a:avLst>
          </a:prstGeom>
          <a:solidFill>
            <a:srgbClr val="0E9C8A">
              <a:alpha val="7999"/>
            </a:srgbClr>
          </a:solidFill>
          <a:ln cap="flat" cmpd="sng" w="9525">
            <a:solidFill>
              <a:srgbClr val="0E9C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900">
                <a:solidFill>
                  <a:srgbClr val="0E9C8A"/>
                </a:solidFill>
                <a:latin typeface="Cambria"/>
                <a:ea typeface="Cambria"/>
                <a:cs typeface="Cambria"/>
                <a:sym typeface="Cambria"/>
              </a:rPr>
              <a:t>Ingestion</a:t>
            </a:r>
            <a:endParaRPr sz="1100">
              <a:solidFill>
                <a:srgbClr val="0E9C8A"/>
              </a:solidFill>
            </a:endParaRPr>
          </a:p>
          <a:p>
            <a:pPr indent="0" lvl="0" marL="0" rtl="0" algn="ctr">
              <a:spcBef>
                <a:spcPts val="200"/>
              </a:spcBef>
              <a:spcAft>
                <a:spcPts val="0"/>
              </a:spcAft>
              <a:buNone/>
            </a:pPr>
            <a:r>
              <a:rPr i="1" lang="fr" sz="700">
                <a:solidFill>
                  <a:srgbClr val="185FA5"/>
                </a:solidFill>
                <a:latin typeface="Calibri"/>
                <a:ea typeface="Calibri"/>
                <a:cs typeface="Calibri"/>
                <a:sym typeface="Calibri"/>
              </a:rPr>
              <a:t>script Python </a:t>
            </a:r>
            <a:r>
              <a:rPr b="1" lang="fr" sz="700">
                <a:solidFill>
                  <a:srgbClr val="0E9C8A"/>
                </a:solidFill>
                <a:latin typeface="Calibri"/>
                <a:ea typeface="Calibri"/>
                <a:cs typeface="Calibri"/>
                <a:sym typeface="Calibri"/>
              </a:rPr>
              <a:t>→ Kestra</a:t>
            </a:r>
            <a:endParaRPr>
              <a:solidFill>
                <a:srgbClr val="185FA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2" name="Google Shape;732;p48"/>
          <p:cNvSpPr/>
          <p:nvPr/>
        </p:nvSpPr>
        <p:spPr>
          <a:xfrm>
            <a:off x="4697855" y="1494882"/>
            <a:ext cx="1680300" cy="397800"/>
          </a:xfrm>
          <a:prstGeom prst="roundRect">
            <a:avLst>
              <a:gd fmla="val 6000" name="adj"/>
            </a:avLst>
          </a:prstGeom>
          <a:solidFill>
            <a:srgbClr val="185FA5">
              <a:alpha val="6960"/>
            </a:srgbClr>
          </a:solidFill>
          <a:ln cap="flat" cmpd="sng" w="9525">
            <a:solidFill>
              <a:srgbClr val="185FA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900">
                <a:solidFill>
                  <a:srgbClr val="185FA5"/>
                </a:solidFill>
                <a:latin typeface="Cambria"/>
                <a:ea typeface="Cambria"/>
                <a:cs typeface="Cambria"/>
                <a:sym typeface="Cambria"/>
              </a:rPr>
              <a:t>Embeddings</a:t>
            </a:r>
            <a:endParaRPr sz="1100">
              <a:solidFill>
                <a:srgbClr val="185FA5"/>
              </a:solidFill>
            </a:endParaRPr>
          </a:p>
          <a:p>
            <a:pPr indent="0" lvl="0" marL="0" rtl="0" algn="ctr">
              <a:spcBef>
                <a:spcPts val="100"/>
              </a:spcBef>
              <a:spcAft>
                <a:spcPts val="0"/>
              </a:spcAft>
              <a:buNone/>
            </a:pPr>
            <a:r>
              <a:rPr lang="fr" sz="700">
                <a:solidFill>
                  <a:srgbClr val="185FA5"/>
                </a:solidFill>
                <a:latin typeface="Calibri"/>
                <a:ea typeface="Calibri"/>
                <a:cs typeface="Calibri"/>
                <a:sym typeface="Calibri"/>
              </a:rPr>
              <a:t>mistral-embed</a:t>
            </a:r>
            <a:endParaRPr sz="1100">
              <a:solidFill>
                <a:srgbClr val="185FA5"/>
              </a:solidFill>
            </a:endParaRPr>
          </a:p>
        </p:txBody>
      </p:sp>
      <p:sp>
        <p:nvSpPr>
          <p:cNvPr id="733" name="Google Shape;733;p48"/>
          <p:cNvSpPr/>
          <p:nvPr/>
        </p:nvSpPr>
        <p:spPr>
          <a:xfrm>
            <a:off x="6721019" y="1495044"/>
            <a:ext cx="1680300" cy="397800"/>
          </a:xfrm>
          <a:prstGeom prst="roundRect">
            <a:avLst>
              <a:gd fmla="val 6000" name="adj"/>
            </a:avLst>
          </a:prstGeom>
          <a:solidFill>
            <a:srgbClr val="0E9C8A">
              <a:alpha val="7999"/>
            </a:srgbClr>
          </a:solidFill>
          <a:ln cap="flat" cmpd="sng" w="9525">
            <a:solidFill>
              <a:srgbClr val="0E9C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900">
                <a:solidFill>
                  <a:srgbClr val="0E9C8A"/>
                </a:solidFill>
                <a:latin typeface="Cambria"/>
                <a:ea typeface="Cambria"/>
                <a:cs typeface="Cambria"/>
                <a:sym typeface="Cambria"/>
              </a:rPr>
              <a:t>Index vectoriel</a:t>
            </a:r>
            <a:endParaRPr sz="1100">
              <a:solidFill>
                <a:srgbClr val="0E9C8A"/>
              </a:solidFill>
            </a:endParaRPr>
          </a:p>
          <a:p>
            <a:pPr indent="0" lvl="0" marL="0" rtl="0" algn="ctr">
              <a:spcBef>
                <a:spcPts val="200"/>
              </a:spcBef>
              <a:spcAft>
                <a:spcPts val="0"/>
              </a:spcAft>
              <a:buNone/>
            </a:pPr>
            <a:r>
              <a:rPr i="1" lang="fr" sz="700">
                <a:solidFill>
                  <a:srgbClr val="185FA5"/>
                </a:solidFill>
                <a:latin typeface="Calibri"/>
                <a:ea typeface="Calibri"/>
                <a:cs typeface="Calibri"/>
                <a:sym typeface="Calibri"/>
              </a:rPr>
              <a:t>FAISS local </a:t>
            </a:r>
            <a:r>
              <a:rPr b="1" lang="fr" sz="700">
                <a:solidFill>
                  <a:srgbClr val="0E9C8A"/>
                </a:solidFill>
                <a:latin typeface="Calibri"/>
                <a:ea typeface="Calibri"/>
                <a:cs typeface="Calibri"/>
                <a:sym typeface="Calibri"/>
              </a:rPr>
              <a:t>→ pgvector</a:t>
            </a:r>
            <a:endParaRPr>
              <a:solidFill>
                <a:srgbClr val="185FA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4" name="Google Shape;734;p48"/>
          <p:cNvSpPr/>
          <p:nvPr/>
        </p:nvSpPr>
        <p:spPr>
          <a:xfrm>
            <a:off x="480098" y="2016165"/>
            <a:ext cx="2434500" cy="219300"/>
          </a:xfrm>
          <a:prstGeom prst="roundRect">
            <a:avLst>
              <a:gd fmla="val 16667" name="adj"/>
            </a:avLst>
          </a:prstGeom>
          <a:solidFill>
            <a:srgbClr val="185FA5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RUNTIME — réponse à une question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5" name="Google Shape;735;p48"/>
          <p:cNvSpPr/>
          <p:nvPr/>
        </p:nvSpPr>
        <p:spPr>
          <a:xfrm>
            <a:off x="480100" y="2263051"/>
            <a:ext cx="1371600" cy="397800"/>
          </a:xfrm>
          <a:prstGeom prst="roundRect">
            <a:avLst>
              <a:gd fmla="val 6000" name="adj"/>
            </a:avLst>
          </a:prstGeom>
          <a:solidFill>
            <a:srgbClr val="185FA5">
              <a:alpha val="6960"/>
            </a:srgbClr>
          </a:solidFill>
          <a:ln cap="flat" cmpd="sng" w="9525">
            <a:solidFill>
              <a:srgbClr val="185FA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900">
                <a:solidFill>
                  <a:srgbClr val="185FA5"/>
                </a:solidFill>
                <a:latin typeface="Cambria"/>
                <a:ea typeface="Cambria"/>
                <a:cs typeface="Cambria"/>
                <a:sym typeface="Cambria"/>
              </a:rPr>
              <a:t>Utilisateur</a:t>
            </a:r>
            <a:endParaRPr sz="1100">
              <a:solidFill>
                <a:srgbClr val="185FA5"/>
              </a:solidFill>
            </a:endParaRPr>
          </a:p>
          <a:p>
            <a:pPr indent="0" lvl="0" marL="0" rtl="0" algn="ctr">
              <a:spcBef>
                <a:spcPts val="100"/>
              </a:spcBef>
              <a:spcAft>
                <a:spcPts val="0"/>
              </a:spcAft>
              <a:buNone/>
            </a:pPr>
            <a:r>
              <a:rPr lang="fr" sz="700">
                <a:solidFill>
                  <a:srgbClr val="185FA5"/>
                </a:solidFill>
                <a:latin typeface="Calibri"/>
                <a:ea typeface="Calibri"/>
                <a:cs typeface="Calibri"/>
                <a:sym typeface="Calibri"/>
              </a:rPr>
              <a:t>question</a:t>
            </a:r>
            <a:endParaRPr>
              <a:solidFill>
                <a:srgbClr val="185FA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6" name="Google Shape;736;p48"/>
          <p:cNvSpPr/>
          <p:nvPr/>
        </p:nvSpPr>
        <p:spPr>
          <a:xfrm>
            <a:off x="2160350" y="2263051"/>
            <a:ext cx="1371600" cy="397800"/>
          </a:xfrm>
          <a:prstGeom prst="roundRect">
            <a:avLst>
              <a:gd fmla="val 6000" name="adj"/>
            </a:avLst>
          </a:prstGeom>
          <a:solidFill>
            <a:srgbClr val="0E9C8A">
              <a:alpha val="7999"/>
            </a:srgbClr>
          </a:solidFill>
          <a:ln cap="flat" cmpd="sng" w="9525">
            <a:solidFill>
              <a:srgbClr val="0E9C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900">
                <a:solidFill>
                  <a:srgbClr val="0E9C8A"/>
                </a:solidFill>
                <a:latin typeface="Cambria"/>
                <a:ea typeface="Cambria"/>
                <a:cs typeface="Cambria"/>
                <a:sym typeface="Cambria"/>
              </a:rPr>
              <a:t>Interface</a:t>
            </a:r>
            <a:endParaRPr sz="1100">
              <a:solidFill>
                <a:srgbClr val="0E9C8A"/>
              </a:solidFill>
            </a:endParaRPr>
          </a:p>
          <a:p>
            <a:pPr indent="0" lvl="0" marL="0" rtl="0" algn="ctr">
              <a:spcBef>
                <a:spcPts val="200"/>
              </a:spcBef>
              <a:spcAft>
                <a:spcPts val="0"/>
              </a:spcAft>
              <a:buNone/>
            </a:pPr>
            <a:r>
              <a:rPr i="1" lang="fr" sz="700">
                <a:solidFill>
                  <a:srgbClr val="185FA5"/>
                </a:solidFill>
                <a:latin typeface="Calibri"/>
                <a:ea typeface="Calibri"/>
                <a:cs typeface="Calibri"/>
                <a:sym typeface="Calibri"/>
              </a:rPr>
              <a:t>Streamlit / CLI </a:t>
            </a:r>
            <a:r>
              <a:rPr b="1" lang="fr" sz="700">
                <a:solidFill>
                  <a:srgbClr val="0E9C8A"/>
                </a:solidFill>
                <a:latin typeface="Calibri"/>
                <a:ea typeface="Calibri"/>
                <a:cs typeface="Calibri"/>
                <a:sym typeface="Calibri"/>
              </a:rPr>
              <a:t>→ FastAPI · SSE</a:t>
            </a:r>
            <a:endParaRPr>
              <a:solidFill>
                <a:srgbClr val="185FA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7" name="Google Shape;737;p48"/>
          <p:cNvSpPr/>
          <p:nvPr/>
        </p:nvSpPr>
        <p:spPr>
          <a:xfrm>
            <a:off x="3840608" y="2263051"/>
            <a:ext cx="1371600" cy="397800"/>
          </a:xfrm>
          <a:prstGeom prst="roundRect">
            <a:avLst>
              <a:gd fmla="val 6000" name="adj"/>
            </a:avLst>
          </a:prstGeom>
          <a:solidFill>
            <a:srgbClr val="185FA5">
              <a:alpha val="6960"/>
            </a:srgbClr>
          </a:solidFill>
          <a:ln cap="flat" cmpd="sng" w="9525">
            <a:solidFill>
              <a:srgbClr val="185FA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900">
                <a:solidFill>
                  <a:srgbClr val="185FA5"/>
                </a:solidFill>
                <a:latin typeface="Cambria"/>
                <a:ea typeface="Cambria"/>
                <a:cs typeface="Cambria"/>
                <a:sym typeface="Cambria"/>
              </a:rPr>
              <a:t>Retriever hybride</a:t>
            </a:r>
            <a:endParaRPr sz="1100">
              <a:solidFill>
                <a:srgbClr val="185FA5"/>
              </a:solidFill>
            </a:endParaRPr>
          </a:p>
          <a:p>
            <a:pPr indent="0" lvl="0" marL="0" rtl="0" algn="ctr">
              <a:spcBef>
                <a:spcPts val="100"/>
              </a:spcBef>
              <a:spcAft>
                <a:spcPts val="0"/>
              </a:spcAft>
              <a:buNone/>
            </a:pPr>
            <a:r>
              <a:rPr lang="fr" sz="700">
                <a:solidFill>
                  <a:srgbClr val="185FA5"/>
                </a:solidFill>
                <a:latin typeface="Calibri"/>
                <a:ea typeface="Calibri"/>
                <a:cs typeface="Calibri"/>
                <a:sym typeface="Calibri"/>
              </a:rPr>
              <a:t>BM25 + dense (MMR)</a:t>
            </a:r>
            <a:endParaRPr>
              <a:solidFill>
                <a:srgbClr val="185FA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8" name="Google Shape;738;p48"/>
          <p:cNvSpPr/>
          <p:nvPr/>
        </p:nvSpPr>
        <p:spPr>
          <a:xfrm>
            <a:off x="5520865" y="2263051"/>
            <a:ext cx="1371600" cy="397800"/>
          </a:xfrm>
          <a:prstGeom prst="roundRect">
            <a:avLst>
              <a:gd fmla="val 6000" name="adj"/>
            </a:avLst>
          </a:prstGeom>
          <a:solidFill>
            <a:srgbClr val="185FA5">
              <a:alpha val="6960"/>
            </a:srgbClr>
          </a:solidFill>
          <a:ln cap="flat" cmpd="sng" w="9525">
            <a:solidFill>
              <a:srgbClr val="185FA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900">
                <a:solidFill>
                  <a:srgbClr val="185FA5"/>
                </a:solidFill>
                <a:latin typeface="Cambria"/>
                <a:ea typeface="Cambria"/>
                <a:cs typeface="Cambria"/>
                <a:sym typeface="Cambria"/>
              </a:rPr>
              <a:t>mistral-small</a:t>
            </a:r>
            <a:endParaRPr sz="1100">
              <a:solidFill>
                <a:srgbClr val="185FA5"/>
              </a:solidFill>
            </a:endParaRPr>
          </a:p>
          <a:p>
            <a:pPr indent="0" lvl="0" marL="0" rtl="0" algn="ctr">
              <a:spcBef>
                <a:spcPts val="100"/>
              </a:spcBef>
              <a:spcAft>
                <a:spcPts val="0"/>
              </a:spcAft>
              <a:buNone/>
            </a:pPr>
            <a:r>
              <a:rPr lang="fr" sz="700">
                <a:solidFill>
                  <a:srgbClr val="185FA5"/>
                </a:solidFill>
                <a:latin typeface="Calibri"/>
                <a:ea typeface="Calibri"/>
                <a:cs typeface="Calibri"/>
                <a:sym typeface="Calibri"/>
              </a:rPr>
              <a:t>génération · sources</a:t>
            </a:r>
            <a:endParaRPr>
              <a:solidFill>
                <a:srgbClr val="185FA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9" name="Google Shape;739;p48"/>
          <p:cNvSpPr/>
          <p:nvPr/>
        </p:nvSpPr>
        <p:spPr>
          <a:xfrm>
            <a:off x="7201123" y="2263051"/>
            <a:ext cx="1371600" cy="397800"/>
          </a:xfrm>
          <a:prstGeom prst="roundRect">
            <a:avLst>
              <a:gd fmla="val 6000" name="adj"/>
            </a:avLst>
          </a:prstGeom>
          <a:solidFill>
            <a:srgbClr val="185FA5">
              <a:alpha val="6960"/>
            </a:srgbClr>
          </a:solidFill>
          <a:ln cap="flat" cmpd="sng" w="9525">
            <a:solidFill>
              <a:srgbClr val="185FA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900">
                <a:solidFill>
                  <a:srgbClr val="185FA5"/>
                </a:solidFill>
                <a:latin typeface="Cambria"/>
                <a:ea typeface="Cambria"/>
                <a:cs typeface="Cambria"/>
                <a:sym typeface="Cambria"/>
              </a:rPr>
              <a:t>Réponse + sources</a:t>
            </a:r>
            <a:endParaRPr sz="1100">
              <a:solidFill>
                <a:srgbClr val="185FA5"/>
              </a:solidFill>
            </a:endParaRPr>
          </a:p>
          <a:p>
            <a:pPr indent="0" lvl="0" marL="0" rtl="0" algn="ctr">
              <a:spcBef>
                <a:spcPts val="100"/>
              </a:spcBef>
              <a:spcAft>
                <a:spcPts val="0"/>
              </a:spcAft>
              <a:buNone/>
            </a:pPr>
            <a:r>
              <a:rPr lang="fr" sz="700">
                <a:solidFill>
                  <a:srgbClr val="185FA5"/>
                </a:solidFill>
                <a:latin typeface="Calibri"/>
                <a:ea typeface="Calibri"/>
                <a:cs typeface="Calibri"/>
                <a:sym typeface="Calibri"/>
              </a:rPr>
              <a:t>citations</a:t>
            </a:r>
            <a:endParaRPr>
              <a:solidFill>
                <a:srgbClr val="185FA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740" name="Google Shape;740;p48"/>
          <p:cNvCxnSpPr>
            <a:stCxn id="733" idx="2"/>
            <a:endCxn id="737" idx="0"/>
          </p:cNvCxnSpPr>
          <p:nvPr/>
        </p:nvCxnSpPr>
        <p:spPr>
          <a:xfrm flipH="1">
            <a:off x="4526369" y="1892844"/>
            <a:ext cx="3034800" cy="370200"/>
          </a:xfrm>
          <a:prstGeom prst="straightConnector1">
            <a:avLst/>
          </a:prstGeom>
          <a:noFill/>
          <a:ln cap="flat" cmpd="sng" w="15225">
            <a:solidFill>
              <a:srgbClr val="FFFB8C"/>
            </a:solidFill>
            <a:prstDash val="dash"/>
            <a:round/>
            <a:headEnd len="sm" w="sm" type="oval"/>
            <a:tailEnd len="med" w="med" type="oval"/>
          </a:ln>
        </p:spPr>
      </p:cxnSp>
      <p:sp>
        <p:nvSpPr>
          <p:cNvPr id="741" name="Google Shape;741;p48"/>
          <p:cNvSpPr txBox="1"/>
          <p:nvPr/>
        </p:nvSpPr>
        <p:spPr>
          <a:xfrm>
            <a:off x="4764446" y="1938063"/>
            <a:ext cx="1097400" cy="1461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0" spcFirstLastPara="1" rIns="0" wrap="square" tIns="190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fr" sz="700" u="none" cap="none" strike="noStrike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embeddings + métadonnées</a:t>
            </a:r>
            <a:endParaRPr sz="1100">
              <a:solidFill>
                <a:srgbClr val="9CA3AF"/>
              </a:solidFill>
            </a:endParaRPr>
          </a:p>
        </p:txBody>
      </p:sp>
      <p:sp>
        <p:nvSpPr>
          <p:cNvPr id="742" name="Google Shape;742;p48"/>
          <p:cNvSpPr txBox="1"/>
          <p:nvPr/>
        </p:nvSpPr>
        <p:spPr>
          <a:xfrm>
            <a:off x="377200" y="233175"/>
            <a:ext cx="1773600" cy="45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9050" lIns="0" spcFirstLastPara="1" rIns="0" wrap="square" tIns="190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1800">
                <a:solidFill>
                  <a:srgbClr val="0E9C8A"/>
                </a:solidFill>
                <a:latin typeface="Calibri"/>
                <a:ea typeface="Calibri"/>
                <a:cs typeface="Calibri"/>
                <a:sym typeface="Calibri"/>
              </a:rPr>
              <a:t>Du POC au MVP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3" name="Google Shape;743;p48"/>
          <p:cNvSpPr txBox="1"/>
          <p:nvPr/>
        </p:nvSpPr>
        <p:spPr>
          <a:xfrm>
            <a:off x="377200" y="675550"/>
            <a:ext cx="37122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9050" lIns="0" spcFirstLastPara="1" rIns="0" wrap="square" tIns="190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1100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Le schéma du POC RAG Puls-Events, augmenté par les besoins</a:t>
            </a:r>
            <a:endParaRPr b="1" sz="1100">
              <a:solidFill>
                <a:srgbClr val="9CA3A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4" name="Google Shape;744;p48"/>
          <p:cNvSpPr txBox="1"/>
          <p:nvPr/>
        </p:nvSpPr>
        <p:spPr>
          <a:xfrm>
            <a:off x="6478515" y="992299"/>
            <a:ext cx="1097400" cy="19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9050" lIns="0" spcFirstLastPara="1" rIns="0" wrap="square" tIns="190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fr" sz="1000" u="none" cap="none" strike="noStrike">
                <a:solidFill>
                  <a:srgbClr val="0E9C8A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r>
              <a:rPr b="1" i="0" lang="fr" sz="1000" u="none" cap="none" strike="noStrike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    </a:t>
            </a:r>
            <a:r>
              <a:rPr b="0" i="0" lang="fr" sz="800" u="none" cap="none" strike="noStrike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fait évoluer</a:t>
            </a:r>
            <a:endParaRPr sz="1100">
              <a:solidFill>
                <a:srgbClr val="9CA3AF"/>
              </a:solidFill>
            </a:endParaRPr>
          </a:p>
        </p:txBody>
      </p:sp>
      <p:sp>
        <p:nvSpPr>
          <p:cNvPr id="745" name="Google Shape;745;p48"/>
          <p:cNvSpPr/>
          <p:nvPr/>
        </p:nvSpPr>
        <p:spPr>
          <a:xfrm>
            <a:off x="2284350" y="1593125"/>
            <a:ext cx="461700" cy="2013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0E9C8A">
              <a:alpha val="60000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6" name="Google Shape;746;p48"/>
          <p:cNvSpPr/>
          <p:nvPr/>
        </p:nvSpPr>
        <p:spPr>
          <a:xfrm>
            <a:off x="4295575" y="1603525"/>
            <a:ext cx="461700" cy="2013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0E9C8A">
              <a:alpha val="60000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7" name="Google Shape;747;p48"/>
          <p:cNvSpPr/>
          <p:nvPr/>
        </p:nvSpPr>
        <p:spPr>
          <a:xfrm>
            <a:off x="6323275" y="1598638"/>
            <a:ext cx="461700" cy="2013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0E9C8A">
              <a:alpha val="60000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8" name="Google Shape;748;p48"/>
          <p:cNvSpPr/>
          <p:nvPr/>
        </p:nvSpPr>
        <p:spPr>
          <a:xfrm>
            <a:off x="6815900" y="2340200"/>
            <a:ext cx="461700" cy="2013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0E9C8A">
              <a:alpha val="60000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9" name="Google Shape;749;p48"/>
          <p:cNvSpPr/>
          <p:nvPr/>
        </p:nvSpPr>
        <p:spPr>
          <a:xfrm>
            <a:off x="1775200" y="2340188"/>
            <a:ext cx="461700" cy="2013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0E9C8A">
              <a:alpha val="60000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0" name="Google Shape;750;p48"/>
          <p:cNvSpPr/>
          <p:nvPr/>
        </p:nvSpPr>
        <p:spPr>
          <a:xfrm>
            <a:off x="5135675" y="2335063"/>
            <a:ext cx="461700" cy="2013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0E9C8A">
              <a:alpha val="60000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1" name="Google Shape;751;p48"/>
          <p:cNvSpPr/>
          <p:nvPr/>
        </p:nvSpPr>
        <p:spPr>
          <a:xfrm>
            <a:off x="3455450" y="2340188"/>
            <a:ext cx="461700" cy="2013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0E9C8A">
              <a:alpha val="60000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2" name="Google Shape;752;p48"/>
          <p:cNvSpPr txBox="1"/>
          <p:nvPr/>
        </p:nvSpPr>
        <p:spPr>
          <a:xfrm>
            <a:off x="377200" y="4945850"/>
            <a:ext cx="999000" cy="166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700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MVP RAG Puls-Events</a:t>
            </a:r>
            <a:endParaRPr sz="700">
              <a:solidFill>
                <a:srgbClr val="9CA3A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7" name="Shape 7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8" name="Google Shape;758;p49"/>
          <p:cNvSpPr/>
          <p:nvPr/>
        </p:nvSpPr>
        <p:spPr>
          <a:xfrm>
            <a:off x="6478535" y="530960"/>
            <a:ext cx="150900" cy="150900"/>
          </a:xfrm>
          <a:prstGeom prst="roundRect">
            <a:avLst>
              <a:gd fmla="val 16667" name="adj"/>
            </a:avLst>
          </a:prstGeom>
          <a:solidFill>
            <a:srgbClr val="185FA5">
              <a:alpha val="6960"/>
            </a:srgbClr>
          </a:solidFill>
          <a:ln cap="flat" cmpd="sng" w="9525">
            <a:solidFill>
              <a:srgbClr val="185FA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9" name="Google Shape;759;p49"/>
          <p:cNvSpPr txBox="1"/>
          <p:nvPr/>
        </p:nvSpPr>
        <p:spPr>
          <a:xfrm>
            <a:off x="6691151" y="510375"/>
            <a:ext cx="1371600" cy="17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9050" lIns="0" spcFirstLastPara="1" rIns="0" wrap="square" tIns="190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fr" sz="800" u="none" cap="none" strike="noStrike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hérité (</a:t>
            </a:r>
            <a:r>
              <a:rPr lang="fr" sz="900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POC RAG Puls-Events</a:t>
            </a:r>
            <a:r>
              <a:rPr b="0" i="0" lang="fr" sz="800" u="none" cap="none" strike="noStrike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)</a:t>
            </a:r>
            <a:endParaRPr sz="1100">
              <a:solidFill>
                <a:srgbClr val="9CA3AF"/>
              </a:solidFill>
            </a:endParaRPr>
          </a:p>
        </p:txBody>
      </p:sp>
      <p:sp>
        <p:nvSpPr>
          <p:cNvPr id="760" name="Google Shape;760;p49"/>
          <p:cNvSpPr/>
          <p:nvPr/>
        </p:nvSpPr>
        <p:spPr>
          <a:xfrm>
            <a:off x="6478515" y="769260"/>
            <a:ext cx="150900" cy="150900"/>
          </a:xfrm>
          <a:prstGeom prst="roundRect">
            <a:avLst>
              <a:gd fmla="val 16667" name="adj"/>
            </a:avLst>
          </a:prstGeom>
          <a:solidFill>
            <a:srgbClr val="0E9C8A">
              <a:alpha val="7999"/>
            </a:srgbClr>
          </a:solidFill>
          <a:ln cap="flat" cmpd="sng" w="11900">
            <a:solidFill>
              <a:srgbClr val="0E9C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1" name="Google Shape;761;p49"/>
          <p:cNvSpPr txBox="1"/>
          <p:nvPr/>
        </p:nvSpPr>
        <p:spPr>
          <a:xfrm>
            <a:off x="6691125" y="748675"/>
            <a:ext cx="1497900" cy="17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9050" lIns="0" spcFirstLastPara="1" rIns="0" wrap="square" tIns="190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fr" sz="800" u="none" cap="none" strike="noStrike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nouveau (</a:t>
            </a:r>
            <a:r>
              <a:rPr lang="fr" sz="900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MVP RAG Puls-Events</a:t>
            </a:r>
            <a:r>
              <a:rPr b="0" i="0" lang="fr" sz="800" u="none" cap="none" strike="noStrike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)</a:t>
            </a:r>
            <a:endParaRPr sz="1100">
              <a:solidFill>
                <a:srgbClr val="9CA3AF"/>
              </a:solidFill>
            </a:endParaRPr>
          </a:p>
        </p:txBody>
      </p:sp>
      <p:sp>
        <p:nvSpPr>
          <p:cNvPr id="762" name="Google Shape;762;p49"/>
          <p:cNvSpPr/>
          <p:nvPr/>
        </p:nvSpPr>
        <p:spPr>
          <a:xfrm>
            <a:off x="480073" y="1248156"/>
            <a:ext cx="2434500" cy="219300"/>
          </a:xfrm>
          <a:prstGeom prst="roundRect">
            <a:avLst>
              <a:gd fmla="val 16667" name="adj"/>
            </a:avLst>
          </a:prstGeom>
          <a:solidFill>
            <a:srgbClr val="185FA5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BATCH — construction de l'index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3" name="Google Shape;763;p49"/>
          <p:cNvSpPr/>
          <p:nvPr/>
        </p:nvSpPr>
        <p:spPr>
          <a:xfrm>
            <a:off x="651527" y="1495044"/>
            <a:ext cx="1680300" cy="397800"/>
          </a:xfrm>
          <a:prstGeom prst="roundRect">
            <a:avLst>
              <a:gd fmla="val 6000" name="adj"/>
            </a:avLst>
          </a:prstGeom>
          <a:solidFill>
            <a:srgbClr val="185FA5">
              <a:alpha val="6960"/>
            </a:srgbClr>
          </a:solidFill>
          <a:ln cap="flat" cmpd="sng" w="9525">
            <a:solidFill>
              <a:srgbClr val="185FA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900">
                <a:solidFill>
                  <a:srgbClr val="185FA5"/>
                </a:solidFill>
                <a:latin typeface="Cambria"/>
                <a:ea typeface="Cambria"/>
                <a:cs typeface="Cambria"/>
                <a:sym typeface="Cambria"/>
              </a:rPr>
              <a:t>Open Agenda</a:t>
            </a:r>
            <a:endParaRPr sz="1100">
              <a:solidFill>
                <a:srgbClr val="185FA5"/>
              </a:solidFill>
            </a:endParaRPr>
          </a:p>
          <a:p>
            <a:pPr indent="0" lvl="0" marL="0" rtl="0" algn="ctr">
              <a:spcBef>
                <a:spcPts val="100"/>
              </a:spcBef>
              <a:spcAft>
                <a:spcPts val="0"/>
              </a:spcAft>
              <a:buNone/>
            </a:pPr>
            <a:r>
              <a:rPr lang="fr" sz="700">
                <a:solidFill>
                  <a:srgbClr val="185FA5"/>
                </a:solidFill>
                <a:latin typeface="Calibri"/>
                <a:ea typeface="Calibri"/>
                <a:cs typeface="Calibri"/>
                <a:sym typeface="Calibri"/>
              </a:rPr>
              <a:t>API Opendatasoft</a:t>
            </a:r>
            <a:endParaRPr>
              <a:solidFill>
                <a:srgbClr val="185FA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4" name="Google Shape;764;p49"/>
          <p:cNvSpPr/>
          <p:nvPr/>
        </p:nvSpPr>
        <p:spPr>
          <a:xfrm>
            <a:off x="2674691" y="1495044"/>
            <a:ext cx="1680300" cy="397800"/>
          </a:xfrm>
          <a:prstGeom prst="roundRect">
            <a:avLst>
              <a:gd fmla="val 6000" name="adj"/>
            </a:avLst>
          </a:prstGeom>
          <a:solidFill>
            <a:srgbClr val="0E9C8A">
              <a:alpha val="7999"/>
            </a:srgbClr>
          </a:solidFill>
          <a:ln cap="flat" cmpd="sng" w="9525">
            <a:solidFill>
              <a:srgbClr val="0E9C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900">
                <a:solidFill>
                  <a:srgbClr val="0E9C8A"/>
                </a:solidFill>
                <a:latin typeface="Cambria"/>
                <a:ea typeface="Cambria"/>
                <a:cs typeface="Cambria"/>
                <a:sym typeface="Cambria"/>
              </a:rPr>
              <a:t>Ingestion</a:t>
            </a:r>
            <a:endParaRPr sz="1100">
              <a:solidFill>
                <a:srgbClr val="0E9C8A"/>
              </a:solidFill>
            </a:endParaRPr>
          </a:p>
          <a:p>
            <a:pPr indent="0" lvl="0" marL="0" rtl="0" algn="ctr">
              <a:spcBef>
                <a:spcPts val="200"/>
              </a:spcBef>
              <a:spcAft>
                <a:spcPts val="0"/>
              </a:spcAft>
              <a:buNone/>
            </a:pPr>
            <a:r>
              <a:rPr i="1" lang="fr" sz="700">
                <a:solidFill>
                  <a:srgbClr val="185FA5"/>
                </a:solidFill>
                <a:latin typeface="Calibri"/>
                <a:ea typeface="Calibri"/>
                <a:cs typeface="Calibri"/>
                <a:sym typeface="Calibri"/>
              </a:rPr>
              <a:t>script Python </a:t>
            </a:r>
            <a:r>
              <a:rPr b="1" lang="fr" sz="700">
                <a:solidFill>
                  <a:srgbClr val="0E9C8A"/>
                </a:solidFill>
                <a:latin typeface="Calibri"/>
                <a:ea typeface="Calibri"/>
                <a:cs typeface="Calibri"/>
                <a:sym typeface="Calibri"/>
              </a:rPr>
              <a:t>→ Kestra</a:t>
            </a:r>
            <a:endParaRPr>
              <a:solidFill>
                <a:srgbClr val="185FA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5" name="Google Shape;765;p49"/>
          <p:cNvSpPr/>
          <p:nvPr/>
        </p:nvSpPr>
        <p:spPr>
          <a:xfrm>
            <a:off x="4697855" y="1494882"/>
            <a:ext cx="1680300" cy="397800"/>
          </a:xfrm>
          <a:prstGeom prst="roundRect">
            <a:avLst>
              <a:gd fmla="val 6000" name="adj"/>
            </a:avLst>
          </a:prstGeom>
          <a:solidFill>
            <a:srgbClr val="185FA5">
              <a:alpha val="6960"/>
            </a:srgbClr>
          </a:solidFill>
          <a:ln cap="flat" cmpd="sng" w="9525">
            <a:solidFill>
              <a:srgbClr val="185FA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900">
                <a:solidFill>
                  <a:srgbClr val="185FA5"/>
                </a:solidFill>
                <a:latin typeface="Cambria"/>
                <a:ea typeface="Cambria"/>
                <a:cs typeface="Cambria"/>
                <a:sym typeface="Cambria"/>
              </a:rPr>
              <a:t>Embeddings</a:t>
            </a:r>
            <a:endParaRPr sz="1100">
              <a:solidFill>
                <a:srgbClr val="185FA5"/>
              </a:solidFill>
            </a:endParaRPr>
          </a:p>
          <a:p>
            <a:pPr indent="0" lvl="0" marL="0" rtl="0" algn="ctr">
              <a:spcBef>
                <a:spcPts val="100"/>
              </a:spcBef>
              <a:spcAft>
                <a:spcPts val="0"/>
              </a:spcAft>
              <a:buNone/>
            </a:pPr>
            <a:r>
              <a:rPr lang="fr" sz="700">
                <a:solidFill>
                  <a:srgbClr val="185FA5"/>
                </a:solidFill>
                <a:latin typeface="Calibri"/>
                <a:ea typeface="Calibri"/>
                <a:cs typeface="Calibri"/>
                <a:sym typeface="Calibri"/>
              </a:rPr>
              <a:t>mistral-embed</a:t>
            </a:r>
            <a:endParaRPr sz="1100">
              <a:solidFill>
                <a:srgbClr val="185FA5"/>
              </a:solidFill>
            </a:endParaRPr>
          </a:p>
        </p:txBody>
      </p:sp>
      <p:sp>
        <p:nvSpPr>
          <p:cNvPr id="766" name="Google Shape;766;p49"/>
          <p:cNvSpPr/>
          <p:nvPr/>
        </p:nvSpPr>
        <p:spPr>
          <a:xfrm>
            <a:off x="6721019" y="1495044"/>
            <a:ext cx="1680300" cy="397800"/>
          </a:xfrm>
          <a:prstGeom prst="roundRect">
            <a:avLst>
              <a:gd fmla="val 6000" name="adj"/>
            </a:avLst>
          </a:prstGeom>
          <a:solidFill>
            <a:srgbClr val="0E9C8A">
              <a:alpha val="7999"/>
            </a:srgbClr>
          </a:solidFill>
          <a:ln cap="flat" cmpd="sng" w="9525">
            <a:solidFill>
              <a:srgbClr val="0E9C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900">
                <a:solidFill>
                  <a:srgbClr val="0E9C8A"/>
                </a:solidFill>
                <a:latin typeface="Cambria"/>
                <a:ea typeface="Cambria"/>
                <a:cs typeface="Cambria"/>
                <a:sym typeface="Cambria"/>
              </a:rPr>
              <a:t>Index vectoriel</a:t>
            </a:r>
            <a:endParaRPr sz="1100">
              <a:solidFill>
                <a:srgbClr val="0E9C8A"/>
              </a:solidFill>
            </a:endParaRPr>
          </a:p>
          <a:p>
            <a:pPr indent="0" lvl="0" marL="0" rtl="0" algn="ctr">
              <a:spcBef>
                <a:spcPts val="200"/>
              </a:spcBef>
              <a:spcAft>
                <a:spcPts val="0"/>
              </a:spcAft>
              <a:buNone/>
            </a:pPr>
            <a:r>
              <a:rPr i="1" lang="fr" sz="700">
                <a:solidFill>
                  <a:srgbClr val="185FA5"/>
                </a:solidFill>
                <a:latin typeface="Calibri"/>
                <a:ea typeface="Calibri"/>
                <a:cs typeface="Calibri"/>
                <a:sym typeface="Calibri"/>
              </a:rPr>
              <a:t>FAISS local </a:t>
            </a:r>
            <a:r>
              <a:rPr b="1" lang="fr" sz="700">
                <a:solidFill>
                  <a:srgbClr val="0E9C8A"/>
                </a:solidFill>
                <a:latin typeface="Calibri"/>
                <a:ea typeface="Calibri"/>
                <a:cs typeface="Calibri"/>
                <a:sym typeface="Calibri"/>
              </a:rPr>
              <a:t>→ pgvector</a:t>
            </a:r>
            <a:endParaRPr>
              <a:solidFill>
                <a:srgbClr val="185FA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7" name="Google Shape;767;p49"/>
          <p:cNvSpPr/>
          <p:nvPr/>
        </p:nvSpPr>
        <p:spPr>
          <a:xfrm>
            <a:off x="480098" y="2016165"/>
            <a:ext cx="2434500" cy="219300"/>
          </a:xfrm>
          <a:prstGeom prst="roundRect">
            <a:avLst>
              <a:gd fmla="val 16667" name="adj"/>
            </a:avLst>
          </a:prstGeom>
          <a:solidFill>
            <a:srgbClr val="185FA5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RUNTIME — réponse à une question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8" name="Google Shape;768;p49"/>
          <p:cNvSpPr/>
          <p:nvPr/>
        </p:nvSpPr>
        <p:spPr>
          <a:xfrm>
            <a:off x="480100" y="2263051"/>
            <a:ext cx="1371600" cy="397800"/>
          </a:xfrm>
          <a:prstGeom prst="roundRect">
            <a:avLst>
              <a:gd fmla="val 6000" name="adj"/>
            </a:avLst>
          </a:prstGeom>
          <a:solidFill>
            <a:srgbClr val="185FA5">
              <a:alpha val="6960"/>
            </a:srgbClr>
          </a:solidFill>
          <a:ln cap="flat" cmpd="sng" w="9525">
            <a:solidFill>
              <a:srgbClr val="185FA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900">
                <a:solidFill>
                  <a:srgbClr val="185FA5"/>
                </a:solidFill>
                <a:latin typeface="Cambria"/>
                <a:ea typeface="Cambria"/>
                <a:cs typeface="Cambria"/>
                <a:sym typeface="Cambria"/>
              </a:rPr>
              <a:t>Utilisateur</a:t>
            </a:r>
            <a:endParaRPr sz="1100">
              <a:solidFill>
                <a:srgbClr val="185FA5"/>
              </a:solidFill>
            </a:endParaRPr>
          </a:p>
          <a:p>
            <a:pPr indent="0" lvl="0" marL="0" rtl="0" algn="ctr">
              <a:spcBef>
                <a:spcPts val="100"/>
              </a:spcBef>
              <a:spcAft>
                <a:spcPts val="0"/>
              </a:spcAft>
              <a:buNone/>
            </a:pPr>
            <a:r>
              <a:rPr lang="fr" sz="700">
                <a:solidFill>
                  <a:srgbClr val="185FA5"/>
                </a:solidFill>
                <a:latin typeface="Calibri"/>
                <a:ea typeface="Calibri"/>
                <a:cs typeface="Calibri"/>
                <a:sym typeface="Calibri"/>
              </a:rPr>
              <a:t>question</a:t>
            </a:r>
            <a:endParaRPr>
              <a:solidFill>
                <a:srgbClr val="185FA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9" name="Google Shape;769;p49"/>
          <p:cNvSpPr/>
          <p:nvPr/>
        </p:nvSpPr>
        <p:spPr>
          <a:xfrm>
            <a:off x="2160350" y="2263051"/>
            <a:ext cx="1371600" cy="397800"/>
          </a:xfrm>
          <a:prstGeom prst="roundRect">
            <a:avLst>
              <a:gd fmla="val 6000" name="adj"/>
            </a:avLst>
          </a:prstGeom>
          <a:solidFill>
            <a:srgbClr val="0E9C8A">
              <a:alpha val="7999"/>
            </a:srgbClr>
          </a:solidFill>
          <a:ln cap="flat" cmpd="sng" w="9525">
            <a:solidFill>
              <a:srgbClr val="0E9C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900">
                <a:solidFill>
                  <a:srgbClr val="0E9C8A"/>
                </a:solidFill>
                <a:latin typeface="Cambria"/>
                <a:ea typeface="Cambria"/>
                <a:cs typeface="Cambria"/>
                <a:sym typeface="Cambria"/>
              </a:rPr>
              <a:t>Interface</a:t>
            </a:r>
            <a:endParaRPr sz="1100">
              <a:solidFill>
                <a:srgbClr val="0E9C8A"/>
              </a:solidFill>
            </a:endParaRPr>
          </a:p>
          <a:p>
            <a:pPr indent="0" lvl="0" marL="0" rtl="0" algn="ctr">
              <a:spcBef>
                <a:spcPts val="200"/>
              </a:spcBef>
              <a:spcAft>
                <a:spcPts val="0"/>
              </a:spcAft>
              <a:buNone/>
            </a:pPr>
            <a:r>
              <a:rPr i="1" lang="fr" sz="700">
                <a:solidFill>
                  <a:srgbClr val="185FA5"/>
                </a:solidFill>
                <a:latin typeface="Calibri"/>
                <a:ea typeface="Calibri"/>
                <a:cs typeface="Calibri"/>
                <a:sym typeface="Calibri"/>
              </a:rPr>
              <a:t>Streamlit / CLI </a:t>
            </a:r>
            <a:r>
              <a:rPr b="1" lang="fr" sz="700">
                <a:solidFill>
                  <a:srgbClr val="0E9C8A"/>
                </a:solidFill>
                <a:latin typeface="Calibri"/>
                <a:ea typeface="Calibri"/>
                <a:cs typeface="Calibri"/>
                <a:sym typeface="Calibri"/>
              </a:rPr>
              <a:t>→ FastAPI · SSE</a:t>
            </a:r>
            <a:endParaRPr>
              <a:solidFill>
                <a:srgbClr val="185FA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0" name="Google Shape;770;p49"/>
          <p:cNvSpPr/>
          <p:nvPr/>
        </p:nvSpPr>
        <p:spPr>
          <a:xfrm>
            <a:off x="3840608" y="2263051"/>
            <a:ext cx="1371600" cy="397800"/>
          </a:xfrm>
          <a:prstGeom prst="roundRect">
            <a:avLst>
              <a:gd fmla="val 6000" name="adj"/>
            </a:avLst>
          </a:prstGeom>
          <a:solidFill>
            <a:srgbClr val="185FA5">
              <a:alpha val="6960"/>
            </a:srgbClr>
          </a:solidFill>
          <a:ln cap="flat" cmpd="sng" w="9525">
            <a:solidFill>
              <a:srgbClr val="185FA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900">
                <a:solidFill>
                  <a:srgbClr val="185FA5"/>
                </a:solidFill>
                <a:latin typeface="Cambria"/>
                <a:ea typeface="Cambria"/>
                <a:cs typeface="Cambria"/>
                <a:sym typeface="Cambria"/>
              </a:rPr>
              <a:t>Retriever hybride</a:t>
            </a:r>
            <a:endParaRPr sz="1100">
              <a:solidFill>
                <a:srgbClr val="185FA5"/>
              </a:solidFill>
            </a:endParaRPr>
          </a:p>
          <a:p>
            <a:pPr indent="0" lvl="0" marL="0" rtl="0" algn="ctr">
              <a:spcBef>
                <a:spcPts val="100"/>
              </a:spcBef>
              <a:spcAft>
                <a:spcPts val="0"/>
              </a:spcAft>
              <a:buNone/>
            </a:pPr>
            <a:r>
              <a:rPr lang="fr" sz="700">
                <a:solidFill>
                  <a:srgbClr val="185FA5"/>
                </a:solidFill>
                <a:latin typeface="Calibri"/>
                <a:ea typeface="Calibri"/>
                <a:cs typeface="Calibri"/>
                <a:sym typeface="Calibri"/>
              </a:rPr>
              <a:t>BM25 + dense (MMR)</a:t>
            </a:r>
            <a:endParaRPr>
              <a:solidFill>
                <a:srgbClr val="185FA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1" name="Google Shape;771;p49"/>
          <p:cNvSpPr/>
          <p:nvPr/>
        </p:nvSpPr>
        <p:spPr>
          <a:xfrm>
            <a:off x="5520865" y="2263051"/>
            <a:ext cx="1371600" cy="397800"/>
          </a:xfrm>
          <a:prstGeom prst="roundRect">
            <a:avLst>
              <a:gd fmla="val 6000" name="adj"/>
            </a:avLst>
          </a:prstGeom>
          <a:solidFill>
            <a:srgbClr val="185FA5">
              <a:alpha val="6960"/>
            </a:srgbClr>
          </a:solidFill>
          <a:ln cap="flat" cmpd="sng" w="9525">
            <a:solidFill>
              <a:srgbClr val="185FA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900">
                <a:solidFill>
                  <a:srgbClr val="185FA5"/>
                </a:solidFill>
                <a:latin typeface="Cambria"/>
                <a:ea typeface="Cambria"/>
                <a:cs typeface="Cambria"/>
                <a:sym typeface="Cambria"/>
              </a:rPr>
              <a:t>mistral-small</a:t>
            </a:r>
            <a:endParaRPr sz="1100">
              <a:solidFill>
                <a:srgbClr val="185FA5"/>
              </a:solidFill>
            </a:endParaRPr>
          </a:p>
          <a:p>
            <a:pPr indent="0" lvl="0" marL="0" rtl="0" algn="ctr">
              <a:spcBef>
                <a:spcPts val="100"/>
              </a:spcBef>
              <a:spcAft>
                <a:spcPts val="0"/>
              </a:spcAft>
              <a:buNone/>
            </a:pPr>
            <a:r>
              <a:rPr lang="fr" sz="700">
                <a:solidFill>
                  <a:srgbClr val="185FA5"/>
                </a:solidFill>
                <a:latin typeface="Calibri"/>
                <a:ea typeface="Calibri"/>
                <a:cs typeface="Calibri"/>
                <a:sym typeface="Calibri"/>
              </a:rPr>
              <a:t>génération · sources</a:t>
            </a:r>
            <a:endParaRPr>
              <a:solidFill>
                <a:srgbClr val="185FA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2" name="Google Shape;772;p49"/>
          <p:cNvSpPr/>
          <p:nvPr/>
        </p:nvSpPr>
        <p:spPr>
          <a:xfrm>
            <a:off x="7201123" y="2263051"/>
            <a:ext cx="1371600" cy="397800"/>
          </a:xfrm>
          <a:prstGeom prst="roundRect">
            <a:avLst>
              <a:gd fmla="val 6000" name="adj"/>
            </a:avLst>
          </a:prstGeom>
          <a:solidFill>
            <a:srgbClr val="185FA5">
              <a:alpha val="6960"/>
            </a:srgbClr>
          </a:solidFill>
          <a:ln cap="flat" cmpd="sng" w="9525">
            <a:solidFill>
              <a:srgbClr val="185FA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900">
                <a:solidFill>
                  <a:srgbClr val="185FA5"/>
                </a:solidFill>
                <a:latin typeface="Cambria"/>
                <a:ea typeface="Cambria"/>
                <a:cs typeface="Cambria"/>
                <a:sym typeface="Cambria"/>
              </a:rPr>
              <a:t>Réponse + sources</a:t>
            </a:r>
            <a:endParaRPr sz="1100">
              <a:solidFill>
                <a:srgbClr val="185FA5"/>
              </a:solidFill>
            </a:endParaRPr>
          </a:p>
          <a:p>
            <a:pPr indent="0" lvl="0" marL="0" rtl="0" algn="ctr">
              <a:spcBef>
                <a:spcPts val="100"/>
              </a:spcBef>
              <a:spcAft>
                <a:spcPts val="0"/>
              </a:spcAft>
              <a:buNone/>
            </a:pPr>
            <a:r>
              <a:rPr lang="fr" sz="700">
                <a:solidFill>
                  <a:srgbClr val="185FA5"/>
                </a:solidFill>
                <a:latin typeface="Calibri"/>
                <a:ea typeface="Calibri"/>
                <a:cs typeface="Calibri"/>
                <a:sym typeface="Calibri"/>
              </a:rPr>
              <a:t>citations</a:t>
            </a:r>
            <a:endParaRPr>
              <a:solidFill>
                <a:srgbClr val="185FA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773" name="Google Shape;773;p49"/>
          <p:cNvCxnSpPr>
            <a:stCxn id="766" idx="2"/>
            <a:endCxn id="770" idx="0"/>
          </p:cNvCxnSpPr>
          <p:nvPr/>
        </p:nvCxnSpPr>
        <p:spPr>
          <a:xfrm flipH="1">
            <a:off x="4526369" y="1892844"/>
            <a:ext cx="3034800" cy="370200"/>
          </a:xfrm>
          <a:prstGeom prst="straightConnector1">
            <a:avLst/>
          </a:prstGeom>
          <a:noFill/>
          <a:ln cap="flat" cmpd="sng" w="15225">
            <a:solidFill>
              <a:srgbClr val="FFFB8C"/>
            </a:solidFill>
            <a:prstDash val="dash"/>
            <a:round/>
            <a:headEnd len="sm" w="sm" type="oval"/>
            <a:tailEnd len="med" w="med" type="oval"/>
          </a:ln>
        </p:spPr>
      </p:cxnSp>
      <p:sp>
        <p:nvSpPr>
          <p:cNvPr id="774" name="Google Shape;774;p49"/>
          <p:cNvSpPr txBox="1"/>
          <p:nvPr/>
        </p:nvSpPr>
        <p:spPr>
          <a:xfrm>
            <a:off x="4764446" y="1938063"/>
            <a:ext cx="1097400" cy="1461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0" spcFirstLastPara="1" rIns="0" wrap="square" tIns="190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fr" sz="700" u="none" cap="none" strike="noStrike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embeddings + métadonnées</a:t>
            </a:r>
            <a:endParaRPr sz="1100">
              <a:solidFill>
                <a:srgbClr val="9CA3AF"/>
              </a:solidFill>
            </a:endParaRPr>
          </a:p>
        </p:txBody>
      </p:sp>
      <p:sp>
        <p:nvSpPr>
          <p:cNvPr id="775" name="Google Shape;775;p49"/>
          <p:cNvSpPr/>
          <p:nvPr/>
        </p:nvSpPr>
        <p:spPr>
          <a:xfrm>
            <a:off x="1417588" y="2775313"/>
            <a:ext cx="1176900" cy="507900"/>
          </a:xfrm>
          <a:prstGeom prst="roundRect">
            <a:avLst>
              <a:gd fmla="val 6000" name="adj"/>
            </a:avLst>
          </a:prstGeom>
          <a:solidFill>
            <a:srgbClr val="923E22">
              <a:alpha val="7999"/>
            </a:srgbClr>
          </a:solidFill>
          <a:ln cap="flat" cmpd="sng" w="7225">
            <a:solidFill>
              <a:srgbClr val="923E22"/>
            </a:solidFill>
            <a:prstDash val="solid"/>
            <a:round/>
            <a:headEnd len="sm" w="sm" type="none"/>
            <a:tailEnd len="sm" w="sm" type="none"/>
          </a:ln>
          <a:effectLst>
            <a:outerShdw blurRad="27293" rotWithShape="0" dir="5400000" dist="11372">
              <a:srgbClr val="8A93A6">
                <a:alpha val="32159"/>
              </a:srgbClr>
            </a:outerShdw>
          </a:effectLst>
        </p:spPr>
        <p:txBody>
          <a:bodyPr anchorCtr="0" anchor="ctr" bIns="20800" lIns="41600" spcFirstLastPara="1" rIns="41600" wrap="square" tIns="208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849" u="none" cap="none" strike="noStrike">
              <a:solidFill>
                <a:srgbClr val="0E9C8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6" name="Google Shape;776;p49"/>
          <p:cNvSpPr/>
          <p:nvPr/>
        </p:nvSpPr>
        <p:spPr>
          <a:xfrm>
            <a:off x="1517417" y="2858501"/>
            <a:ext cx="174600" cy="174600"/>
          </a:xfrm>
          <a:prstGeom prst="ellipse">
            <a:avLst/>
          </a:prstGeom>
          <a:noFill/>
          <a:ln cap="flat" cmpd="sng" w="9525">
            <a:solidFill>
              <a:srgbClr val="923E2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fr" sz="667" u="none" cap="none" strike="noStrike">
                <a:solidFill>
                  <a:srgbClr val="923E22"/>
                </a:solidFill>
                <a:latin typeface="Cambria"/>
                <a:ea typeface="Cambria"/>
                <a:cs typeface="Cambria"/>
                <a:sym typeface="Cambria"/>
              </a:rPr>
              <a:t>1</a:t>
            </a:r>
            <a:endParaRPr sz="667">
              <a:solidFill>
                <a:srgbClr val="923E22"/>
              </a:solidFill>
            </a:endParaRPr>
          </a:p>
        </p:txBody>
      </p:sp>
      <p:sp>
        <p:nvSpPr>
          <p:cNvPr id="777" name="Google Shape;777;p49"/>
          <p:cNvSpPr txBox="1"/>
          <p:nvPr/>
        </p:nvSpPr>
        <p:spPr>
          <a:xfrm>
            <a:off x="1758672" y="2850182"/>
            <a:ext cx="761100" cy="88500"/>
          </a:xfrm>
          <a:prstGeom prst="rect">
            <a:avLst/>
          </a:prstGeom>
          <a:noFill/>
          <a:ln>
            <a:noFill/>
          </a:ln>
        </p:spPr>
        <p:txBody>
          <a:bodyPr anchorCtr="0" anchor="t" bIns="11525" lIns="0" spcFirstLastPara="1" rIns="0" wrap="square" tIns="115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fr" sz="425" u="none" cap="none" strike="noStrike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BESOIN</a:t>
            </a:r>
            <a:endParaRPr sz="667">
              <a:solidFill>
                <a:srgbClr val="9CA3AF"/>
              </a:solidFill>
            </a:endParaRPr>
          </a:p>
        </p:txBody>
      </p:sp>
      <p:sp>
        <p:nvSpPr>
          <p:cNvPr id="778" name="Google Shape;778;p49"/>
          <p:cNvSpPr txBox="1"/>
          <p:nvPr/>
        </p:nvSpPr>
        <p:spPr>
          <a:xfrm>
            <a:off x="1758672" y="2950007"/>
            <a:ext cx="761100" cy="191400"/>
          </a:xfrm>
          <a:prstGeom prst="rect">
            <a:avLst/>
          </a:prstGeom>
          <a:noFill/>
          <a:ln>
            <a:noFill/>
          </a:ln>
        </p:spPr>
        <p:txBody>
          <a:bodyPr anchorCtr="0" anchor="t" bIns="11525" lIns="0" spcFirstLastPara="1" rIns="0" wrap="square" tIns="115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fr" sz="546" u="none" cap="none" strike="noStrike">
                <a:solidFill>
                  <a:srgbClr val="923E22"/>
                </a:solidFill>
                <a:latin typeface="Cambria"/>
                <a:ea typeface="Cambria"/>
                <a:cs typeface="Cambria"/>
                <a:sym typeface="Cambria"/>
              </a:rPr>
              <a:t>Mémoire conversationnelle</a:t>
            </a:r>
            <a:endParaRPr sz="546">
              <a:solidFill>
                <a:srgbClr val="923E22"/>
              </a:solidFill>
            </a:endParaRPr>
          </a:p>
        </p:txBody>
      </p:sp>
      <p:sp>
        <p:nvSpPr>
          <p:cNvPr id="779" name="Google Shape;779;p49"/>
          <p:cNvSpPr txBox="1"/>
          <p:nvPr/>
        </p:nvSpPr>
        <p:spPr>
          <a:xfrm>
            <a:off x="377200" y="233175"/>
            <a:ext cx="1773600" cy="45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9050" lIns="0" spcFirstLastPara="1" rIns="0" wrap="square" tIns="190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1800">
                <a:solidFill>
                  <a:srgbClr val="0E9C8A"/>
                </a:solidFill>
                <a:latin typeface="Calibri"/>
                <a:ea typeface="Calibri"/>
                <a:cs typeface="Calibri"/>
                <a:sym typeface="Calibri"/>
              </a:rPr>
              <a:t>Du POC au MVP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0" name="Google Shape;780;p49"/>
          <p:cNvSpPr txBox="1"/>
          <p:nvPr/>
        </p:nvSpPr>
        <p:spPr>
          <a:xfrm>
            <a:off x="377200" y="675550"/>
            <a:ext cx="37122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9050" lIns="0" spcFirstLastPara="1" rIns="0" wrap="square" tIns="190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1100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Le schéma du POC RAG Puls-Events, augmenté par les besoins</a:t>
            </a:r>
            <a:endParaRPr b="1" sz="1100">
              <a:solidFill>
                <a:srgbClr val="9CA3A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1" name="Google Shape;781;p49"/>
          <p:cNvSpPr txBox="1"/>
          <p:nvPr/>
        </p:nvSpPr>
        <p:spPr>
          <a:xfrm>
            <a:off x="6478515" y="992299"/>
            <a:ext cx="1097400" cy="19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9050" lIns="0" spcFirstLastPara="1" rIns="0" wrap="square" tIns="190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fr" sz="1000" u="none" cap="none" strike="noStrike">
                <a:solidFill>
                  <a:srgbClr val="0E9C8A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r>
              <a:rPr b="1" i="0" lang="fr" sz="1000" u="none" cap="none" strike="noStrike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    </a:t>
            </a:r>
            <a:r>
              <a:rPr b="0" i="0" lang="fr" sz="800" u="none" cap="none" strike="noStrike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fait évoluer</a:t>
            </a:r>
            <a:endParaRPr sz="1100">
              <a:solidFill>
                <a:srgbClr val="9CA3AF"/>
              </a:solidFill>
            </a:endParaRPr>
          </a:p>
        </p:txBody>
      </p:sp>
      <p:sp>
        <p:nvSpPr>
          <p:cNvPr id="782" name="Google Shape;782;p49"/>
          <p:cNvSpPr/>
          <p:nvPr/>
        </p:nvSpPr>
        <p:spPr>
          <a:xfrm>
            <a:off x="2284350" y="1593125"/>
            <a:ext cx="461700" cy="2013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0E9C8A">
              <a:alpha val="60000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3" name="Google Shape;783;p49"/>
          <p:cNvSpPr/>
          <p:nvPr/>
        </p:nvSpPr>
        <p:spPr>
          <a:xfrm>
            <a:off x="4295575" y="1603525"/>
            <a:ext cx="461700" cy="2013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0E9C8A">
              <a:alpha val="60000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4" name="Google Shape;784;p49"/>
          <p:cNvSpPr/>
          <p:nvPr/>
        </p:nvSpPr>
        <p:spPr>
          <a:xfrm>
            <a:off x="6323275" y="1598638"/>
            <a:ext cx="461700" cy="2013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0E9C8A">
              <a:alpha val="60000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5" name="Google Shape;785;p49"/>
          <p:cNvSpPr/>
          <p:nvPr/>
        </p:nvSpPr>
        <p:spPr>
          <a:xfrm>
            <a:off x="6815900" y="2340200"/>
            <a:ext cx="461700" cy="2013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0E9C8A">
              <a:alpha val="60000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6" name="Google Shape;786;p49"/>
          <p:cNvSpPr/>
          <p:nvPr/>
        </p:nvSpPr>
        <p:spPr>
          <a:xfrm>
            <a:off x="1775200" y="2340188"/>
            <a:ext cx="461700" cy="2013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0E9C8A">
              <a:alpha val="60000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7" name="Google Shape;787;p49"/>
          <p:cNvSpPr/>
          <p:nvPr/>
        </p:nvSpPr>
        <p:spPr>
          <a:xfrm>
            <a:off x="5135675" y="2335063"/>
            <a:ext cx="461700" cy="2013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0E9C8A">
              <a:alpha val="60000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8" name="Google Shape;788;p49"/>
          <p:cNvSpPr/>
          <p:nvPr/>
        </p:nvSpPr>
        <p:spPr>
          <a:xfrm>
            <a:off x="3455450" y="2340188"/>
            <a:ext cx="461700" cy="2013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0E9C8A">
              <a:alpha val="60000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9" name="Google Shape;789;p49"/>
          <p:cNvSpPr txBox="1"/>
          <p:nvPr/>
        </p:nvSpPr>
        <p:spPr>
          <a:xfrm>
            <a:off x="377200" y="4945850"/>
            <a:ext cx="999000" cy="166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700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MVP RAG Puls-Events</a:t>
            </a:r>
            <a:endParaRPr sz="700">
              <a:solidFill>
                <a:srgbClr val="9CA3A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4" name="Shape 7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5" name="Google Shape;795;p50"/>
          <p:cNvSpPr/>
          <p:nvPr/>
        </p:nvSpPr>
        <p:spPr>
          <a:xfrm>
            <a:off x="424800" y="2186875"/>
            <a:ext cx="3149700" cy="519300"/>
          </a:xfrm>
          <a:prstGeom prst="roundRect">
            <a:avLst>
              <a:gd fmla="val 6000" name="adj"/>
            </a:avLst>
          </a:prstGeom>
          <a:solidFill>
            <a:srgbClr val="923E22">
              <a:alpha val="7999"/>
            </a:srgbClr>
          </a:solidFill>
          <a:ln cap="flat" cmpd="sng" w="7225">
            <a:solidFill>
              <a:srgbClr val="923E22"/>
            </a:solidFill>
            <a:prstDash val="solid"/>
            <a:round/>
            <a:headEnd len="sm" w="sm" type="none"/>
            <a:tailEnd len="sm" w="sm" type="none"/>
          </a:ln>
          <a:effectLst>
            <a:outerShdw blurRad="27293" rotWithShape="0" dir="5400000" dist="11372">
              <a:srgbClr val="8A93A6">
                <a:alpha val="32159"/>
              </a:srgbClr>
            </a:outerShdw>
          </a:effectLst>
        </p:spPr>
        <p:txBody>
          <a:bodyPr anchorCtr="0" anchor="ctr" bIns="20800" lIns="41600" spcFirstLastPara="1" rIns="41600" wrap="square" tIns="208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849" u="none" cap="none" strike="noStrike">
              <a:solidFill>
                <a:srgbClr val="0E9C8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6" name="Google Shape;796;p50"/>
          <p:cNvSpPr/>
          <p:nvPr/>
        </p:nvSpPr>
        <p:spPr>
          <a:xfrm>
            <a:off x="6478535" y="530960"/>
            <a:ext cx="150900" cy="150900"/>
          </a:xfrm>
          <a:prstGeom prst="roundRect">
            <a:avLst>
              <a:gd fmla="val 16667" name="adj"/>
            </a:avLst>
          </a:prstGeom>
          <a:solidFill>
            <a:srgbClr val="185FA5">
              <a:alpha val="6960"/>
            </a:srgbClr>
          </a:solidFill>
          <a:ln cap="flat" cmpd="sng" w="9525">
            <a:solidFill>
              <a:srgbClr val="185FA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7" name="Google Shape;797;p50"/>
          <p:cNvSpPr txBox="1"/>
          <p:nvPr/>
        </p:nvSpPr>
        <p:spPr>
          <a:xfrm>
            <a:off x="6691151" y="510375"/>
            <a:ext cx="1371600" cy="17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9050" lIns="0" spcFirstLastPara="1" rIns="0" wrap="square" tIns="190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fr" sz="800" u="none" cap="none" strike="noStrike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hérité (</a:t>
            </a:r>
            <a:r>
              <a:rPr lang="fr" sz="900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POC RAG Puls-Events</a:t>
            </a:r>
            <a:r>
              <a:rPr b="0" i="0" lang="fr" sz="800" u="none" cap="none" strike="noStrike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)</a:t>
            </a:r>
            <a:endParaRPr sz="1100">
              <a:solidFill>
                <a:srgbClr val="9CA3AF"/>
              </a:solidFill>
            </a:endParaRPr>
          </a:p>
        </p:txBody>
      </p:sp>
      <p:sp>
        <p:nvSpPr>
          <p:cNvPr id="798" name="Google Shape;798;p50"/>
          <p:cNvSpPr/>
          <p:nvPr/>
        </p:nvSpPr>
        <p:spPr>
          <a:xfrm>
            <a:off x="6478515" y="769260"/>
            <a:ext cx="150900" cy="150900"/>
          </a:xfrm>
          <a:prstGeom prst="roundRect">
            <a:avLst>
              <a:gd fmla="val 16667" name="adj"/>
            </a:avLst>
          </a:prstGeom>
          <a:solidFill>
            <a:srgbClr val="0E9C8A">
              <a:alpha val="7999"/>
            </a:srgbClr>
          </a:solidFill>
          <a:ln cap="flat" cmpd="sng" w="11900">
            <a:solidFill>
              <a:srgbClr val="0E9C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9" name="Google Shape;799;p50"/>
          <p:cNvSpPr txBox="1"/>
          <p:nvPr/>
        </p:nvSpPr>
        <p:spPr>
          <a:xfrm>
            <a:off x="6691125" y="748675"/>
            <a:ext cx="1497900" cy="17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9050" lIns="0" spcFirstLastPara="1" rIns="0" wrap="square" tIns="190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fr" sz="800" u="none" cap="none" strike="noStrike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nouveau (</a:t>
            </a:r>
            <a:r>
              <a:rPr lang="fr" sz="900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MVP RAG Puls-Events</a:t>
            </a:r>
            <a:r>
              <a:rPr b="0" i="0" lang="fr" sz="800" u="none" cap="none" strike="noStrike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)</a:t>
            </a:r>
            <a:endParaRPr sz="1100">
              <a:solidFill>
                <a:srgbClr val="9CA3AF"/>
              </a:solidFill>
            </a:endParaRPr>
          </a:p>
        </p:txBody>
      </p:sp>
      <p:sp>
        <p:nvSpPr>
          <p:cNvPr id="800" name="Google Shape;800;p50"/>
          <p:cNvSpPr/>
          <p:nvPr/>
        </p:nvSpPr>
        <p:spPr>
          <a:xfrm>
            <a:off x="480073" y="1248156"/>
            <a:ext cx="2434500" cy="219300"/>
          </a:xfrm>
          <a:prstGeom prst="roundRect">
            <a:avLst>
              <a:gd fmla="val 16667" name="adj"/>
            </a:avLst>
          </a:prstGeom>
          <a:solidFill>
            <a:srgbClr val="185FA5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BATCH — construction de l'index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1" name="Google Shape;801;p50"/>
          <p:cNvSpPr/>
          <p:nvPr/>
        </p:nvSpPr>
        <p:spPr>
          <a:xfrm>
            <a:off x="651527" y="1495044"/>
            <a:ext cx="1680300" cy="397800"/>
          </a:xfrm>
          <a:prstGeom prst="roundRect">
            <a:avLst>
              <a:gd fmla="val 6000" name="adj"/>
            </a:avLst>
          </a:prstGeom>
          <a:solidFill>
            <a:srgbClr val="185FA5">
              <a:alpha val="6960"/>
            </a:srgbClr>
          </a:solidFill>
          <a:ln cap="flat" cmpd="sng" w="9525">
            <a:solidFill>
              <a:srgbClr val="185FA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900">
                <a:solidFill>
                  <a:srgbClr val="185FA5"/>
                </a:solidFill>
                <a:latin typeface="Cambria"/>
                <a:ea typeface="Cambria"/>
                <a:cs typeface="Cambria"/>
                <a:sym typeface="Cambria"/>
              </a:rPr>
              <a:t>Open Agenda</a:t>
            </a:r>
            <a:endParaRPr sz="1100">
              <a:solidFill>
                <a:srgbClr val="185FA5"/>
              </a:solidFill>
            </a:endParaRPr>
          </a:p>
          <a:p>
            <a:pPr indent="0" lvl="0" marL="0" rtl="0" algn="ctr">
              <a:spcBef>
                <a:spcPts val="100"/>
              </a:spcBef>
              <a:spcAft>
                <a:spcPts val="0"/>
              </a:spcAft>
              <a:buNone/>
            </a:pPr>
            <a:r>
              <a:rPr lang="fr" sz="700">
                <a:solidFill>
                  <a:srgbClr val="185FA5"/>
                </a:solidFill>
                <a:latin typeface="Calibri"/>
                <a:ea typeface="Calibri"/>
                <a:cs typeface="Calibri"/>
                <a:sym typeface="Calibri"/>
              </a:rPr>
              <a:t>API Opendatasoft</a:t>
            </a:r>
            <a:endParaRPr>
              <a:solidFill>
                <a:srgbClr val="185FA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2" name="Google Shape;802;p50"/>
          <p:cNvSpPr/>
          <p:nvPr/>
        </p:nvSpPr>
        <p:spPr>
          <a:xfrm>
            <a:off x="2674691" y="1495044"/>
            <a:ext cx="1680300" cy="397800"/>
          </a:xfrm>
          <a:prstGeom prst="roundRect">
            <a:avLst>
              <a:gd fmla="val 6000" name="adj"/>
            </a:avLst>
          </a:prstGeom>
          <a:solidFill>
            <a:srgbClr val="0E9C8A">
              <a:alpha val="7999"/>
            </a:srgbClr>
          </a:solidFill>
          <a:ln cap="flat" cmpd="sng" w="9525">
            <a:solidFill>
              <a:srgbClr val="0E9C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900">
                <a:solidFill>
                  <a:srgbClr val="0E9C8A"/>
                </a:solidFill>
                <a:latin typeface="Cambria"/>
                <a:ea typeface="Cambria"/>
                <a:cs typeface="Cambria"/>
                <a:sym typeface="Cambria"/>
              </a:rPr>
              <a:t>Ingestion</a:t>
            </a:r>
            <a:endParaRPr sz="1100">
              <a:solidFill>
                <a:srgbClr val="0E9C8A"/>
              </a:solidFill>
            </a:endParaRPr>
          </a:p>
          <a:p>
            <a:pPr indent="0" lvl="0" marL="0" rtl="0" algn="ctr">
              <a:spcBef>
                <a:spcPts val="200"/>
              </a:spcBef>
              <a:spcAft>
                <a:spcPts val="0"/>
              </a:spcAft>
              <a:buNone/>
            </a:pPr>
            <a:r>
              <a:rPr i="1" lang="fr" sz="700">
                <a:solidFill>
                  <a:srgbClr val="185FA5"/>
                </a:solidFill>
                <a:latin typeface="Calibri"/>
                <a:ea typeface="Calibri"/>
                <a:cs typeface="Calibri"/>
                <a:sym typeface="Calibri"/>
              </a:rPr>
              <a:t>script Python </a:t>
            </a:r>
            <a:r>
              <a:rPr b="1" lang="fr" sz="700">
                <a:solidFill>
                  <a:srgbClr val="0E9C8A"/>
                </a:solidFill>
                <a:latin typeface="Calibri"/>
                <a:ea typeface="Calibri"/>
                <a:cs typeface="Calibri"/>
                <a:sym typeface="Calibri"/>
              </a:rPr>
              <a:t>→ Kestra</a:t>
            </a:r>
            <a:endParaRPr>
              <a:solidFill>
                <a:srgbClr val="185FA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3" name="Google Shape;803;p50"/>
          <p:cNvSpPr/>
          <p:nvPr/>
        </p:nvSpPr>
        <p:spPr>
          <a:xfrm>
            <a:off x="4697855" y="1494882"/>
            <a:ext cx="1680300" cy="397800"/>
          </a:xfrm>
          <a:prstGeom prst="roundRect">
            <a:avLst>
              <a:gd fmla="val 6000" name="adj"/>
            </a:avLst>
          </a:prstGeom>
          <a:solidFill>
            <a:srgbClr val="185FA5">
              <a:alpha val="6960"/>
            </a:srgbClr>
          </a:solidFill>
          <a:ln cap="flat" cmpd="sng" w="9525">
            <a:solidFill>
              <a:srgbClr val="185FA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900">
                <a:solidFill>
                  <a:srgbClr val="185FA5"/>
                </a:solidFill>
                <a:latin typeface="Cambria"/>
                <a:ea typeface="Cambria"/>
                <a:cs typeface="Cambria"/>
                <a:sym typeface="Cambria"/>
              </a:rPr>
              <a:t>Embeddings</a:t>
            </a:r>
            <a:endParaRPr sz="1100">
              <a:solidFill>
                <a:srgbClr val="185FA5"/>
              </a:solidFill>
            </a:endParaRPr>
          </a:p>
          <a:p>
            <a:pPr indent="0" lvl="0" marL="0" rtl="0" algn="ctr">
              <a:spcBef>
                <a:spcPts val="100"/>
              </a:spcBef>
              <a:spcAft>
                <a:spcPts val="0"/>
              </a:spcAft>
              <a:buNone/>
            </a:pPr>
            <a:r>
              <a:rPr lang="fr" sz="700">
                <a:solidFill>
                  <a:srgbClr val="185FA5"/>
                </a:solidFill>
                <a:latin typeface="Calibri"/>
                <a:ea typeface="Calibri"/>
                <a:cs typeface="Calibri"/>
                <a:sym typeface="Calibri"/>
              </a:rPr>
              <a:t>mistral-embed</a:t>
            </a:r>
            <a:endParaRPr sz="1100">
              <a:solidFill>
                <a:srgbClr val="185FA5"/>
              </a:solidFill>
            </a:endParaRPr>
          </a:p>
        </p:txBody>
      </p:sp>
      <p:sp>
        <p:nvSpPr>
          <p:cNvPr id="804" name="Google Shape;804;p50"/>
          <p:cNvSpPr/>
          <p:nvPr/>
        </p:nvSpPr>
        <p:spPr>
          <a:xfrm>
            <a:off x="6721019" y="1495044"/>
            <a:ext cx="1680300" cy="397800"/>
          </a:xfrm>
          <a:prstGeom prst="roundRect">
            <a:avLst>
              <a:gd fmla="val 6000" name="adj"/>
            </a:avLst>
          </a:prstGeom>
          <a:solidFill>
            <a:srgbClr val="0E9C8A">
              <a:alpha val="7999"/>
            </a:srgbClr>
          </a:solidFill>
          <a:ln cap="flat" cmpd="sng" w="9525">
            <a:solidFill>
              <a:srgbClr val="0E9C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900">
                <a:solidFill>
                  <a:srgbClr val="0E9C8A"/>
                </a:solidFill>
                <a:latin typeface="Cambria"/>
                <a:ea typeface="Cambria"/>
                <a:cs typeface="Cambria"/>
                <a:sym typeface="Cambria"/>
              </a:rPr>
              <a:t>Index vectoriel</a:t>
            </a:r>
            <a:endParaRPr sz="1100">
              <a:solidFill>
                <a:srgbClr val="0E9C8A"/>
              </a:solidFill>
            </a:endParaRPr>
          </a:p>
          <a:p>
            <a:pPr indent="0" lvl="0" marL="0" rtl="0" algn="ctr">
              <a:spcBef>
                <a:spcPts val="200"/>
              </a:spcBef>
              <a:spcAft>
                <a:spcPts val="0"/>
              </a:spcAft>
              <a:buNone/>
            </a:pPr>
            <a:r>
              <a:rPr i="1" lang="fr" sz="700">
                <a:solidFill>
                  <a:srgbClr val="185FA5"/>
                </a:solidFill>
                <a:latin typeface="Calibri"/>
                <a:ea typeface="Calibri"/>
                <a:cs typeface="Calibri"/>
                <a:sym typeface="Calibri"/>
              </a:rPr>
              <a:t>FAISS local </a:t>
            </a:r>
            <a:r>
              <a:rPr b="1" lang="fr" sz="700">
                <a:solidFill>
                  <a:srgbClr val="0E9C8A"/>
                </a:solidFill>
                <a:latin typeface="Calibri"/>
                <a:ea typeface="Calibri"/>
                <a:cs typeface="Calibri"/>
                <a:sym typeface="Calibri"/>
              </a:rPr>
              <a:t>→ pgvector</a:t>
            </a:r>
            <a:endParaRPr>
              <a:solidFill>
                <a:srgbClr val="185FA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5" name="Google Shape;805;p50"/>
          <p:cNvSpPr/>
          <p:nvPr/>
        </p:nvSpPr>
        <p:spPr>
          <a:xfrm>
            <a:off x="480098" y="2016165"/>
            <a:ext cx="2434500" cy="219300"/>
          </a:xfrm>
          <a:prstGeom prst="roundRect">
            <a:avLst>
              <a:gd fmla="val 16667" name="adj"/>
            </a:avLst>
          </a:prstGeom>
          <a:solidFill>
            <a:srgbClr val="185FA5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RUNTIME — réponse à une question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6" name="Google Shape;806;p50"/>
          <p:cNvSpPr/>
          <p:nvPr/>
        </p:nvSpPr>
        <p:spPr>
          <a:xfrm>
            <a:off x="480100" y="2263051"/>
            <a:ext cx="1371600" cy="397800"/>
          </a:xfrm>
          <a:prstGeom prst="roundRect">
            <a:avLst>
              <a:gd fmla="val 6000" name="adj"/>
            </a:avLst>
          </a:prstGeom>
          <a:solidFill>
            <a:srgbClr val="185FA5">
              <a:alpha val="6960"/>
            </a:srgbClr>
          </a:solidFill>
          <a:ln cap="flat" cmpd="sng" w="9525">
            <a:solidFill>
              <a:srgbClr val="185FA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900">
                <a:solidFill>
                  <a:srgbClr val="185FA5"/>
                </a:solidFill>
                <a:latin typeface="Cambria"/>
                <a:ea typeface="Cambria"/>
                <a:cs typeface="Cambria"/>
                <a:sym typeface="Cambria"/>
              </a:rPr>
              <a:t>Utilisateur</a:t>
            </a:r>
            <a:endParaRPr sz="1100">
              <a:solidFill>
                <a:srgbClr val="185FA5"/>
              </a:solidFill>
            </a:endParaRPr>
          </a:p>
          <a:p>
            <a:pPr indent="0" lvl="0" marL="0" rtl="0" algn="ctr">
              <a:spcBef>
                <a:spcPts val="100"/>
              </a:spcBef>
              <a:spcAft>
                <a:spcPts val="0"/>
              </a:spcAft>
              <a:buNone/>
            </a:pPr>
            <a:r>
              <a:rPr lang="fr" sz="700">
                <a:solidFill>
                  <a:srgbClr val="185FA5"/>
                </a:solidFill>
                <a:latin typeface="Calibri"/>
                <a:ea typeface="Calibri"/>
                <a:cs typeface="Calibri"/>
                <a:sym typeface="Calibri"/>
              </a:rPr>
              <a:t>question</a:t>
            </a:r>
            <a:endParaRPr>
              <a:solidFill>
                <a:srgbClr val="185FA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7" name="Google Shape;807;p50"/>
          <p:cNvSpPr/>
          <p:nvPr/>
        </p:nvSpPr>
        <p:spPr>
          <a:xfrm>
            <a:off x="2160350" y="2263051"/>
            <a:ext cx="1371600" cy="397800"/>
          </a:xfrm>
          <a:prstGeom prst="roundRect">
            <a:avLst>
              <a:gd fmla="val 6000" name="adj"/>
            </a:avLst>
          </a:prstGeom>
          <a:solidFill>
            <a:srgbClr val="0E9C8A">
              <a:alpha val="7999"/>
            </a:srgbClr>
          </a:solidFill>
          <a:ln cap="flat" cmpd="sng" w="9525">
            <a:solidFill>
              <a:srgbClr val="0E9C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900">
                <a:solidFill>
                  <a:srgbClr val="0E9C8A"/>
                </a:solidFill>
                <a:latin typeface="Cambria"/>
                <a:ea typeface="Cambria"/>
                <a:cs typeface="Cambria"/>
                <a:sym typeface="Cambria"/>
              </a:rPr>
              <a:t>Interface</a:t>
            </a:r>
            <a:endParaRPr sz="1100">
              <a:solidFill>
                <a:srgbClr val="0E9C8A"/>
              </a:solidFill>
            </a:endParaRPr>
          </a:p>
          <a:p>
            <a:pPr indent="0" lvl="0" marL="0" rtl="0" algn="ctr">
              <a:spcBef>
                <a:spcPts val="200"/>
              </a:spcBef>
              <a:spcAft>
                <a:spcPts val="0"/>
              </a:spcAft>
              <a:buNone/>
            </a:pPr>
            <a:r>
              <a:rPr i="1" lang="fr" sz="700">
                <a:solidFill>
                  <a:srgbClr val="185FA5"/>
                </a:solidFill>
                <a:latin typeface="Calibri"/>
                <a:ea typeface="Calibri"/>
                <a:cs typeface="Calibri"/>
                <a:sym typeface="Calibri"/>
              </a:rPr>
              <a:t>Streamlit / CLI </a:t>
            </a:r>
            <a:r>
              <a:rPr b="1" lang="fr" sz="700">
                <a:solidFill>
                  <a:srgbClr val="0E9C8A"/>
                </a:solidFill>
                <a:latin typeface="Calibri"/>
                <a:ea typeface="Calibri"/>
                <a:cs typeface="Calibri"/>
                <a:sym typeface="Calibri"/>
              </a:rPr>
              <a:t>→ FastAPI · SSE</a:t>
            </a:r>
            <a:endParaRPr>
              <a:solidFill>
                <a:srgbClr val="185FA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8" name="Google Shape;808;p50"/>
          <p:cNvSpPr/>
          <p:nvPr/>
        </p:nvSpPr>
        <p:spPr>
          <a:xfrm>
            <a:off x="3840608" y="2263051"/>
            <a:ext cx="1371600" cy="397800"/>
          </a:xfrm>
          <a:prstGeom prst="roundRect">
            <a:avLst>
              <a:gd fmla="val 6000" name="adj"/>
            </a:avLst>
          </a:prstGeom>
          <a:solidFill>
            <a:srgbClr val="185FA5">
              <a:alpha val="6960"/>
            </a:srgbClr>
          </a:solidFill>
          <a:ln cap="flat" cmpd="sng" w="9525">
            <a:solidFill>
              <a:srgbClr val="185FA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900">
                <a:solidFill>
                  <a:srgbClr val="185FA5"/>
                </a:solidFill>
                <a:latin typeface="Cambria"/>
                <a:ea typeface="Cambria"/>
                <a:cs typeface="Cambria"/>
                <a:sym typeface="Cambria"/>
              </a:rPr>
              <a:t>Retriever hybride</a:t>
            </a:r>
            <a:endParaRPr sz="1100">
              <a:solidFill>
                <a:srgbClr val="185FA5"/>
              </a:solidFill>
            </a:endParaRPr>
          </a:p>
          <a:p>
            <a:pPr indent="0" lvl="0" marL="0" rtl="0" algn="ctr">
              <a:spcBef>
                <a:spcPts val="100"/>
              </a:spcBef>
              <a:spcAft>
                <a:spcPts val="0"/>
              </a:spcAft>
              <a:buNone/>
            </a:pPr>
            <a:r>
              <a:rPr lang="fr" sz="700">
                <a:solidFill>
                  <a:srgbClr val="185FA5"/>
                </a:solidFill>
                <a:latin typeface="Calibri"/>
                <a:ea typeface="Calibri"/>
                <a:cs typeface="Calibri"/>
                <a:sym typeface="Calibri"/>
              </a:rPr>
              <a:t>BM25 + dense (MMR)</a:t>
            </a:r>
            <a:endParaRPr>
              <a:solidFill>
                <a:srgbClr val="185FA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9" name="Google Shape;809;p50"/>
          <p:cNvSpPr/>
          <p:nvPr/>
        </p:nvSpPr>
        <p:spPr>
          <a:xfrm>
            <a:off x="5520865" y="2263051"/>
            <a:ext cx="1371600" cy="397800"/>
          </a:xfrm>
          <a:prstGeom prst="roundRect">
            <a:avLst>
              <a:gd fmla="val 6000" name="adj"/>
            </a:avLst>
          </a:prstGeom>
          <a:solidFill>
            <a:srgbClr val="185FA5">
              <a:alpha val="6960"/>
            </a:srgbClr>
          </a:solidFill>
          <a:ln cap="flat" cmpd="sng" w="9525">
            <a:solidFill>
              <a:srgbClr val="185FA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900">
                <a:solidFill>
                  <a:srgbClr val="185FA5"/>
                </a:solidFill>
                <a:latin typeface="Cambria"/>
                <a:ea typeface="Cambria"/>
                <a:cs typeface="Cambria"/>
                <a:sym typeface="Cambria"/>
              </a:rPr>
              <a:t>mistral-small</a:t>
            </a:r>
            <a:endParaRPr sz="1100">
              <a:solidFill>
                <a:srgbClr val="185FA5"/>
              </a:solidFill>
            </a:endParaRPr>
          </a:p>
          <a:p>
            <a:pPr indent="0" lvl="0" marL="0" rtl="0" algn="ctr">
              <a:spcBef>
                <a:spcPts val="100"/>
              </a:spcBef>
              <a:spcAft>
                <a:spcPts val="0"/>
              </a:spcAft>
              <a:buNone/>
            </a:pPr>
            <a:r>
              <a:rPr lang="fr" sz="700">
                <a:solidFill>
                  <a:srgbClr val="185FA5"/>
                </a:solidFill>
                <a:latin typeface="Calibri"/>
                <a:ea typeface="Calibri"/>
                <a:cs typeface="Calibri"/>
                <a:sym typeface="Calibri"/>
              </a:rPr>
              <a:t>génération · sources</a:t>
            </a:r>
            <a:endParaRPr>
              <a:solidFill>
                <a:srgbClr val="185FA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0" name="Google Shape;810;p50"/>
          <p:cNvSpPr/>
          <p:nvPr/>
        </p:nvSpPr>
        <p:spPr>
          <a:xfrm>
            <a:off x="7201123" y="2263051"/>
            <a:ext cx="1371600" cy="397800"/>
          </a:xfrm>
          <a:prstGeom prst="roundRect">
            <a:avLst>
              <a:gd fmla="val 6000" name="adj"/>
            </a:avLst>
          </a:prstGeom>
          <a:solidFill>
            <a:srgbClr val="185FA5">
              <a:alpha val="6960"/>
            </a:srgbClr>
          </a:solidFill>
          <a:ln cap="flat" cmpd="sng" w="9525">
            <a:solidFill>
              <a:srgbClr val="185FA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900">
                <a:solidFill>
                  <a:srgbClr val="185FA5"/>
                </a:solidFill>
                <a:latin typeface="Cambria"/>
                <a:ea typeface="Cambria"/>
                <a:cs typeface="Cambria"/>
                <a:sym typeface="Cambria"/>
              </a:rPr>
              <a:t>Réponse + sources</a:t>
            </a:r>
            <a:endParaRPr sz="1100">
              <a:solidFill>
                <a:srgbClr val="185FA5"/>
              </a:solidFill>
            </a:endParaRPr>
          </a:p>
          <a:p>
            <a:pPr indent="0" lvl="0" marL="0" rtl="0" algn="ctr">
              <a:spcBef>
                <a:spcPts val="100"/>
              </a:spcBef>
              <a:spcAft>
                <a:spcPts val="0"/>
              </a:spcAft>
              <a:buNone/>
            </a:pPr>
            <a:r>
              <a:rPr lang="fr" sz="700">
                <a:solidFill>
                  <a:srgbClr val="185FA5"/>
                </a:solidFill>
                <a:latin typeface="Calibri"/>
                <a:ea typeface="Calibri"/>
                <a:cs typeface="Calibri"/>
                <a:sym typeface="Calibri"/>
              </a:rPr>
              <a:t>citations</a:t>
            </a:r>
            <a:endParaRPr>
              <a:solidFill>
                <a:srgbClr val="185FA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811" name="Google Shape;811;p50"/>
          <p:cNvCxnSpPr>
            <a:stCxn id="804" idx="2"/>
            <a:endCxn id="808" idx="0"/>
          </p:cNvCxnSpPr>
          <p:nvPr/>
        </p:nvCxnSpPr>
        <p:spPr>
          <a:xfrm flipH="1">
            <a:off x="4526369" y="1892844"/>
            <a:ext cx="3034800" cy="370200"/>
          </a:xfrm>
          <a:prstGeom prst="straightConnector1">
            <a:avLst/>
          </a:prstGeom>
          <a:noFill/>
          <a:ln cap="flat" cmpd="sng" w="15225">
            <a:solidFill>
              <a:srgbClr val="FFFB8C"/>
            </a:solidFill>
            <a:prstDash val="dash"/>
            <a:round/>
            <a:headEnd len="sm" w="sm" type="oval"/>
            <a:tailEnd len="med" w="med" type="oval"/>
          </a:ln>
        </p:spPr>
      </p:cxnSp>
      <p:sp>
        <p:nvSpPr>
          <p:cNvPr id="812" name="Google Shape;812;p50"/>
          <p:cNvSpPr txBox="1"/>
          <p:nvPr/>
        </p:nvSpPr>
        <p:spPr>
          <a:xfrm>
            <a:off x="4764446" y="1938063"/>
            <a:ext cx="1097400" cy="1461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0" spcFirstLastPara="1" rIns="0" wrap="square" tIns="190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fr" sz="700" u="none" cap="none" strike="noStrike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embeddings + métadonnées</a:t>
            </a:r>
            <a:endParaRPr sz="1100">
              <a:solidFill>
                <a:srgbClr val="9CA3AF"/>
              </a:solidFill>
            </a:endParaRPr>
          </a:p>
        </p:txBody>
      </p:sp>
      <p:sp>
        <p:nvSpPr>
          <p:cNvPr id="813" name="Google Shape;813;p50"/>
          <p:cNvSpPr/>
          <p:nvPr/>
        </p:nvSpPr>
        <p:spPr>
          <a:xfrm>
            <a:off x="1417588" y="2775313"/>
            <a:ext cx="1176900" cy="507900"/>
          </a:xfrm>
          <a:prstGeom prst="roundRect">
            <a:avLst>
              <a:gd fmla="val 6000" name="adj"/>
            </a:avLst>
          </a:prstGeom>
          <a:solidFill>
            <a:srgbClr val="923E22">
              <a:alpha val="7999"/>
            </a:srgbClr>
          </a:solidFill>
          <a:ln cap="flat" cmpd="sng" w="7225">
            <a:solidFill>
              <a:srgbClr val="923E22"/>
            </a:solidFill>
            <a:prstDash val="solid"/>
            <a:round/>
            <a:headEnd len="sm" w="sm" type="none"/>
            <a:tailEnd len="sm" w="sm" type="none"/>
          </a:ln>
          <a:effectLst>
            <a:outerShdw blurRad="27293" rotWithShape="0" dir="5400000" dist="11372">
              <a:srgbClr val="8A93A6">
                <a:alpha val="32159"/>
              </a:srgbClr>
            </a:outerShdw>
          </a:effectLst>
        </p:spPr>
        <p:txBody>
          <a:bodyPr anchorCtr="0" anchor="ctr" bIns="20800" lIns="41600" spcFirstLastPara="1" rIns="41600" wrap="square" tIns="208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849" u="none" cap="none" strike="noStrike">
              <a:solidFill>
                <a:srgbClr val="0E9C8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4" name="Google Shape;814;p50"/>
          <p:cNvSpPr/>
          <p:nvPr/>
        </p:nvSpPr>
        <p:spPr>
          <a:xfrm>
            <a:off x="1517417" y="2858501"/>
            <a:ext cx="174600" cy="174600"/>
          </a:xfrm>
          <a:prstGeom prst="ellipse">
            <a:avLst/>
          </a:prstGeom>
          <a:noFill/>
          <a:ln cap="flat" cmpd="sng" w="9525">
            <a:solidFill>
              <a:srgbClr val="923E2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fr" sz="667" u="none" cap="none" strike="noStrike">
                <a:solidFill>
                  <a:srgbClr val="923E22"/>
                </a:solidFill>
                <a:latin typeface="Cambria"/>
                <a:ea typeface="Cambria"/>
                <a:cs typeface="Cambria"/>
                <a:sym typeface="Cambria"/>
              </a:rPr>
              <a:t>1</a:t>
            </a:r>
            <a:endParaRPr sz="667">
              <a:solidFill>
                <a:srgbClr val="923E22"/>
              </a:solidFill>
            </a:endParaRPr>
          </a:p>
        </p:txBody>
      </p:sp>
      <p:sp>
        <p:nvSpPr>
          <p:cNvPr id="815" name="Google Shape;815;p50"/>
          <p:cNvSpPr txBox="1"/>
          <p:nvPr/>
        </p:nvSpPr>
        <p:spPr>
          <a:xfrm>
            <a:off x="1758672" y="2850182"/>
            <a:ext cx="761100" cy="88500"/>
          </a:xfrm>
          <a:prstGeom prst="rect">
            <a:avLst/>
          </a:prstGeom>
          <a:noFill/>
          <a:ln>
            <a:noFill/>
          </a:ln>
        </p:spPr>
        <p:txBody>
          <a:bodyPr anchorCtr="0" anchor="t" bIns="11525" lIns="0" spcFirstLastPara="1" rIns="0" wrap="square" tIns="115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fr" sz="425" u="none" cap="none" strike="noStrike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BESOIN</a:t>
            </a:r>
            <a:endParaRPr sz="667">
              <a:solidFill>
                <a:srgbClr val="9CA3AF"/>
              </a:solidFill>
            </a:endParaRPr>
          </a:p>
        </p:txBody>
      </p:sp>
      <p:sp>
        <p:nvSpPr>
          <p:cNvPr id="816" name="Google Shape;816;p50"/>
          <p:cNvSpPr txBox="1"/>
          <p:nvPr/>
        </p:nvSpPr>
        <p:spPr>
          <a:xfrm>
            <a:off x="1758672" y="2950007"/>
            <a:ext cx="761100" cy="191400"/>
          </a:xfrm>
          <a:prstGeom prst="rect">
            <a:avLst/>
          </a:prstGeom>
          <a:noFill/>
          <a:ln>
            <a:noFill/>
          </a:ln>
        </p:spPr>
        <p:txBody>
          <a:bodyPr anchorCtr="0" anchor="t" bIns="11525" lIns="0" spcFirstLastPara="1" rIns="0" wrap="square" tIns="115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fr" sz="546" u="none" cap="none" strike="noStrike">
                <a:solidFill>
                  <a:srgbClr val="923E22"/>
                </a:solidFill>
                <a:latin typeface="Cambria"/>
                <a:ea typeface="Cambria"/>
                <a:cs typeface="Cambria"/>
                <a:sym typeface="Cambria"/>
              </a:rPr>
              <a:t>Mémoire conversationnelle</a:t>
            </a:r>
            <a:endParaRPr sz="546">
              <a:solidFill>
                <a:srgbClr val="923E22"/>
              </a:solidFill>
            </a:endParaRPr>
          </a:p>
        </p:txBody>
      </p:sp>
      <p:sp>
        <p:nvSpPr>
          <p:cNvPr id="817" name="Google Shape;817;p50"/>
          <p:cNvSpPr txBox="1"/>
          <p:nvPr/>
        </p:nvSpPr>
        <p:spPr>
          <a:xfrm>
            <a:off x="377200" y="233175"/>
            <a:ext cx="1773600" cy="45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9050" lIns="0" spcFirstLastPara="1" rIns="0" wrap="square" tIns="190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1800">
                <a:solidFill>
                  <a:srgbClr val="0E9C8A"/>
                </a:solidFill>
                <a:latin typeface="Calibri"/>
                <a:ea typeface="Calibri"/>
                <a:cs typeface="Calibri"/>
                <a:sym typeface="Calibri"/>
              </a:rPr>
              <a:t>Du POC au MVP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8" name="Google Shape;818;p50"/>
          <p:cNvSpPr txBox="1"/>
          <p:nvPr/>
        </p:nvSpPr>
        <p:spPr>
          <a:xfrm>
            <a:off x="377200" y="675550"/>
            <a:ext cx="37122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9050" lIns="0" spcFirstLastPara="1" rIns="0" wrap="square" tIns="190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1100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Le schéma du POC RAG Puls-Events, augmenté par les besoins</a:t>
            </a:r>
            <a:endParaRPr b="1" sz="1100">
              <a:solidFill>
                <a:srgbClr val="9CA3A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9" name="Google Shape;819;p50"/>
          <p:cNvSpPr txBox="1"/>
          <p:nvPr/>
        </p:nvSpPr>
        <p:spPr>
          <a:xfrm>
            <a:off x="6478515" y="992299"/>
            <a:ext cx="1097400" cy="19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9050" lIns="0" spcFirstLastPara="1" rIns="0" wrap="square" tIns="190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fr" sz="1000" u="none" cap="none" strike="noStrike">
                <a:solidFill>
                  <a:srgbClr val="0E9C8A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r>
              <a:rPr b="1" i="0" lang="fr" sz="1000" u="none" cap="none" strike="noStrike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    </a:t>
            </a:r>
            <a:r>
              <a:rPr b="0" i="0" lang="fr" sz="800" u="none" cap="none" strike="noStrike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fait évoluer</a:t>
            </a:r>
            <a:endParaRPr sz="1100">
              <a:solidFill>
                <a:srgbClr val="9CA3AF"/>
              </a:solidFill>
            </a:endParaRPr>
          </a:p>
        </p:txBody>
      </p:sp>
      <p:sp>
        <p:nvSpPr>
          <p:cNvPr id="820" name="Google Shape;820;p50"/>
          <p:cNvSpPr/>
          <p:nvPr/>
        </p:nvSpPr>
        <p:spPr>
          <a:xfrm>
            <a:off x="2284350" y="1593125"/>
            <a:ext cx="461700" cy="2013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0E9C8A">
              <a:alpha val="60000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1" name="Google Shape;821;p50"/>
          <p:cNvSpPr/>
          <p:nvPr/>
        </p:nvSpPr>
        <p:spPr>
          <a:xfrm>
            <a:off x="4295575" y="1603525"/>
            <a:ext cx="461700" cy="2013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0E9C8A">
              <a:alpha val="60000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2" name="Google Shape;822;p50"/>
          <p:cNvSpPr/>
          <p:nvPr/>
        </p:nvSpPr>
        <p:spPr>
          <a:xfrm>
            <a:off x="6323275" y="1598638"/>
            <a:ext cx="461700" cy="2013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0E9C8A">
              <a:alpha val="60000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3" name="Google Shape;823;p50"/>
          <p:cNvSpPr/>
          <p:nvPr/>
        </p:nvSpPr>
        <p:spPr>
          <a:xfrm>
            <a:off x="6815900" y="2340200"/>
            <a:ext cx="461700" cy="2013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0E9C8A">
              <a:alpha val="60000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4" name="Google Shape;824;p50"/>
          <p:cNvSpPr/>
          <p:nvPr/>
        </p:nvSpPr>
        <p:spPr>
          <a:xfrm>
            <a:off x="1775200" y="2340188"/>
            <a:ext cx="461700" cy="2013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0E9C8A">
              <a:alpha val="60000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5" name="Google Shape;825;p50"/>
          <p:cNvSpPr/>
          <p:nvPr/>
        </p:nvSpPr>
        <p:spPr>
          <a:xfrm>
            <a:off x="5135675" y="2335063"/>
            <a:ext cx="461700" cy="2013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0E9C8A">
              <a:alpha val="60000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6" name="Google Shape;826;p50"/>
          <p:cNvSpPr/>
          <p:nvPr/>
        </p:nvSpPr>
        <p:spPr>
          <a:xfrm>
            <a:off x="3455450" y="2340188"/>
            <a:ext cx="461700" cy="2013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0E9C8A">
              <a:alpha val="60000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7" name="Google Shape;827;p50"/>
          <p:cNvSpPr txBox="1"/>
          <p:nvPr/>
        </p:nvSpPr>
        <p:spPr>
          <a:xfrm>
            <a:off x="377200" y="4945850"/>
            <a:ext cx="999000" cy="166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700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MVP RAG Puls-Events</a:t>
            </a:r>
            <a:endParaRPr sz="700">
              <a:solidFill>
                <a:srgbClr val="9CA3A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2" name="Shape 8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3" name="Google Shape;833;p51"/>
          <p:cNvSpPr/>
          <p:nvPr/>
        </p:nvSpPr>
        <p:spPr>
          <a:xfrm>
            <a:off x="424800" y="2186875"/>
            <a:ext cx="3149700" cy="519300"/>
          </a:xfrm>
          <a:prstGeom prst="roundRect">
            <a:avLst>
              <a:gd fmla="val 6000" name="adj"/>
            </a:avLst>
          </a:prstGeom>
          <a:solidFill>
            <a:srgbClr val="923E22">
              <a:alpha val="7999"/>
            </a:srgbClr>
          </a:solidFill>
          <a:ln cap="flat" cmpd="sng" w="7225">
            <a:solidFill>
              <a:srgbClr val="923E22"/>
            </a:solidFill>
            <a:prstDash val="solid"/>
            <a:round/>
            <a:headEnd len="sm" w="sm" type="none"/>
            <a:tailEnd len="sm" w="sm" type="none"/>
          </a:ln>
          <a:effectLst>
            <a:outerShdw blurRad="27293" rotWithShape="0" dir="5400000" dist="11372">
              <a:srgbClr val="8A93A6">
                <a:alpha val="32159"/>
              </a:srgbClr>
            </a:outerShdw>
          </a:effectLst>
        </p:spPr>
        <p:txBody>
          <a:bodyPr anchorCtr="0" anchor="ctr" bIns="20800" lIns="41600" spcFirstLastPara="1" rIns="41600" wrap="square" tIns="208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849" u="none" cap="none" strike="noStrike">
              <a:solidFill>
                <a:srgbClr val="0E9C8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4" name="Google Shape;834;p51"/>
          <p:cNvSpPr/>
          <p:nvPr/>
        </p:nvSpPr>
        <p:spPr>
          <a:xfrm>
            <a:off x="6478535" y="530960"/>
            <a:ext cx="150900" cy="150900"/>
          </a:xfrm>
          <a:prstGeom prst="roundRect">
            <a:avLst>
              <a:gd fmla="val 16667" name="adj"/>
            </a:avLst>
          </a:prstGeom>
          <a:solidFill>
            <a:srgbClr val="185FA5">
              <a:alpha val="6960"/>
            </a:srgbClr>
          </a:solidFill>
          <a:ln cap="flat" cmpd="sng" w="9525">
            <a:solidFill>
              <a:srgbClr val="185FA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5" name="Google Shape;835;p51"/>
          <p:cNvSpPr txBox="1"/>
          <p:nvPr/>
        </p:nvSpPr>
        <p:spPr>
          <a:xfrm>
            <a:off x="6691151" y="510375"/>
            <a:ext cx="1371600" cy="17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9050" lIns="0" spcFirstLastPara="1" rIns="0" wrap="square" tIns="190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fr" sz="800" u="none" cap="none" strike="noStrike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hérité (</a:t>
            </a:r>
            <a:r>
              <a:rPr lang="fr" sz="900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POC RAG Puls-Events</a:t>
            </a:r>
            <a:r>
              <a:rPr b="0" i="0" lang="fr" sz="800" u="none" cap="none" strike="noStrike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)</a:t>
            </a:r>
            <a:endParaRPr sz="1100">
              <a:solidFill>
                <a:srgbClr val="9CA3AF"/>
              </a:solidFill>
            </a:endParaRPr>
          </a:p>
        </p:txBody>
      </p:sp>
      <p:sp>
        <p:nvSpPr>
          <p:cNvPr id="836" name="Google Shape;836;p51"/>
          <p:cNvSpPr/>
          <p:nvPr/>
        </p:nvSpPr>
        <p:spPr>
          <a:xfrm>
            <a:off x="6478515" y="769260"/>
            <a:ext cx="150900" cy="150900"/>
          </a:xfrm>
          <a:prstGeom prst="roundRect">
            <a:avLst>
              <a:gd fmla="val 16667" name="adj"/>
            </a:avLst>
          </a:prstGeom>
          <a:solidFill>
            <a:srgbClr val="0E9C8A">
              <a:alpha val="7999"/>
            </a:srgbClr>
          </a:solidFill>
          <a:ln cap="flat" cmpd="sng" w="11900">
            <a:solidFill>
              <a:srgbClr val="0E9C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7" name="Google Shape;837;p51"/>
          <p:cNvSpPr txBox="1"/>
          <p:nvPr/>
        </p:nvSpPr>
        <p:spPr>
          <a:xfrm>
            <a:off x="6691125" y="748675"/>
            <a:ext cx="1497900" cy="17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9050" lIns="0" spcFirstLastPara="1" rIns="0" wrap="square" tIns="190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fr" sz="800" u="none" cap="none" strike="noStrike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nouveau (</a:t>
            </a:r>
            <a:r>
              <a:rPr lang="fr" sz="900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MVP RAG Puls-Events</a:t>
            </a:r>
            <a:r>
              <a:rPr b="0" i="0" lang="fr" sz="800" u="none" cap="none" strike="noStrike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)</a:t>
            </a:r>
            <a:endParaRPr sz="1100">
              <a:solidFill>
                <a:srgbClr val="9CA3AF"/>
              </a:solidFill>
            </a:endParaRPr>
          </a:p>
        </p:txBody>
      </p:sp>
      <p:sp>
        <p:nvSpPr>
          <p:cNvPr id="838" name="Google Shape;838;p51"/>
          <p:cNvSpPr/>
          <p:nvPr/>
        </p:nvSpPr>
        <p:spPr>
          <a:xfrm>
            <a:off x="480073" y="1248156"/>
            <a:ext cx="2434500" cy="219300"/>
          </a:xfrm>
          <a:prstGeom prst="roundRect">
            <a:avLst>
              <a:gd fmla="val 16667" name="adj"/>
            </a:avLst>
          </a:prstGeom>
          <a:solidFill>
            <a:srgbClr val="185FA5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BATCH — construction de l'index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9" name="Google Shape;839;p51"/>
          <p:cNvSpPr/>
          <p:nvPr/>
        </p:nvSpPr>
        <p:spPr>
          <a:xfrm>
            <a:off x="651527" y="1495044"/>
            <a:ext cx="1680300" cy="397800"/>
          </a:xfrm>
          <a:prstGeom prst="roundRect">
            <a:avLst>
              <a:gd fmla="val 6000" name="adj"/>
            </a:avLst>
          </a:prstGeom>
          <a:solidFill>
            <a:srgbClr val="185FA5">
              <a:alpha val="6960"/>
            </a:srgbClr>
          </a:solidFill>
          <a:ln cap="flat" cmpd="sng" w="9525">
            <a:solidFill>
              <a:srgbClr val="185FA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900">
                <a:solidFill>
                  <a:srgbClr val="185FA5"/>
                </a:solidFill>
                <a:latin typeface="Cambria"/>
                <a:ea typeface="Cambria"/>
                <a:cs typeface="Cambria"/>
                <a:sym typeface="Cambria"/>
              </a:rPr>
              <a:t>Open Agenda</a:t>
            </a:r>
            <a:endParaRPr sz="1100">
              <a:solidFill>
                <a:srgbClr val="185FA5"/>
              </a:solidFill>
            </a:endParaRPr>
          </a:p>
          <a:p>
            <a:pPr indent="0" lvl="0" marL="0" rtl="0" algn="ctr">
              <a:spcBef>
                <a:spcPts val="100"/>
              </a:spcBef>
              <a:spcAft>
                <a:spcPts val="0"/>
              </a:spcAft>
              <a:buNone/>
            </a:pPr>
            <a:r>
              <a:rPr lang="fr" sz="700">
                <a:solidFill>
                  <a:srgbClr val="185FA5"/>
                </a:solidFill>
                <a:latin typeface="Calibri"/>
                <a:ea typeface="Calibri"/>
                <a:cs typeface="Calibri"/>
                <a:sym typeface="Calibri"/>
              </a:rPr>
              <a:t>API Opendatasoft</a:t>
            </a:r>
            <a:endParaRPr>
              <a:solidFill>
                <a:srgbClr val="185FA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0" name="Google Shape;840;p51"/>
          <p:cNvSpPr/>
          <p:nvPr/>
        </p:nvSpPr>
        <p:spPr>
          <a:xfrm>
            <a:off x="2674691" y="1495044"/>
            <a:ext cx="1680300" cy="397800"/>
          </a:xfrm>
          <a:prstGeom prst="roundRect">
            <a:avLst>
              <a:gd fmla="val 6000" name="adj"/>
            </a:avLst>
          </a:prstGeom>
          <a:solidFill>
            <a:srgbClr val="0E9C8A">
              <a:alpha val="7999"/>
            </a:srgbClr>
          </a:solidFill>
          <a:ln cap="flat" cmpd="sng" w="9525">
            <a:solidFill>
              <a:srgbClr val="0E9C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900">
                <a:solidFill>
                  <a:srgbClr val="0E9C8A"/>
                </a:solidFill>
                <a:latin typeface="Cambria"/>
                <a:ea typeface="Cambria"/>
                <a:cs typeface="Cambria"/>
                <a:sym typeface="Cambria"/>
              </a:rPr>
              <a:t>Ingestion</a:t>
            </a:r>
            <a:endParaRPr sz="1100">
              <a:solidFill>
                <a:srgbClr val="0E9C8A"/>
              </a:solidFill>
            </a:endParaRPr>
          </a:p>
          <a:p>
            <a:pPr indent="0" lvl="0" marL="0" rtl="0" algn="ctr">
              <a:spcBef>
                <a:spcPts val="200"/>
              </a:spcBef>
              <a:spcAft>
                <a:spcPts val="0"/>
              </a:spcAft>
              <a:buNone/>
            </a:pPr>
            <a:r>
              <a:rPr i="1" lang="fr" sz="700">
                <a:solidFill>
                  <a:srgbClr val="185FA5"/>
                </a:solidFill>
                <a:latin typeface="Calibri"/>
                <a:ea typeface="Calibri"/>
                <a:cs typeface="Calibri"/>
                <a:sym typeface="Calibri"/>
              </a:rPr>
              <a:t>script Python </a:t>
            </a:r>
            <a:r>
              <a:rPr b="1" lang="fr" sz="700">
                <a:solidFill>
                  <a:srgbClr val="0E9C8A"/>
                </a:solidFill>
                <a:latin typeface="Calibri"/>
                <a:ea typeface="Calibri"/>
                <a:cs typeface="Calibri"/>
                <a:sym typeface="Calibri"/>
              </a:rPr>
              <a:t>→ Kestra</a:t>
            </a:r>
            <a:endParaRPr>
              <a:solidFill>
                <a:srgbClr val="185FA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1" name="Google Shape;841;p51"/>
          <p:cNvSpPr/>
          <p:nvPr/>
        </p:nvSpPr>
        <p:spPr>
          <a:xfrm>
            <a:off x="4697855" y="1494882"/>
            <a:ext cx="1680300" cy="397800"/>
          </a:xfrm>
          <a:prstGeom prst="roundRect">
            <a:avLst>
              <a:gd fmla="val 6000" name="adj"/>
            </a:avLst>
          </a:prstGeom>
          <a:solidFill>
            <a:srgbClr val="185FA5">
              <a:alpha val="6960"/>
            </a:srgbClr>
          </a:solidFill>
          <a:ln cap="flat" cmpd="sng" w="9525">
            <a:solidFill>
              <a:srgbClr val="185FA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900">
                <a:solidFill>
                  <a:srgbClr val="185FA5"/>
                </a:solidFill>
                <a:latin typeface="Cambria"/>
                <a:ea typeface="Cambria"/>
                <a:cs typeface="Cambria"/>
                <a:sym typeface="Cambria"/>
              </a:rPr>
              <a:t>Embeddings</a:t>
            </a:r>
            <a:endParaRPr sz="1100">
              <a:solidFill>
                <a:srgbClr val="185FA5"/>
              </a:solidFill>
            </a:endParaRPr>
          </a:p>
          <a:p>
            <a:pPr indent="0" lvl="0" marL="0" rtl="0" algn="ctr">
              <a:spcBef>
                <a:spcPts val="100"/>
              </a:spcBef>
              <a:spcAft>
                <a:spcPts val="0"/>
              </a:spcAft>
              <a:buNone/>
            </a:pPr>
            <a:r>
              <a:rPr lang="fr" sz="700">
                <a:solidFill>
                  <a:srgbClr val="185FA5"/>
                </a:solidFill>
                <a:latin typeface="Calibri"/>
                <a:ea typeface="Calibri"/>
                <a:cs typeface="Calibri"/>
                <a:sym typeface="Calibri"/>
              </a:rPr>
              <a:t>mistral-embed</a:t>
            </a:r>
            <a:endParaRPr sz="1100">
              <a:solidFill>
                <a:srgbClr val="185FA5"/>
              </a:solidFill>
            </a:endParaRPr>
          </a:p>
        </p:txBody>
      </p:sp>
      <p:sp>
        <p:nvSpPr>
          <p:cNvPr id="842" name="Google Shape;842;p51"/>
          <p:cNvSpPr/>
          <p:nvPr/>
        </p:nvSpPr>
        <p:spPr>
          <a:xfrm>
            <a:off x="6721019" y="1495044"/>
            <a:ext cx="1680300" cy="397800"/>
          </a:xfrm>
          <a:prstGeom prst="roundRect">
            <a:avLst>
              <a:gd fmla="val 6000" name="adj"/>
            </a:avLst>
          </a:prstGeom>
          <a:solidFill>
            <a:srgbClr val="0E9C8A">
              <a:alpha val="7999"/>
            </a:srgbClr>
          </a:solidFill>
          <a:ln cap="flat" cmpd="sng" w="9525">
            <a:solidFill>
              <a:srgbClr val="0E9C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900">
                <a:solidFill>
                  <a:srgbClr val="0E9C8A"/>
                </a:solidFill>
                <a:latin typeface="Cambria"/>
                <a:ea typeface="Cambria"/>
                <a:cs typeface="Cambria"/>
                <a:sym typeface="Cambria"/>
              </a:rPr>
              <a:t>Index vectoriel</a:t>
            </a:r>
            <a:endParaRPr sz="1100">
              <a:solidFill>
                <a:srgbClr val="0E9C8A"/>
              </a:solidFill>
            </a:endParaRPr>
          </a:p>
          <a:p>
            <a:pPr indent="0" lvl="0" marL="0" rtl="0" algn="ctr">
              <a:spcBef>
                <a:spcPts val="200"/>
              </a:spcBef>
              <a:spcAft>
                <a:spcPts val="0"/>
              </a:spcAft>
              <a:buNone/>
            </a:pPr>
            <a:r>
              <a:rPr i="1" lang="fr" sz="700">
                <a:solidFill>
                  <a:srgbClr val="185FA5"/>
                </a:solidFill>
                <a:latin typeface="Calibri"/>
                <a:ea typeface="Calibri"/>
                <a:cs typeface="Calibri"/>
                <a:sym typeface="Calibri"/>
              </a:rPr>
              <a:t>FAISS local </a:t>
            </a:r>
            <a:r>
              <a:rPr b="1" lang="fr" sz="700">
                <a:solidFill>
                  <a:srgbClr val="0E9C8A"/>
                </a:solidFill>
                <a:latin typeface="Calibri"/>
                <a:ea typeface="Calibri"/>
                <a:cs typeface="Calibri"/>
                <a:sym typeface="Calibri"/>
              </a:rPr>
              <a:t>→ pgvector</a:t>
            </a:r>
            <a:endParaRPr>
              <a:solidFill>
                <a:srgbClr val="185FA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3" name="Google Shape;843;p51"/>
          <p:cNvSpPr/>
          <p:nvPr/>
        </p:nvSpPr>
        <p:spPr>
          <a:xfrm>
            <a:off x="480098" y="2016165"/>
            <a:ext cx="2434500" cy="219300"/>
          </a:xfrm>
          <a:prstGeom prst="roundRect">
            <a:avLst>
              <a:gd fmla="val 16667" name="adj"/>
            </a:avLst>
          </a:prstGeom>
          <a:solidFill>
            <a:srgbClr val="185FA5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RUNTIME — réponse à une question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4" name="Google Shape;844;p51"/>
          <p:cNvSpPr/>
          <p:nvPr/>
        </p:nvSpPr>
        <p:spPr>
          <a:xfrm>
            <a:off x="480100" y="2263051"/>
            <a:ext cx="1371600" cy="397800"/>
          </a:xfrm>
          <a:prstGeom prst="roundRect">
            <a:avLst>
              <a:gd fmla="val 6000" name="adj"/>
            </a:avLst>
          </a:prstGeom>
          <a:solidFill>
            <a:srgbClr val="185FA5">
              <a:alpha val="6960"/>
            </a:srgbClr>
          </a:solidFill>
          <a:ln cap="flat" cmpd="sng" w="9525">
            <a:solidFill>
              <a:srgbClr val="185FA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900">
                <a:solidFill>
                  <a:srgbClr val="185FA5"/>
                </a:solidFill>
                <a:latin typeface="Cambria"/>
                <a:ea typeface="Cambria"/>
                <a:cs typeface="Cambria"/>
                <a:sym typeface="Cambria"/>
              </a:rPr>
              <a:t>Utilisateur</a:t>
            </a:r>
            <a:endParaRPr sz="1100">
              <a:solidFill>
                <a:srgbClr val="185FA5"/>
              </a:solidFill>
            </a:endParaRPr>
          </a:p>
          <a:p>
            <a:pPr indent="0" lvl="0" marL="0" rtl="0" algn="ctr">
              <a:spcBef>
                <a:spcPts val="100"/>
              </a:spcBef>
              <a:spcAft>
                <a:spcPts val="0"/>
              </a:spcAft>
              <a:buNone/>
            </a:pPr>
            <a:r>
              <a:rPr lang="fr" sz="700">
                <a:solidFill>
                  <a:srgbClr val="185FA5"/>
                </a:solidFill>
                <a:latin typeface="Calibri"/>
                <a:ea typeface="Calibri"/>
                <a:cs typeface="Calibri"/>
                <a:sym typeface="Calibri"/>
              </a:rPr>
              <a:t>question</a:t>
            </a:r>
            <a:endParaRPr>
              <a:solidFill>
                <a:srgbClr val="185FA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5" name="Google Shape;845;p51"/>
          <p:cNvSpPr/>
          <p:nvPr/>
        </p:nvSpPr>
        <p:spPr>
          <a:xfrm>
            <a:off x="2160350" y="2263051"/>
            <a:ext cx="1371600" cy="397800"/>
          </a:xfrm>
          <a:prstGeom prst="roundRect">
            <a:avLst>
              <a:gd fmla="val 6000" name="adj"/>
            </a:avLst>
          </a:prstGeom>
          <a:solidFill>
            <a:srgbClr val="0E9C8A">
              <a:alpha val="7999"/>
            </a:srgbClr>
          </a:solidFill>
          <a:ln cap="flat" cmpd="sng" w="9525">
            <a:solidFill>
              <a:srgbClr val="0E9C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900">
                <a:solidFill>
                  <a:srgbClr val="0E9C8A"/>
                </a:solidFill>
                <a:latin typeface="Cambria"/>
                <a:ea typeface="Cambria"/>
                <a:cs typeface="Cambria"/>
                <a:sym typeface="Cambria"/>
              </a:rPr>
              <a:t>Interface</a:t>
            </a:r>
            <a:endParaRPr sz="1100">
              <a:solidFill>
                <a:srgbClr val="0E9C8A"/>
              </a:solidFill>
            </a:endParaRPr>
          </a:p>
          <a:p>
            <a:pPr indent="0" lvl="0" marL="0" rtl="0" algn="ctr">
              <a:spcBef>
                <a:spcPts val="200"/>
              </a:spcBef>
              <a:spcAft>
                <a:spcPts val="0"/>
              </a:spcAft>
              <a:buNone/>
            </a:pPr>
            <a:r>
              <a:rPr i="1" lang="fr" sz="700">
                <a:solidFill>
                  <a:srgbClr val="185FA5"/>
                </a:solidFill>
                <a:latin typeface="Calibri"/>
                <a:ea typeface="Calibri"/>
                <a:cs typeface="Calibri"/>
                <a:sym typeface="Calibri"/>
              </a:rPr>
              <a:t>Streamlit / CLI </a:t>
            </a:r>
            <a:r>
              <a:rPr b="1" lang="fr" sz="700">
                <a:solidFill>
                  <a:srgbClr val="0E9C8A"/>
                </a:solidFill>
                <a:latin typeface="Calibri"/>
                <a:ea typeface="Calibri"/>
                <a:cs typeface="Calibri"/>
                <a:sym typeface="Calibri"/>
              </a:rPr>
              <a:t>→ FastAPI · SSE</a:t>
            </a:r>
            <a:endParaRPr>
              <a:solidFill>
                <a:srgbClr val="185FA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6" name="Google Shape;846;p51"/>
          <p:cNvSpPr/>
          <p:nvPr/>
        </p:nvSpPr>
        <p:spPr>
          <a:xfrm>
            <a:off x="3840608" y="2263051"/>
            <a:ext cx="1371600" cy="397800"/>
          </a:xfrm>
          <a:prstGeom prst="roundRect">
            <a:avLst>
              <a:gd fmla="val 6000" name="adj"/>
            </a:avLst>
          </a:prstGeom>
          <a:solidFill>
            <a:srgbClr val="185FA5">
              <a:alpha val="6960"/>
            </a:srgbClr>
          </a:solidFill>
          <a:ln cap="flat" cmpd="sng" w="9525">
            <a:solidFill>
              <a:srgbClr val="185FA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900">
                <a:solidFill>
                  <a:srgbClr val="185FA5"/>
                </a:solidFill>
                <a:latin typeface="Cambria"/>
                <a:ea typeface="Cambria"/>
                <a:cs typeface="Cambria"/>
                <a:sym typeface="Cambria"/>
              </a:rPr>
              <a:t>Retriever hybride</a:t>
            </a:r>
            <a:endParaRPr sz="1100">
              <a:solidFill>
                <a:srgbClr val="185FA5"/>
              </a:solidFill>
            </a:endParaRPr>
          </a:p>
          <a:p>
            <a:pPr indent="0" lvl="0" marL="0" rtl="0" algn="ctr">
              <a:spcBef>
                <a:spcPts val="100"/>
              </a:spcBef>
              <a:spcAft>
                <a:spcPts val="0"/>
              </a:spcAft>
              <a:buNone/>
            </a:pPr>
            <a:r>
              <a:rPr lang="fr" sz="700">
                <a:solidFill>
                  <a:srgbClr val="185FA5"/>
                </a:solidFill>
                <a:latin typeface="Calibri"/>
                <a:ea typeface="Calibri"/>
                <a:cs typeface="Calibri"/>
                <a:sym typeface="Calibri"/>
              </a:rPr>
              <a:t>BM25 + dense (MMR)</a:t>
            </a:r>
            <a:endParaRPr>
              <a:solidFill>
                <a:srgbClr val="185FA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7" name="Google Shape;847;p51"/>
          <p:cNvSpPr/>
          <p:nvPr/>
        </p:nvSpPr>
        <p:spPr>
          <a:xfrm>
            <a:off x="5520865" y="2263051"/>
            <a:ext cx="1371600" cy="397800"/>
          </a:xfrm>
          <a:prstGeom prst="roundRect">
            <a:avLst>
              <a:gd fmla="val 6000" name="adj"/>
            </a:avLst>
          </a:prstGeom>
          <a:solidFill>
            <a:srgbClr val="185FA5">
              <a:alpha val="6960"/>
            </a:srgbClr>
          </a:solidFill>
          <a:ln cap="flat" cmpd="sng" w="9525">
            <a:solidFill>
              <a:srgbClr val="185FA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900">
                <a:solidFill>
                  <a:srgbClr val="185FA5"/>
                </a:solidFill>
                <a:latin typeface="Cambria"/>
                <a:ea typeface="Cambria"/>
                <a:cs typeface="Cambria"/>
                <a:sym typeface="Cambria"/>
              </a:rPr>
              <a:t>mistral-small</a:t>
            </a:r>
            <a:endParaRPr sz="1100">
              <a:solidFill>
                <a:srgbClr val="185FA5"/>
              </a:solidFill>
            </a:endParaRPr>
          </a:p>
          <a:p>
            <a:pPr indent="0" lvl="0" marL="0" rtl="0" algn="ctr">
              <a:spcBef>
                <a:spcPts val="100"/>
              </a:spcBef>
              <a:spcAft>
                <a:spcPts val="0"/>
              </a:spcAft>
              <a:buNone/>
            </a:pPr>
            <a:r>
              <a:rPr lang="fr" sz="700">
                <a:solidFill>
                  <a:srgbClr val="185FA5"/>
                </a:solidFill>
                <a:latin typeface="Calibri"/>
                <a:ea typeface="Calibri"/>
                <a:cs typeface="Calibri"/>
                <a:sym typeface="Calibri"/>
              </a:rPr>
              <a:t>génération · sources</a:t>
            </a:r>
            <a:endParaRPr>
              <a:solidFill>
                <a:srgbClr val="185FA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8" name="Google Shape;848;p51"/>
          <p:cNvSpPr/>
          <p:nvPr/>
        </p:nvSpPr>
        <p:spPr>
          <a:xfrm>
            <a:off x="7201123" y="2263051"/>
            <a:ext cx="1371600" cy="397800"/>
          </a:xfrm>
          <a:prstGeom prst="roundRect">
            <a:avLst>
              <a:gd fmla="val 6000" name="adj"/>
            </a:avLst>
          </a:prstGeom>
          <a:solidFill>
            <a:srgbClr val="185FA5">
              <a:alpha val="6960"/>
            </a:srgbClr>
          </a:solidFill>
          <a:ln cap="flat" cmpd="sng" w="9525">
            <a:solidFill>
              <a:srgbClr val="185FA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900">
                <a:solidFill>
                  <a:srgbClr val="185FA5"/>
                </a:solidFill>
                <a:latin typeface="Cambria"/>
                <a:ea typeface="Cambria"/>
                <a:cs typeface="Cambria"/>
                <a:sym typeface="Cambria"/>
              </a:rPr>
              <a:t>Réponse + sources</a:t>
            </a:r>
            <a:endParaRPr sz="1100">
              <a:solidFill>
                <a:srgbClr val="185FA5"/>
              </a:solidFill>
            </a:endParaRPr>
          </a:p>
          <a:p>
            <a:pPr indent="0" lvl="0" marL="0" rtl="0" algn="ctr">
              <a:spcBef>
                <a:spcPts val="100"/>
              </a:spcBef>
              <a:spcAft>
                <a:spcPts val="0"/>
              </a:spcAft>
              <a:buNone/>
            </a:pPr>
            <a:r>
              <a:rPr lang="fr" sz="700">
                <a:solidFill>
                  <a:srgbClr val="185FA5"/>
                </a:solidFill>
                <a:latin typeface="Calibri"/>
                <a:ea typeface="Calibri"/>
                <a:cs typeface="Calibri"/>
                <a:sym typeface="Calibri"/>
              </a:rPr>
              <a:t>citations</a:t>
            </a:r>
            <a:endParaRPr>
              <a:solidFill>
                <a:srgbClr val="185FA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849" name="Google Shape;849;p51"/>
          <p:cNvCxnSpPr>
            <a:stCxn id="842" idx="2"/>
            <a:endCxn id="846" idx="0"/>
          </p:cNvCxnSpPr>
          <p:nvPr/>
        </p:nvCxnSpPr>
        <p:spPr>
          <a:xfrm flipH="1">
            <a:off x="4526369" y="1892844"/>
            <a:ext cx="3034800" cy="370200"/>
          </a:xfrm>
          <a:prstGeom prst="straightConnector1">
            <a:avLst/>
          </a:prstGeom>
          <a:noFill/>
          <a:ln cap="flat" cmpd="sng" w="15225">
            <a:solidFill>
              <a:srgbClr val="FFFB8C"/>
            </a:solidFill>
            <a:prstDash val="dash"/>
            <a:round/>
            <a:headEnd len="sm" w="sm" type="oval"/>
            <a:tailEnd len="med" w="med" type="oval"/>
          </a:ln>
        </p:spPr>
      </p:cxnSp>
      <p:sp>
        <p:nvSpPr>
          <p:cNvPr id="850" name="Google Shape;850;p51"/>
          <p:cNvSpPr txBox="1"/>
          <p:nvPr/>
        </p:nvSpPr>
        <p:spPr>
          <a:xfrm>
            <a:off x="4764446" y="1938063"/>
            <a:ext cx="1097400" cy="1461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0" spcFirstLastPara="1" rIns="0" wrap="square" tIns="190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fr" sz="700" u="none" cap="none" strike="noStrike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embeddings + métadonnées</a:t>
            </a:r>
            <a:endParaRPr sz="1100">
              <a:solidFill>
                <a:srgbClr val="9CA3AF"/>
              </a:solidFill>
            </a:endParaRPr>
          </a:p>
        </p:txBody>
      </p:sp>
      <p:sp>
        <p:nvSpPr>
          <p:cNvPr id="851" name="Google Shape;851;p51"/>
          <p:cNvSpPr/>
          <p:nvPr/>
        </p:nvSpPr>
        <p:spPr>
          <a:xfrm>
            <a:off x="1417588" y="2775313"/>
            <a:ext cx="1176900" cy="507900"/>
          </a:xfrm>
          <a:prstGeom prst="roundRect">
            <a:avLst>
              <a:gd fmla="val 6000" name="adj"/>
            </a:avLst>
          </a:prstGeom>
          <a:solidFill>
            <a:srgbClr val="923E22">
              <a:alpha val="7999"/>
            </a:srgbClr>
          </a:solidFill>
          <a:ln cap="flat" cmpd="sng" w="7225">
            <a:solidFill>
              <a:srgbClr val="923E22"/>
            </a:solidFill>
            <a:prstDash val="solid"/>
            <a:round/>
            <a:headEnd len="sm" w="sm" type="none"/>
            <a:tailEnd len="sm" w="sm" type="none"/>
          </a:ln>
          <a:effectLst>
            <a:outerShdw blurRad="27293" rotWithShape="0" dir="5400000" dist="11372">
              <a:srgbClr val="8A93A6">
                <a:alpha val="32159"/>
              </a:srgbClr>
            </a:outerShdw>
          </a:effectLst>
        </p:spPr>
        <p:txBody>
          <a:bodyPr anchorCtr="0" anchor="ctr" bIns="20800" lIns="41600" spcFirstLastPara="1" rIns="41600" wrap="square" tIns="208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849" u="none" cap="none" strike="noStrike">
              <a:solidFill>
                <a:srgbClr val="0E9C8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2" name="Google Shape;852;p51"/>
          <p:cNvSpPr/>
          <p:nvPr/>
        </p:nvSpPr>
        <p:spPr>
          <a:xfrm>
            <a:off x="1517417" y="2858501"/>
            <a:ext cx="174600" cy="174600"/>
          </a:xfrm>
          <a:prstGeom prst="ellipse">
            <a:avLst/>
          </a:prstGeom>
          <a:noFill/>
          <a:ln cap="flat" cmpd="sng" w="9525">
            <a:solidFill>
              <a:srgbClr val="923E2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fr" sz="667" u="none" cap="none" strike="noStrike">
                <a:solidFill>
                  <a:srgbClr val="923E22"/>
                </a:solidFill>
                <a:latin typeface="Cambria"/>
                <a:ea typeface="Cambria"/>
                <a:cs typeface="Cambria"/>
                <a:sym typeface="Cambria"/>
              </a:rPr>
              <a:t>1</a:t>
            </a:r>
            <a:endParaRPr sz="667">
              <a:solidFill>
                <a:srgbClr val="923E22"/>
              </a:solidFill>
            </a:endParaRPr>
          </a:p>
        </p:txBody>
      </p:sp>
      <p:sp>
        <p:nvSpPr>
          <p:cNvPr id="853" name="Google Shape;853;p51"/>
          <p:cNvSpPr txBox="1"/>
          <p:nvPr/>
        </p:nvSpPr>
        <p:spPr>
          <a:xfrm>
            <a:off x="1758672" y="2850182"/>
            <a:ext cx="761100" cy="88500"/>
          </a:xfrm>
          <a:prstGeom prst="rect">
            <a:avLst/>
          </a:prstGeom>
          <a:noFill/>
          <a:ln>
            <a:noFill/>
          </a:ln>
        </p:spPr>
        <p:txBody>
          <a:bodyPr anchorCtr="0" anchor="t" bIns="11525" lIns="0" spcFirstLastPara="1" rIns="0" wrap="square" tIns="115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fr" sz="425" u="none" cap="none" strike="noStrike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BESOIN</a:t>
            </a:r>
            <a:endParaRPr sz="667">
              <a:solidFill>
                <a:srgbClr val="9CA3AF"/>
              </a:solidFill>
            </a:endParaRPr>
          </a:p>
        </p:txBody>
      </p:sp>
      <p:sp>
        <p:nvSpPr>
          <p:cNvPr id="854" name="Google Shape;854;p51"/>
          <p:cNvSpPr txBox="1"/>
          <p:nvPr/>
        </p:nvSpPr>
        <p:spPr>
          <a:xfrm>
            <a:off x="1758672" y="2950007"/>
            <a:ext cx="761100" cy="191400"/>
          </a:xfrm>
          <a:prstGeom prst="rect">
            <a:avLst/>
          </a:prstGeom>
          <a:noFill/>
          <a:ln>
            <a:noFill/>
          </a:ln>
        </p:spPr>
        <p:txBody>
          <a:bodyPr anchorCtr="0" anchor="t" bIns="11525" lIns="0" spcFirstLastPara="1" rIns="0" wrap="square" tIns="115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fr" sz="546" u="none" cap="none" strike="noStrike">
                <a:solidFill>
                  <a:srgbClr val="923E22"/>
                </a:solidFill>
                <a:latin typeface="Cambria"/>
                <a:ea typeface="Cambria"/>
                <a:cs typeface="Cambria"/>
                <a:sym typeface="Cambria"/>
              </a:rPr>
              <a:t>Mémoire conversationnelle</a:t>
            </a:r>
            <a:endParaRPr sz="546">
              <a:solidFill>
                <a:srgbClr val="923E22"/>
              </a:solidFill>
            </a:endParaRPr>
          </a:p>
        </p:txBody>
      </p:sp>
      <p:sp>
        <p:nvSpPr>
          <p:cNvPr id="855" name="Google Shape;855;p51"/>
          <p:cNvSpPr/>
          <p:nvPr/>
        </p:nvSpPr>
        <p:spPr>
          <a:xfrm>
            <a:off x="3332581" y="2787251"/>
            <a:ext cx="1176900" cy="507900"/>
          </a:xfrm>
          <a:prstGeom prst="roundRect">
            <a:avLst>
              <a:gd fmla="val 6000" name="adj"/>
            </a:avLst>
          </a:prstGeom>
          <a:solidFill>
            <a:srgbClr val="CCC743">
              <a:alpha val="7999"/>
            </a:srgbClr>
          </a:solidFill>
          <a:ln cap="flat" cmpd="sng" w="7225">
            <a:solidFill>
              <a:srgbClr val="CCC743"/>
            </a:solidFill>
            <a:prstDash val="solid"/>
            <a:round/>
            <a:headEnd len="sm" w="sm" type="none"/>
            <a:tailEnd len="sm" w="sm" type="none"/>
          </a:ln>
          <a:effectLst>
            <a:outerShdw blurRad="27293" rotWithShape="0" dir="5400000" dist="11372">
              <a:srgbClr val="8A93A6">
                <a:alpha val="32159"/>
              </a:srgbClr>
            </a:outerShdw>
          </a:effectLst>
        </p:spPr>
        <p:txBody>
          <a:bodyPr anchorCtr="0" anchor="ctr" bIns="20800" lIns="41600" spcFirstLastPara="1" rIns="41600" wrap="square" tIns="208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849" u="none" cap="none" strike="noStrike">
              <a:solidFill>
                <a:srgbClr val="0E9C8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6" name="Google Shape;856;p51"/>
          <p:cNvSpPr/>
          <p:nvPr/>
        </p:nvSpPr>
        <p:spPr>
          <a:xfrm>
            <a:off x="3432411" y="2870438"/>
            <a:ext cx="174600" cy="174600"/>
          </a:xfrm>
          <a:prstGeom prst="ellipse">
            <a:avLst/>
          </a:prstGeom>
          <a:noFill/>
          <a:ln cap="flat" cmpd="sng" w="9525">
            <a:solidFill>
              <a:srgbClr val="CCC74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fr" sz="667" u="none" cap="none" strike="noStrike">
                <a:solidFill>
                  <a:srgbClr val="CCC743"/>
                </a:solidFill>
                <a:latin typeface="Cambria"/>
                <a:ea typeface="Cambria"/>
                <a:cs typeface="Cambria"/>
                <a:sym typeface="Cambria"/>
              </a:rPr>
              <a:t>2</a:t>
            </a:r>
            <a:endParaRPr sz="667">
              <a:solidFill>
                <a:srgbClr val="CCC743"/>
              </a:solidFill>
            </a:endParaRPr>
          </a:p>
        </p:txBody>
      </p:sp>
      <p:sp>
        <p:nvSpPr>
          <p:cNvPr id="857" name="Google Shape;857;p51"/>
          <p:cNvSpPr txBox="1"/>
          <p:nvPr/>
        </p:nvSpPr>
        <p:spPr>
          <a:xfrm>
            <a:off x="3673665" y="2862120"/>
            <a:ext cx="761100" cy="88500"/>
          </a:xfrm>
          <a:prstGeom prst="rect">
            <a:avLst/>
          </a:prstGeom>
          <a:noFill/>
          <a:ln>
            <a:noFill/>
          </a:ln>
        </p:spPr>
        <p:txBody>
          <a:bodyPr anchorCtr="0" anchor="t" bIns="11525" lIns="0" spcFirstLastPara="1" rIns="0" wrap="square" tIns="115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fr" sz="425" u="none" cap="none" strike="noStrike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BESOIN</a:t>
            </a:r>
            <a:endParaRPr sz="667">
              <a:solidFill>
                <a:srgbClr val="9CA3AF"/>
              </a:solidFill>
            </a:endParaRPr>
          </a:p>
        </p:txBody>
      </p:sp>
      <p:sp>
        <p:nvSpPr>
          <p:cNvPr id="858" name="Google Shape;858;p51"/>
          <p:cNvSpPr txBox="1"/>
          <p:nvPr/>
        </p:nvSpPr>
        <p:spPr>
          <a:xfrm>
            <a:off x="3673665" y="2961945"/>
            <a:ext cx="761100" cy="107400"/>
          </a:xfrm>
          <a:prstGeom prst="rect">
            <a:avLst/>
          </a:prstGeom>
          <a:noFill/>
          <a:ln>
            <a:noFill/>
          </a:ln>
        </p:spPr>
        <p:txBody>
          <a:bodyPr anchorCtr="0" anchor="t" bIns="11525" lIns="0" spcFirstLastPara="1" rIns="0" wrap="square" tIns="115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fr" sz="546" u="none" cap="none" strike="noStrike">
                <a:solidFill>
                  <a:srgbClr val="CCC743"/>
                </a:solidFill>
                <a:latin typeface="Cambria"/>
                <a:ea typeface="Cambria"/>
                <a:cs typeface="Cambria"/>
                <a:sym typeface="Cambria"/>
              </a:rPr>
              <a:t>Contexte géographique</a:t>
            </a:r>
            <a:endParaRPr sz="546">
              <a:solidFill>
                <a:srgbClr val="CCC743"/>
              </a:solidFill>
            </a:endParaRPr>
          </a:p>
        </p:txBody>
      </p:sp>
      <p:sp>
        <p:nvSpPr>
          <p:cNvPr id="859" name="Google Shape;859;p51"/>
          <p:cNvSpPr/>
          <p:nvPr/>
        </p:nvSpPr>
        <p:spPr>
          <a:xfrm>
            <a:off x="4634525" y="2787251"/>
            <a:ext cx="1176900" cy="507900"/>
          </a:xfrm>
          <a:prstGeom prst="roundRect">
            <a:avLst>
              <a:gd fmla="val 6000" name="adj"/>
            </a:avLst>
          </a:prstGeom>
          <a:solidFill>
            <a:srgbClr val="CCC743">
              <a:alpha val="7999"/>
            </a:srgbClr>
          </a:solidFill>
          <a:ln cap="flat" cmpd="sng" w="7225">
            <a:solidFill>
              <a:srgbClr val="CCC743"/>
            </a:solidFill>
            <a:prstDash val="solid"/>
            <a:round/>
            <a:headEnd len="sm" w="sm" type="none"/>
            <a:tailEnd len="sm" w="sm" type="none"/>
          </a:ln>
          <a:effectLst>
            <a:outerShdw blurRad="27293" rotWithShape="0" dir="5400000" dist="11372">
              <a:srgbClr val="8A93A6">
                <a:alpha val="32159"/>
              </a:srgbClr>
            </a:outerShdw>
          </a:effectLst>
        </p:spPr>
        <p:txBody>
          <a:bodyPr anchorCtr="0" anchor="ctr" bIns="20800" lIns="41600" spcFirstLastPara="1" rIns="41600" wrap="square" tIns="208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849" u="none" cap="none" strike="noStrike">
              <a:solidFill>
                <a:srgbClr val="0E9C8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0" name="Google Shape;860;p51"/>
          <p:cNvSpPr/>
          <p:nvPr/>
        </p:nvSpPr>
        <p:spPr>
          <a:xfrm>
            <a:off x="4734354" y="2870438"/>
            <a:ext cx="174600" cy="174600"/>
          </a:xfrm>
          <a:prstGeom prst="ellipse">
            <a:avLst/>
          </a:prstGeom>
          <a:noFill/>
          <a:ln cap="flat" cmpd="sng" w="9525">
            <a:solidFill>
              <a:srgbClr val="CCC74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fr" sz="667" u="none" cap="none" strike="noStrike">
                <a:solidFill>
                  <a:srgbClr val="CCC743"/>
                </a:solidFill>
                <a:latin typeface="Cambria"/>
                <a:ea typeface="Cambria"/>
                <a:cs typeface="Cambria"/>
                <a:sym typeface="Cambria"/>
              </a:rPr>
              <a:t>3</a:t>
            </a:r>
            <a:endParaRPr sz="667">
              <a:solidFill>
                <a:srgbClr val="CCC743"/>
              </a:solidFill>
            </a:endParaRPr>
          </a:p>
        </p:txBody>
      </p:sp>
      <p:sp>
        <p:nvSpPr>
          <p:cNvPr id="861" name="Google Shape;861;p51"/>
          <p:cNvSpPr txBox="1"/>
          <p:nvPr/>
        </p:nvSpPr>
        <p:spPr>
          <a:xfrm>
            <a:off x="4975609" y="2862120"/>
            <a:ext cx="761100" cy="88500"/>
          </a:xfrm>
          <a:prstGeom prst="rect">
            <a:avLst/>
          </a:prstGeom>
          <a:noFill/>
          <a:ln>
            <a:noFill/>
          </a:ln>
        </p:spPr>
        <p:txBody>
          <a:bodyPr anchorCtr="0" anchor="t" bIns="11525" lIns="0" spcFirstLastPara="1" rIns="0" wrap="square" tIns="115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fr" sz="425" u="none" cap="none" strike="noStrike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BESOIN</a:t>
            </a:r>
            <a:endParaRPr sz="667">
              <a:solidFill>
                <a:srgbClr val="9CA3AF"/>
              </a:solidFill>
            </a:endParaRPr>
          </a:p>
        </p:txBody>
      </p:sp>
      <p:sp>
        <p:nvSpPr>
          <p:cNvPr id="862" name="Google Shape;862;p51"/>
          <p:cNvSpPr txBox="1"/>
          <p:nvPr/>
        </p:nvSpPr>
        <p:spPr>
          <a:xfrm>
            <a:off x="4975609" y="2961945"/>
            <a:ext cx="761100" cy="107400"/>
          </a:xfrm>
          <a:prstGeom prst="rect">
            <a:avLst/>
          </a:prstGeom>
          <a:noFill/>
          <a:ln>
            <a:noFill/>
          </a:ln>
        </p:spPr>
        <p:txBody>
          <a:bodyPr anchorCtr="0" anchor="t" bIns="11525" lIns="0" spcFirstLastPara="1" rIns="0" wrap="square" tIns="115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fr" sz="546" u="none" cap="none" strike="noStrike">
                <a:solidFill>
                  <a:srgbClr val="CCC743"/>
                </a:solidFill>
                <a:latin typeface="Cambria"/>
                <a:ea typeface="Cambria"/>
                <a:cs typeface="Cambria"/>
                <a:sym typeface="Cambria"/>
              </a:rPr>
              <a:t>Web temps réel</a:t>
            </a:r>
            <a:endParaRPr sz="546">
              <a:solidFill>
                <a:srgbClr val="CCC743"/>
              </a:solidFill>
            </a:endParaRPr>
          </a:p>
        </p:txBody>
      </p:sp>
      <p:sp>
        <p:nvSpPr>
          <p:cNvPr id="863" name="Google Shape;863;p51"/>
          <p:cNvSpPr txBox="1"/>
          <p:nvPr/>
        </p:nvSpPr>
        <p:spPr>
          <a:xfrm>
            <a:off x="377200" y="233175"/>
            <a:ext cx="1773600" cy="45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9050" lIns="0" spcFirstLastPara="1" rIns="0" wrap="square" tIns="190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1800">
                <a:solidFill>
                  <a:srgbClr val="0E9C8A"/>
                </a:solidFill>
                <a:latin typeface="Calibri"/>
                <a:ea typeface="Calibri"/>
                <a:cs typeface="Calibri"/>
                <a:sym typeface="Calibri"/>
              </a:rPr>
              <a:t>Du POC au MVP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4" name="Google Shape;864;p51"/>
          <p:cNvSpPr txBox="1"/>
          <p:nvPr/>
        </p:nvSpPr>
        <p:spPr>
          <a:xfrm>
            <a:off x="377200" y="675550"/>
            <a:ext cx="37122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9050" lIns="0" spcFirstLastPara="1" rIns="0" wrap="square" tIns="190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1100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Le schéma du POC RAG Puls-Events, augmenté par les besoins</a:t>
            </a:r>
            <a:endParaRPr b="1" sz="1100">
              <a:solidFill>
                <a:srgbClr val="9CA3A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5" name="Google Shape;865;p51"/>
          <p:cNvSpPr txBox="1"/>
          <p:nvPr/>
        </p:nvSpPr>
        <p:spPr>
          <a:xfrm>
            <a:off x="6478515" y="992299"/>
            <a:ext cx="1097400" cy="19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9050" lIns="0" spcFirstLastPara="1" rIns="0" wrap="square" tIns="190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fr" sz="1000" u="none" cap="none" strike="noStrike">
                <a:solidFill>
                  <a:srgbClr val="0E9C8A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r>
              <a:rPr b="1" i="0" lang="fr" sz="1000" u="none" cap="none" strike="noStrike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    </a:t>
            </a:r>
            <a:r>
              <a:rPr b="0" i="0" lang="fr" sz="800" u="none" cap="none" strike="noStrike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fait évoluer</a:t>
            </a:r>
            <a:endParaRPr sz="1100">
              <a:solidFill>
                <a:srgbClr val="9CA3AF"/>
              </a:solidFill>
            </a:endParaRPr>
          </a:p>
        </p:txBody>
      </p:sp>
      <p:sp>
        <p:nvSpPr>
          <p:cNvPr id="866" name="Google Shape;866;p51"/>
          <p:cNvSpPr/>
          <p:nvPr/>
        </p:nvSpPr>
        <p:spPr>
          <a:xfrm>
            <a:off x="2284350" y="1593125"/>
            <a:ext cx="461700" cy="2013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0E9C8A">
              <a:alpha val="60000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7" name="Google Shape;867;p51"/>
          <p:cNvSpPr/>
          <p:nvPr/>
        </p:nvSpPr>
        <p:spPr>
          <a:xfrm>
            <a:off x="4295575" y="1603525"/>
            <a:ext cx="461700" cy="2013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0E9C8A">
              <a:alpha val="60000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8" name="Google Shape;868;p51"/>
          <p:cNvSpPr/>
          <p:nvPr/>
        </p:nvSpPr>
        <p:spPr>
          <a:xfrm>
            <a:off x="6323275" y="1598638"/>
            <a:ext cx="461700" cy="2013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0E9C8A">
              <a:alpha val="60000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9" name="Google Shape;869;p51"/>
          <p:cNvSpPr/>
          <p:nvPr/>
        </p:nvSpPr>
        <p:spPr>
          <a:xfrm>
            <a:off x="6815900" y="2340200"/>
            <a:ext cx="461700" cy="2013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0E9C8A">
              <a:alpha val="60000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0" name="Google Shape;870;p51"/>
          <p:cNvSpPr/>
          <p:nvPr/>
        </p:nvSpPr>
        <p:spPr>
          <a:xfrm>
            <a:off x="1775200" y="2340188"/>
            <a:ext cx="461700" cy="2013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0E9C8A">
              <a:alpha val="60000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1" name="Google Shape;871;p51"/>
          <p:cNvSpPr/>
          <p:nvPr/>
        </p:nvSpPr>
        <p:spPr>
          <a:xfrm>
            <a:off x="5135675" y="2335063"/>
            <a:ext cx="461700" cy="2013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0E9C8A">
              <a:alpha val="60000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2" name="Google Shape;872;p51"/>
          <p:cNvSpPr/>
          <p:nvPr/>
        </p:nvSpPr>
        <p:spPr>
          <a:xfrm>
            <a:off x="3455450" y="2340188"/>
            <a:ext cx="461700" cy="2013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0E9C8A">
              <a:alpha val="60000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3" name="Google Shape;873;p51"/>
          <p:cNvSpPr txBox="1"/>
          <p:nvPr/>
        </p:nvSpPr>
        <p:spPr>
          <a:xfrm>
            <a:off x="377200" y="4945850"/>
            <a:ext cx="999000" cy="166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700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MVP RAG Puls-Events</a:t>
            </a:r>
            <a:endParaRPr sz="700">
              <a:solidFill>
                <a:srgbClr val="9CA3A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8" name="Shape 8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9" name="Google Shape;879;p52"/>
          <p:cNvSpPr/>
          <p:nvPr/>
        </p:nvSpPr>
        <p:spPr>
          <a:xfrm>
            <a:off x="424800" y="2186875"/>
            <a:ext cx="3149700" cy="519300"/>
          </a:xfrm>
          <a:prstGeom prst="roundRect">
            <a:avLst>
              <a:gd fmla="val 6000" name="adj"/>
            </a:avLst>
          </a:prstGeom>
          <a:solidFill>
            <a:srgbClr val="923E22">
              <a:alpha val="7999"/>
            </a:srgbClr>
          </a:solidFill>
          <a:ln cap="flat" cmpd="sng" w="7225">
            <a:solidFill>
              <a:srgbClr val="923E22"/>
            </a:solidFill>
            <a:prstDash val="solid"/>
            <a:round/>
            <a:headEnd len="sm" w="sm" type="none"/>
            <a:tailEnd len="sm" w="sm" type="none"/>
          </a:ln>
          <a:effectLst>
            <a:outerShdw blurRad="27293" rotWithShape="0" dir="5400000" dist="11372">
              <a:srgbClr val="8A93A6">
                <a:alpha val="32159"/>
              </a:srgbClr>
            </a:outerShdw>
          </a:effectLst>
        </p:spPr>
        <p:txBody>
          <a:bodyPr anchorCtr="0" anchor="ctr" bIns="20800" lIns="41600" spcFirstLastPara="1" rIns="41600" wrap="square" tIns="208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849" u="none" cap="none" strike="noStrike">
              <a:solidFill>
                <a:srgbClr val="0E9C8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0" name="Google Shape;880;p52"/>
          <p:cNvSpPr/>
          <p:nvPr/>
        </p:nvSpPr>
        <p:spPr>
          <a:xfrm>
            <a:off x="6478535" y="530960"/>
            <a:ext cx="150900" cy="150900"/>
          </a:xfrm>
          <a:prstGeom prst="roundRect">
            <a:avLst>
              <a:gd fmla="val 16667" name="adj"/>
            </a:avLst>
          </a:prstGeom>
          <a:solidFill>
            <a:srgbClr val="185FA5">
              <a:alpha val="6960"/>
            </a:srgbClr>
          </a:solidFill>
          <a:ln cap="flat" cmpd="sng" w="9525">
            <a:solidFill>
              <a:srgbClr val="185FA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1" name="Google Shape;881;p52"/>
          <p:cNvSpPr txBox="1"/>
          <p:nvPr/>
        </p:nvSpPr>
        <p:spPr>
          <a:xfrm>
            <a:off x="6691151" y="510375"/>
            <a:ext cx="1371600" cy="17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9050" lIns="0" spcFirstLastPara="1" rIns="0" wrap="square" tIns="190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fr" sz="800" u="none" cap="none" strike="noStrike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hérité (</a:t>
            </a:r>
            <a:r>
              <a:rPr lang="fr" sz="900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POC RAG Puls-Events</a:t>
            </a:r>
            <a:r>
              <a:rPr b="0" i="0" lang="fr" sz="800" u="none" cap="none" strike="noStrike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)</a:t>
            </a:r>
            <a:endParaRPr sz="1100">
              <a:solidFill>
                <a:srgbClr val="9CA3AF"/>
              </a:solidFill>
            </a:endParaRPr>
          </a:p>
        </p:txBody>
      </p:sp>
      <p:sp>
        <p:nvSpPr>
          <p:cNvPr id="882" name="Google Shape;882;p52"/>
          <p:cNvSpPr/>
          <p:nvPr/>
        </p:nvSpPr>
        <p:spPr>
          <a:xfrm>
            <a:off x="6478515" y="769260"/>
            <a:ext cx="150900" cy="150900"/>
          </a:xfrm>
          <a:prstGeom prst="roundRect">
            <a:avLst>
              <a:gd fmla="val 16667" name="adj"/>
            </a:avLst>
          </a:prstGeom>
          <a:solidFill>
            <a:srgbClr val="0E9C8A">
              <a:alpha val="7999"/>
            </a:srgbClr>
          </a:solidFill>
          <a:ln cap="flat" cmpd="sng" w="11900">
            <a:solidFill>
              <a:srgbClr val="0E9C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3" name="Google Shape;883;p52"/>
          <p:cNvSpPr txBox="1"/>
          <p:nvPr/>
        </p:nvSpPr>
        <p:spPr>
          <a:xfrm>
            <a:off x="6691125" y="748675"/>
            <a:ext cx="1497900" cy="17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9050" lIns="0" spcFirstLastPara="1" rIns="0" wrap="square" tIns="190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fr" sz="800" u="none" cap="none" strike="noStrike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nouveau (</a:t>
            </a:r>
            <a:r>
              <a:rPr lang="fr" sz="900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MVP RAG Puls-Events</a:t>
            </a:r>
            <a:r>
              <a:rPr b="0" i="0" lang="fr" sz="800" u="none" cap="none" strike="noStrike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)</a:t>
            </a:r>
            <a:endParaRPr sz="1100">
              <a:solidFill>
                <a:srgbClr val="9CA3AF"/>
              </a:solidFill>
            </a:endParaRPr>
          </a:p>
        </p:txBody>
      </p:sp>
      <p:sp>
        <p:nvSpPr>
          <p:cNvPr id="884" name="Google Shape;884;p52"/>
          <p:cNvSpPr/>
          <p:nvPr/>
        </p:nvSpPr>
        <p:spPr>
          <a:xfrm>
            <a:off x="480073" y="1248156"/>
            <a:ext cx="2434500" cy="219300"/>
          </a:xfrm>
          <a:prstGeom prst="roundRect">
            <a:avLst>
              <a:gd fmla="val 16667" name="adj"/>
            </a:avLst>
          </a:prstGeom>
          <a:solidFill>
            <a:srgbClr val="185FA5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BATCH — construction de l'index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5" name="Google Shape;885;p52"/>
          <p:cNvSpPr/>
          <p:nvPr/>
        </p:nvSpPr>
        <p:spPr>
          <a:xfrm>
            <a:off x="651527" y="1495044"/>
            <a:ext cx="1680300" cy="397800"/>
          </a:xfrm>
          <a:prstGeom prst="roundRect">
            <a:avLst>
              <a:gd fmla="val 6000" name="adj"/>
            </a:avLst>
          </a:prstGeom>
          <a:solidFill>
            <a:srgbClr val="185FA5">
              <a:alpha val="6960"/>
            </a:srgbClr>
          </a:solidFill>
          <a:ln cap="flat" cmpd="sng" w="9525">
            <a:solidFill>
              <a:srgbClr val="185FA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900">
                <a:solidFill>
                  <a:srgbClr val="185FA5"/>
                </a:solidFill>
                <a:latin typeface="Cambria"/>
                <a:ea typeface="Cambria"/>
                <a:cs typeface="Cambria"/>
                <a:sym typeface="Cambria"/>
              </a:rPr>
              <a:t>Open Agenda</a:t>
            </a:r>
            <a:endParaRPr sz="1100">
              <a:solidFill>
                <a:srgbClr val="185FA5"/>
              </a:solidFill>
            </a:endParaRPr>
          </a:p>
          <a:p>
            <a:pPr indent="0" lvl="0" marL="0" rtl="0" algn="ctr">
              <a:spcBef>
                <a:spcPts val="100"/>
              </a:spcBef>
              <a:spcAft>
                <a:spcPts val="0"/>
              </a:spcAft>
              <a:buNone/>
            </a:pPr>
            <a:r>
              <a:rPr lang="fr" sz="700">
                <a:solidFill>
                  <a:srgbClr val="185FA5"/>
                </a:solidFill>
                <a:latin typeface="Calibri"/>
                <a:ea typeface="Calibri"/>
                <a:cs typeface="Calibri"/>
                <a:sym typeface="Calibri"/>
              </a:rPr>
              <a:t>API Opendatasoft</a:t>
            </a:r>
            <a:endParaRPr>
              <a:solidFill>
                <a:srgbClr val="185FA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6" name="Google Shape;886;p52"/>
          <p:cNvSpPr/>
          <p:nvPr/>
        </p:nvSpPr>
        <p:spPr>
          <a:xfrm>
            <a:off x="2674691" y="1495044"/>
            <a:ext cx="1680300" cy="397800"/>
          </a:xfrm>
          <a:prstGeom prst="roundRect">
            <a:avLst>
              <a:gd fmla="val 6000" name="adj"/>
            </a:avLst>
          </a:prstGeom>
          <a:solidFill>
            <a:srgbClr val="0E9C8A">
              <a:alpha val="7999"/>
            </a:srgbClr>
          </a:solidFill>
          <a:ln cap="flat" cmpd="sng" w="9525">
            <a:solidFill>
              <a:srgbClr val="0E9C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900">
                <a:solidFill>
                  <a:srgbClr val="0E9C8A"/>
                </a:solidFill>
                <a:latin typeface="Cambria"/>
                <a:ea typeface="Cambria"/>
                <a:cs typeface="Cambria"/>
                <a:sym typeface="Cambria"/>
              </a:rPr>
              <a:t>Ingestion</a:t>
            </a:r>
            <a:endParaRPr sz="1100">
              <a:solidFill>
                <a:srgbClr val="0E9C8A"/>
              </a:solidFill>
            </a:endParaRPr>
          </a:p>
          <a:p>
            <a:pPr indent="0" lvl="0" marL="0" rtl="0" algn="ctr">
              <a:spcBef>
                <a:spcPts val="200"/>
              </a:spcBef>
              <a:spcAft>
                <a:spcPts val="0"/>
              </a:spcAft>
              <a:buNone/>
            </a:pPr>
            <a:r>
              <a:rPr i="1" lang="fr" sz="700">
                <a:solidFill>
                  <a:srgbClr val="185FA5"/>
                </a:solidFill>
                <a:latin typeface="Calibri"/>
                <a:ea typeface="Calibri"/>
                <a:cs typeface="Calibri"/>
                <a:sym typeface="Calibri"/>
              </a:rPr>
              <a:t>script Python </a:t>
            </a:r>
            <a:r>
              <a:rPr b="1" lang="fr" sz="700">
                <a:solidFill>
                  <a:srgbClr val="0E9C8A"/>
                </a:solidFill>
                <a:latin typeface="Calibri"/>
                <a:ea typeface="Calibri"/>
                <a:cs typeface="Calibri"/>
                <a:sym typeface="Calibri"/>
              </a:rPr>
              <a:t>→ Kestra</a:t>
            </a:r>
            <a:endParaRPr>
              <a:solidFill>
                <a:srgbClr val="185FA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7" name="Google Shape;887;p52"/>
          <p:cNvSpPr/>
          <p:nvPr/>
        </p:nvSpPr>
        <p:spPr>
          <a:xfrm>
            <a:off x="4697855" y="1494882"/>
            <a:ext cx="1680300" cy="397800"/>
          </a:xfrm>
          <a:prstGeom prst="roundRect">
            <a:avLst>
              <a:gd fmla="val 6000" name="adj"/>
            </a:avLst>
          </a:prstGeom>
          <a:solidFill>
            <a:srgbClr val="185FA5">
              <a:alpha val="6960"/>
            </a:srgbClr>
          </a:solidFill>
          <a:ln cap="flat" cmpd="sng" w="9525">
            <a:solidFill>
              <a:srgbClr val="185FA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900">
                <a:solidFill>
                  <a:srgbClr val="185FA5"/>
                </a:solidFill>
                <a:latin typeface="Cambria"/>
                <a:ea typeface="Cambria"/>
                <a:cs typeface="Cambria"/>
                <a:sym typeface="Cambria"/>
              </a:rPr>
              <a:t>Embeddings</a:t>
            </a:r>
            <a:endParaRPr sz="1100">
              <a:solidFill>
                <a:srgbClr val="185FA5"/>
              </a:solidFill>
            </a:endParaRPr>
          </a:p>
          <a:p>
            <a:pPr indent="0" lvl="0" marL="0" rtl="0" algn="ctr">
              <a:spcBef>
                <a:spcPts val="100"/>
              </a:spcBef>
              <a:spcAft>
                <a:spcPts val="0"/>
              </a:spcAft>
              <a:buNone/>
            </a:pPr>
            <a:r>
              <a:rPr lang="fr" sz="700">
                <a:solidFill>
                  <a:srgbClr val="185FA5"/>
                </a:solidFill>
                <a:latin typeface="Calibri"/>
                <a:ea typeface="Calibri"/>
                <a:cs typeface="Calibri"/>
                <a:sym typeface="Calibri"/>
              </a:rPr>
              <a:t>mistral-embed</a:t>
            </a:r>
            <a:endParaRPr sz="1100">
              <a:solidFill>
                <a:srgbClr val="185FA5"/>
              </a:solidFill>
            </a:endParaRPr>
          </a:p>
        </p:txBody>
      </p:sp>
      <p:sp>
        <p:nvSpPr>
          <p:cNvPr id="888" name="Google Shape;888;p52"/>
          <p:cNvSpPr/>
          <p:nvPr/>
        </p:nvSpPr>
        <p:spPr>
          <a:xfrm>
            <a:off x="6721019" y="1495044"/>
            <a:ext cx="1680300" cy="397800"/>
          </a:xfrm>
          <a:prstGeom prst="roundRect">
            <a:avLst>
              <a:gd fmla="val 6000" name="adj"/>
            </a:avLst>
          </a:prstGeom>
          <a:solidFill>
            <a:srgbClr val="0E9C8A">
              <a:alpha val="7999"/>
            </a:srgbClr>
          </a:solidFill>
          <a:ln cap="flat" cmpd="sng" w="9525">
            <a:solidFill>
              <a:srgbClr val="0E9C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900">
                <a:solidFill>
                  <a:srgbClr val="0E9C8A"/>
                </a:solidFill>
                <a:latin typeface="Cambria"/>
                <a:ea typeface="Cambria"/>
                <a:cs typeface="Cambria"/>
                <a:sym typeface="Cambria"/>
              </a:rPr>
              <a:t>Index vectoriel</a:t>
            </a:r>
            <a:endParaRPr sz="1100">
              <a:solidFill>
                <a:srgbClr val="0E9C8A"/>
              </a:solidFill>
            </a:endParaRPr>
          </a:p>
          <a:p>
            <a:pPr indent="0" lvl="0" marL="0" rtl="0" algn="ctr">
              <a:spcBef>
                <a:spcPts val="200"/>
              </a:spcBef>
              <a:spcAft>
                <a:spcPts val="0"/>
              </a:spcAft>
              <a:buNone/>
            </a:pPr>
            <a:r>
              <a:rPr i="1" lang="fr" sz="700">
                <a:solidFill>
                  <a:srgbClr val="185FA5"/>
                </a:solidFill>
                <a:latin typeface="Calibri"/>
                <a:ea typeface="Calibri"/>
                <a:cs typeface="Calibri"/>
                <a:sym typeface="Calibri"/>
              </a:rPr>
              <a:t>FAISS local </a:t>
            </a:r>
            <a:r>
              <a:rPr b="1" lang="fr" sz="700">
                <a:solidFill>
                  <a:srgbClr val="0E9C8A"/>
                </a:solidFill>
                <a:latin typeface="Calibri"/>
                <a:ea typeface="Calibri"/>
                <a:cs typeface="Calibri"/>
                <a:sym typeface="Calibri"/>
              </a:rPr>
              <a:t>→ pgvector</a:t>
            </a:r>
            <a:endParaRPr>
              <a:solidFill>
                <a:srgbClr val="185FA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9" name="Google Shape;889;p52"/>
          <p:cNvSpPr/>
          <p:nvPr/>
        </p:nvSpPr>
        <p:spPr>
          <a:xfrm>
            <a:off x="480098" y="2016165"/>
            <a:ext cx="2434500" cy="219300"/>
          </a:xfrm>
          <a:prstGeom prst="roundRect">
            <a:avLst>
              <a:gd fmla="val 16667" name="adj"/>
            </a:avLst>
          </a:prstGeom>
          <a:solidFill>
            <a:srgbClr val="185FA5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RUNTIME — réponse à une question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0" name="Google Shape;890;p52"/>
          <p:cNvSpPr/>
          <p:nvPr/>
        </p:nvSpPr>
        <p:spPr>
          <a:xfrm>
            <a:off x="480100" y="2263051"/>
            <a:ext cx="1371600" cy="397800"/>
          </a:xfrm>
          <a:prstGeom prst="roundRect">
            <a:avLst>
              <a:gd fmla="val 6000" name="adj"/>
            </a:avLst>
          </a:prstGeom>
          <a:solidFill>
            <a:srgbClr val="185FA5">
              <a:alpha val="6960"/>
            </a:srgbClr>
          </a:solidFill>
          <a:ln cap="flat" cmpd="sng" w="9525">
            <a:solidFill>
              <a:srgbClr val="185FA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900">
                <a:solidFill>
                  <a:srgbClr val="185FA5"/>
                </a:solidFill>
                <a:latin typeface="Cambria"/>
                <a:ea typeface="Cambria"/>
                <a:cs typeface="Cambria"/>
                <a:sym typeface="Cambria"/>
              </a:rPr>
              <a:t>Utilisateur</a:t>
            </a:r>
            <a:endParaRPr sz="1100">
              <a:solidFill>
                <a:srgbClr val="185FA5"/>
              </a:solidFill>
            </a:endParaRPr>
          </a:p>
          <a:p>
            <a:pPr indent="0" lvl="0" marL="0" rtl="0" algn="ctr">
              <a:spcBef>
                <a:spcPts val="100"/>
              </a:spcBef>
              <a:spcAft>
                <a:spcPts val="0"/>
              </a:spcAft>
              <a:buNone/>
            </a:pPr>
            <a:r>
              <a:rPr lang="fr" sz="700">
                <a:solidFill>
                  <a:srgbClr val="185FA5"/>
                </a:solidFill>
                <a:latin typeface="Calibri"/>
                <a:ea typeface="Calibri"/>
                <a:cs typeface="Calibri"/>
                <a:sym typeface="Calibri"/>
              </a:rPr>
              <a:t>question</a:t>
            </a:r>
            <a:endParaRPr>
              <a:solidFill>
                <a:srgbClr val="185FA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1" name="Google Shape;891;p52"/>
          <p:cNvSpPr/>
          <p:nvPr/>
        </p:nvSpPr>
        <p:spPr>
          <a:xfrm>
            <a:off x="2160350" y="2263051"/>
            <a:ext cx="1371600" cy="397800"/>
          </a:xfrm>
          <a:prstGeom prst="roundRect">
            <a:avLst>
              <a:gd fmla="val 6000" name="adj"/>
            </a:avLst>
          </a:prstGeom>
          <a:solidFill>
            <a:srgbClr val="0E9C8A">
              <a:alpha val="7999"/>
            </a:srgbClr>
          </a:solidFill>
          <a:ln cap="flat" cmpd="sng" w="9525">
            <a:solidFill>
              <a:srgbClr val="0E9C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900">
                <a:solidFill>
                  <a:srgbClr val="0E9C8A"/>
                </a:solidFill>
                <a:latin typeface="Cambria"/>
                <a:ea typeface="Cambria"/>
                <a:cs typeface="Cambria"/>
                <a:sym typeface="Cambria"/>
              </a:rPr>
              <a:t>Interface</a:t>
            </a:r>
            <a:endParaRPr sz="1100">
              <a:solidFill>
                <a:srgbClr val="0E9C8A"/>
              </a:solidFill>
            </a:endParaRPr>
          </a:p>
          <a:p>
            <a:pPr indent="0" lvl="0" marL="0" rtl="0" algn="ctr">
              <a:spcBef>
                <a:spcPts val="200"/>
              </a:spcBef>
              <a:spcAft>
                <a:spcPts val="0"/>
              </a:spcAft>
              <a:buNone/>
            </a:pPr>
            <a:r>
              <a:rPr i="1" lang="fr" sz="700">
                <a:solidFill>
                  <a:srgbClr val="185FA5"/>
                </a:solidFill>
                <a:latin typeface="Calibri"/>
                <a:ea typeface="Calibri"/>
                <a:cs typeface="Calibri"/>
                <a:sym typeface="Calibri"/>
              </a:rPr>
              <a:t>Streamlit / CLI </a:t>
            </a:r>
            <a:r>
              <a:rPr b="1" lang="fr" sz="700">
                <a:solidFill>
                  <a:srgbClr val="0E9C8A"/>
                </a:solidFill>
                <a:latin typeface="Calibri"/>
                <a:ea typeface="Calibri"/>
                <a:cs typeface="Calibri"/>
                <a:sym typeface="Calibri"/>
              </a:rPr>
              <a:t>→ FastAPI · SSE</a:t>
            </a:r>
            <a:endParaRPr>
              <a:solidFill>
                <a:srgbClr val="185FA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2" name="Google Shape;892;p52"/>
          <p:cNvSpPr/>
          <p:nvPr/>
        </p:nvSpPr>
        <p:spPr>
          <a:xfrm>
            <a:off x="3840608" y="2263051"/>
            <a:ext cx="1371600" cy="397800"/>
          </a:xfrm>
          <a:prstGeom prst="roundRect">
            <a:avLst>
              <a:gd fmla="val 6000" name="adj"/>
            </a:avLst>
          </a:prstGeom>
          <a:solidFill>
            <a:srgbClr val="185FA5">
              <a:alpha val="6960"/>
            </a:srgbClr>
          </a:solidFill>
          <a:ln cap="flat" cmpd="sng" w="9525">
            <a:solidFill>
              <a:srgbClr val="185FA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900">
                <a:solidFill>
                  <a:srgbClr val="185FA5"/>
                </a:solidFill>
                <a:latin typeface="Cambria"/>
                <a:ea typeface="Cambria"/>
                <a:cs typeface="Cambria"/>
                <a:sym typeface="Cambria"/>
              </a:rPr>
              <a:t>Retriever hybride</a:t>
            </a:r>
            <a:endParaRPr sz="1100">
              <a:solidFill>
                <a:srgbClr val="185FA5"/>
              </a:solidFill>
            </a:endParaRPr>
          </a:p>
          <a:p>
            <a:pPr indent="0" lvl="0" marL="0" rtl="0" algn="ctr">
              <a:spcBef>
                <a:spcPts val="100"/>
              </a:spcBef>
              <a:spcAft>
                <a:spcPts val="0"/>
              </a:spcAft>
              <a:buNone/>
            </a:pPr>
            <a:r>
              <a:rPr lang="fr" sz="700">
                <a:solidFill>
                  <a:srgbClr val="185FA5"/>
                </a:solidFill>
                <a:latin typeface="Calibri"/>
                <a:ea typeface="Calibri"/>
                <a:cs typeface="Calibri"/>
                <a:sym typeface="Calibri"/>
              </a:rPr>
              <a:t>BM25 + dense (MMR)</a:t>
            </a:r>
            <a:endParaRPr>
              <a:solidFill>
                <a:srgbClr val="185FA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3" name="Google Shape;893;p52"/>
          <p:cNvSpPr/>
          <p:nvPr/>
        </p:nvSpPr>
        <p:spPr>
          <a:xfrm>
            <a:off x="5520865" y="2263051"/>
            <a:ext cx="1371600" cy="397800"/>
          </a:xfrm>
          <a:prstGeom prst="roundRect">
            <a:avLst>
              <a:gd fmla="val 6000" name="adj"/>
            </a:avLst>
          </a:prstGeom>
          <a:solidFill>
            <a:srgbClr val="185FA5">
              <a:alpha val="6960"/>
            </a:srgbClr>
          </a:solidFill>
          <a:ln cap="flat" cmpd="sng" w="9525">
            <a:solidFill>
              <a:srgbClr val="185FA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900">
                <a:solidFill>
                  <a:srgbClr val="185FA5"/>
                </a:solidFill>
                <a:latin typeface="Cambria"/>
                <a:ea typeface="Cambria"/>
                <a:cs typeface="Cambria"/>
                <a:sym typeface="Cambria"/>
              </a:rPr>
              <a:t>mistral-small</a:t>
            </a:r>
            <a:endParaRPr sz="1100">
              <a:solidFill>
                <a:srgbClr val="185FA5"/>
              </a:solidFill>
            </a:endParaRPr>
          </a:p>
          <a:p>
            <a:pPr indent="0" lvl="0" marL="0" rtl="0" algn="ctr">
              <a:spcBef>
                <a:spcPts val="100"/>
              </a:spcBef>
              <a:spcAft>
                <a:spcPts val="0"/>
              </a:spcAft>
              <a:buNone/>
            </a:pPr>
            <a:r>
              <a:rPr lang="fr" sz="700">
                <a:solidFill>
                  <a:srgbClr val="185FA5"/>
                </a:solidFill>
                <a:latin typeface="Calibri"/>
                <a:ea typeface="Calibri"/>
                <a:cs typeface="Calibri"/>
                <a:sym typeface="Calibri"/>
              </a:rPr>
              <a:t>génération · sources</a:t>
            </a:r>
            <a:endParaRPr>
              <a:solidFill>
                <a:srgbClr val="185FA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4" name="Google Shape;894;p52"/>
          <p:cNvSpPr/>
          <p:nvPr/>
        </p:nvSpPr>
        <p:spPr>
          <a:xfrm>
            <a:off x="7201123" y="2263051"/>
            <a:ext cx="1371600" cy="397800"/>
          </a:xfrm>
          <a:prstGeom prst="roundRect">
            <a:avLst>
              <a:gd fmla="val 6000" name="adj"/>
            </a:avLst>
          </a:prstGeom>
          <a:solidFill>
            <a:srgbClr val="185FA5">
              <a:alpha val="6960"/>
            </a:srgbClr>
          </a:solidFill>
          <a:ln cap="flat" cmpd="sng" w="9525">
            <a:solidFill>
              <a:srgbClr val="185FA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900">
                <a:solidFill>
                  <a:srgbClr val="185FA5"/>
                </a:solidFill>
                <a:latin typeface="Cambria"/>
                <a:ea typeface="Cambria"/>
                <a:cs typeface="Cambria"/>
                <a:sym typeface="Cambria"/>
              </a:rPr>
              <a:t>Réponse + sources</a:t>
            </a:r>
            <a:endParaRPr sz="1100">
              <a:solidFill>
                <a:srgbClr val="185FA5"/>
              </a:solidFill>
            </a:endParaRPr>
          </a:p>
          <a:p>
            <a:pPr indent="0" lvl="0" marL="0" rtl="0" algn="ctr">
              <a:spcBef>
                <a:spcPts val="100"/>
              </a:spcBef>
              <a:spcAft>
                <a:spcPts val="0"/>
              </a:spcAft>
              <a:buNone/>
            </a:pPr>
            <a:r>
              <a:rPr lang="fr" sz="700">
                <a:solidFill>
                  <a:srgbClr val="185FA5"/>
                </a:solidFill>
                <a:latin typeface="Calibri"/>
                <a:ea typeface="Calibri"/>
                <a:cs typeface="Calibri"/>
                <a:sym typeface="Calibri"/>
              </a:rPr>
              <a:t>citations</a:t>
            </a:r>
            <a:endParaRPr>
              <a:solidFill>
                <a:srgbClr val="185FA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895" name="Google Shape;895;p52"/>
          <p:cNvCxnSpPr>
            <a:stCxn id="888" idx="2"/>
            <a:endCxn id="892" idx="0"/>
          </p:cNvCxnSpPr>
          <p:nvPr/>
        </p:nvCxnSpPr>
        <p:spPr>
          <a:xfrm flipH="1">
            <a:off x="4526369" y="1892844"/>
            <a:ext cx="3034800" cy="370200"/>
          </a:xfrm>
          <a:prstGeom prst="straightConnector1">
            <a:avLst/>
          </a:prstGeom>
          <a:noFill/>
          <a:ln cap="flat" cmpd="sng" w="15225">
            <a:solidFill>
              <a:srgbClr val="FFFB8C"/>
            </a:solidFill>
            <a:prstDash val="dash"/>
            <a:round/>
            <a:headEnd len="sm" w="sm" type="oval"/>
            <a:tailEnd len="med" w="med" type="oval"/>
          </a:ln>
        </p:spPr>
      </p:cxnSp>
      <p:sp>
        <p:nvSpPr>
          <p:cNvPr id="896" name="Google Shape;896;p52"/>
          <p:cNvSpPr txBox="1"/>
          <p:nvPr/>
        </p:nvSpPr>
        <p:spPr>
          <a:xfrm>
            <a:off x="4764446" y="1938063"/>
            <a:ext cx="1097400" cy="1461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0" spcFirstLastPara="1" rIns="0" wrap="square" tIns="190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fr" sz="700" u="none" cap="none" strike="noStrike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embeddings + métadonnées</a:t>
            </a:r>
            <a:endParaRPr sz="1100">
              <a:solidFill>
                <a:srgbClr val="9CA3AF"/>
              </a:solidFill>
            </a:endParaRPr>
          </a:p>
        </p:txBody>
      </p:sp>
      <p:sp>
        <p:nvSpPr>
          <p:cNvPr id="897" name="Google Shape;897;p52"/>
          <p:cNvSpPr/>
          <p:nvPr/>
        </p:nvSpPr>
        <p:spPr>
          <a:xfrm>
            <a:off x="1417588" y="2775313"/>
            <a:ext cx="1176900" cy="507900"/>
          </a:xfrm>
          <a:prstGeom prst="roundRect">
            <a:avLst>
              <a:gd fmla="val 6000" name="adj"/>
            </a:avLst>
          </a:prstGeom>
          <a:solidFill>
            <a:srgbClr val="923E22">
              <a:alpha val="7999"/>
            </a:srgbClr>
          </a:solidFill>
          <a:ln cap="flat" cmpd="sng" w="7225">
            <a:solidFill>
              <a:srgbClr val="923E22"/>
            </a:solidFill>
            <a:prstDash val="solid"/>
            <a:round/>
            <a:headEnd len="sm" w="sm" type="none"/>
            <a:tailEnd len="sm" w="sm" type="none"/>
          </a:ln>
          <a:effectLst>
            <a:outerShdw blurRad="27293" rotWithShape="0" dir="5400000" dist="11372">
              <a:srgbClr val="8A93A6">
                <a:alpha val="32159"/>
              </a:srgbClr>
            </a:outerShdw>
          </a:effectLst>
        </p:spPr>
        <p:txBody>
          <a:bodyPr anchorCtr="0" anchor="ctr" bIns="20800" lIns="41600" spcFirstLastPara="1" rIns="41600" wrap="square" tIns="208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849" u="none" cap="none" strike="noStrike">
              <a:solidFill>
                <a:srgbClr val="0E9C8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8" name="Google Shape;898;p52"/>
          <p:cNvSpPr/>
          <p:nvPr/>
        </p:nvSpPr>
        <p:spPr>
          <a:xfrm>
            <a:off x="1517417" y="2858501"/>
            <a:ext cx="174600" cy="174600"/>
          </a:xfrm>
          <a:prstGeom prst="ellipse">
            <a:avLst/>
          </a:prstGeom>
          <a:noFill/>
          <a:ln cap="flat" cmpd="sng" w="9525">
            <a:solidFill>
              <a:srgbClr val="923E2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fr" sz="667" u="none" cap="none" strike="noStrike">
                <a:solidFill>
                  <a:srgbClr val="923E22"/>
                </a:solidFill>
                <a:latin typeface="Cambria"/>
                <a:ea typeface="Cambria"/>
                <a:cs typeface="Cambria"/>
                <a:sym typeface="Cambria"/>
              </a:rPr>
              <a:t>1</a:t>
            </a:r>
            <a:endParaRPr sz="667">
              <a:solidFill>
                <a:srgbClr val="923E22"/>
              </a:solidFill>
            </a:endParaRPr>
          </a:p>
        </p:txBody>
      </p:sp>
      <p:sp>
        <p:nvSpPr>
          <p:cNvPr id="899" name="Google Shape;899;p52"/>
          <p:cNvSpPr txBox="1"/>
          <p:nvPr/>
        </p:nvSpPr>
        <p:spPr>
          <a:xfrm>
            <a:off x="1758672" y="2850182"/>
            <a:ext cx="761100" cy="88500"/>
          </a:xfrm>
          <a:prstGeom prst="rect">
            <a:avLst/>
          </a:prstGeom>
          <a:noFill/>
          <a:ln>
            <a:noFill/>
          </a:ln>
        </p:spPr>
        <p:txBody>
          <a:bodyPr anchorCtr="0" anchor="t" bIns="11525" lIns="0" spcFirstLastPara="1" rIns="0" wrap="square" tIns="115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fr" sz="425" u="none" cap="none" strike="noStrike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BESOIN</a:t>
            </a:r>
            <a:endParaRPr sz="667">
              <a:solidFill>
                <a:srgbClr val="9CA3AF"/>
              </a:solidFill>
            </a:endParaRPr>
          </a:p>
        </p:txBody>
      </p:sp>
      <p:sp>
        <p:nvSpPr>
          <p:cNvPr id="900" name="Google Shape;900;p52"/>
          <p:cNvSpPr txBox="1"/>
          <p:nvPr/>
        </p:nvSpPr>
        <p:spPr>
          <a:xfrm>
            <a:off x="1758672" y="2950007"/>
            <a:ext cx="761100" cy="191400"/>
          </a:xfrm>
          <a:prstGeom prst="rect">
            <a:avLst/>
          </a:prstGeom>
          <a:noFill/>
          <a:ln>
            <a:noFill/>
          </a:ln>
        </p:spPr>
        <p:txBody>
          <a:bodyPr anchorCtr="0" anchor="t" bIns="11525" lIns="0" spcFirstLastPara="1" rIns="0" wrap="square" tIns="115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fr" sz="546" u="none" cap="none" strike="noStrike">
                <a:solidFill>
                  <a:srgbClr val="923E22"/>
                </a:solidFill>
                <a:latin typeface="Cambria"/>
                <a:ea typeface="Cambria"/>
                <a:cs typeface="Cambria"/>
                <a:sym typeface="Cambria"/>
              </a:rPr>
              <a:t>Mémoire conversationnelle</a:t>
            </a:r>
            <a:endParaRPr sz="546">
              <a:solidFill>
                <a:srgbClr val="923E22"/>
              </a:solidFill>
            </a:endParaRPr>
          </a:p>
        </p:txBody>
      </p:sp>
      <p:sp>
        <p:nvSpPr>
          <p:cNvPr id="901" name="Google Shape;901;p52"/>
          <p:cNvSpPr/>
          <p:nvPr/>
        </p:nvSpPr>
        <p:spPr>
          <a:xfrm>
            <a:off x="3332581" y="2787251"/>
            <a:ext cx="1176900" cy="507900"/>
          </a:xfrm>
          <a:prstGeom prst="roundRect">
            <a:avLst>
              <a:gd fmla="val 6000" name="adj"/>
            </a:avLst>
          </a:prstGeom>
          <a:solidFill>
            <a:srgbClr val="CCC743">
              <a:alpha val="7999"/>
            </a:srgbClr>
          </a:solidFill>
          <a:ln cap="flat" cmpd="sng" w="7225">
            <a:solidFill>
              <a:srgbClr val="CCC743"/>
            </a:solidFill>
            <a:prstDash val="solid"/>
            <a:round/>
            <a:headEnd len="sm" w="sm" type="none"/>
            <a:tailEnd len="sm" w="sm" type="none"/>
          </a:ln>
          <a:effectLst>
            <a:outerShdw blurRad="27293" rotWithShape="0" dir="5400000" dist="11372">
              <a:srgbClr val="8A93A6">
                <a:alpha val="32159"/>
              </a:srgbClr>
            </a:outerShdw>
          </a:effectLst>
        </p:spPr>
        <p:txBody>
          <a:bodyPr anchorCtr="0" anchor="ctr" bIns="20800" lIns="41600" spcFirstLastPara="1" rIns="41600" wrap="square" tIns="208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849" u="none" cap="none" strike="noStrike">
              <a:solidFill>
                <a:srgbClr val="0E9C8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2" name="Google Shape;902;p52"/>
          <p:cNvSpPr/>
          <p:nvPr/>
        </p:nvSpPr>
        <p:spPr>
          <a:xfrm>
            <a:off x="3432411" y="2870438"/>
            <a:ext cx="174600" cy="174600"/>
          </a:xfrm>
          <a:prstGeom prst="ellipse">
            <a:avLst/>
          </a:prstGeom>
          <a:noFill/>
          <a:ln cap="flat" cmpd="sng" w="9525">
            <a:solidFill>
              <a:srgbClr val="CCC74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fr" sz="667" u="none" cap="none" strike="noStrike">
                <a:solidFill>
                  <a:srgbClr val="CCC743"/>
                </a:solidFill>
                <a:latin typeface="Cambria"/>
                <a:ea typeface="Cambria"/>
                <a:cs typeface="Cambria"/>
                <a:sym typeface="Cambria"/>
              </a:rPr>
              <a:t>2</a:t>
            </a:r>
            <a:endParaRPr sz="667">
              <a:solidFill>
                <a:srgbClr val="CCC743"/>
              </a:solidFill>
            </a:endParaRPr>
          </a:p>
        </p:txBody>
      </p:sp>
      <p:sp>
        <p:nvSpPr>
          <p:cNvPr id="903" name="Google Shape;903;p52"/>
          <p:cNvSpPr txBox="1"/>
          <p:nvPr/>
        </p:nvSpPr>
        <p:spPr>
          <a:xfrm>
            <a:off x="3673665" y="2862120"/>
            <a:ext cx="761100" cy="88500"/>
          </a:xfrm>
          <a:prstGeom prst="rect">
            <a:avLst/>
          </a:prstGeom>
          <a:noFill/>
          <a:ln>
            <a:noFill/>
          </a:ln>
        </p:spPr>
        <p:txBody>
          <a:bodyPr anchorCtr="0" anchor="t" bIns="11525" lIns="0" spcFirstLastPara="1" rIns="0" wrap="square" tIns="115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fr" sz="425" u="none" cap="none" strike="noStrike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BESOIN</a:t>
            </a:r>
            <a:endParaRPr sz="667">
              <a:solidFill>
                <a:srgbClr val="9CA3AF"/>
              </a:solidFill>
            </a:endParaRPr>
          </a:p>
        </p:txBody>
      </p:sp>
      <p:sp>
        <p:nvSpPr>
          <p:cNvPr id="904" name="Google Shape;904;p52"/>
          <p:cNvSpPr txBox="1"/>
          <p:nvPr/>
        </p:nvSpPr>
        <p:spPr>
          <a:xfrm>
            <a:off x="3673665" y="2961945"/>
            <a:ext cx="761100" cy="107400"/>
          </a:xfrm>
          <a:prstGeom prst="rect">
            <a:avLst/>
          </a:prstGeom>
          <a:noFill/>
          <a:ln>
            <a:noFill/>
          </a:ln>
        </p:spPr>
        <p:txBody>
          <a:bodyPr anchorCtr="0" anchor="t" bIns="11525" lIns="0" spcFirstLastPara="1" rIns="0" wrap="square" tIns="115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fr" sz="546" u="none" cap="none" strike="noStrike">
                <a:solidFill>
                  <a:srgbClr val="CCC743"/>
                </a:solidFill>
                <a:latin typeface="Cambria"/>
                <a:ea typeface="Cambria"/>
                <a:cs typeface="Cambria"/>
                <a:sym typeface="Cambria"/>
              </a:rPr>
              <a:t>Contexte géographique</a:t>
            </a:r>
            <a:endParaRPr sz="546">
              <a:solidFill>
                <a:srgbClr val="CCC743"/>
              </a:solidFill>
            </a:endParaRPr>
          </a:p>
        </p:txBody>
      </p:sp>
      <p:sp>
        <p:nvSpPr>
          <p:cNvPr id="905" name="Google Shape;905;p52"/>
          <p:cNvSpPr/>
          <p:nvPr/>
        </p:nvSpPr>
        <p:spPr>
          <a:xfrm>
            <a:off x="4634525" y="2787251"/>
            <a:ext cx="1176900" cy="507900"/>
          </a:xfrm>
          <a:prstGeom prst="roundRect">
            <a:avLst>
              <a:gd fmla="val 6000" name="adj"/>
            </a:avLst>
          </a:prstGeom>
          <a:solidFill>
            <a:srgbClr val="CCC743">
              <a:alpha val="7999"/>
            </a:srgbClr>
          </a:solidFill>
          <a:ln cap="flat" cmpd="sng" w="7225">
            <a:solidFill>
              <a:srgbClr val="CCC743"/>
            </a:solidFill>
            <a:prstDash val="solid"/>
            <a:round/>
            <a:headEnd len="sm" w="sm" type="none"/>
            <a:tailEnd len="sm" w="sm" type="none"/>
          </a:ln>
          <a:effectLst>
            <a:outerShdw blurRad="27293" rotWithShape="0" dir="5400000" dist="11372">
              <a:srgbClr val="8A93A6">
                <a:alpha val="32159"/>
              </a:srgbClr>
            </a:outerShdw>
          </a:effectLst>
        </p:spPr>
        <p:txBody>
          <a:bodyPr anchorCtr="0" anchor="ctr" bIns="20800" lIns="41600" spcFirstLastPara="1" rIns="41600" wrap="square" tIns="208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849" u="none" cap="none" strike="noStrike">
              <a:solidFill>
                <a:srgbClr val="0E9C8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6" name="Google Shape;906;p52"/>
          <p:cNvSpPr/>
          <p:nvPr/>
        </p:nvSpPr>
        <p:spPr>
          <a:xfrm>
            <a:off x="4734354" y="2870438"/>
            <a:ext cx="174600" cy="174600"/>
          </a:xfrm>
          <a:prstGeom prst="ellipse">
            <a:avLst/>
          </a:prstGeom>
          <a:noFill/>
          <a:ln cap="flat" cmpd="sng" w="9525">
            <a:solidFill>
              <a:srgbClr val="CCC74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fr" sz="667" u="none" cap="none" strike="noStrike">
                <a:solidFill>
                  <a:srgbClr val="CCC743"/>
                </a:solidFill>
                <a:latin typeface="Cambria"/>
                <a:ea typeface="Cambria"/>
                <a:cs typeface="Cambria"/>
                <a:sym typeface="Cambria"/>
              </a:rPr>
              <a:t>3</a:t>
            </a:r>
            <a:endParaRPr sz="667">
              <a:solidFill>
                <a:srgbClr val="CCC743"/>
              </a:solidFill>
            </a:endParaRPr>
          </a:p>
        </p:txBody>
      </p:sp>
      <p:sp>
        <p:nvSpPr>
          <p:cNvPr id="907" name="Google Shape;907;p52"/>
          <p:cNvSpPr txBox="1"/>
          <p:nvPr/>
        </p:nvSpPr>
        <p:spPr>
          <a:xfrm>
            <a:off x="4975609" y="2862120"/>
            <a:ext cx="761100" cy="88500"/>
          </a:xfrm>
          <a:prstGeom prst="rect">
            <a:avLst/>
          </a:prstGeom>
          <a:noFill/>
          <a:ln>
            <a:noFill/>
          </a:ln>
        </p:spPr>
        <p:txBody>
          <a:bodyPr anchorCtr="0" anchor="t" bIns="11525" lIns="0" spcFirstLastPara="1" rIns="0" wrap="square" tIns="115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fr" sz="425" u="none" cap="none" strike="noStrike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BESOIN</a:t>
            </a:r>
            <a:endParaRPr sz="667">
              <a:solidFill>
                <a:srgbClr val="9CA3AF"/>
              </a:solidFill>
            </a:endParaRPr>
          </a:p>
        </p:txBody>
      </p:sp>
      <p:sp>
        <p:nvSpPr>
          <p:cNvPr id="908" name="Google Shape;908;p52"/>
          <p:cNvSpPr txBox="1"/>
          <p:nvPr/>
        </p:nvSpPr>
        <p:spPr>
          <a:xfrm>
            <a:off x="4975609" y="2961945"/>
            <a:ext cx="761100" cy="107400"/>
          </a:xfrm>
          <a:prstGeom prst="rect">
            <a:avLst/>
          </a:prstGeom>
          <a:noFill/>
          <a:ln>
            <a:noFill/>
          </a:ln>
        </p:spPr>
        <p:txBody>
          <a:bodyPr anchorCtr="0" anchor="t" bIns="11525" lIns="0" spcFirstLastPara="1" rIns="0" wrap="square" tIns="115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fr" sz="546" u="none" cap="none" strike="noStrike">
                <a:solidFill>
                  <a:srgbClr val="CCC743"/>
                </a:solidFill>
                <a:latin typeface="Cambria"/>
                <a:ea typeface="Cambria"/>
                <a:cs typeface="Cambria"/>
                <a:sym typeface="Cambria"/>
              </a:rPr>
              <a:t>Web temps réel</a:t>
            </a:r>
            <a:endParaRPr sz="546">
              <a:solidFill>
                <a:srgbClr val="CCC743"/>
              </a:solidFill>
            </a:endParaRPr>
          </a:p>
        </p:txBody>
      </p:sp>
      <p:sp>
        <p:nvSpPr>
          <p:cNvPr id="909" name="Google Shape;909;p52"/>
          <p:cNvSpPr txBox="1"/>
          <p:nvPr/>
        </p:nvSpPr>
        <p:spPr>
          <a:xfrm>
            <a:off x="377200" y="233175"/>
            <a:ext cx="1773600" cy="45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9050" lIns="0" spcFirstLastPara="1" rIns="0" wrap="square" tIns="190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1800">
                <a:solidFill>
                  <a:srgbClr val="0E9C8A"/>
                </a:solidFill>
                <a:latin typeface="Calibri"/>
                <a:ea typeface="Calibri"/>
                <a:cs typeface="Calibri"/>
                <a:sym typeface="Calibri"/>
              </a:rPr>
              <a:t>Du POC au MVP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0" name="Google Shape;910;p52"/>
          <p:cNvSpPr txBox="1"/>
          <p:nvPr/>
        </p:nvSpPr>
        <p:spPr>
          <a:xfrm>
            <a:off x="377200" y="675550"/>
            <a:ext cx="37122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9050" lIns="0" spcFirstLastPara="1" rIns="0" wrap="square" tIns="190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1100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Le schéma du POC RAG Puls-Events, augmenté par les besoins</a:t>
            </a:r>
            <a:endParaRPr b="1" sz="1100">
              <a:solidFill>
                <a:srgbClr val="9CA3A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1" name="Google Shape;911;p52"/>
          <p:cNvSpPr txBox="1"/>
          <p:nvPr/>
        </p:nvSpPr>
        <p:spPr>
          <a:xfrm>
            <a:off x="6478515" y="992299"/>
            <a:ext cx="1097400" cy="19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9050" lIns="0" spcFirstLastPara="1" rIns="0" wrap="square" tIns="190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fr" sz="1000" u="none" cap="none" strike="noStrike">
                <a:solidFill>
                  <a:srgbClr val="0E9C8A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r>
              <a:rPr b="1" i="0" lang="fr" sz="1000" u="none" cap="none" strike="noStrike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    </a:t>
            </a:r>
            <a:r>
              <a:rPr b="0" i="0" lang="fr" sz="800" u="none" cap="none" strike="noStrike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fait évoluer</a:t>
            </a:r>
            <a:endParaRPr sz="1100">
              <a:solidFill>
                <a:srgbClr val="9CA3AF"/>
              </a:solidFill>
            </a:endParaRPr>
          </a:p>
        </p:txBody>
      </p:sp>
      <p:sp>
        <p:nvSpPr>
          <p:cNvPr id="912" name="Google Shape;912;p52"/>
          <p:cNvSpPr/>
          <p:nvPr/>
        </p:nvSpPr>
        <p:spPr>
          <a:xfrm>
            <a:off x="2284350" y="1593125"/>
            <a:ext cx="461700" cy="2013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0E9C8A">
              <a:alpha val="60000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3" name="Google Shape;913;p52"/>
          <p:cNvSpPr/>
          <p:nvPr/>
        </p:nvSpPr>
        <p:spPr>
          <a:xfrm>
            <a:off x="4295575" y="1603525"/>
            <a:ext cx="461700" cy="2013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0E9C8A">
              <a:alpha val="60000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4" name="Google Shape;914;p52"/>
          <p:cNvSpPr/>
          <p:nvPr/>
        </p:nvSpPr>
        <p:spPr>
          <a:xfrm>
            <a:off x="6323275" y="1598638"/>
            <a:ext cx="461700" cy="2013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0E9C8A">
              <a:alpha val="60000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5" name="Google Shape;915;p52"/>
          <p:cNvSpPr/>
          <p:nvPr/>
        </p:nvSpPr>
        <p:spPr>
          <a:xfrm>
            <a:off x="6815900" y="2340200"/>
            <a:ext cx="461700" cy="2013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0E9C8A">
              <a:alpha val="60000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6" name="Google Shape;916;p52"/>
          <p:cNvSpPr/>
          <p:nvPr/>
        </p:nvSpPr>
        <p:spPr>
          <a:xfrm>
            <a:off x="1775200" y="2340188"/>
            <a:ext cx="461700" cy="2013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0E9C8A">
              <a:alpha val="60000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7" name="Google Shape;917;p52"/>
          <p:cNvSpPr/>
          <p:nvPr/>
        </p:nvSpPr>
        <p:spPr>
          <a:xfrm>
            <a:off x="5135675" y="2335063"/>
            <a:ext cx="461700" cy="2013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0E9C8A">
              <a:alpha val="60000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8" name="Google Shape;918;p52"/>
          <p:cNvSpPr/>
          <p:nvPr/>
        </p:nvSpPr>
        <p:spPr>
          <a:xfrm>
            <a:off x="3455450" y="2340188"/>
            <a:ext cx="461700" cy="2013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0E9C8A">
              <a:alpha val="60000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9" name="Google Shape;919;p52"/>
          <p:cNvSpPr/>
          <p:nvPr/>
        </p:nvSpPr>
        <p:spPr>
          <a:xfrm>
            <a:off x="3798700" y="2186800"/>
            <a:ext cx="1450200" cy="519300"/>
          </a:xfrm>
          <a:prstGeom prst="roundRect">
            <a:avLst>
              <a:gd fmla="val 6000" name="adj"/>
            </a:avLst>
          </a:prstGeom>
          <a:solidFill>
            <a:srgbClr val="CCC743">
              <a:alpha val="7999"/>
            </a:srgbClr>
          </a:solidFill>
          <a:ln cap="flat" cmpd="sng" w="7225">
            <a:solidFill>
              <a:srgbClr val="CCC743"/>
            </a:solidFill>
            <a:prstDash val="solid"/>
            <a:round/>
            <a:headEnd len="sm" w="sm" type="none"/>
            <a:tailEnd len="sm" w="sm" type="none"/>
          </a:ln>
          <a:effectLst>
            <a:outerShdw blurRad="27293" rotWithShape="0" dir="5400000" dist="11372">
              <a:srgbClr val="8A93A6">
                <a:alpha val="32159"/>
              </a:srgbClr>
            </a:outerShdw>
          </a:effectLst>
        </p:spPr>
        <p:txBody>
          <a:bodyPr anchorCtr="0" anchor="ctr" bIns="20800" lIns="41600" spcFirstLastPara="1" rIns="41600" wrap="square" tIns="208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849" u="none" cap="none" strike="noStrike">
              <a:solidFill>
                <a:srgbClr val="0E9C8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0" name="Google Shape;920;p52"/>
          <p:cNvSpPr txBox="1"/>
          <p:nvPr/>
        </p:nvSpPr>
        <p:spPr>
          <a:xfrm>
            <a:off x="377200" y="4945850"/>
            <a:ext cx="999000" cy="166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700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MVP RAG Puls-Events</a:t>
            </a:r>
            <a:endParaRPr sz="700">
              <a:solidFill>
                <a:srgbClr val="9CA3A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5" name="Shape 9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6" name="Google Shape;926;p53"/>
          <p:cNvSpPr/>
          <p:nvPr/>
        </p:nvSpPr>
        <p:spPr>
          <a:xfrm>
            <a:off x="3979093" y="3392726"/>
            <a:ext cx="1176900" cy="507900"/>
          </a:xfrm>
          <a:prstGeom prst="roundRect">
            <a:avLst>
              <a:gd fmla="val 6000" name="adj"/>
            </a:avLst>
          </a:prstGeom>
          <a:solidFill>
            <a:srgbClr val="B07BC2">
              <a:alpha val="7000"/>
            </a:srgbClr>
          </a:solidFill>
          <a:ln cap="flat" cmpd="sng" w="7225">
            <a:solidFill>
              <a:srgbClr val="B07BC2"/>
            </a:solidFill>
            <a:prstDash val="solid"/>
            <a:round/>
            <a:headEnd len="sm" w="sm" type="none"/>
            <a:tailEnd len="sm" w="sm" type="none"/>
          </a:ln>
          <a:effectLst>
            <a:outerShdw blurRad="27293" rotWithShape="0" dir="5400000" dist="11372">
              <a:srgbClr val="8A93A6">
                <a:alpha val="32159"/>
              </a:srgbClr>
            </a:outerShdw>
          </a:effectLst>
        </p:spPr>
        <p:txBody>
          <a:bodyPr anchorCtr="0" anchor="ctr" bIns="20800" lIns="41600" spcFirstLastPara="1" rIns="41600" wrap="square" tIns="208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849" u="none" cap="none" strike="noStrike">
              <a:solidFill>
                <a:srgbClr val="0E9C8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7" name="Google Shape;927;p53"/>
          <p:cNvSpPr/>
          <p:nvPr/>
        </p:nvSpPr>
        <p:spPr>
          <a:xfrm>
            <a:off x="424800" y="2186875"/>
            <a:ext cx="3149700" cy="519300"/>
          </a:xfrm>
          <a:prstGeom prst="roundRect">
            <a:avLst>
              <a:gd fmla="val 6000" name="adj"/>
            </a:avLst>
          </a:prstGeom>
          <a:solidFill>
            <a:srgbClr val="923E22">
              <a:alpha val="7999"/>
            </a:srgbClr>
          </a:solidFill>
          <a:ln cap="flat" cmpd="sng" w="7225">
            <a:solidFill>
              <a:srgbClr val="923E22"/>
            </a:solidFill>
            <a:prstDash val="solid"/>
            <a:round/>
            <a:headEnd len="sm" w="sm" type="none"/>
            <a:tailEnd len="sm" w="sm" type="none"/>
          </a:ln>
          <a:effectLst>
            <a:outerShdw blurRad="27293" rotWithShape="0" dir="5400000" dist="11372">
              <a:srgbClr val="8A93A6">
                <a:alpha val="32159"/>
              </a:srgbClr>
            </a:outerShdw>
          </a:effectLst>
        </p:spPr>
        <p:txBody>
          <a:bodyPr anchorCtr="0" anchor="ctr" bIns="20800" lIns="41600" spcFirstLastPara="1" rIns="41600" wrap="square" tIns="208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849" u="none" cap="none" strike="noStrike">
              <a:solidFill>
                <a:srgbClr val="0E9C8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8" name="Google Shape;928;p53"/>
          <p:cNvSpPr/>
          <p:nvPr/>
        </p:nvSpPr>
        <p:spPr>
          <a:xfrm>
            <a:off x="6478535" y="530960"/>
            <a:ext cx="150900" cy="150900"/>
          </a:xfrm>
          <a:prstGeom prst="roundRect">
            <a:avLst>
              <a:gd fmla="val 16667" name="adj"/>
            </a:avLst>
          </a:prstGeom>
          <a:solidFill>
            <a:srgbClr val="185FA5">
              <a:alpha val="6960"/>
            </a:srgbClr>
          </a:solidFill>
          <a:ln cap="flat" cmpd="sng" w="9525">
            <a:solidFill>
              <a:srgbClr val="185FA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9" name="Google Shape;929;p53"/>
          <p:cNvSpPr txBox="1"/>
          <p:nvPr/>
        </p:nvSpPr>
        <p:spPr>
          <a:xfrm>
            <a:off x="6691151" y="510375"/>
            <a:ext cx="1371600" cy="17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9050" lIns="0" spcFirstLastPara="1" rIns="0" wrap="square" tIns="190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fr" sz="800" u="none" cap="none" strike="noStrike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hérité (</a:t>
            </a:r>
            <a:r>
              <a:rPr lang="fr" sz="900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POC RAG Puls-Events</a:t>
            </a:r>
            <a:r>
              <a:rPr b="0" i="0" lang="fr" sz="800" u="none" cap="none" strike="noStrike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)</a:t>
            </a:r>
            <a:endParaRPr sz="1100">
              <a:solidFill>
                <a:srgbClr val="9CA3AF"/>
              </a:solidFill>
            </a:endParaRPr>
          </a:p>
        </p:txBody>
      </p:sp>
      <p:sp>
        <p:nvSpPr>
          <p:cNvPr id="930" name="Google Shape;930;p53"/>
          <p:cNvSpPr/>
          <p:nvPr/>
        </p:nvSpPr>
        <p:spPr>
          <a:xfrm>
            <a:off x="6478515" y="769260"/>
            <a:ext cx="150900" cy="150900"/>
          </a:xfrm>
          <a:prstGeom prst="roundRect">
            <a:avLst>
              <a:gd fmla="val 16667" name="adj"/>
            </a:avLst>
          </a:prstGeom>
          <a:solidFill>
            <a:srgbClr val="0E9C8A">
              <a:alpha val="7999"/>
            </a:srgbClr>
          </a:solidFill>
          <a:ln cap="flat" cmpd="sng" w="11900">
            <a:solidFill>
              <a:srgbClr val="0E9C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1" name="Google Shape;931;p53"/>
          <p:cNvSpPr txBox="1"/>
          <p:nvPr/>
        </p:nvSpPr>
        <p:spPr>
          <a:xfrm>
            <a:off x="6691125" y="748675"/>
            <a:ext cx="1497900" cy="17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9050" lIns="0" spcFirstLastPara="1" rIns="0" wrap="square" tIns="190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fr" sz="800" u="none" cap="none" strike="noStrike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nouveau (</a:t>
            </a:r>
            <a:r>
              <a:rPr lang="fr" sz="900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MVP RAG Puls-Events</a:t>
            </a:r>
            <a:r>
              <a:rPr b="0" i="0" lang="fr" sz="800" u="none" cap="none" strike="noStrike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)</a:t>
            </a:r>
            <a:endParaRPr sz="1100">
              <a:solidFill>
                <a:srgbClr val="9CA3AF"/>
              </a:solidFill>
            </a:endParaRPr>
          </a:p>
        </p:txBody>
      </p:sp>
      <p:sp>
        <p:nvSpPr>
          <p:cNvPr id="932" name="Google Shape;932;p53"/>
          <p:cNvSpPr/>
          <p:nvPr/>
        </p:nvSpPr>
        <p:spPr>
          <a:xfrm>
            <a:off x="480073" y="1248156"/>
            <a:ext cx="2434500" cy="219300"/>
          </a:xfrm>
          <a:prstGeom prst="roundRect">
            <a:avLst>
              <a:gd fmla="val 16667" name="adj"/>
            </a:avLst>
          </a:prstGeom>
          <a:solidFill>
            <a:srgbClr val="185FA5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BATCH — construction de l'index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3" name="Google Shape;933;p53"/>
          <p:cNvSpPr/>
          <p:nvPr/>
        </p:nvSpPr>
        <p:spPr>
          <a:xfrm>
            <a:off x="651527" y="1495044"/>
            <a:ext cx="1680300" cy="397800"/>
          </a:xfrm>
          <a:prstGeom prst="roundRect">
            <a:avLst>
              <a:gd fmla="val 6000" name="adj"/>
            </a:avLst>
          </a:prstGeom>
          <a:solidFill>
            <a:srgbClr val="185FA5">
              <a:alpha val="6960"/>
            </a:srgbClr>
          </a:solidFill>
          <a:ln cap="flat" cmpd="sng" w="9525">
            <a:solidFill>
              <a:srgbClr val="185FA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900">
                <a:solidFill>
                  <a:srgbClr val="185FA5"/>
                </a:solidFill>
                <a:latin typeface="Cambria"/>
                <a:ea typeface="Cambria"/>
                <a:cs typeface="Cambria"/>
                <a:sym typeface="Cambria"/>
              </a:rPr>
              <a:t>Open Agenda</a:t>
            </a:r>
            <a:endParaRPr sz="1100">
              <a:solidFill>
                <a:srgbClr val="185FA5"/>
              </a:solidFill>
            </a:endParaRPr>
          </a:p>
          <a:p>
            <a:pPr indent="0" lvl="0" marL="0" rtl="0" algn="ctr">
              <a:spcBef>
                <a:spcPts val="100"/>
              </a:spcBef>
              <a:spcAft>
                <a:spcPts val="0"/>
              </a:spcAft>
              <a:buNone/>
            </a:pPr>
            <a:r>
              <a:rPr lang="fr" sz="700">
                <a:solidFill>
                  <a:srgbClr val="185FA5"/>
                </a:solidFill>
                <a:latin typeface="Calibri"/>
                <a:ea typeface="Calibri"/>
                <a:cs typeface="Calibri"/>
                <a:sym typeface="Calibri"/>
              </a:rPr>
              <a:t>API Opendatasoft</a:t>
            </a:r>
            <a:endParaRPr>
              <a:solidFill>
                <a:srgbClr val="185FA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4" name="Google Shape;934;p53"/>
          <p:cNvSpPr/>
          <p:nvPr/>
        </p:nvSpPr>
        <p:spPr>
          <a:xfrm>
            <a:off x="2674691" y="1495044"/>
            <a:ext cx="1680300" cy="397800"/>
          </a:xfrm>
          <a:prstGeom prst="roundRect">
            <a:avLst>
              <a:gd fmla="val 6000" name="adj"/>
            </a:avLst>
          </a:prstGeom>
          <a:solidFill>
            <a:srgbClr val="0E9C8A">
              <a:alpha val="7999"/>
            </a:srgbClr>
          </a:solidFill>
          <a:ln cap="flat" cmpd="sng" w="9525">
            <a:solidFill>
              <a:srgbClr val="0E9C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900">
                <a:solidFill>
                  <a:srgbClr val="0E9C8A"/>
                </a:solidFill>
                <a:latin typeface="Cambria"/>
                <a:ea typeface="Cambria"/>
                <a:cs typeface="Cambria"/>
                <a:sym typeface="Cambria"/>
              </a:rPr>
              <a:t>Ingestion</a:t>
            </a:r>
            <a:endParaRPr sz="1100">
              <a:solidFill>
                <a:srgbClr val="0E9C8A"/>
              </a:solidFill>
            </a:endParaRPr>
          </a:p>
          <a:p>
            <a:pPr indent="0" lvl="0" marL="0" rtl="0" algn="ctr">
              <a:spcBef>
                <a:spcPts val="200"/>
              </a:spcBef>
              <a:spcAft>
                <a:spcPts val="0"/>
              </a:spcAft>
              <a:buNone/>
            </a:pPr>
            <a:r>
              <a:rPr i="1" lang="fr" sz="700">
                <a:solidFill>
                  <a:srgbClr val="185FA5"/>
                </a:solidFill>
                <a:latin typeface="Calibri"/>
                <a:ea typeface="Calibri"/>
                <a:cs typeface="Calibri"/>
                <a:sym typeface="Calibri"/>
              </a:rPr>
              <a:t>script Python </a:t>
            </a:r>
            <a:r>
              <a:rPr b="1" lang="fr" sz="700">
                <a:solidFill>
                  <a:srgbClr val="0E9C8A"/>
                </a:solidFill>
                <a:latin typeface="Calibri"/>
                <a:ea typeface="Calibri"/>
                <a:cs typeface="Calibri"/>
                <a:sym typeface="Calibri"/>
              </a:rPr>
              <a:t>→ Kestra</a:t>
            </a:r>
            <a:endParaRPr>
              <a:solidFill>
                <a:srgbClr val="185FA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5" name="Google Shape;935;p53"/>
          <p:cNvSpPr/>
          <p:nvPr/>
        </p:nvSpPr>
        <p:spPr>
          <a:xfrm>
            <a:off x="4697855" y="1494882"/>
            <a:ext cx="1680300" cy="397800"/>
          </a:xfrm>
          <a:prstGeom prst="roundRect">
            <a:avLst>
              <a:gd fmla="val 6000" name="adj"/>
            </a:avLst>
          </a:prstGeom>
          <a:solidFill>
            <a:srgbClr val="185FA5">
              <a:alpha val="6960"/>
            </a:srgbClr>
          </a:solidFill>
          <a:ln cap="flat" cmpd="sng" w="9525">
            <a:solidFill>
              <a:srgbClr val="185FA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900">
                <a:solidFill>
                  <a:srgbClr val="185FA5"/>
                </a:solidFill>
                <a:latin typeface="Cambria"/>
                <a:ea typeface="Cambria"/>
                <a:cs typeface="Cambria"/>
                <a:sym typeface="Cambria"/>
              </a:rPr>
              <a:t>Embeddings</a:t>
            </a:r>
            <a:endParaRPr sz="1100">
              <a:solidFill>
                <a:srgbClr val="185FA5"/>
              </a:solidFill>
            </a:endParaRPr>
          </a:p>
          <a:p>
            <a:pPr indent="0" lvl="0" marL="0" rtl="0" algn="ctr">
              <a:spcBef>
                <a:spcPts val="100"/>
              </a:spcBef>
              <a:spcAft>
                <a:spcPts val="0"/>
              </a:spcAft>
              <a:buNone/>
            </a:pPr>
            <a:r>
              <a:rPr lang="fr" sz="700">
                <a:solidFill>
                  <a:srgbClr val="185FA5"/>
                </a:solidFill>
                <a:latin typeface="Calibri"/>
                <a:ea typeface="Calibri"/>
                <a:cs typeface="Calibri"/>
                <a:sym typeface="Calibri"/>
              </a:rPr>
              <a:t>mistral-embed</a:t>
            </a:r>
            <a:endParaRPr sz="1100">
              <a:solidFill>
                <a:srgbClr val="185FA5"/>
              </a:solidFill>
            </a:endParaRPr>
          </a:p>
        </p:txBody>
      </p:sp>
      <p:sp>
        <p:nvSpPr>
          <p:cNvPr id="936" name="Google Shape;936;p53"/>
          <p:cNvSpPr/>
          <p:nvPr/>
        </p:nvSpPr>
        <p:spPr>
          <a:xfrm>
            <a:off x="6721019" y="1495044"/>
            <a:ext cx="1680300" cy="397800"/>
          </a:xfrm>
          <a:prstGeom prst="roundRect">
            <a:avLst>
              <a:gd fmla="val 6000" name="adj"/>
            </a:avLst>
          </a:prstGeom>
          <a:solidFill>
            <a:srgbClr val="0E9C8A">
              <a:alpha val="7999"/>
            </a:srgbClr>
          </a:solidFill>
          <a:ln cap="flat" cmpd="sng" w="9525">
            <a:solidFill>
              <a:srgbClr val="0E9C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900">
                <a:solidFill>
                  <a:srgbClr val="0E9C8A"/>
                </a:solidFill>
                <a:latin typeface="Cambria"/>
                <a:ea typeface="Cambria"/>
                <a:cs typeface="Cambria"/>
                <a:sym typeface="Cambria"/>
              </a:rPr>
              <a:t>Index vectoriel</a:t>
            </a:r>
            <a:endParaRPr sz="1100">
              <a:solidFill>
                <a:srgbClr val="0E9C8A"/>
              </a:solidFill>
            </a:endParaRPr>
          </a:p>
          <a:p>
            <a:pPr indent="0" lvl="0" marL="0" rtl="0" algn="ctr">
              <a:spcBef>
                <a:spcPts val="200"/>
              </a:spcBef>
              <a:spcAft>
                <a:spcPts val="0"/>
              </a:spcAft>
              <a:buNone/>
            </a:pPr>
            <a:r>
              <a:rPr i="1" lang="fr" sz="700">
                <a:solidFill>
                  <a:srgbClr val="185FA5"/>
                </a:solidFill>
                <a:latin typeface="Calibri"/>
                <a:ea typeface="Calibri"/>
                <a:cs typeface="Calibri"/>
                <a:sym typeface="Calibri"/>
              </a:rPr>
              <a:t>FAISS local </a:t>
            </a:r>
            <a:r>
              <a:rPr b="1" lang="fr" sz="700">
                <a:solidFill>
                  <a:srgbClr val="0E9C8A"/>
                </a:solidFill>
                <a:latin typeface="Calibri"/>
                <a:ea typeface="Calibri"/>
                <a:cs typeface="Calibri"/>
                <a:sym typeface="Calibri"/>
              </a:rPr>
              <a:t>→ pgvector</a:t>
            </a:r>
            <a:endParaRPr>
              <a:solidFill>
                <a:srgbClr val="185FA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7" name="Google Shape;937;p53"/>
          <p:cNvSpPr/>
          <p:nvPr/>
        </p:nvSpPr>
        <p:spPr>
          <a:xfrm>
            <a:off x="480098" y="2016165"/>
            <a:ext cx="2434500" cy="219300"/>
          </a:xfrm>
          <a:prstGeom prst="roundRect">
            <a:avLst>
              <a:gd fmla="val 16667" name="adj"/>
            </a:avLst>
          </a:prstGeom>
          <a:solidFill>
            <a:srgbClr val="185FA5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RUNTIME — réponse à une question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8" name="Google Shape;938;p53"/>
          <p:cNvSpPr/>
          <p:nvPr/>
        </p:nvSpPr>
        <p:spPr>
          <a:xfrm>
            <a:off x="480100" y="2263051"/>
            <a:ext cx="1371600" cy="397800"/>
          </a:xfrm>
          <a:prstGeom prst="roundRect">
            <a:avLst>
              <a:gd fmla="val 6000" name="adj"/>
            </a:avLst>
          </a:prstGeom>
          <a:solidFill>
            <a:srgbClr val="185FA5">
              <a:alpha val="6960"/>
            </a:srgbClr>
          </a:solidFill>
          <a:ln cap="flat" cmpd="sng" w="9525">
            <a:solidFill>
              <a:srgbClr val="185FA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900">
                <a:solidFill>
                  <a:srgbClr val="185FA5"/>
                </a:solidFill>
                <a:latin typeface="Cambria"/>
                <a:ea typeface="Cambria"/>
                <a:cs typeface="Cambria"/>
                <a:sym typeface="Cambria"/>
              </a:rPr>
              <a:t>Utilisateur</a:t>
            </a:r>
            <a:endParaRPr sz="1100">
              <a:solidFill>
                <a:srgbClr val="185FA5"/>
              </a:solidFill>
            </a:endParaRPr>
          </a:p>
          <a:p>
            <a:pPr indent="0" lvl="0" marL="0" rtl="0" algn="ctr">
              <a:spcBef>
                <a:spcPts val="100"/>
              </a:spcBef>
              <a:spcAft>
                <a:spcPts val="0"/>
              </a:spcAft>
              <a:buNone/>
            </a:pPr>
            <a:r>
              <a:rPr lang="fr" sz="700">
                <a:solidFill>
                  <a:srgbClr val="185FA5"/>
                </a:solidFill>
                <a:latin typeface="Calibri"/>
                <a:ea typeface="Calibri"/>
                <a:cs typeface="Calibri"/>
                <a:sym typeface="Calibri"/>
              </a:rPr>
              <a:t>question</a:t>
            </a:r>
            <a:endParaRPr>
              <a:solidFill>
                <a:srgbClr val="185FA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9" name="Google Shape;939;p53"/>
          <p:cNvSpPr/>
          <p:nvPr/>
        </p:nvSpPr>
        <p:spPr>
          <a:xfrm>
            <a:off x="2160350" y="2263051"/>
            <a:ext cx="1371600" cy="397800"/>
          </a:xfrm>
          <a:prstGeom prst="roundRect">
            <a:avLst>
              <a:gd fmla="val 6000" name="adj"/>
            </a:avLst>
          </a:prstGeom>
          <a:solidFill>
            <a:srgbClr val="0E9C8A">
              <a:alpha val="7999"/>
            </a:srgbClr>
          </a:solidFill>
          <a:ln cap="flat" cmpd="sng" w="9525">
            <a:solidFill>
              <a:srgbClr val="0E9C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900">
                <a:solidFill>
                  <a:srgbClr val="0E9C8A"/>
                </a:solidFill>
                <a:latin typeface="Cambria"/>
                <a:ea typeface="Cambria"/>
                <a:cs typeface="Cambria"/>
                <a:sym typeface="Cambria"/>
              </a:rPr>
              <a:t>Interface</a:t>
            </a:r>
            <a:endParaRPr sz="1100">
              <a:solidFill>
                <a:srgbClr val="0E9C8A"/>
              </a:solidFill>
            </a:endParaRPr>
          </a:p>
          <a:p>
            <a:pPr indent="0" lvl="0" marL="0" rtl="0" algn="ctr">
              <a:spcBef>
                <a:spcPts val="200"/>
              </a:spcBef>
              <a:spcAft>
                <a:spcPts val="0"/>
              </a:spcAft>
              <a:buNone/>
            </a:pPr>
            <a:r>
              <a:rPr i="1" lang="fr" sz="700">
                <a:solidFill>
                  <a:srgbClr val="185FA5"/>
                </a:solidFill>
                <a:latin typeface="Calibri"/>
                <a:ea typeface="Calibri"/>
                <a:cs typeface="Calibri"/>
                <a:sym typeface="Calibri"/>
              </a:rPr>
              <a:t>Streamlit / CLI </a:t>
            </a:r>
            <a:r>
              <a:rPr b="1" lang="fr" sz="700">
                <a:solidFill>
                  <a:srgbClr val="0E9C8A"/>
                </a:solidFill>
                <a:latin typeface="Calibri"/>
                <a:ea typeface="Calibri"/>
                <a:cs typeface="Calibri"/>
                <a:sym typeface="Calibri"/>
              </a:rPr>
              <a:t>→ FastAPI · SSE</a:t>
            </a:r>
            <a:endParaRPr>
              <a:solidFill>
                <a:srgbClr val="185FA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0" name="Google Shape;940;p53"/>
          <p:cNvSpPr/>
          <p:nvPr/>
        </p:nvSpPr>
        <p:spPr>
          <a:xfrm>
            <a:off x="3840608" y="2263051"/>
            <a:ext cx="1371600" cy="397800"/>
          </a:xfrm>
          <a:prstGeom prst="roundRect">
            <a:avLst>
              <a:gd fmla="val 6000" name="adj"/>
            </a:avLst>
          </a:prstGeom>
          <a:solidFill>
            <a:srgbClr val="185FA5">
              <a:alpha val="6960"/>
            </a:srgbClr>
          </a:solidFill>
          <a:ln cap="flat" cmpd="sng" w="9525">
            <a:solidFill>
              <a:srgbClr val="185FA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900">
                <a:solidFill>
                  <a:srgbClr val="185FA5"/>
                </a:solidFill>
                <a:latin typeface="Cambria"/>
                <a:ea typeface="Cambria"/>
                <a:cs typeface="Cambria"/>
                <a:sym typeface="Cambria"/>
              </a:rPr>
              <a:t>Retriever hybride</a:t>
            </a:r>
            <a:endParaRPr sz="1100">
              <a:solidFill>
                <a:srgbClr val="185FA5"/>
              </a:solidFill>
            </a:endParaRPr>
          </a:p>
          <a:p>
            <a:pPr indent="0" lvl="0" marL="0" rtl="0" algn="ctr">
              <a:spcBef>
                <a:spcPts val="100"/>
              </a:spcBef>
              <a:spcAft>
                <a:spcPts val="0"/>
              </a:spcAft>
              <a:buNone/>
            </a:pPr>
            <a:r>
              <a:rPr lang="fr" sz="700">
                <a:solidFill>
                  <a:srgbClr val="185FA5"/>
                </a:solidFill>
                <a:latin typeface="Calibri"/>
                <a:ea typeface="Calibri"/>
                <a:cs typeface="Calibri"/>
                <a:sym typeface="Calibri"/>
              </a:rPr>
              <a:t>BM25 + dense (MMR)</a:t>
            </a:r>
            <a:endParaRPr>
              <a:solidFill>
                <a:srgbClr val="185FA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1" name="Google Shape;941;p53"/>
          <p:cNvSpPr/>
          <p:nvPr/>
        </p:nvSpPr>
        <p:spPr>
          <a:xfrm>
            <a:off x="5520865" y="2263051"/>
            <a:ext cx="1371600" cy="397800"/>
          </a:xfrm>
          <a:prstGeom prst="roundRect">
            <a:avLst>
              <a:gd fmla="val 6000" name="adj"/>
            </a:avLst>
          </a:prstGeom>
          <a:solidFill>
            <a:srgbClr val="185FA5">
              <a:alpha val="6960"/>
            </a:srgbClr>
          </a:solidFill>
          <a:ln cap="flat" cmpd="sng" w="9525">
            <a:solidFill>
              <a:srgbClr val="185FA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900">
                <a:solidFill>
                  <a:srgbClr val="185FA5"/>
                </a:solidFill>
                <a:latin typeface="Cambria"/>
                <a:ea typeface="Cambria"/>
                <a:cs typeface="Cambria"/>
                <a:sym typeface="Cambria"/>
              </a:rPr>
              <a:t>mistral-small</a:t>
            </a:r>
            <a:endParaRPr sz="1100">
              <a:solidFill>
                <a:srgbClr val="185FA5"/>
              </a:solidFill>
            </a:endParaRPr>
          </a:p>
          <a:p>
            <a:pPr indent="0" lvl="0" marL="0" rtl="0" algn="ctr">
              <a:spcBef>
                <a:spcPts val="100"/>
              </a:spcBef>
              <a:spcAft>
                <a:spcPts val="0"/>
              </a:spcAft>
              <a:buNone/>
            </a:pPr>
            <a:r>
              <a:rPr lang="fr" sz="700">
                <a:solidFill>
                  <a:srgbClr val="185FA5"/>
                </a:solidFill>
                <a:latin typeface="Calibri"/>
                <a:ea typeface="Calibri"/>
                <a:cs typeface="Calibri"/>
                <a:sym typeface="Calibri"/>
              </a:rPr>
              <a:t>génération · sources</a:t>
            </a:r>
            <a:endParaRPr>
              <a:solidFill>
                <a:srgbClr val="185FA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2" name="Google Shape;942;p53"/>
          <p:cNvSpPr/>
          <p:nvPr/>
        </p:nvSpPr>
        <p:spPr>
          <a:xfrm>
            <a:off x="7201123" y="2263051"/>
            <a:ext cx="1371600" cy="397800"/>
          </a:xfrm>
          <a:prstGeom prst="roundRect">
            <a:avLst>
              <a:gd fmla="val 6000" name="adj"/>
            </a:avLst>
          </a:prstGeom>
          <a:solidFill>
            <a:srgbClr val="185FA5">
              <a:alpha val="6960"/>
            </a:srgbClr>
          </a:solidFill>
          <a:ln cap="flat" cmpd="sng" w="9525">
            <a:solidFill>
              <a:srgbClr val="185FA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900">
                <a:solidFill>
                  <a:srgbClr val="185FA5"/>
                </a:solidFill>
                <a:latin typeface="Cambria"/>
                <a:ea typeface="Cambria"/>
                <a:cs typeface="Cambria"/>
                <a:sym typeface="Cambria"/>
              </a:rPr>
              <a:t>Réponse + sources</a:t>
            </a:r>
            <a:endParaRPr sz="1100">
              <a:solidFill>
                <a:srgbClr val="185FA5"/>
              </a:solidFill>
            </a:endParaRPr>
          </a:p>
          <a:p>
            <a:pPr indent="0" lvl="0" marL="0" rtl="0" algn="ctr">
              <a:spcBef>
                <a:spcPts val="100"/>
              </a:spcBef>
              <a:spcAft>
                <a:spcPts val="0"/>
              </a:spcAft>
              <a:buNone/>
            </a:pPr>
            <a:r>
              <a:rPr lang="fr" sz="700">
                <a:solidFill>
                  <a:srgbClr val="185FA5"/>
                </a:solidFill>
                <a:latin typeface="Calibri"/>
                <a:ea typeface="Calibri"/>
                <a:cs typeface="Calibri"/>
                <a:sym typeface="Calibri"/>
              </a:rPr>
              <a:t>citations</a:t>
            </a:r>
            <a:endParaRPr>
              <a:solidFill>
                <a:srgbClr val="185FA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943" name="Google Shape;943;p53"/>
          <p:cNvCxnSpPr>
            <a:stCxn id="936" idx="2"/>
            <a:endCxn id="940" idx="0"/>
          </p:cNvCxnSpPr>
          <p:nvPr/>
        </p:nvCxnSpPr>
        <p:spPr>
          <a:xfrm flipH="1">
            <a:off x="4526369" y="1892844"/>
            <a:ext cx="3034800" cy="370200"/>
          </a:xfrm>
          <a:prstGeom prst="straightConnector1">
            <a:avLst/>
          </a:prstGeom>
          <a:noFill/>
          <a:ln cap="flat" cmpd="sng" w="15225">
            <a:solidFill>
              <a:srgbClr val="FFFB8C"/>
            </a:solidFill>
            <a:prstDash val="dash"/>
            <a:round/>
            <a:headEnd len="sm" w="sm" type="oval"/>
            <a:tailEnd len="med" w="med" type="oval"/>
          </a:ln>
        </p:spPr>
      </p:cxnSp>
      <p:sp>
        <p:nvSpPr>
          <p:cNvPr id="944" name="Google Shape;944;p53"/>
          <p:cNvSpPr txBox="1"/>
          <p:nvPr/>
        </p:nvSpPr>
        <p:spPr>
          <a:xfrm>
            <a:off x="4764446" y="1938063"/>
            <a:ext cx="1097400" cy="1461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0" spcFirstLastPara="1" rIns="0" wrap="square" tIns="190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fr" sz="700" u="none" cap="none" strike="noStrike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embeddings + métadonnées</a:t>
            </a:r>
            <a:endParaRPr sz="1100">
              <a:solidFill>
                <a:srgbClr val="9CA3AF"/>
              </a:solidFill>
            </a:endParaRPr>
          </a:p>
        </p:txBody>
      </p:sp>
      <p:sp>
        <p:nvSpPr>
          <p:cNvPr id="945" name="Google Shape;945;p53"/>
          <p:cNvSpPr/>
          <p:nvPr/>
        </p:nvSpPr>
        <p:spPr>
          <a:xfrm>
            <a:off x="1417588" y="2775313"/>
            <a:ext cx="1176900" cy="507900"/>
          </a:xfrm>
          <a:prstGeom prst="roundRect">
            <a:avLst>
              <a:gd fmla="val 6000" name="adj"/>
            </a:avLst>
          </a:prstGeom>
          <a:solidFill>
            <a:srgbClr val="923E22">
              <a:alpha val="7999"/>
            </a:srgbClr>
          </a:solidFill>
          <a:ln cap="flat" cmpd="sng" w="7225">
            <a:solidFill>
              <a:srgbClr val="923E22"/>
            </a:solidFill>
            <a:prstDash val="solid"/>
            <a:round/>
            <a:headEnd len="sm" w="sm" type="none"/>
            <a:tailEnd len="sm" w="sm" type="none"/>
          </a:ln>
          <a:effectLst>
            <a:outerShdw blurRad="27293" rotWithShape="0" dir="5400000" dist="11372">
              <a:srgbClr val="8A93A6">
                <a:alpha val="32159"/>
              </a:srgbClr>
            </a:outerShdw>
          </a:effectLst>
        </p:spPr>
        <p:txBody>
          <a:bodyPr anchorCtr="0" anchor="ctr" bIns="20800" lIns="41600" spcFirstLastPara="1" rIns="41600" wrap="square" tIns="208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849" u="none" cap="none" strike="noStrike">
              <a:solidFill>
                <a:srgbClr val="0E9C8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6" name="Google Shape;946;p53"/>
          <p:cNvSpPr/>
          <p:nvPr/>
        </p:nvSpPr>
        <p:spPr>
          <a:xfrm>
            <a:off x="1517417" y="2858501"/>
            <a:ext cx="174600" cy="174600"/>
          </a:xfrm>
          <a:prstGeom prst="ellipse">
            <a:avLst/>
          </a:prstGeom>
          <a:noFill/>
          <a:ln cap="flat" cmpd="sng" w="9525">
            <a:solidFill>
              <a:srgbClr val="923E2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fr" sz="667" u="none" cap="none" strike="noStrike">
                <a:solidFill>
                  <a:srgbClr val="923E22"/>
                </a:solidFill>
                <a:latin typeface="Cambria"/>
                <a:ea typeface="Cambria"/>
                <a:cs typeface="Cambria"/>
                <a:sym typeface="Cambria"/>
              </a:rPr>
              <a:t>1</a:t>
            </a:r>
            <a:endParaRPr sz="667">
              <a:solidFill>
                <a:srgbClr val="923E22"/>
              </a:solidFill>
            </a:endParaRPr>
          </a:p>
        </p:txBody>
      </p:sp>
      <p:sp>
        <p:nvSpPr>
          <p:cNvPr id="947" name="Google Shape;947;p53"/>
          <p:cNvSpPr txBox="1"/>
          <p:nvPr/>
        </p:nvSpPr>
        <p:spPr>
          <a:xfrm>
            <a:off x="1758672" y="2850182"/>
            <a:ext cx="761100" cy="88500"/>
          </a:xfrm>
          <a:prstGeom prst="rect">
            <a:avLst/>
          </a:prstGeom>
          <a:noFill/>
          <a:ln>
            <a:noFill/>
          </a:ln>
        </p:spPr>
        <p:txBody>
          <a:bodyPr anchorCtr="0" anchor="t" bIns="11525" lIns="0" spcFirstLastPara="1" rIns="0" wrap="square" tIns="115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fr" sz="425" u="none" cap="none" strike="noStrike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BESOIN</a:t>
            </a:r>
            <a:endParaRPr sz="667">
              <a:solidFill>
                <a:srgbClr val="9CA3AF"/>
              </a:solidFill>
            </a:endParaRPr>
          </a:p>
        </p:txBody>
      </p:sp>
      <p:sp>
        <p:nvSpPr>
          <p:cNvPr id="948" name="Google Shape;948;p53"/>
          <p:cNvSpPr txBox="1"/>
          <p:nvPr/>
        </p:nvSpPr>
        <p:spPr>
          <a:xfrm>
            <a:off x="1758672" y="2950007"/>
            <a:ext cx="761100" cy="191400"/>
          </a:xfrm>
          <a:prstGeom prst="rect">
            <a:avLst/>
          </a:prstGeom>
          <a:noFill/>
          <a:ln>
            <a:noFill/>
          </a:ln>
        </p:spPr>
        <p:txBody>
          <a:bodyPr anchorCtr="0" anchor="t" bIns="11525" lIns="0" spcFirstLastPara="1" rIns="0" wrap="square" tIns="115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fr" sz="546" u="none" cap="none" strike="noStrike">
                <a:solidFill>
                  <a:srgbClr val="923E22"/>
                </a:solidFill>
                <a:latin typeface="Cambria"/>
                <a:ea typeface="Cambria"/>
                <a:cs typeface="Cambria"/>
                <a:sym typeface="Cambria"/>
              </a:rPr>
              <a:t>Mémoire conversationnelle</a:t>
            </a:r>
            <a:endParaRPr sz="546">
              <a:solidFill>
                <a:srgbClr val="923E22"/>
              </a:solidFill>
            </a:endParaRPr>
          </a:p>
        </p:txBody>
      </p:sp>
      <p:sp>
        <p:nvSpPr>
          <p:cNvPr id="949" name="Google Shape;949;p53"/>
          <p:cNvSpPr/>
          <p:nvPr/>
        </p:nvSpPr>
        <p:spPr>
          <a:xfrm>
            <a:off x="3332581" y="2787251"/>
            <a:ext cx="1176900" cy="507900"/>
          </a:xfrm>
          <a:prstGeom prst="roundRect">
            <a:avLst>
              <a:gd fmla="val 6000" name="adj"/>
            </a:avLst>
          </a:prstGeom>
          <a:solidFill>
            <a:srgbClr val="CCC743">
              <a:alpha val="7999"/>
            </a:srgbClr>
          </a:solidFill>
          <a:ln cap="flat" cmpd="sng" w="7225">
            <a:solidFill>
              <a:srgbClr val="CCC743"/>
            </a:solidFill>
            <a:prstDash val="solid"/>
            <a:round/>
            <a:headEnd len="sm" w="sm" type="none"/>
            <a:tailEnd len="sm" w="sm" type="none"/>
          </a:ln>
          <a:effectLst>
            <a:outerShdw blurRad="27293" rotWithShape="0" dir="5400000" dist="11372">
              <a:srgbClr val="8A93A6">
                <a:alpha val="32159"/>
              </a:srgbClr>
            </a:outerShdw>
          </a:effectLst>
        </p:spPr>
        <p:txBody>
          <a:bodyPr anchorCtr="0" anchor="ctr" bIns="20800" lIns="41600" spcFirstLastPara="1" rIns="41600" wrap="square" tIns="208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849" u="none" cap="none" strike="noStrike">
              <a:solidFill>
                <a:srgbClr val="0E9C8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0" name="Google Shape;950;p53"/>
          <p:cNvSpPr/>
          <p:nvPr/>
        </p:nvSpPr>
        <p:spPr>
          <a:xfrm>
            <a:off x="3432411" y="2870438"/>
            <a:ext cx="174600" cy="174600"/>
          </a:xfrm>
          <a:prstGeom prst="ellipse">
            <a:avLst/>
          </a:prstGeom>
          <a:noFill/>
          <a:ln cap="flat" cmpd="sng" w="9525">
            <a:solidFill>
              <a:srgbClr val="CCC74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fr" sz="667" u="none" cap="none" strike="noStrike">
                <a:solidFill>
                  <a:srgbClr val="CCC743"/>
                </a:solidFill>
                <a:latin typeface="Cambria"/>
                <a:ea typeface="Cambria"/>
                <a:cs typeface="Cambria"/>
                <a:sym typeface="Cambria"/>
              </a:rPr>
              <a:t>2</a:t>
            </a:r>
            <a:endParaRPr sz="667">
              <a:solidFill>
                <a:srgbClr val="CCC743"/>
              </a:solidFill>
            </a:endParaRPr>
          </a:p>
        </p:txBody>
      </p:sp>
      <p:sp>
        <p:nvSpPr>
          <p:cNvPr id="951" name="Google Shape;951;p53"/>
          <p:cNvSpPr txBox="1"/>
          <p:nvPr/>
        </p:nvSpPr>
        <p:spPr>
          <a:xfrm>
            <a:off x="3673665" y="2862120"/>
            <a:ext cx="761100" cy="88500"/>
          </a:xfrm>
          <a:prstGeom prst="rect">
            <a:avLst/>
          </a:prstGeom>
          <a:noFill/>
          <a:ln>
            <a:noFill/>
          </a:ln>
        </p:spPr>
        <p:txBody>
          <a:bodyPr anchorCtr="0" anchor="t" bIns="11525" lIns="0" spcFirstLastPara="1" rIns="0" wrap="square" tIns="115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fr" sz="425" u="none" cap="none" strike="noStrike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BESOIN</a:t>
            </a:r>
            <a:endParaRPr sz="667">
              <a:solidFill>
                <a:srgbClr val="9CA3AF"/>
              </a:solidFill>
            </a:endParaRPr>
          </a:p>
        </p:txBody>
      </p:sp>
      <p:sp>
        <p:nvSpPr>
          <p:cNvPr id="952" name="Google Shape;952;p53"/>
          <p:cNvSpPr txBox="1"/>
          <p:nvPr/>
        </p:nvSpPr>
        <p:spPr>
          <a:xfrm>
            <a:off x="3673665" y="2961945"/>
            <a:ext cx="761100" cy="107400"/>
          </a:xfrm>
          <a:prstGeom prst="rect">
            <a:avLst/>
          </a:prstGeom>
          <a:noFill/>
          <a:ln>
            <a:noFill/>
          </a:ln>
        </p:spPr>
        <p:txBody>
          <a:bodyPr anchorCtr="0" anchor="t" bIns="11525" lIns="0" spcFirstLastPara="1" rIns="0" wrap="square" tIns="115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fr" sz="546" u="none" cap="none" strike="noStrike">
                <a:solidFill>
                  <a:srgbClr val="CCC743"/>
                </a:solidFill>
                <a:latin typeface="Cambria"/>
                <a:ea typeface="Cambria"/>
                <a:cs typeface="Cambria"/>
                <a:sym typeface="Cambria"/>
              </a:rPr>
              <a:t>Contexte géographique</a:t>
            </a:r>
            <a:endParaRPr sz="546">
              <a:solidFill>
                <a:srgbClr val="CCC743"/>
              </a:solidFill>
            </a:endParaRPr>
          </a:p>
        </p:txBody>
      </p:sp>
      <p:sp>
        <p:nvSpPr>
          <p:cNvPr id="953" name="Google Shape;953;p53"/>
          <p:cNvSpPr/>
          <p:nvPr/>
        </p:nvSpPr>
        <p:spPr>
          <a:xfrm>
            <a:off x="4634525" y="2787251"/>
            <a:ext cx="1176900" cy="507900"/>
          </a:xfrm>
          <a:prstGeom prst="roundRect">
            <a:avLst>
              <a:gd fmla="val 6000" name="adj"/>
            </a:avLst>
          </a:prstGeom>
          <a:solidFill>
            <a:srgbClr val="CCC743">
              <a:alpha val="7999"/>
            </a:srgbClr>
          </a:solidFill>
          <a:ln cap="flat" cmpd="sng" w="7225">
            <a:solidFill>
              <a:srgbClr val="CCC743"/>
            </a:solidFill>
            <a:prstDash val="solid"/>
            <a:round/>
            <a:headEnd len="sm" w="sm" type="none"/>
            <a:tailEnd len="sm" w="sm" type="none"/>
          </a:ln>
          <a:effectLst>
            <a:outerShdw blurRad="27293" rotWithShape="0" dir="5400000" dist="11372">
              <a:srgbClr val="8A93A6">
                <a:alpha val="32159"/>
              </a:srgbClr>
            </a:outerShdw>
          </a:effectLst>
        </p:spPr>
        <p:txBody>
          <a:bodyPr anchorCtr="0" anchor="ctr" bIns="20800" lIns="41600" spcFirstLastPara="1" rIns="41600" wrap="square" tIns="208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849" u="none" cap="none" strike="noStrike">
              <a:solidFill>
                <a:srgbClr val="0E9C8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4" name="Google Shape;954;p53"/>
          <p:cNvSpPr/>
          <p:nvPr/>
        </p:nvSpPr>
        <p:spPr>
          <a:xfrm>
            <a:off x="4734354" y="2870438"/>
            <a:ext cx="174600" cy="174600"/>
          </a:xfrm>
          <a:prstGeom prst="ellipse">
            <a:avLst/>
          </a:prstGeom>
          <a:noFill/>
          <a:ln cap="flat" cmpd="sng" w="9525">
            <a:solidFill>
              <a:srgbClr val="CCC74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fr" sz="667" u="none" cap="none" strike="noStrike">
                <a:solidFill>
                  <a:srgbClr val="CCC743"/>
                </a:solidFill>
                <a:latin typeface="Cambria"/>
                <a:ea typeface="Cambria"/>
                <a:cs typeface="Cambria"/>
                <a:sym typeface="Cambria"/>
              </a:rPr>
              <a:t>3</a:t>
            </a:r>
            <a:endParaRPr sz="667">
              <a:solidFill>
                <a:srgbClr val="CCC743"/>
              </a:solidFill>
            </a:endParaRPr>
          </a:p>
        </p:txBody>
      </p:sp>
      <p:sp>
        <p:nvSpPr>
          <p:cNvPr id="955" name="Google Shape;955;p53"/>
          <p:cNvSpPr txBox="1"/>
          <p:nvPr/>
        </p:nvSpPr>
        <p:spPr>
          <a:xfrm>
            <a:off x="4975609" y="2862120"/>
            <a:ext cx="761100" cy="88500"/>
          </a:xfrm>
          <a:prstGeom prst="rect">
            <a:avLst/>
          </a:prstGeom>
          <a:noFill/>
          <a:ln>
            <a:noFill/>
          </a:ln>
        </p:spPr>
        <p:txBody>
          <a:bodyPr anchorCtr="0" anchor="t" bIns="11525" lIns="0" spcFirstLastPara="1" rIns="0" wrap="square" tIns="115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fr" sz="425" u="none" cap="none" strike="noStrike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BESOIN</a:t>
            </a:r>
            <a:endParaRPr sz="667">
              <a:solidFill>
                <a:srgbClr val="9CA3AF"/>
              </a:solidFill>
            </a:endParaRPr>
          </a:p>
        </p:txBody>
      </p:sp>
      <p:sp>
        <p:nvSpPr>
          <p:cNvPr id="956" name="Google Shape;956;p53"/>
          <p:cNvSpPr txBox="1"/>
          <p:nvPr/>
        </p:nvSpPr>
        <p:spPr>
          <a:xfrm>
            <a:off x="4975609" y="2961945"/>
            <a:ext cx="761100" cy="107400"/>
          </a:xfrm>
          <a:prstGeom prst="rect">
            <a:avLst/>
          </a:prstGeom>
          <a:noFill/>
          <a:ln>
            <a:noFill/>
          </a:ln>
        </p:spPr>
        <p:txBody>
          <a:bodyPr anchorCtr="0" anchor="t" bIns="11525" lIns="0" spcFirstLastPara="1" rIns="0" wrap="square" tIns="115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fr" sz="546" u="none" cap="none" strike="noStrike">
                <a:solidFill>
                  <a:srgbClr val="CCC743"/>
                </a:solidFill>
                <a:latin typeface="Cambria"/>
                <a:ea typeface="Cambria"/>
                <a:cs typeface="Cambria"/>
                <a:sym typeface="Cambria"/>
              </a:rPr>
              <a:t>Web temps réel</a:t>
            </a:r>
            <a:endParaRPr sz="546">
              <a:solidFill>
                <a:srgbClr val="CCC743"/>
              </a:solidFill>
            </a:endParaRPr>
          </a:p>
        </p:txBody>
      </p:sp>
      <p:sp>
        <p:nvSpPr>
          <p:cNvPr id="957" name="Google Shape;957;p53"/>
          <p:cNvSpPr/>
          <p:nvPr/>
        </p:nvSpPr>
        <p:spPr>
          <a:xfrm>
            <a:off x="4078923" y="3475913"/>
            <a:ext cx="174600" cy="174600"/>
          </a:xfrm>
          <a:prstGeom prst="ellipse">
            <a:avLst/>
          </a:prstGeom>
          <a:noFill/>
          <a:ln cap="flat" cmpd="sng" w="9525">
            <a:solidFill>
              <a:srgbClr val="B07BC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fr" sz="667" u="none" cap="none" strike="noStrike">
                <a:solidFill>
                  <a:srgbClr val="B07BC2"/>
                </a:solidFill>
                <a:latin typeface="Cambria"/>
                <a:ea typeface="Cambria"/>
                <a:cs typeface="Cambria"/>
                <a:sym typeface="Cambria"/>
              </a:rPr>
              <a:t>4</a:t>
            </a:r>
            <a:endParaRPr sz="667">
              <a:solidFill>
                <a:srgbClr val="B07BC2"/>
              </a:solidFill>
            </a:endParaRPr>
          </a:p>
        </p:txBody>
      </p:sp>
      <p:sp>
        <p:nvSpPr>
          <p:cNvPr id="958" name="Google Shape;958;p53"/>
          <p:cNvSpPr txBox="1"/>
          <p:nvPr/>
        </p:nvSpPr>
        <p:spPr>
          <a:xfrm>
            <a:off x="4320178" y="3467595"/>
            <a:ext cx="761100" cy="88500"/>
          </a:xfrm>
          <a:prstGeom prst="rect">
            <a:avLst/>
          </a:prstGeom>
          <a:noFill/>
          <a:ln>
            <a:noFill/>
          </a:ln>
        </p:spPr>
        <p:txBody>
          <a:bodyPr anchorCtr="0" anchor="t" bIns="11525" lIns="0" spcFirstLastPara="1" rIns="0" wrap="square" tIns="115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fr" sz="425" u="none" cap="none" strike="noStrike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BESOIN</a:t>
            </a:r>
            <a:endParaRPr sz="667">
              <a:solidFill>
                <a:srgbClr val="9CA3AF"/>
              </a:solidFill>
            </a:endParaRPr>
          </a:p>
        </p:txBody>
      </p:sp>
      <p:sp>
        <p:nvSpPr>
          <p:cNvPr id="959" name="Google Shape;959;p53"/>
          <p:cNvSpPr txBox="1"/>
          <p:nvPr/>
        </p:nvSpPr>
        <p:spPr>
          <a:xfrm>
            <a:off x="4320178" y="3567420"/>
            <a:ext cx="761100" cy="107400"/>
          </a:xfrm>
          <a:prstGeom prst="rect">
            <a:avLst/>
          </a:prstGeom>
          <a:noFill/>
          <a:ln>
            <a:noFill/>
          </a:ln>
        </p:spPr>
        <p:txBody>
          <a:bodyPr anchorCtr="0" anchor="t" bIns="11525" lIns="0" spcFirstLastPara="1" rIns="0" wrap="square" tIns="115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fr" sz="546" u="none" cap="none" strike="noStrike">
                <a:solidFill>
                  <a:srgbClr val="B07BC2"/>
                </a:solidFill>
                <a:latin typeface="Cambria"/>
                <a:ea typeface="Cambria"/>
                <a:cs typeface="Cambria"/>
                <a:sym typeface="Cambria"/>
              </a:rPr>
              <a:t>Monitoring</a:t>
            </a:r>
            <a:endParaRPr sz="546">
              <a:solidFill>
                <a:srgbClr val="B07BC2"/>
              </a:solidFill>
            </a:endParaRPr>
          </a:p>
        </p:txBody>
      </p:sp>
      <p:sp>
        <p:nvSpPr>
          <p:cNvPr id="960" name="Google Shape;960;p53"/>
          <p:cNvSpPr txBox="1"/>
          <p:nvPr/>
        </p:nvSpPr>
        <p:spPr>
          <a:xfrm>
            <a:off x="377200" y="233175"/>
            <a:ext cx="1773600" cy="45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9050" lIns="0" spcFirstLastPara="1" rIns="0" wrap="square" tIns="190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1800">
                <a:solidFill>
                  <a:srgbClr val="0E9C8A"/>
                </a:solidFill>
                <a:latin typeface="Calibri"/>
                <a:ea typeface="Calibri"/>
                <a:cs typeface="Calibri"/>
                <a:sym typeface="Calibri"/>
              </a:rPr>
              <a:t>Du POC au MVP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1" name="Google Shape;961;p53"/>
          <p:cNvSpPr txBox="1"/>
          <p:nvPr/>
        </p:nvSpPr>
        <p:spPr>
          <a:xfrm>
            <a:off x="377200" y="675550"/>
            <a:ext cx="37122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9050" lIns="0" spcFirstLastPara="1" rIns="0" wrap="square" tIns="190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1100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Le schéma du POC RAG Puls-Events, augmenté par les besoins</a:t>
            </a:r>
            <a:endParaRPr b="1" sz="1100">
              <a:solidFill>
                <a:srgbClr val="9CA3A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2" name="Google Shape;962;p53"/>
          <p:cNvSpPr txBox="1"/>
          <p:nvPr/>
        </p:nvSpPr>
        <p:spPr>
          <a:xfrm>
            <a:off x="6478515" y="992299"/>
            <a:ext cx="1097400" cy="19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9050" lIns="0" spcFirstLastPara="1" rIns="0" wrap="square" tIns="190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fr" sz="1000" u="none" cap="none" strike="noStrike">
                <a:solidFill>
                  <a:srgbClr val="0E9C8A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r>
              <a:rPr b="1" i="0" lang="fr" sz="1000" u="none" cap="none" strike="noStrike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    </a:t>
            </a:r>
            <a:r>
              <a:rPr b="0" i="0" lang="fr" sz="800" u="none" cap="none" strike="noStrike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fait évoluer</a:t>
            </a:r>
            <a:endParaRPr sz="1100">
              <a:solidFill>
                <a:srgbClr val="9CA3AF"/>
              </a:solidFill>
            </a:endParaRPr>
          </a:p>
        </p:txBody>
      </p:sp>
      <p:sp>
        <p:nvSpPr>
          <p:cNvPr id="963" name="Google Shape;963;p53"/>
          <p:cNvSpPr/>
          <p:nvPr/>
        </p:nvSpPr>
        <p:spPr>
          <a:xfrm>
            <a:off x="2284350" y="1593125"/>
            <a:ext cx="461700" cy="2013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0E9C8A">
              <a:alpha val="60000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4" name="Google Shape;964;p53"/>
          <p:cNvSpPr/>
          <p:nvPr/>
        </p:nvSpPr>
        <p:spPr>
          <a:xfrm>
            <a:off x="4295575" y="1603525"/>
            <a:ext cx="461700" cy="2013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0E9C8A">
              <a:alpha val="60000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5" name="Google Shape;965;p53"/>
          <p:cNvSpPr/>
          <p:nvPr/>
        </p:nvSpPr>
        <p:spPr>
          <a:xfrm>
            <a:off x="6323275" y="1598638"/>
            <a:ext cx="461700" cy="2013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0E9C8A">
              <a:alpha val="60000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6" name="Google Shape;966;p53"/>
          <p:cNvSpPr/>
          <p:nvPr/>
        </p:nvSpPr>
        <p:spPr>
          <a:xfrm>
            <a:off x="6815900" y="2340200"/>
            <a:ext cx="461700" cy="2013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0E9C8A">
              <a:alpha val="60000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7" name="Google Shape;967;p53"/>
          <p:cNvSpPr/>
          <p:nvPr/>
        </p:nvSpPr>
        <p:spPr>
          <a:xfrm>
            <a:off x="1775200" y="2340188"/>
            <a:ext cx="461700" cy="2013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0E9C8A">
              <a:alpha val="60000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8" name="Google Shape;968;p53"/>
          <p:cNvSpPr/>
          <p:nvPr/>
        </p:nvSpPr>
        <p:spPr>
          <a:xfrm>
            <a:off x="5135675" y="2335063"/>
            <a:ext cx="461700" cy="2013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0E9C8A">
              <a:alpha val="60000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9" name="Google Shape;969;p53"/>
          <p:cNvSpPr/>
          <p:nvPr/>
        </p:nvSpPr>
        <p:spPr>
          <a:xfrm>
            <a:off x="3455450" y="2340188"/>
            <a:ext cx="461700" cy="2013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0E9C8A">
              <a:alpha val="60000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0" name="Google Shape;970;p53"/>
          <p:cNvSpPr/>
          <p:nvPr/>
        </p:nvSpPr>
        <p:spPr>
          <a:xfrm>
            <a:off x="3798700" y="2186800"/>
            <a:ext cx="1450200" cy="519300"/>
          </a:xfrm>
          <a:prstGeom prst="roundRect">
            <a:avLst>
              <a:gd fmla="val 6000" name="adj"/>
            </a:avLst>
          </a:prstGeom>
          <a:solidFill>
            <a:srgbClr val="CCC743">
              <a:alpha val="7999"/>
            </a:srgbClr>
          </a:solidFill>
          <a:ln cap="flat" cmpd="sng" w="7225">
            <a:solidFill>
              <a:srgbClr val="CCC743"/>
            </a:solidFill>
            <a:prstDash val="solid"/>
            <a:round/>
            <a:headEnd len="sm" w="sm" type="none"/>
            <a:tailEnd len="sm" w="sm" type="none"/>
          </a:ln>
          <a:effectLst>
            <a:outerShdw blurRad="27293" rotWithShape="0" dir="5400000" dist="11372">
              <a:srgbClr val="8A93A6">
                <a:alpha val="32159"/>
              </a:srgbClr>
            </a:outerShdw>
          </a:effectLst>
        </p:spPr>
        <p:txBody>
          <a:bodyPr anchorCtr="0" anchor="ctr" bIns="20800" lIns="41600" spcFirstLastPara="1" rIns="41600" wrap="square" tIns="208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849" u="none" cap="none" strike="noStrike">
              <a:solidFill>
                <a:srgbClr val="0E9C8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1" name="Google Shape;971;p53"/>
          <p:cNvSpPr txBox="1"/>
          <p:nvPr/>
        </p:nvSpPr>
        <p:spPr>
          <a:xfrm>
            <a:off x="377200" y="4945850"/>
            <a:ext cx="999000" cy="166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700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MVP RAG Puls-Events</a:t>
            </a:r>
            <a:endParaRPr sz="700">
              <a:solidFill>
                <a:srgbClr val="9CA3A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6" name="Shape 9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7" name="Google Shape;977;p54"/>
          <p:cNvSpPr/>
          <p:nvPr/>
        </p:nvSpPr>
        <p:spPr>
          <a:xfrm>
            <a:off x="424800" y="2186875"/>
            <a:ext cx="3149700" cy="519300"/>
          </a:xfrm>
          <a:prstGeom prst="roundRect">
            <a:avLst>
              <a:gd fmla="val 6000" name="adj"/>
            </a:avLst>
          </a:prstGeom>
          <a:solidFill>
            <a:srgbClr val="923E22">
              <a:alpha val="7999"/>
            </a:srgbClr>
          </a:solidFill>
          <a:ln cap="flat" cmpd="sng" w="7225">
            <a:solidFill>
              <a:srgbClr val="923E22"/>
            </a:solidFill>
            <a:prstDash val="solid"/>
            <a:round/>
            <a:headEnd len="sm" w="sm" type="none"/>
            <a:tailEnd len="sm" w="sm" type="none"/>
          </a:ln>
          <a:effectLst>
            <a:outerShdw blurRad="27293" rotWithShape="0" dir="5400000" dist="11372">
              <a:srgbClr val="8A93A6">
                <a:alpha val="32159"/>
              </a:srgbClr>
            </a:outerShdw>
          </a:effectLst>
        </p:spPr>
        <p:txBody>
          <a:bodyPr anchorCtr="0" anchor="ctr" bIns="20800" lIns="41600" spcFirstLastPara="1" rIns="41600" wrap="square" tIns="208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849" u="none" cap="none" strike="noStrike">
              <a:solidFill>
                <a:srgbClr val="0E9C8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8" name="Google Shape;978;p54"/>
          <p:cNvSpPr/>
          <p:nvPr/>
        </p:nvSpPr>
        <p:spPr>
          <a:xfrm>
            <a:off x="477400" y="3392738"/>
            <a:ext cx="8092800" cy="507900"/>
          </a:xfrm>
          <a:prstGeom prst="roundRect">
            <a:avLst>
              <a:gd fmla="val 6000" name="adj"/>
            </a:avLst>
          </a:prstGeom>
          <a:solidFill>
            <a:srgbClr val="B07BC2">
              <a:alpha val="7000"/>
            </a:srgbClr>
          </a:solidFill>
          <a:ln cap="flat" cmpd="sng" w="7225">
            <a:solidFill>
              <a:srgbClr val="B07BC2"/>
            </a:solidFill>
            <a:prstDash val="solid"/>
            <a:round/>
            <a:headEnd len="sm" w="sm" type="none"/>
            <a:tailEnd len="sm" w="sm" type="none"/>
          </a:ln>
          <a:effectLst>
            <a:outerShdw blurRad="27293" rotWithShape="0" dir="5400000" dist="11372">
              <a:srgbClr val="8A93A6">
                <a:alpha val="32159"/>
              </a:srgbClr>
            </a:outerShdw>
          </a:effectLst>
        </p:spPr>
        <p:txBody>
          <a:bodyPr anchorCtr="0" anchor="ctr" bIns="20800" lIns="41600" spcFirstLastPara="1" rIns="41600" wrap="square" tIns="208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849" u="none" cap="none" strike="noStrike">
              <a:solidFill>
                <a:srgbClr val="0E9C8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9" name="Google Shape;979;p54"/>
          <p:cNvSpPr/>
          <p:nvPr/>
        </p:nvSpPr>
        <p:spPr>
          <a:xfrm>
            <a:off x="6478535" y="530960"/>
            <a:ext cx="150900" cy="150900"/>
          </a:xfrm>
          <a:prstGeom prst="roundRect">
            <a:avLst>
              <a:gd fmla="val 16667" name="adj"/>
            </a:avLst>
          </a:prstGeom>
          <a:solidFill>
            <a:srgbClr val="185FA5">
              <a:alpha val="6960"/>
            </a:srgbClr>
          </a:solidFill>
          <a:ln cap="flat" cmpd="sng" w="9525">
            <a:solidFill>
              <a:srgbClr val="185FA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0" name="Google Shape;980;p54"/>
          <p:cNvSpPr txBox="1"/>
          <p:nvPr/>
        </p:nvSpPr>
        <p:spPr>
          <a:xfrm>
            <a:off x="6691151" y="510375"/>
            <a:ext cx="1371600" cy="17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9050" lIns="0" spcFirstLastPara="1" rIns="0" wrap="square" tIns="190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fr" sz="800" u="none" cap="none" strike="noStrike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hérité (</a:t>
            </a:r>
            <a:r>
              <a:rPr lang="fr" sz="900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POC RAG Puls-Events</a:t>
            </a:r>
            <a:r>
              <a:rPr b="0" i="0" lang="fr" sz="800" u="none" cap="none" strike="noStrike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)</a:t>
            </a:r>
            <a:endParaRPr sz="1100">
              <a:solidFill>
                <a:srgbClr val="9CA3AF"/>
              </a:solidFill>
            </a:endParaRPr>
          </a:p>
        </p:txBody>
      </p:sp>
      <p:sp>
        <p:nvSpPr>
          <p:cNvPr id="981" name="Google Shape;981;p54"/>
          <p:cNvSpPr/>
          <p:nvPr/>
        </p:nvSpPr>
        <p:spPr>
          <a:xfrm>
            <a:off x="6478515" y="769260"/>
            <a:ext cx="150900" cy="150900"/>
          </a:xfrm>
          <a:prstGeom prst="roundRect">
            <a:avLst>
              <a:gd fmla="val 16667" name="adj"/>
            </a:avLst>
          </a:prstGeom>
          <a:solidFill>
            <a:srgbClr val="0E9C8A">
              <a:alpha val="7999"/>
            </a:srgbClr>
          </a:solidFill>
          <a:ln cap="flat" cmpd="sng" w="11900">
            <a:solidFill>
              <a:srgbClr val="0E9C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2" name="Google Shape;982;p54"/>
          <p:cNvSpPr txBox="1"/>
          <p:nvPr/>
        </p:nvSpPr>
        <p:spPr>
          <a:xfrm>
            <a:off x="6691125" y="748675"/>
            <a:ext cx="1497900" cy="17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9050" lIns="0" spcFirstLastPara="1" rIns="0" wrap="square" tIns="190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fr" sz="800" u="none" cap="none" strike="noStrike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nouveau (</a:t>
            </a:r>
            <a:r>
              <a:rPr lang="fr" sz="900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MVP RAG Puls-Events</a:t>
            </a:r>
            <a:r>
              <a:rPr b="0" i="0" lang="fr" sz="800" u="none" cap="none" strike="noStrike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)</a:t>
            </a:r>
            <a:endParaRPr sz="1100">
              <a:solidFill>
                <a:srgbClr val="9CA3AF"/>
              </a:solidFill>
            </a:endParaRPr>
          </a:p>
        </p:txBody>
      </p:sp>
      <p:sp>
        <p:nvSpPr>
          <p:cNvPr id="983" name="Google Shape;983;p54"/>
          <p:cNvSpPr/>
          <p:nvPr/>
        </p:nvSpPr>
        <p:spPr>
          <a:xfrm>
            <a:off x="480073" y="1248156"/>
            <a:ext cx="2434500" cy="219300"/>
          </a:xfrm>
          <a:prstGeom prst="roundRect">
            <a:avLst>
              <a:gd fmla="val 16667" name="adj"/>
            </a:avLst>
          </a:prstGeom>
          <a:solidFill>
            <a:srgbClr val="185FA5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BATCH — construction de l'index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4" name="Google Shape;984;p54"/>
          <p:cNvSpPr/>
          <p:nvPr/>
        </p:nvSpPr>
        <p:spPr>
          <a:xfrm>
            <a:off x="651527" y="1495044"/>
            <a:ext cx="1680300" cy="397800"/>
          </a:xfrm>
          <a:prstGeom prst="roundRect">
            <a:avLst>
              <a:gd fmla="val 6000" name="adj"/>
            </a:avLst>
          </a:prstGeom>
          <a:solidFill>
            <a:srgbClr val="185FA5">
              <a:alpha val="6960"/>
            </a:srgbClr>
          </a:solidFill>
          <a:ln cap="flat" cmpd="sng" w="9525">
            <a:solidFill>
              <a:srgbClr val="185FA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900">
                <a:solidFill>
                  <a:srgbClr val="185FA5"/>
                </a:solidFill>
                <a:latin typeface="Cambria"/>
                <a:ea typeface="Cambria"/>
                <a:cs typeface="Cambria"/>
                <a:sym typeface="Cambria"/>
              </a:rPr>
              <a:t>Open Agenda</a:t>
            </a:r>
            <a:endParaRPr sz="1100">
              <a:solidFill>
                <a:srgbClr val="185FA5"/>
              </a:solidFill>
            </a:endParaRPr>
          </a:p>
          <a:p>
            <a:pPr indent="0" lvl="0" marL="0" rtl="0" algn="ctr">
              <a:spcBef>
                <a:spcPts val="100"/>
              </a:spcBef>
              <a:spcAft>
                <a:spcPts val="0"/>
              </a:spcAft>
              <a:buNone/>
            </a:pPr>
            <a:r>
              <a:rPr lang="fr" sz="700">
                <a:solidFill>
                  <a:srgbClr val="185FA5"/>
                </a:solidFill>
                <a:latin typeface="Calibri"/>
                <a:ea typeface="Calibri"/>
                <a:cs typeface="Calibri"/>
                <a:sym typeface="Calibri"/>
              </a:rPr>
              <a:t>API Opendatasoft</a:t>
            </a:r>
            <a:endParaRPr>
              <a:solidFill>
                <a:srgbClr val="185FA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5" name="Google Shape;985;p54"/>
          <p:cNvSpPr/>
          <p:nvPr/>
        </p:nvSpPr>
        <p:spPr>
          <a:xfrm>
            <a:off x="2674691" y="1495044"/>
            <a:ext cx="1680300" cy="397800"/>
          </a:xfrm>
          <a:prstGeom prst="roundRect">
            <a:avLst>
              <a:gd fmla="val 6000" name="adj"/>
            </a:avLst>
          </a:prstGeom>
          <a:solidFill>
            <a:srgbClr val="0E9C8A">
              <a:alpha val="7999"/>
            </a:srgbClr>
          </a:solidFill>
          <a:ln cap="flat" cmpd="sng" w="9525">
            <a:solidFill>
              <a:srgbClr val="0E9C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900">
                <a:solidFill>
                  <a:srgbClr val="0E9C8A"/>
                </a:solidFill>
                <a:latin typeface="Cambria"/>
                <a:ea typeface="Cambria"/>
                <a:cs typeface="Cambria"/>
                <a:sym typeface="Cambria"/>
              </a:rPr>
              <a:t>Ingestion</a:t>
            </a:r>
            <a:endParaRPr sz="1100">
              <a:solidFill>
                <a:srgbClr val="0E9C8A"/>
              </a:solidFill>
            </a:endParaRPr>
          </a:p>
          <a:p>
            <a:pPr indent="0" lvl="0" marL="0" rtl="0" algn="ctr">
              <a:spcBef>
                <a:spcPts val="200"/>
              </a:spcBef>
              <a:spcAft>
                <a:spcPts val="0"/>
              </a:spcAft>
              <a:buNone/>
            </a:pPr>
            <a:r>
              <a:rPr i="1" lang="fr" sz="700">
                <a:solidFill>
                  <a:srgbClr val="185FA5"/>
                </a:solidFill>
                <a:latin typeface="Calibri"/>
                <a:ea typeface="Calibri"/>
                <a:cs typeface="Calibri"/>
                <a:sym typeface="Calibri"/>
              </a:rPr>
              <a:t>script Python </a:t>
            </a:r>
            <a:r>
              <a:rPr b="1" lang="fr" sz="700">
                <a:solidFill>
                  <a:srgbClr val="0E9C8A"/>
                </a:solidFill>
                <a:latin typeface="Calibri"/>
                <a:ea typeface="Calibri"/>
                <a:cs typeface="Calibri"/>
                <a:sym typeface="Calibri"/>
              </a:rPr>
              <a:t>→ Kestra</a:t>
            </a:r>
            <a:endParaRPr>
              <a:solidFill>
                <a:srgbClr val="185FA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6" name="Google Shape;986;p54"/>
          <p:cNvSpPr/>
          <p:nvPr/>
        </p:nvSpPr>
        <p:spPr>
          <a:xfrm>
            <a:off x="4697855" y="1494882"/>
            <a:ext cx="1680300" cy="397800"/>
          </a:xfrm>
          <a:prstGeom prst="roundRect">
            <a:avLst>
              <a:gd fmla="val 6000" name="adj"/>
            </a:avLst>
          </a:prstGeom>
          <a:solidFill>
            <a:srgbClr val="185FA5">
              <a:alpha val="6960"/>
            </a:srgbClr>
          </a:solidFill>
          <a:ln cap="flat" cmpd="sng" w="9525">
            <a:solidFill>
              <a:srgbClr val="185FA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900">
                <a:solidFill>
                  <a:srgbClr val="185FA5"/>
                </a:solidFill>
                <a:latin typeface="Cambria"/>
                <a:ea typeface="Cambria"/>
                <a:cs typeface="Cambria"/>
                <a:sym typeface="Cambria"/>
              </a:rPr>
              <a:t>Embeddings</a:t>
            </a:r>
            <a:endParaRPr sz="1100">
              <a:solidFill>
                <a:srgbClr val="185FA5"/>
              </a:solidFill>
            </a:endParaRPr>
          </a:p>
          <a:p>
            <a:pPr indent="0" lvl="0" marL="0" rtl="0" algn="ctr">
              <a:spcBef>
                <a:spcPts val="100"/>
              </a:spcBef>
              <a:spcAft>
                <a:spcPts val="0"/>
              </a:spcAft>
              <a:buNone/>
            </a:pPr>
            <a:r>
              <a:rPr lang="fr" sz="700">
                <a:solidFill>
                  <a:srgbClr val="185FA5"/>
                </a:solidFill>
                <a:latin typeface="Calibri"/>
                <a:ea typeface="Calibri"/>
                <a:cs typeface="Calibri"/>
                <a:sym typeface="Calibri"/>
              </a:rPr>
              <a:t>mistral-embed</a:t>
            </a:r>
            <a:endParaRPr sz="1100">
              <a:solidFill>
                <a:srgbClr val="185FA5"/>
              </a:solidFill>
            </a:endParaRPr>
          </a:p>
        </p:txBody>
      </p:sp>
      <p:sp>
        <p:nvSpPr>
          <p:cNvPr id="987" name="Google Shape;987;p54"/>
          <p:cNvSpPr/>
          <p:nvPr/>
        </p:nvSpPr>
        <p:spPr>
          <a:xfrm>
            <a:off x="6721019" y="1495044"/>
            <a:ext cx="1680300" cy="397800"/>
          </a:xfrm>
          <a:prstGeom prst="roundRect">
            <a:avLst>
              <a:gd fmla="val 6000" name="adj"/>
            </a:avLst>
          </a:prstGeom>
          <a:solidFill>
            <a:srgbClr val="0E9C8A">
              <a:alpha val="7999"/>
            </a:srgbClr>
          </a:solidFill>
          <a:ln cap="flat" cmpd="sng" w="9525">
            <a:solidFill>
              <a:srgbClr val="0E9C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900">
                <a:solidFill>
                  <a:srgbClr val="0E9C8A"/>
                </a:solidFill>
                <a:latin typeface="Cambria"/>
                <a:ea typeface="Cambria"/>
                <a:cs typeface="Cambria"/>
                <a:sym typeface="Cambria"/>
              </a:rPr>
              <a:t>Index vectoriel</a:t>
            </a:r>
            <a:endParaRPr sz="1100">
              <a:solidFill>
                <a:srgbClr val="0E9C8A"/>
              </a:solidFill>
            </a:endParaRPr>
          </a:p>
          <a:p>
            <a:pPr indent="0" lvl="0" marL="0" rtl="0" algn="ctr">
              <a:spcBef>
                <a:spcPts val="200"/>
              </a:spcBef>
              <a:spcAft>
                <a:spcPts val="0"/>
              </a:spcAft>
              <a:buNone/>
            </a:pPr>
            <a:r>
              <a:rPr i="1" lang="fr" sz="700">
                <a:solidFill>
                  <a:srgbClr val="185FA5"/>
                </a:solidFill>
                <a:latin typeface="Calibri"/>
                <a:ea typeface="Calibri"/>
                <a:cs typeface="Calibri"/>
                <a:sym typeface="Calibri"/>
              </a:rPr>
              <a:t>FAISS local </a:t>
            </a:r>
            <a:r>
              <a:rPr b="1" lang="fr" sz="700">
                <a:solidFill>
                  <a:srgbClr val="0E9C8A"/>
                </a:solidFill>
                <a:latin typeface="Calibri"/>
                <a:ea typeface="Calibri"/>
                <a:cs typeface="Calibri"/>
                <a:sym typeface="Calibri"/>
              </a:rPr>
              <a:t>→ pgvector</a:t>
            </a:r>
            <a:endParaRPr>
              <a:solidFill>
                <a:srgbClr val="185FA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8" name="Google Shape;988;p54"/>
          <p:cNvSpPr/>
          <p:nvPr/>
        </p:nvSpPr>
        <p:spPr>
          <a:xfrm>
            <a:off x="480098" y="2016165"/>
            <a:ext cx="2434500" cy="219300"/>
          </a:xfrm>
          <a:prstGeom prst="roundRect">
            <a:avLst>
              <a:gd fmla="val 16667" name="adj"/>
            </a:avLst>
          </a:prstGeom>
          <a:solidFill>
            <a:srgbClr val="185FA5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RUNTIME — réponse à une question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9" name="Google Shape;989;p54"/>
          <p:cNvSpPr/>
          <p:nvPr/>
        </p:nvSpPr>
        <p:spPr>
          <a:xfrm>
            <a:off x="480100" y="2263051"/>
            <a:ext cx="1371600" cy="397800"/>
          </a:xfrm>
          <a:prstGeom prst="roundRect">
            <a:avLst>
              <a:gd fmla="val 6000" name="adj"/>
            </a:avLst>
          </a:prstGeom>
          <a:solidFill>
            <a:srgbClr val="185FA5">
              <a:alpha val="6960"/>
            </a:srgbClr>
          </a:solidFill>
          <a:ln cap="flat" cmpd="sng" w="9525">
            <a:solidFill>
              <a:srgbClr val="185FA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900">
                <a:solidFill>
                  <a:srgbClr val="185FA5"/>
                </a:solidFill>
                <a:latin typeface="Cambria"/>
                <a:ea typeface="Cambria"/>
                <a:cs typeface="Cambria"/>
                <a:sym typeface="Cambria"/>
              </a:rPr>
              <a:t>Utilisateur</a:t>
            </a:r>
            <a:endParaRPr sz="1100">
              <a:solidFill>
                <a:srgbClr val="185FA5"/>
              </a:solidFill>
            </a:endParaRPr>
          </a:p>
          <a:p>
            <a:pPr indent="0" lvl="0" marL="0" rtl="0" algn="ctr">
              <a:spcBef>
                <a:spcPts val="100"/>
              </a:spcBef>
              <a:spcAft>
                <a:spcPts val="0"/>
              </a:spcAft>
              <a:buNone/>
            </a:pPr>
            <a:r>
              <a:rPr lang="fr" sz="700">
                <a:solidFill>
                  <a:srgbClr val="185FA5"/>
                </a:solidFill>
                <a:latin typeface="Calibri"/>
                <a:ea typeface="Calibri"/>
                <a:cs typeface="Calibri"/>
                <a:sym typeface="Calibri"/>
              </a:rPr>
              <a:t>question</a:t>
            </a:r>
            <a:endParaRPr>
              <a:solidFill>
                <a:srgbClr val="185FA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0" name="Google Shape;990;p54"/>
          <p:cNvSpPr/>
          <p:nvPr/>
        </p:nvSpPr>
        <p:spPr>
          <a:xfrm>
            <a:off x="2160350" y="2263051"/>
            <a:ext cx="1371600" cy="397800"/>
          </a:xfrm>
          <a:prstGeom prst="roundRect">
            <a:avLst>
              <a:gd fmla="val 6000" name="adj"/>
            </a:avLst>
          </a:prstGeom>
          <a:solidFill>
            <a:srgbClr val="0E9C8A">
              <a:alpha val="7999"/>
            </a:srgbClr>
          </a:solidFill>
          <a:ln cap="flat" cmpd="sng" w="9525">
            <a:solidFill>
              <a:srgbClr val="0E9C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900">
                <a:solidFill>
                  <a:srgbClr val="0E9C8A"/>
                </a:solidFill>
                <a:latin typeface="Cambria"/>
                <a:ea typeface="Cambria"/>
                <a:cs typeface="Cambria"/>
                <a:sym typeface="Cambria"/>
              </a:rPr>
              <a:t>Interface</a:t>
            </a:r>
            <a:endParaRPr sz="1100">
              <a:solidFill>
                <a:srgbClr val="0E9C8A"/>
              </a:solidFill>
            </a:endParaRPr>
          </a:p>
          <a:p>
            <a:pPr indent="0" lvl="0" marL="0" rtl="0" algn="ctr">
              <a:spcBef>
                <a:spcPts val="200"/>
              </a:spcBef>
              <a:spcAft>
                <a:spcPts val="0"/>
              </a:spcAft>
              <a:buNone/>
            </a:pPr>
            <a:r>
              <a:rPr i="1" lang="fr" sz="700">
                <a:solidFill>
                  <a:srgbClr val="185FA5"/>
                </a:solidFill>
                <a:latin typeface="Calibri"/>
                <a:ea typeface="Calibri"/>
                <a:cs typeface="Calibri"/>
                <a:sym typeface="Calibri"/>
              </a:rPr>
              <a:t>Streamlit / CLI </a:t>
            </a:r>
            <a:r>
              <a:rPr b="1" lang="fr" sz="700">
                <a:solidFill>
                  <a:srgbClr val="0E9C8A"/>
                </a:solidFill>
                <a:latin typeface="Calibri"/>
                <a:ea typeface="Calibri"/>
                <a:cs typeface="Calibri"/>
                <a:sym typeface="Calibri"/>
              </a:rPr>
              <a:t>→ FastAPI · SSE</a:t>
            </a:r>
            <a:endParaRPr>
              <a:solidFill>
                <a:srgbClr val="185FA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1" name="Google Shape;991;p54"/>
          <p:cNvSpPr/>
          <p:nvPr/>
        </p:nvSpPr>
        <p:spPr>
          <a:xfrm>
            <a:off x="3840608" y="2263051"/>
            <a:ext cx="1371600" cy="397800"/>
          </a:xfrm>
          <a:prstGeom prst="roundRect">
            <a:avLst>
              <a:gd fmla="val 6000" name="adj"/>
            </a:avLst>
          </a:prstGeom>
          <a:solidFill>
            <a:srgbClr val="185FA5">
              <a:alpha val="6960"/>
            </a:srgbClr>
          </a:solidFill>
          <a:ln cap="flat" cmpd="sng" w="9525">
            <a:solidFill>
              <a:srgbClr val="185FA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900">
                <a:solidFill>
                  <a:srgbClr val="185FA5"/>
                </a:solidFill>
                <a:latin typeface="Cambria"/>
                <a:ea typeface="Cambria"/>
                <a:cs typeface="Cambria"/>
                <a:sym typeface="Cambria"/>
              </a:rPr>
              <a:t>Retriever hybride</a:t>
            </a:r>
            <a:endParaRPr sz="1100">
              <a:solidFill>
                <a:srgbClr val="185FA5"/>
              </a:solidFill>
            </a:endParaRPr>
          </a:p>
          <a:p>
            <a:pPr indent="0" lvl="0" marL="0" rtl="0" algn="ctr">
              <a:spcBef>
                <a:spcPts val="100"/>
              </a:spcBef>
              <a:spcAft>
                <a:spcPts val="0"/>
              </a:spcAft>
              <a:buNone/>
            </a:pPr>
            <a:r>
              <a:rPr lang="fr" sz="700">
                <a:solidFill>
                  <a:srgbClr val="185FA5"/>
                </a:solidFill>
                <a:latin typeface="Calibri"/>
                <a:ea typeface="Calibri"/>
                <a:cs typeface="Calibri"/>
                <a:sym typeface="Calibri"/>
              </a:rPr>
              <a:t>BM25 + dense (MMR)</a:t>
            </a:r>
            <a:endParaRPr>
              <a:solidFill>
                <a:srgbClr val="185FA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2" name="Google Shape;992;p54"/>
          <p:cNvSpPr/>
          <p:nvPr/>
        </p:nvSpPr>
        <p:spPr>
          <a:xfrm>
            <a:off x="5520865" y="2263051"/>
            <a:ext cx="1371600" cy="397800"/>
          </a:xfrm>
          <a:prstGeom prst="roundRect">
            <a:avLst>
              <a:gd fmla="val 6000" name="adj"/>
            </a:avLst>
          </a:prstGeom>
          <a:solidFill>
            <a:srgbClr val="185FA5">
              <a:alpha val="6960"/>
            </a:srgbClr>
          </a:solidFill>
          <a:ln cap="flat" cmpd="sng" w="9525">
            <a:solidFill>
              <a:srgbClr val="185FA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900">
                <a:solidFill>
                  <a:srgbClr val="185FA5"/>
                </a:solidFill>
                <a:latin typeface="Cambria"/>
                <a:ea typeface="Cambria"/>
                <a:cs typeface="Cambria"/>
                <a:sym typeface="Cambria"/>
              </a:rPr>
              <a:t>mistral-small</a:t>
            </a:r>
            <a:endParaRPr sz="1100">
              <a:solidFill>
                <a:srgbClr val="185FA5"/>
              </a:solidFill>
            </a:endParaRPr>
          </a:p>
          <a:p>
            <a:pPr indent="0" lvl="0" marL="0" rtl="0" algn="ctr">
              <a:spcBef>
                <a:spcPts val="100"/>
              </a:spcBef>
              <a:spcAft>
                <a:spcPts val="0"/>
              </a:spcAft>
              <a:buNone/>
            </a:pPr>
            <a:r>
              <a:rPr lang="fr" sz="700">
                <a:solidFill>
                  <a:srgbClr val="185FA5"/>
                </a:solidFill>
                <a:latin typeface="Calibri"/>
                <a:ea typeface="Calibri"/>
                <a:cs typeface="Calibri"/>
                <a:sym typeface="Calibri"/>
              </a:rPr>
              <a:t>génération · sources</a:t>
            </a:r>
            <a:endParaRPr>
              <a:solidFill>
                <a:srgbClr val="185FA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3" name="Google Shape;993;p54"/>
          <p:cNvSpPr/>
          <p:nvPr/>
        </p:nvSpPr>
        <p:spPr>
          <a:xfrm>
            <a:off x="7201123" y="2263051"/>
            <a:ext cx="1371600" cy="397800"/>
          </a:xfrm>
          <a:prstGeom prst="roundRect">
            <a:avLst>
              <a:gd fmla="val 6000" name="adj"/>
            </a:avLst>
          </a:prstGeom>
          <a:solidFill>
            <a:srgbClr val="185FA5">
              <a:alpha val="6960"/>
            </a:srgbClr>
          </a:solidFill>
          <a:ln cap="flat" cmpd="sng" w="9525">
            <a:solidFill>
              <a:srgbClr val="185FA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900">
                <a:solidFill>
                  <a:srgbClr val="185FA5"/>
                </a:solidFill>
                <a:latin typeface="Cambria"/>
                <a:ea typeface="Cambria"/>
                <a:cs typeface="Cambria"/>
                <a:sym typeface="Cambria"/>
              </a:rPr>
              <a:t>Réponse + sources</a:t>
            </a:r>
            <a:endParaRPr sz="1100">
              <a:solidFill>
                <a:srgbClr val="185FA5"/>
              </a:solidFill>
            </a:endParaRPr>
          </a:p>
          <a:p>
            <a:pPr indent="0" lvl="0" marL="0" rtl="0" algn="ctr">
              <a:spcBef>
                <a:spcPts val="100"/>
              </a:spcBef>
              <a:spcAft>
                <a:spcPts val="0"/>
              </a:spcAft>
              <a:buNone/>
            </a:pPr>
            <a:r>
              <a:rPr lang="fr" sz="700">
                <a:solidFill>
                  <a:srgbClr val="185FA5"/>
                </a:solidFill>
                <a:latin typeface="Calibri"/>
                <a:ea typeface="Calibri"/>
                <a:cs typeface="Calibri"/>
                <a:sym typeface="Calibri"/>
              </a:rPr>
              <a:t>citations</a:t>
            </a:r>
            <a:endParaRPr>
              <a:solidFill>
                <a:srgbClr val="185FA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994" name="Google Shape;994;p54"/>
          <p:cNvCxnSpPr>
            <a:stCxn id="987" idx="2"/>
            <a:endCxn id="991" idx="0"/>
          </p:cNvCxnSpPr>
          <p:nvPr/>
        </p:nvCxnSpPr>
        <p:spPr>
          <a:xfrm flipH="1">
            <a:off x="4526369" y="1892844"/>
            <a:ext cx="3034800" cy="370200"/>
          </a:xfrm>
          <a:prstGeom prst="straightConnector1">
            <a:avLst/>
          </a:prstGeom>
          <a:noFill/>
          <a:ln cap="flat" cmpd="sng" w="15225">
            <a:solidFill>
              <a:srgbClr val="FFFB8C"/>
            </a:solidFill>
            <a:prstDash val="dash"/>
            <a:round/>
            <a:headEnd len="sm" w="sm" type="oval"/>
            <a:tailEnd len="med" w="med" type="oval"/>
          </a:ln>
        </p:spPr>
      </p:cxnSp>
      <p:sp>
        <p:nvSpPr>
          <p:cNvPr id="995" name="Google Shape;995;p54"/>
          <p:cNvSpPr txBox="1"/>
          <p:nvPr/>
        </p:nvSpPr>
        <p:spPr>
          <a:xfrm>
            <a:off x="4764446" y="1938063"/>
            <a:ext cx="1097400" cy="1461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0" spcFirstLastPara="1" rIns="0" wrap="square" tIns="190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fr" sz="700" u="none" cap="none" strike="noStrike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embeddings + métadonnées</a:t>
            </a:r>
            <a:endParaRPr sz="1100">
              <a:solidFill>
                <a:srgbClr val="9CA3AF"/>
              </a:solidFill>
            </a:endParaRPr>
          </a:p>
        </p:txBody>
      </p:sp>
      <p:sp>
        <p:nvSpPr>
          <p:cNvPr id="996" name="Google Shape;996;p54"/>
          <p:cNvSpPr/>
          <p:nvPr/>
        </p:nvSpPr>
        <p:spPr>
          <a:xfrm>
            <a:off x="1417588" y="2775313"/>
            <a:ext cx="1176900" cy="507900"/>
          </a:xfrm>
          <a:prstGeom prst="roundRect">
            <a:avLst>
              <a:gd fmla="val 6000" name="adj"/>
            </a:avLst>
          </a:prstGeom>
          <a:solidFill>
            <a:srgbClr val="923E22">
              <a:alpha val="7999"/>
            </a:srgbClr>
          </a:solidFill>
          <a:ln cap="flat" cmpd="sng" w="7225">
            <a:solidFill>
              <a:srgbClr val="923E22"/>
            </a:solidFill>
            <a:prstDash val="solid"/>
            <a:round/>
            <a:headEnd len="sm" w="sm" type="none"/>
            <a:tailEnd len="sm" w="sm" type="none"/>
          </a:ln>
          <a:effectLst>
            <a:outerShdw blurRad="27293" rotWithShape="0" dir="5400000" dist="11372">
              <a:srgbClr val="8A93A6">
                <a:alpha val="32159"/>
              </a:srgbClr>
            </a:outerShdw>
          </a:effectLst>
        </p:spPr>
        <p:txBody>
          <a:bodyPr anchorCtr="0" anchor="ctr" bIns="20800" lIns="41600" spcFirstLastPara="1" rIns="41600" wrap="square" tIns="208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849" u="none" cap="none" strike="noStrike">
              <a:solidFill>
                <a:srgbClr val="0E9C8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7" name="Google Shape;997;p54"/>
          <p:cNvSpPr/>
          <p:nvPr/>
        </p:nvSpPr>
        <p:spPr>
          <a:xfrm>
            <a:off x="1517417" y="2858501"/>
            <a:ext cx="174600" cy="174600"/>
          </a:xfrm>
          <a:prstGeom prst="ellipse">
            <a:avLst/>
          </a:prstGeom>
          <a:noFill/>
          <a:ln cap="flat" cmpd="sng" w="9525">
            <a:solidFill>
              <a:srgbClr val="923E2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fr" sz="667" u="none" cap="none" strike="noStrike">
                <a:solidFill>
                  <a:srgbClr val="923E22"/>
                </a:solidFill>
                <a:latin typeface="Cambria"/>
                <a:ea typeface="Cambria"/>
                <a:cs typeface="Cambria"/>
                <a:sym typeface="Cambria"/>
              </a:rPr>
              <a:t>1</a:t>
            </a:r>
            <a:endParaRPr sz="667">
              <a:solidFill>
                <a:srgbClr val="923E22"/>
              </a:solidFill>
            </a:endParaRPr>
          </a:p>
        </p:txBody>
      </p:sp>
      <p:sp>
        <p:nvSpPr>
          <p:cNvPr id="998" name="Google Shape;998;p54"/>
          <p:cNvSpPr txBox="1"/>
          <p:nvPr/>
        </p:nvSpPr>
        <p:spPr>
          <a:xfrm>
            <a:off x="1758672" y="2850182"/>
            <a:ext cx="761100" cy="88500"/>
          </a:xfrm>
          <a:prstGeom prst="rect">
            <a:avLst/>
          </a:prstGeom>
          <a:noFill/>
          <a:ln>
            <a:noFill/>
          </a:ln>
        </p:spPr>
        <p:txBody>
          <a:bodyPr anchorCtr="0" anchor="t" bIns="11525" lIns="0" spcFirstLastPara="1" rIns="0" wrap="square" tIns="115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fr" sz="425" u="none" cap="none" strike="noStrike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BESOIN</a:t>
            </a:r>
            <a:endParaRPr sz="667">
              <a:solidFill>
                <a:srgbClr val="9CA3AF"/>
              </a:solidFill>
            </a:endParaRPr>
          </a:p>
        </p:txBody>
      </p:sp>
      <p:sp>
        <p:nvSpPr>
          <p:cNvPr id="999" name="Google Shape;999;p54"/>
          <p:cNvSpPr txBox="1"/>
          <p:nvPr/>
        </p:nvSpPr>
        <p:spPr>
          <a:xfrm>
            <a:off x="1758672" y="2950007"/>
            <a:ext cx="761100" cy="191400"/>
          </a:xfrm>
          <a:prstGeom prst="rect">
            <a:avLst/>
          </a:prstGeom>
          <a:noFill/>
          <a:ln>
            <a:noFill/>
          </a:ln>
        </p:spPr>
        <p:txBody>
          <a:bodyPr anchorCtr="0" anchor="t" bIns="11525" lIns="0" spcFirstLastPara="1" rIns="0" wrap="square" tIns="115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fr" sz="546" u="none" cap="none" strike="noStrike">
                <a:solidFill>
                  <a:srgbClr val="923E22"/>
                </a:solidFill>
                <a:latin typeface="Cambria"/>
                <a:ea typeface="Cambria"/>
                <a:cs typeface="Cambria"/>
                <a:sym typeface="Cambria"/>
              </a:rPr>
              <a:t>Mémoire conversationnelle</a:t>
            </a:r>
            <a:endParaRPr sz="546">
              <a:solidFill>
                <a:srgbClr val="923E22"/>
              </a:solidFill>
            </a:endParaRPr>
          </a:p>
        </p:txBody>
      </p:sp>
      <p:sp>
        <p:nvSpPr>
          <p:cNvPr id="1000" name="Google Shape;1000;p54"/>
          <p:cNvSpPr/>
          <p:nvPr/>
        </p:nvSpPr>
        <p:spPr>
          <a:xfrm>
            <a:off x="3332581" y="2787251"/>
            <a:ext cx="1176900" cy="507900"/>
          </a:xfrm>
          <a:prstGeom prst="roundRect">
            <a:avLst>
              <a:gd fmla="val 6000" name="adj"/>
            </a:avLst>
          </a:prstGeom>
          <a:solidFill>
            <a:srgbClr val="CCC743">
              <a:alpha val="7999"/>
            </a:srgbClr>
          </a:solidFill>
          <a:ln cap="flat" cmpd="sng" w="7225">
            <a:solidFill>
              <a:srgbClr val="CCC743"/>
            </a:solidFill>
            <a:prstDash val="solid"/>
            <a:round/>
            <a:headEnd len="sm" w="sm" type="none"/>
            <a:tailEnd len="sm" w="sm" type="none"/>
          </a:ln>
          <a:effectLst>
            <a:outerShdw blurRad="27293" rotWithShape="0" dir="5400000" dist="11372">
              <a:srgbClr val="8A93A6">
                <a:alpha val="32159"/>
              </a:srgbClr>
            </a:outerShdw>
          </a:effectLst>
        </p:spPr>
        <p:txBody>
          <a:bodyPr anchorCtr="0" anchor="ctr" bIns="20800" lIns="41600" spcFirstLastPara="1" rIns="41600" wrap="square" tIns="208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849" u="none" cap="none" strike="noStrike">
              <a:solidFill>
                <a:srgbClr val="0E9C8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1" name="Google Shape;1001;p54"/>
          <p:cNvSpPr/>
          <p:nvPr/>
        </p:nvSpPr>
        <p:spPr>
          <a:xfrm>
            <a:off x="3432411" y="2870438"/>
            <a:ext cx="174600" cy="174600"/>
          </a:xfrm>
          <a:prstGeom prst="ellipse">
            <a:avLst/>
          </a:prstGeom>
          <a:noFill/>
          <a:ln cap="flat" cmpd="sng" w="9525">
            <a:solidFill>
              <a:srgbClr val="CCC74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fr" sz="667" u="none" cap="none" strike="noStrike">
                <a:solidFill>
                  <a:srgbClr val="CCC743"/>
                </a:solidFill>
                <a:latin typeface="Cambria"/>
                <a:ea typeface="Cambria"/>
                <a:cs typeface="Cambria"/>
                <a:sym typeface="Cambria"/>
              </a:rPr>
              <a:t>2</a:t>
            </a:r>
            <a:endParaRPr sz="667">
              <a:solidFill>
                <a:srgbClr val="CCC743"/>
              </a:solidFill>
            </a:endParaRPr>
          </a:p>
        </p:txBody>
      </p:sp>
      <p:sp>
        <p:nvSpPr>
          <p:cNvPr id="1002" name="Google Shape;1002;p54"/>
          <p:cNvSpPr txBox="1"/>
          <p:nvPr/>
        </p:nvSpPr>
        <p:spPr>
          <a:xfrm>
            <a:off x="3673665" y="2862120"/>
            <a:ext cx="761100" cy="88500"/>
          </a:xfrm>
          <a:prstGeom prst="rect">
            <a:avLst/>
          </a:prstGeom>
          <a:noFill/>
          <a:ln>
            <a:noFill/>
          </a:ln>
        </p:spPr>
        <p:txBody>
          <a:bodyPr anchorCtr="0" anchor="t" bIns="11525" lIns="0" spcFirstLastPara="1" rIns="0" wrap="square" tIns="115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fr" sz="425" u="none" cap="none" strike="noStrike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BESOIN</a:t>
            </a:r>
            <a:endParaRPr sz="667">
              <a:solidFill>
                <a:srgbClr val="9CA3AF"/>
              </a:solidFill>
            </a:endParaRPr>
          </a:p>
        </p:txBody>
      </p:sp>
      <p:sp>
        <p:nvSpPr>
          <p:cNvPr id="1003" name="Google Shape;1003;p54"/>
          <p:cNvSpPr txBox="1"/>
          <p:nvPr/>
        </p:nvSpPr>
        <p:spPr>
          <a:xfrm>
            <a:off x="3673665" y="2961945"/>
            <a:ext cx="761100" cy="107400"/>
          </a:xfrm>
          <a:prstGeom prst="rect">
            <a:avLst/>
          </a:prstGeom>
          <a:noFill/>
          <a:ln>
            <a:noFill/>
          </a:ln>
        </p:spPr>
        <p:txBody>
          <a:bodyPr anchorCtr="0" anchor="t" bIns="11525" lIns="0" spcFirstLastPara="1" rIns="0" wrap="square" tIns="115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fr" sz="546" u="none" cap="none" strike="noStrike">
                <a:solidFill>
                  <a:srgbClr val="CCC743"/>
                </a:solidFill>
                <a:latin typeface="Cambria"/>
                <a:ea typeface="Cambria"/>
                <a:cs typeface="Cambria"/>
                <a:sym typeface="Cambria"/>
              </a:rPr>
              <a:t>Contexte géographique</a:t>
            </a:r>
            <a:endParaRPr sz="546">
              <a:solidFill>
                <a:srgbClr val="CCC743"/>
              </a:solidFill>
            </a:endParaRPr>
          </a:p>
        </p:txBody>
      </p:sp>
      <p:sp>
        <p:nvSpPr>
          <p:cNvPr id="1004" name="Google Shape;1004;p54"/>
          <p:cNvSpPr/>
          <p:nvPr/>
        </p:nvSpPr>
        <p:spPr>
          <a:xfrm>
            <a:off x="4634525" y="2787251"/>
            <a:ext cx="1176900" cy="507900"/>
          </a:xfrm>
          <a:prstGeom prst="roundRect">
            <a:avLst>
              <a:gd fmla="val 6000" name="adj"/>
            </a:avLst>
          </a:prstGeom>
          <a:solidFill>
            <a:srgbClr val="CCC743">
              <a:alpha val="7999"/>
            </a:srgbClr>
          </a:solidFill>
          <a:ln cap="flat" cmpd="sng" w="7225">
            <a:solidFill>
              <a:srgbClr val="CCC743"/>
            </a:solidFill>
            <a:prstDash val="solid"/>
            <a:round/>
            <a:headEnd len="sm" w="sm" type="none"/>
            <a:tailEnd len="sm" w="sm" type="none"/>
          </a:ln>
          <a:effectLst>
            <a:outerShdw blurRad="27293" rotWithShape="0" dir="5400000" dist="11372">
              <a:srgbClr val="8A93A6">
                <a:alpha val="32159"/>
              </a:srgbClr>
            </a:outerShdw>
          </a:effectLst>
        </p:spPr>
        <p:txBody>
          <a:bodyPr anchorCtr="0" anchor="ctr" bIns="20800" lIns="41600" spcFirstLastPara="1" rIns="41600" wrap="square" tIns="208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849" u="none" cap="none" strike="noStrike">
              <a:solidFill>
                <a:srgbClr val="0E9C8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5" name="Google Shape;1005;p54"/>
          <p:cNvSpPr/>
          <p:nvPr/>
        </p:nvSpPr>
        <p:spPr>
          <a:xfrm>
            <a:off x="4734354" y="2870438"/>
            <a:ext cx="174600" cy="174600"/>
          </a:xfrm>
          <a:prstGeom prst="ellipse">
            <a:avLst/>
          </a:prstGeom>
          <a:noFill/>
          <a:ln cap="flat" cmpd="sng" w="9525">
            <a:solidFill>
              <a:srgbClr val="CCC74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fr" sz="667" u="none" cap="none" strike="noStrike">
                <a:solidFill>
                  <a:srgbClr val="CCC743"/>
                </a:solidFill>
                <a:latin typeface="Cambria"/>
                <a:ea typeface="Cambria"/>
                <a:cs typeface="Cambria"/>
                <a:sym typeface="Cambria"/>
              </a:rPr>
              <a:t>3</a:t>
            </a:r>
            <a:endParaRPr sz="667">
              <a:solidFill>
                <a:srgbClr val="CCC743"/>
              </a:solidFill>
            </a:endParaRPr>
          </a:p>
        </p:txBody>
      </p:sp>
      <p:sp>
        <p:nvSpPr>
          <p:cNvPr id="1006" name="Google Shape;1006;p54"/>
          <p:cNvSpPr txBox="1"/>
          <p:nvPr/>
        </p:nvSpPr>
        <p:spPr>
          <a:xfrm>
            <a:off x="4975609" y="2862120"/>
            <a:ext cx="761100" cy="88500"/>
          </a:xfrm>
          <a:prstGeom prst="rect">
            <a:avLst/>
          </a:prstGeom>
          <a:noFill/>
          <a:ln>
            <a:noFill/>
          </a:ln>
        </p:spPr>
        <p:txBody>
          <a:bodyPr anchorCtr="0" anchor="t" bIns="11525" lIns="0" spcFirstLastPara="1" rIns="0" wrap="square" tIns="115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fr" sz="425" u="none" cap="none" strike="noStrike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BESOIN</a:t>
            </a:r>
            <a:endParaRPr sz="667">
              <a:solidFill>
                <a:srgbClr val="9CA3AF"/>
              </a:solidFill>
            </a:endParaRPr>
          </a:p>
        </p:txBody>
      </p:sp>
      <p:sp>
        <p:nvSpPr>
          <p:cNvPr id="1007" name="Google Shape;1007;p54"/>
          <p:cNvSpPr txBox="1"/>
          <p:nvPr/>
        </p:nvSpPr>
        <p:spPr>
          <a:xfrm>
            <a:off x="4975609" y="2961945"/>
            <a:ext cx="761100" cy="107400"/>
          </a:xfrm>
          <a:prstGeom prst="rect">
            <a:avLst/>
          </a:prstGeom>
          <a:noFill/>
          <a:ln>
            <a:noFill/>
          </a:ln>
        </p:spPr>
        <p:txBody>
          <a:bodyPr anchorCtr="0" anchor="t" bIns="11525" lIns="0" spcFirstLastPara="1" rIns="0" wrap="square" tIns="115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fr" sz="546" u="none" cap="none" strike="noStrike">
                <a:solidFill>
                  <a:srgbClr val="CCC743"/>
                </a:solidFill>
                <a:latin typeface="Cambria"/>
                <a:ea typeface="Cambria"/>
                <a:cs typeface="Cambria"/>
                <a:sym typeface="Cambria"/>
              </a:rPr>
              <a:t>Web temps réel</a:t>
            </a:r>
            <a:endParaRPr sz="546">
              <a:solidFill>
                <a:srgbClr val="CCC743"/>
              </a:solidFill>
            </a:endParaRPr>
          </a:p>
        </p:txBody>
      </p:sp>
      <p:sp>
        <p:nvSpPr>
          <p:cNvPr id="1008" name="Google Shape;1008;p54"/>
          <p:cNvSpPr/>
          <p:nvPr/>
        </p:nvSpPr>
        <p:spPr>
          <a:xfrm>
            <a:off x="4078923" y="3475913"/>
            <a:ext cx="174600" cy="174600"/>
          </a:xfrm>
          <a:prstGeom prst="ellipse">
            <a:avLst/>
          </a:prstGeom>
          <a:noFill/>
          <a:ln cap="flat" cmpd="sng" w="9525">
            <a:solidFill>
              <a:srgbClr val="B07BC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fr" sz="667" u="none" cap="none" strike="noStrike">
                <a:solidFill>
                  <a:srgbClr val="B07BC2"/>
                </a:solidFill>
                <a:latin typeface="Cambria"/>
                <a:ea typeface="Cambria"/>
                <a:cs typeface="Cambria"/>
                <a:sym typeface="Cambria"/>
              </a:rPr>
              <a:t>4</a:t>
            </a:r>
            <a:endParaRPr sz="667">
              <a:solidFill>
                <a:srgbClr val="B07BC2"/>
              </a:solidFill>
            </a:endParaRPr>
          </a:p>
        </p:txBody>
      </p:sp>
      <p:sp>
        <p:nvSpPr>
          <p:cNvPr id="1009" name="Google Shape;1009;p54"/>
          <p:cNvSpPr txBox="1"/>
          <p:nvPr/>
        </p:nvSpPr>
        <p:spPr>
          <a:xfrm>
            <a:off x="4320178" y="3467595"/>
            <a:ext cx="761100" cy="88500"/>
          </a:xfrm>
          <a:prstGeom prst="rect">
            <a:avLst/>
          </a:prstGeom>
          <a:noFill/>
          <a:ln>
            <a:noFill/>
          </a:ln>
        </p:spPr>
        <p:txBody>
          <a:bodyPr anchorCtr="0" anchor="t" bIns="11525" lIns="0" spcFirstLastPara="1" rIns="0" wrap="square" tIns="115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fr" sz="425" u="none" cap="none" strike="noStrike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BESOIN</a:t>
            </a:r>
            <a:endParaRPr sz="667">
              <a:solidFill>
                <a:srgbClr val="9CA3AF"/>
              </a:solidFill>
            </a:endParaRPr>
          </a:p>
        </p:txBody>
      </p:sp>
      <p:sp>
        <p:nvSpPr>
          <p:cNvPr id="1010" name="Google Shape;1010;p54"/>
          <p:cNvSpPr txBox="1"/>
          <p:nvPr/>
        </p:nvSpPr>
        <p:spPr>
          <a:xfrm>
            <a:off x="4320178" y="3567420"/>
            <a:ext cx="761100" cy="107400"/>
          </a:xfrm>
          <a:prstGeom prst="rect">
            <a:avLst/>
          </a:prstGeom>
          <a:noFill/>
          <a:ln>
            <a:noFill/>
          </a:ln>
        </p:spPr>
        <p:txBody>
          <a:bodyPr anchorCtr="0" anchor="t" bIns="11525" lIns="0" spcFirstLastPara="1" rIns="0" wrap="square" tIns="115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fr" sz="546" u="none" cap="none" strike="noStrike">
                <a:solidFill>
                  <a:srgbClr val="B07BC2"/>
                </a:solidFill>
                <a:latin typeface="Cambria"/>
                <a:ea typeface="Cambria"/>
                <a:cs typeface="Cambria"/>
                <a:sym typeface="Cambria"/>
              </a:rPr>
              <a:t>Monitoring</a:t>
            </a:r>
            <a:endParaRPr sz="546">
              <a:solidFill>
                <a:srgbClr val="B07BC2"/>
              </a:solidFill>
            </a:endParaRPr>
          </a:p>
        </p:txBody>
      </p:sp>
      <p:sp>
        <p:nvSpPr>
          <p:cNvPr id="1011" name="Google Shape;1011;p54"/>
          <p:cNvSpPr txBox="1"/>
          <p:nvPr/>
        </p:nvSpPr>
        <p:spPr>
          <a:xfrm>
            <a:off x="377200" y="233175"/>
            <a:ext cx="1773600" cy="45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9050" lIns="0" spcFirstLastPara="1" rIns="0" wrap="square" tIns="190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1800">
                <a:solidFill>
                  <a:srgbClr val="0E9C8A"/>
                </a:solidFill>
                <a:latin typeface="Calibri"/>
                <a:ea typeface="Calibri"/>
                <a:cs typeface="Calibri"/>
                <a:sym typeface="Calibri"/>
              </a:rPr>
              <a:t>Du POC au MVP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2" name="Google Shape;1012;p54"/>
          <p:cNvSpPr txBox="1"/>
          <p:nvPr/>
        </p:nvSpPr>
        <p:spPr>
          <a:xfrm>
            <a:off x="377200" y="675550"/>
            <a:ext cx="37122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9050" lIns="0" spcFirstLastPara="1" rIns="0" wrap="square" tIns="190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1100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Le schéma du POC RAG Puls-Events, augmenté par les besoins</a:t>
            </a:r>
            <a:endParaRPr b="1" sz="1100">
              <a:solidFill>
                <a:srgbClr val="9CA3A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3" name="Google Shape;1013;p54"/>
          <p:cNvSpPr txBox="1"/>
          <p:nvPr/>
        </p:nvSpPr>
        <p:spPr>
          <a:xfrm>
            <a:off x="6478515" y="992299"/>
            <a:ext cx="1097400" cy="19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9050" lIns="0" spcFirstLastPara="1" rIns="0" wrap="square" tIns="190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fr" sz="1000" u="none" cap="none" strike="noStrike">
                <a:solidFill>
                  <a:srgbClr val="0E9C8A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r>
              <a:rPr b="1" i="0" lang="fr" sz="1000" u="none" cap="none" strike="noStrike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    </a:t>
            </a:r>
            <a:r>
              <a:rPr b="0" i="0" lang="fr" sz="800" u="none" cap="none" strike="noStrike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fait évoluer</a:t>
            </a:r>
            <a:endParaRPr sz="1100">
              <a:solidFill>
                <a:srgbClr val="9CA3AF"/>
              </a:solidFill>
            </a:endParaRPr>
          </a:p>
        </p:txBody>
      </p:sp>
      <p:sp>
        <p:nvSpPr>
          <p:cNvPr id="1014" name="Google Shape;1014;p54"/>
          <p:cNvSpPr/>
          <p:nvPr/>
        </p:nvSpPr>
        <p:spPr>
          <a:xfrm>
            <a:off x="2284350" y="1593125"/>
            <a:ext cx="461700" cy="2013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0E9C8A">
              <a:alpha val="60000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5" name="Google Shape;1015;p54"/>
          <p:cNvSpPr/>
          <p:nvPr/>
        </p:nvSpPr>
        <p:spPr>
          <a:xfrm>
            <a:off x="4295575" y="1603525"/>
            <a:ext cx="461700" cy="2013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0E9C8A">
              <a:alpha val="60000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6" name="Google Shape;1016;p54"/>
          <p:cNvSpPr/>
          <p:nvPr/>
        </p:nvSpPr>
        <p:spPr>
          <a:xfrm>
            <a:off x="6323275" y="1598638"/>
            <a:ext cx="461700" cy="2013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0E9C8A">
              <a:alpha val="60000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7" name="Google Shape;1017;p54"/>
          <p:cNvSpPr/>
          <p:nvPr/>
        </p:nvSpPr>
        <p:spPr>
          <a:xfrm>
            <a:off x="6815900" y="2340200"/>
            <a:ext cx="461700" cy="2013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0E9C8A">
              <a:alpha val="60000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8" name="Google Shape;1018;p54"/>
          <p:cNvSpPr/>
          <p:nvPr/>
        </p:nvSpPr>
        <p:spPr>
          <a:xfrm>
            <a:off x="1775200" y="2340188"/>
            <a:ext cx="461700" cy="2013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0E9C8A">
              <a:alpha val="60000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9" name="Google Shape;1019;p54"/>
          <p:cNvSpPr/>
          <p:nvPr/>
        </p:nvSpPr>
        <p:spPr>
          <a:xfrm>
            <a:off x="5135675" y="2335063"/>
            <a:ext cx="461700" cy="2013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0E9C8A">
              <a:alpha val="60000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0" name="Google Shape;1020;p54"/>
          <p:cNvSpPr/>
          <p:nvPr/>
        </p:nvSpPr>
        <p:spPr>
          <a:xfrm>
            <a:off x="3455450" y="2340188"/>
            <a:ext cx="461700" cy="2013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0E9C8A">
              <a:alpha val="60000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1" name="Google Shape;1021;p54"/>
          <p:cNvSpPr/>
          <p:nvPr/>
        </p:nvSpPr>
        <p:spPr>
          <a:xfrm>
            <a:off x="3798700" y="2186800"/>
            <a:ext cx="1450200" cy="519300"/>
          </a:xfrm>
          <a:prstGeom prst="roundRect">
            <a:avLst>
              <a:gd fmla="val 6000" name="adj"/>
            </a:avLst>
          </a:prstGeom>
          <a:solidFill>
            <a:srgbClr val="CCC743">
              <a:alpha val="7999"/>
            </a:srgbClr>
          </a:solidFill>
          <a:ln cap="flat" cmpd="sng" w="7225">
            <a:solidFill>
              <a:srgbClr val="CCC743"/>
            </a:solidFill>
            <a:prstDash val="solid"/>
            <a:round/>
            <a:headEnd len="sm" w="sm" type="none"/>
            <a:tailEnd len="sm" w="sm" type="none"/>
          </a:ln>
          <a:effectLst>
            <a:outerShdw blurRad="27293" rotWithShape="0" dir="5400000" dist="11372">
              <a:srgbClr val="8A93A6">
                <a:alpha val="32159"/>
              </a:srgbClr>
            </a:outerShdw>
          </a:effectLst>
        </p:spPr>
        <p:txBody>
          <a:bodyPr anchorCtr="0" anchor="ctr" bIns="20800" lIns="41600" spcFirstLastPara="1" rIns="41600" wrap="square" tIns="208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849" u="none" cap="none" strike="noStrike">
              <a:solidFill>
                <a:srgbClr val="0E9C8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2" name="Google Shape;1022;p54"/>
          <p:cNvSpPr txBox="1"/>
          <p:nvPr/>
        </p:nvSpPr>
        <p:spPr>
          <a:xfrm>
            <a:off x="377200" y="4945850"/>
            <a:ext cx="999000" cy="166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700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MVP RAG Puls-Events</a:t>
            </a:r>
            <a:endParaRPr sz="700">
              <a:solidFill>
                <a:srgbClr val="9CA3A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7" name="Shape 10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8" name="Google Shape;1028;p55"/>
          <p:cNvSpPr/>
          <p:nvPr/>
        </p:nvSpPr>
        <p:spPr>
          <a:xfrm>
            <a:off x="424800" y="2186875"/>
            <a:ext cx="3149700" cy="519300"/>
          </a:xfrm>
          <a:prstGeom prst="roundRect">
            <a:avLst>
              <a:gd fmla="val 6000" name="adj"/>
            </a:avLst>
          </a:prstGeom>
          <a:solidFill>
            <a:srgbClr val="923E22">
              <a:alpha val="7999"/>
            </a:srgbClr>
          </a:solidFill>
          <a:ln cap="flat" cmpd="sng" w="7225">
            <a:solidFill>
              <a:srgbClr val="923E22"/>
            </a:solidFill>
            <a:prstDash val="solid"/>
            <a:round/>
            <a:headEnd len="sm" w="sm" type="none"/>
            <a:tailEnd len="sm" w="sm" type="none"/>
          </a:ln>
          <a:effectLst>
            <a:outerShdw blurRad="27293" rotWithShape="0" dir="5400000" dist="11372">
              <a:srgbClr val="8A93A6">
                <a:alpha val="32159"/>
              </a:srgbClr>
            </a:outerShdw>
          </a:effectLst>
        </p:spPr>
        <p:txBody>
          <a:bodyPr anchorCtr="0" anchor="ctr" bIns="20800" lIns="41600" spcFirstLastPara="1" rIns="41600" wrap="square" tIns="208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849" u="none" cap="none" strike="noStrike">
              <a:solidFill>
                <a:srgbClr val="0E9C8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9" name="Google Shape;1029;p55"/>
          <p:cNvSpPr/>
          <p:nvPr/>
        </p:nvSpPr>
        <p:spPr>
          <a:xfrm>
            <a:off x="477400" y="3392738"/>
            <a:ext cx="8092800" cy="507900"/>
          </a:xfrm>
          <a:prstGeom prst="roundRect">
            <a:avLst>
              <a:gd fmla="val 6000" name="adj"/>
            </a:avLst>
          </a:prstGeom>
          <a:solidFill>
            <a:srgbClr val="B07BC2">
              <a:alpha val="7000"/>
            </a:srgbClr>
          </a:solidFill>
          <a:ln cap="flat" cmpd="sng" w="7225">
            <a:solidFill>
              <a:srgbClr val="B07BC2"/>
            </a:solidFill>
            <a:prstDash val="solid"/>
            <a:round/>
            <a:headEnd len="sm" w="sm" type="none"/>
            <a:tailEnd len="sm" w="sm" type="none"/>
          </a:ln>
          <a:effectLst>
            <a:outerShdw blurRad="27293" rotWithShape="0" dir="5400000" dist="11372">
              <a:srgbClr val="8A93A6">
                <a:alpha val="32159"/>
              </a:srgbClr>
            </a:outerShdw>
          </a:effectLst>
        </p:spPr>
        <p:txBody>
          <a:bodyPr anchorCtr="0" anchor="ctr" bIns="20800" lIns="41600" spcFirstLastPara="1" rIns="41600" wrap="square" tIns="208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849" u="none" cap="none" strike="noStrike">
              <a:solidFill>
                <a:srgbClr val="0E9C8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0" name="Google Shape;1030;p55"/>
          <p:cNvSpPr/>
          <p:nvPr/>
        </p:nvSpPr>
        <p:spPr>
          <a:xfrm>
            <a:off x="6478535" y="530960"/>
            <a:ext cx="150900" cy="150900"/>
          </a:xfrm>
          <a:prstGeom prst="roundRect">
            <a:avLst>
              <a:gd fmla="val 16667" name="adj"/>
            </a:avLst>
          </a:prstGeom>
          <a:solidFill>
            <a:srgbClr val="185FA5">
              <a:alpha val="6960"/>
            </a:srgbClr>
          </a:solidFill>
          <a:ln cap="flat" cmpd="sng" w="9525">
            <a:solidFill>
              <a:srgbClr val="185FA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1" name="Google Shape;1031;p55"/>
          <p:cNvSpPr txBox="1"/>
          <p:nvPr/>
        </p:nvSpPr>
        <p:spPr>
          <a:xfrm>
            <a:off x="6691151" y="510375"/>
            <a:ext cx="1371600" cy="17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9050" lIns="0" spcFirstLastPara="1" rIns="0" wrap="square" tIns="190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fr" sz="800" u="none" cap="none" strike="noStrike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hérité (</a:t>
            </a:r>
            <a:r>
              <a:rPr lang="fr" sz="900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POC RAG Puls-Events</a:t>
            </a:r>
            <a:r>
              <a:rPr b="0" i="0" lang="fr" sz="800" u="none" cap="none" strike="noStrike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)</a:t>
            </a:r>
            <a:endParaRPr sz="1100">
              <a:solidFill>
                <a:srgbClr val="9CA3AF"/>
              </a:solidFill>
            </a:endParaRPr>
          </a:p>
        </p:txBody>
      </p:sp>
      <p:sp>
        <p:nvSpPr>
          <p:cNvPr id="1032" name="Google Shape;1032;p55"/>
          <p:cNvSpPr/>
          <p:nvPr/>
        </p:nvSpPr>
        <p:spPr>
          <a:xfrm>
            <a:off x="6478515" y="769260"/>
            <a:ext cx="150900" cy="150900"/>
          </a:xfrm>
          <a:prstGeom prst="roundRect">
            <a:avLst>
              <a:gd fmla="val 16667" name="adj"/>
            </a:avLst>
          </a:prstGeom>
          <a:solidFill>
            <a:srgbClr val="0E9C8A">
              <a:alpha val="7999"/>
            </a:srgbClr>
          </a:solidFill>
          <a:ln cap="flat" cmpd="sng" w="11900">
            <a:solidFill>
              <a:srgbClr val="0E9C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3" name="Google Shape;1033;p55"/>
          <p:cNvSpPr txBox="1"/>
          <p:nvPr/>
        </p:nvSpPr>
        <p:spPr>
          <a:xfrm>
            <a:off x="6691125" y="748675"/>
            <a:ext cx="1497900" cy="17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9050" lIns="0" spcFirstLastPara="1" rIns="0" wrap="square" tIns="190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fr" sz="800" u="none" cap="none" strike="noStrike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nouveau (</a:t>
            </a:r>
            <a:r>
              <a:rPr lang="fr" sz="900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MVP RAG Puls-Events</a:t>
            </a:r>
            <a:r>
              <a:rPr b="0" i="0" lang="fr" sz="800" u="none" cap="none" strike="noStrike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)</a:t>
            </a:r>
            <a:endParaRPr sz="1100">
              <a:solidFill>
                <a:srgbClr val="9CA3AF"/>
              </a:solidFill>
            </a:endParaRPr>
          </a:p>
        </p:txBody>
      </p:sp>
      <p:sp>
        <p:nvSpPr>
          <p:cNvPr id="1034" name="Google Shape;1034;p55"/>
          <p:cNvSpPr/>
          <p:nvPr/>
        </p:nvSpPr>
        <p:spPr>
          <a:xfrm>
            <a:off x="480073" y="1248156"/>
            <a:ext cx="2434500" cy="219300"/>
          </a:xfrm>
          <a:prstGeom prst="roundRect">
            <a:avLst>
              <a:gd fmla="val 16667" name="adj"/>
            </a:avLst>
          </a:prstGeom>
          <a:solidFill>
            <a:srgbClr val="185FA5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BATCH — construction de l'index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5" name="Google Shape;1035;p55"/>
          <p:cNvSpPr/>
          <p:nvPr/>
        </p:nvSpPr>
        <p:spPr>
          <a:xfrm>
            <a:off x="651527" y="1495044"/>
            <a:ext cx="1680300" cy="397800"/>
          </a:xfrm>
          <a:prstGeom prst="roundRect">
            <a:avLst>
              <a:gd fmla="val 6000" name="adj"/>
            </a:avLst>
          </a:prstGeom>
          <a:solidFill>
            <a:srgbClr val="185FA5">
              <a:alpha val="6960"/>
            </a:srgbClr>
          </a:solidFill>
          <a:ln cap="flat" cmpd="sng" w="9525">
            <a:solidFill>
              <a:srgbClr val="185FA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900">
                <a:solidFill>
                  <a:srgbClr val="185FA5"/>
                </a:solidFill>
                <a:latin typeface="Cambria"/>
                <a:ea typeface="Cambria"/>
                <a:cs typeface="Cambria"/>
                <a:sym typeface="Cambria"/>
              </a:rPr>
              <a:t>Open Agenda</a:t>
            </a:r>
            <a:endParaRPr sz="1100">
              <a:solidFill>
                <a:srgbClr val="185FA5"/>
              </a:solidFill>
            </a:endParaRPr>
          </a:p>
          <a:p>
            <a:pPr indent="0" lvl="0" marL="0" rtl="0" algn="ctr">
              <a:spcBef>
                <a:spcPts val="100"/>
              </a:spcBef>
              <a:spcAft>
                <a:spcPts val="0"/>
              </a:spcAft>
              <a:buNone/>
            </a:pPr>
            <a:r>
              <a:rPr lang="fr" sz="700">
                <a:solidFill>
                  <a:srgbClr val="185FA5"/>
                </a:solidFill>
                <a:latin typeface="Calibri"/>
                <a:ea typeface="Calibri"/>
                <a:cs typeface="Calibri"/>
                <a:sym typeface="Calibri"/>
              </a:rPr>
              <a:t>API Opendatasoft</a:t>
            </a:r>
            <a:endParaRPr>
              <a:solidFill>
                <a:srgbClr val="185FA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6" name="Google Shape;1036;p55"/>
          <p:cNvSpPr/>
          <p:nvPr/>
        </p:nvSpPr>
        <p:spPr>
          <a:xfrm>
            <a:off x="2674691" y="1495044"/>
            <a:ext cx="1680300" cy="397800"/>
          </a:xfrm>
          <a:prstGeom prst="roundRect">
            <a:avLst>
              <a:gd fmla="val 6000" name="adj"/>
            </a:avLst>
          </a:prstGeom>
          <a:solidFill>
            <a:srgbClr val="0E9C8A">
              <a:alpha val="7999"/>
            </a:srgbClr>
          </a:solidFill>
          <a:ln cap="flat" cmpd="sng" w="9525">
            <a:solidFill>
              <a:srgbClr val="0E9C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900">
                <a:solidFill>
                  <a:srgbClr val="0E9C8A"/>
                </a:solidFill>
                <a:latin typeface="Cambria"/>
                <a:ea typeface="Cambria"/>
                <a:cs typeface="Cambria"/>
                <a:sym typeface="Cambria"/>
              </a:rPr>
              <a:t>Ingestion</a:t>
            </a:r>
            <a:endParaRPr sz="1100">
              <a:solidFill>
                <a:srgbClr val="0E9C8A"/>
              </a:solidFill>
            </a:endParaRPr>
          </a:p>
          <a:p>
            <a:pPr indent="0" lvl="0" marL="0" rtl="0" algn="ctr">
              <a:spcBef>
                <a:spcPts val="200"/>
              </a:spcBef>
              <a:spcAft>
                <a:spcPts val="0"/>
              </a:spcAft>
              <a:buNone/>
            </a:pPr>
            <a:r>
              <a:rPr i="1" lang="fr" sz="700">
                <a:solidFill>
                  <a:srgbClr val="185FA5"/>
                </a:solidFill>
                <a:latin typeface="Calibri"/>
                <a:ea typeface="Calibri"/>
                <a:cs typeface="Calibri"/>
                <a:sym typeface="Calibri"/>
              </a:rPr>
              <a:t>script Python </a:t>
            </a:r>
            <a:r>
              <a:rPr b="1" lang="fr" sz="700">
                <a:solidFill>
                  <a:srgbClr val="0E9C8A"/>
                </a:solidFill>
                <a:latin typeface="Calibri"/>
                <a:ea typeface="Calibri"/>
                <a:cs typeface="Calibri"/>
                <a:sym typeface="Calibri"/>
              </a:rPr>
              <a:t>→ Kestra</a:t>
            </a:r>
            <a:endParaRPr>
              <a:solidFill>
                <a:srgbClr val="185FA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7" name="Google Shape;1037;p55"/>
          <p:cNvSpPr/>
          <p:nvPr/>
        </p:nvSpPr>
        <p:spPr>
          <a:xfrm>
            <a:off x="4697855" y="1494882"/>
            <a:ext cx="1680300" cy="397800"/>
          </a:xfrm>
          <a:prstGeom prst="roundRect">
            <a:avLst>
              <a:gd fmla="val 6000" name="adj"/>
            </a:avLst>
          </a:prstGeom>
          <a:solidFill>
            <a:srgbClr val="185FA5">
              <a:alpha val="6960"/>
            </a:srgbClr>
          </a:solidFill>
          <a:ln cap="flat" cmpd="sng" w="9525">
            <a:solidFill>
              <a:srgbClr val="185FA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900">
                <a:solidFill>
                  <a:srgbClr val="185FA5"/>
                </a:solidFill>
                <a:latin typeface="Cambria"/>
                <a:ea typeface="Cambria"/>
                <a:cs typeface="Cambria"/>
                <a:sym typeface="Cambria"/>
              </a:rPr>
              <a:t>Embeddings</a:t>
            </a:r>
            <a:endParaRPr sz="1100">
              <a:solidFill>
                <a:srgbClr val="185FA5"/>
              </a:solidFill>
            </a:endParaRPr>
          </a:p>
          <a:p>
            <a:pPr indent="0" lvl="0" marL="0" rtl="0" algn="ctr">
              <a:spcBef>
                <a:spcPts val="100"/>
              </a:spcBef>
              <a:spcAft>
                <a:spcPts val="0"/>
              </a:spcAft>
              <a:buNone/>
            </a:pPr>
            <a:r>
              <a:rPr lang="fr" sz="700">
                <a:solidFill>
                  <a:srgbClr val="185FA5"/>
                </a:solidFill>
                <a:latin typeface="Calibri"/>
                <a:ea typeface="Calibri"/>
                <a:cs typeface="Calibri"/>
                <a:sym typeface="Calibri"/>
              </a:rPr>
              <a:t>mistral-embed</a:t>
            </a:r>
            <a:endParaRPr sz="1100">
              <a:solidFill>
                <a:srgbClr val="185FA5"/>
              </a:solidFill>
            </a:endParaRPr>
          </a:p>
        </p:txBody>
      </p:sp>
      <p:sp>
        <p:nvSpPr>
          <p:cNvPr id="1038" name="Google Shape;1038;p55"/>
          <p:cNvSpPr/>
          <p:nvPr/>
        </p:nvSpPr>
        <p:spPr>
          <a:xfrm>
            <a:off x="6721019" y="1495044"/>
            <a:ext cx="1680300" cy="397800"/>
          </a:xfrm>
          <a:prstGeom prst="roundRect">
            <a:avLst>
              <a:gd fmla="val 6000" name="adj"/>
            </a:avLst>
          </a:prstGeom>
          <a:solidFill>
            <a:srgbClr val="0E9C8A">
              <a:alpha val="7999"/>
            </a:srgbClr>
          </a:solidFill>
          <a:ln cap="flat" cmpd="sng" w="9525">
            <a:solidFill>
              <a:srgbClr val="0E9C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900">
                <a:solidFill>
                  <a:srgbClr val="0E9C8A"/>
                </a:solidFill>
                <a:latin typeface="Cambria"/>
                <a:ea typeface="Cambria"/>
                <a:cs typeface="Cambria"/>
                <a:sym typeface="Cambria"/>
              </a:rPr>
              <a:t>Index vectoriel</a:t>
            </a:r>
            <a:endParaRPr sz="1100">
              <a:solidFill>
                <a:srgbClr val="0E9C8A"/>
              </a:solidFill>
            </a:endParaRPr>
          </a:p>
          <a:p>
            <a:pPr indent="0" lvl="0" marL="0" rtl="0" algn="ctr">
              <a:spcBef>
                <a:spcPts val="200"/>
              </a:spcBef>
              <a:spcAft>
                <a:spcPts val="0"/>
              </a:spcAft>
              <a:buNone/>
            </a:pPr>
            <a:r>
              <a:rPr i="1" lang="fr" sz="700">
                <a:solidFill>
                  <a:srgbClr val="185FA5"/>
                </a:solidFill>
                <a:latin typeface="Calibri"/>
                <a:ea typeface="Calibri"/>
                <a:cs typeface="Calibri"/>
                <a:sym typeface="Calibri"/>
              </a:rPr>
              <a:t>FAISS local </a:t>
            </a:r>
            <a:r>
              <a:rPr b="1" lang="fr" sz="700">
                <a:solidFill>
                  <a:srgbClr val="0E9C8A"/>
                </a:solidFill>
                <a:latin typeface="Calibri"/>
                <a:ea typeface="Calibri"/>
                <a:cs typeface="Calibri"/>
                <a:sym typeface="Calibri"/>
              </a:rPr>
              <a:t>→ pgvector</a:t>
            </a:r>
            <a:endParaRPr>
              <a:solidFill>
                <a:srgbClr val="185FA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9" name="Google Shape;1039;p55"/>
          <p:cNvSpPr/>
          <p:nvPr/>
        </p:nvSpPr>
        <p:spPr>
          <a:xfrm>
            <a:off x="480098" y="2016165"/>
            <a:ext cx="2434500" cy="219300"/>
          </a:xfrm>
          <a:prstGeom prst="roundRect">
            <a:avLst>
              <a:gd fmla="val 16667" name="adj"/>
            </a:avLst>
          </a:prstGeom>
          <a:solidFill>
            <a:srgbClr val="185FA5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RUNTIME — réponse à une question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0" name="Google Shape;1040;p55"/>
          <p:cNvSpPr/>
          <p:nvPr/>
        </p:nvSpPr>
        <p:spPr>
          <a:xfrm>
            <a:off x="480100" y="2263051"/>
            <a:ext cx="1371600" cy="397800"/>
          </a:xfrm>
          <a:prstGeom prst="roundRect">
            <a:avLst>
              <a:gd fmla="val 6000" name="adj"/>
            </a:avLst>
          </a:prstGeom>
          <a:solidFill>
            <a:srgbClr val="185FA5">
              <a:alpha val="6960"/>
            </a:srgbClr>
          </a:solidFill>
          <a:ln cap="flat" cmpd="sng" w="9525">
            <a:solidFill>
              <a:srgbClr val="185FA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900">
                <a:solidFill>
                  <a:srgbClr val="185FA5"/>
                </a:solidFill>
                <a:latin typeface="Cambria"/>
                <a:ea typeface="Cambria"/>
                <a:cs typeface="Cambria"/>
                <a:sym typeface="Cambria"/>
              </a:rPr>
              <a:t>Utilisateur</a:t>
            </a:r>
            <a:endParaRPr sz="1100">
              <a:solidFill>
                <a:srgbClr val="185FA5"/>
              </a:solidFill>
            </a:endParaRPr>
          </a:p>
          <a:p>
            <a:pPr indent="0" lvl="0" marL="0" rtl="0" algn="ctr">
              <a:spcBef>
                <a:spcPts val="100"/>
              </a:spcBef>
              <a:spcAft>
                <a:spcPts val="0"/>
              </a:spcAft>
              <a:buNone/>
            </a:pPr>
            <a:r>
              <a:rPr lang="fr" sz="700">
                <a:solidFill>
                  <a:srgbClr val="185FA5"/>
                </a:solidFill>
                <a:latin typeface="Calibri"/>
                <a:ea typeface="Calibri"/>
                <a:cs typeface="Calibri"/>
                <a:sym typeface="Calibri"/>
              </a:rPr>
              <a:t>question</a:t>
            </a:r>
            <a:endParaRPr>
              <a:solidFill>
                <a:srgbClr val="185FA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1" name="Google Shape;1041;p55"/>
          <p:cNvSpPr/>
          <p:nvPr/>
        </p:nvSpPr>
        <p:spPr>
          <a:xfrm>
            <a:off x="2160350" y="2263051"/>
            <a:ext cx="1371600" cy="397800"/>
          </a:xfrm>
          <a:prstGeom prst="roundRect">
            <a:avLst>
              <a:gd fmla="val 6000" name="adj"/>
            </a:avLst>
          </a:prstGeom>
          <a:solidFill>
            <a:srgbClr val="0E9C8A">
              <a:alpha val="7999"/>
            </a:srgbClr>
          </a:solidFill>
          <a:ln cap="flat" cmpd="sng" w="9525">
            <a:solidFill>
              <a:srgbClr val="0E9C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900">
                <a:solidFill>
                  <a:srgbClr val="0E9C8A"/>
                </a:solidFill>
                <a:latin typeface="Cambria"/>
                <a:ea typeface="Cambria"/>
                <a:cs typeface="Cambria"/>
                <a:sym typeface="Cambria"/>
              </a:rPr>
              <a:t>Interface</a:t>
            </a:r>
            <a:endParaRPr sz="1100">
              <a:solidFill>
                <a:srgbClr val="0E9C8A"/>
              </a:solidFill>
            </a:endParaRPr>
          </a:p>
          <a:p>
            <a:pPr indent="0" lvl="0" marL="0" rtl="0" algn="ctr">
              <a:spcBef>
                <a:spcPts val="200"/>
              </a:spcBef>
              <a:spcAft>
                <a:spcPts val="0"/>
              </a:spcAft>
              <a:buNone/>
            </a:pPr>
            <a:r>
              <a:rPr i="1" lang="fr" sz="700">
                <a:solidFill>
                  <a:srgbClr val="185FA5"/>
                </a:solidFill>
                <a:latin typeface="Calibri"/>
                <a:ea typeface="Calibri"/>
                <a:cs typeface="Calibri"/>
                <a:sym typeface="Calibri"/>
              </a:rPr>
              <a:t>Streamlit / CLI </a:t>
            </a:r>
            <a:r>
              <a:rPr b="1" lang="fr" sz="700">
                <a:solidFill>
                  <a:srgbClr val="0E9C8A"/>
                </a:solidFill>
                <a:latin typeface="Calibri"/>
                <a:ea typeface="Calibri"/>
                <a:cs typeface="Calibri"/>
                <a:sym typeface="Calibri"/>
              </a:rPr>
              <a:t>→ FastAPI · SSE</a:t>
            </a:r>
            <a:endParaRPr>
              <a:solidFill>
                <a:srgbClr val="185FA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2" name="Google Shape;1042;p55"/>
          <p:cNvSpPr/>
          <p:nvPr/>
        </p:nvSpPr>
        <p:spPr>
          <a:xfrm>
            <a:off x="3840608" y="2263051"/>
            <a:ext cx="1371600" cy="397800"/>
          </a:xfrm>
          <a:prstGeom prst="roundRect">
            <a:avLst>
              <a:gd fmla="val 6000" name="adj"/>
            </a:avLst>
          </a:prstGeom>
          <a:solidFill>
            <a:srgbClr val="185FA5">
              <a:alpha val="6960"/>
            </a:srgbClr>
          </a:solidFill>
          <a:ln cap="flat" cmpd="sng" w="9525">
            <a:solidFill>
              <a:srgbClr val="185FA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900">
                <a:solidFill>
                  <a:srgbClr val="185FA5"/>
                </a:solidFill>
                <a:latin typeface="Cambria"/>
                <a:ea typeface="Cambria"/>
                <a:cs typeface="Cambria"/>
                <a:sym typeface="Cambria"/>
              </a:rPr>
              <a:t>Retriever hybride</a:t>
            </a:r>
            <a:endParaRPr sz="1100">
              <a:solidFill>
                <a:srgbClr val="185FA5"/>
              </a:solidFill>
            </a:endParaRPr>
          </a:p>
          <a:p>
            <a:pPr indent="0" lvl="0" marL="0" rtl="0" algn="ctr">
              <a:spcBef>
                <a:spcPts val="100"/>
              </a:spcBef>
              <a:spcAft>
                <a:spcPts val="0"/>
              </a:spcAft>
              <a:buNone/>
            </a:pPr>
            <a:r>
              <a:rPr lang="fr" sz="700">
                <a:solidFill>
                  <a:srgbClr val="185FA5"/>
                </a:solidFill>
                <a:latin typeface="Calibri"/>
                <a:ea typeface="Calibri"/>
                <a:cs typeface="Calibri"/>
                <a:sym typeface="Calibri"/>
              </a:rPr>
              <a:t>BM25 + dense (MMR)</a:t>
            </a:r>
            <a:endParaRPr>
              <a:solidFill>
                <a:srgbClr val="185FA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3" name="Google Shape;1043;p55"/>
          <p:cNvSpPr/>
          <p:nvPr/>
        </p:nvSpPr>
        <p:spPr>
          <a:xfrm>
            <a:off x="5520865" y="2263051"/>
            <a:ext cx="1371600" cy="397800"/>
          </a:xfrm>
          <a:prstGeom prst="roundRect">
            <a:avLst>
              <a:gd fmla="val 6000" name="adj"/>
            </a:avLst>
          </a:prstGeom>
          <a:solidFill>
            <a:srgbClr val="185FA5">
              <a:alpha val="6960"/>
            </a:srgbClr>
          </a:solidFill>
          <a:ln cap="flat" cmpd="sng" w="9525">
            <a:solidFill>
              <a:srgbClr val="185FA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900">
                <a:solidFill>
                  <a:srgbClr val="185FA5"/>
                </a:solidFill>
                <a:latin typeface="Cambria"/>
                <a:ea typeface="Cambria"/>
                <a:cs typeface="Cambria"/>
                <a:sym typeface="Cambria"/>
              </a:rPr>
              <a:t>mistral-small</a:t>
            </a:r>
            <a:endParaRPr sz="1100">
              <a:solidFill>
                <a:srgbClr val="185FA5"/>
              </a:solidFill>
            </a:endParaRPr>
          </a:p>
          <a:p>
            <a:pPr indent="0" lvl="0" marL="0" rtl="0" algn="ctr">
              <a:spcBef>
                <a:spcPts val="100"/>
              </a:spcBef>
              <a:spcAft>
                <a:spcPts val="0"/>
              </a:spcAft>
              <a:buNone/>
            </a:pPr>
            <a:r>
              <a:rPr lang="fr" sz="700">
                <a:solidFill>
                  <a:srgbClr val="185FA5"/>
                </a:solidFill>
                <a:latin typeface="Calibri"/>
                <a:ea typeface="Calibri"/>
                <a:cs typeface="Calibri"/>
                <a:sym typeface="Calibri"/>
              </a:rPr>
              <a:t>génération · sources</a:t>
            </a:r>
            <a:endParaRPr>
              <a:solidFill>
                <a:srgbClr val="185FA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4" name="Google Shape;1044;p55"/>
          <p:cNvSpPr/>
          <p:nvPr/>
        </p:nvSpPr>
        <p:spPr>
          <a:xfrm>
            <a:off x="7201123" y="2263051"/>
            <a:ext cx="1371600" cy="397800"/>
          </a:xfrm>
          <a:prstGeom prst="roundRect">
            <a:avLst>
              <a:gd fmla="val 6000" name="adj"/>
            </a:avLst>
          </a:prstGeom>
          <a:solidFill>
            <a:srgbClr val="185FA5">
              <a:alpha val="6960"/>
            </a:srgbClr>
          </a:solidFill>
          <a:ln cap="flat" cmpd="sng" w="9525">
            <a:solidFill>
              <a:srgbClr val="185FA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900">
                <a:solidFill>
                  <a:srgbClr val="185FA5"/>
                </a:solidFill>
                <a:latin typeface="Cambria"/>
                <a:ea typeface="Cambria"/>
                <a:cs typeface="Cambria"/>
                <a:sym typeface="Cambria"/>
              </a:rPr>
              <a:t>Réponse + sources</a:t>
            </a:r>
            <a:endParaRPr sz="1100">
              <a:solidFill>
                <a:srgbClr val="185FA5"/>
              </a:solidFill>
            </a:endParaRPr>
          </a:p>
          <a:p>
            <a:pPr indent="0" lvl="0" marL="0" rtl="0" algn="ctr">
              <a:spcBef>
                <a:spcPts val="100"/>
              </a:spcBef>
              <a:spcAft>
                <a:spcPts val="0"/>
              </a:spcAft>
              <a:buNone/>
            </a:pPr>
            <a:r>
              <a:rPr lang="fr" sz="700">
                <a:solidFill>
                  <a:srgbClr val="185FA5"/>
                </a:solidFill>
                <a:latin typeface="Calibri"/>
                <a:ea typeface="Calibri"/>
                <a:cs typeface="Calibri"/>
                <a:sym typeface="Calibri"/>
              </a:rPr>
              <a:t>citations</a:t>
            </a:r>
            <a:endParaRPr>
              <a:solidFill>
                <a:srgbClr val="185FA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045" name="Google Shape;1045;p55"/>
          <p:cNvCxnSpPr>
            <a:stCxn id="1038" idx="2"/>
            <a:endCxn id="1042" idx="0"/>
          </p:cNvCxnSpPr>
          <p:nvPr/>
        </p:nvCxnSpPr>
        <p:spPr>
          <a:xfrm flipH="1">
            <a:off x="4526369" y="1892844"/>
            <a:ext cx="3034800" cy="370200"/>
          </a:xfrm>
          <a:prstGeom prst="straightConnector1">
            <a:avLst/>
          </a:prstGeom>
          <a:noFill/>
          <a:ln cap="flat" cmpd="sng" w="15225">
            <a:solidFill>
              <a:srgbClr val="FFFB8C"/>
            </a:solidFill>
            <a:prstDash val="dash"/>
            <a:round/>
            <a:headEnd len="sm" w="sm" type="oval"/>
            <a:tailEnd len="med" w="med" type="oval"/>
          </a:ln>
        </p:spPr>
      </p:cxnSp>
      <p:sp>
        <p:nvSpPr>
          <p:cNvPr id="1046" name="Google Shape;1046;p55"/>
          <p:cNvSpPr txBox="1"/>
          <p:nvPr/>
        </p:nvSpPr>
        <p:spPr>
          <a:xfrm>
            <a:off x="4764446" y="1938063"/>
            <a:ext cx="1097400" cy="1461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0" spcFirstLastPara="1" rIns="0" wrap="square" tIns="190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fr" sz="700" u="none" cap="none" strike="noStrike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embeddings + métadonnées</a:t>
            </a:r>
            <a:endParaRPr sz="1100">
              <a:solidFill>
                <a:srgbClr val="9CA3AF"/>
              </a:solidFill>
            </a:endParaRPr>
          </a:p>
        </p:txBody>
      </p:sp>
      <p:sp>
        <p:nvSpPr>
          <p:cNvPr id="1047" name="Google Shape;1047;p55"/>
          <p:cNvSpPr/>
          <p:nvPr/>
        </p:nvSpPr>
        <p:spPr>
          <a:xfrm>
            <a:off x="1417588" y="2775313"/>
            <a:ext cx="1176900" cy="507900"/>
          </a:xfrm>
          <a:prstGeom prst="roundRect">
            <a:avLst>
              <a:gd fmla="val 6000" name="adj"/>
            </a:avLst>
          </a:prstGeom>
          <a:solidFill>
            <a:srgbClr val="923E22">
              <a:alpha val="7999"/>
            </a:srgbClr>
          </a:solidFill>
          <a:ln cap="flat" cmpd="sng" w="7225">
            <a:solidFill>
              <a:srgbClr val="923E22"/>
            </a:solidFill>
            <a:prstDash val="solid"/>
            <a:round/>
            <a:headEnd len="sm" w="sm" type="none"/>
            <a:tailEnd len="sm" w="sm" type="none"/>
          </a:ln>
          <a:effectLst>
            <a:outerShdw blurRad="27293" rotWithShape="0" dir="5400000" dist="11372">
              <a:srgbClr val="8A93A6">
                <a:alpha val="32159"/>
              </a:srgbClr>
            </a:outerShdw>
          </a:effectLst>
        </p:spPr>
        <p:txBody>
          <a:bodyPr anchorCtr="0" anchor="ctr" bIns="20800" lIns="41600" spcFirstLastPara="1" rIns="41600" wrap="square" tIns="208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849" u="none" cap="none" strike="noStrike">
              <a:solidFill>
                <a:srgbClr val="0E9C8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8" name="Google Shape;1048;p55"/>
          <p:cNvSpPr/>
          <p:nvPr/>
        </p:nvSpPr>
        <p:spPr>
          <a:xfrm>
            <a:off x="1517417" y="2858501"/>
            <a:ext cx="174600" cy="174600"/>
          </a:xfrm>
          <a:prstGeom prst="ellipse">
            <a:avLst/>
          </a:prstGeom>
          <a:noFill/>
          <a:ln cap="flat" cmpd="sng" w="9525">
            <a:solidFill>
              <a:srgbClr val="923E2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fr" sz="667" u="none" cap="none" strike="noStrike">
                <a:solidFill>
                  <a:srgbClr val="923E22"/>
                </a:solidFill>
                <a:latin typeface="Cambria"/>
                <a:ea typeface="Cambria"/>
                <a:cs typeface="Cambria"/>
                <a:sym typeface="Cambria"/>
              </a:rPr>
              <a:t>1</a:t>
            </a:r>
            <a:endParaRPr sz="667">
              <a:solidFill>
                <a:srgbClr val="923E22"/>
              </a:solidFill>
            </a:endParaRPr>
          </a:p>
        </p:txBody>
      </p:sp>
      <p:sp>
        <p:nvSpPr>
          <p:cNvPr id="1049" name="Google Shape;1049;p55"/>
          <p:cNvSpPr txBox="1"/>
          <p:nvPr/>
        </p:nvSpPr>
        <p:spPr>
          <a:xfrm>
            <a:off x="1758672" y="2850182"/>
            <a:ext cx="761100" cy="88500"/>
          </a:xfrm>
          <a:prstGeom prst="rect">
            <a:avLst/>
          </a:prstGeom>
          <a:noFill/>
          <a:ln>
            <a:noFill/>
          </a:ln>
        </p:spPr>
        <p:txBody>
          <a:bodyPr anchorCtr="0" anchor="t" bIns="11525" lIns="0" spcFirstLastPara="1" rIns="0" wrap="square" tIns="115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fr" sz="425" u="none" cap="none" strike="noStrike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BESOIN</a:t>
            </a:r>
            <a:endParaRPr sz="667">
              <a:solidFill>
                <a:srgbClr val="9CA3AF"/>
              </a:solidFill>
            </a:endParaRPr>
          </a:p>
        </p:txBody>
      </p:sp>
      <p:sp>
        <p:nvSpPr>
          <p:cNvPr id="1050" name="Google Shape;1050;p55"/>
          <p:cNvSpPr txBox="1"/>
          <p:nvPr/>
        </p:nvSpPr>
        <p:spPr>
          <a:xfrm>
            <a:off x="1758672" y="2950007"/>
            <a:ext cx="761100" cy="191400"/>
          </a:xfrm>
          <a:prstGeom prst="rect">
            <a:avLst/>
          </a:prstGeom>
          <a:noFill/>
          <a:ln>
            <a:noFill/>
          </a:ln>
        </p:spPr>
        <p:txBody>
          <a:bodyPr anchorCtr="0" anchor="t" bIns="11525" lIns="0" spcFirstLastPara="1" rIns="0" wrap="square" tIns="115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fr" sz="546" u="none" cap="none" strike="noStrike">
                <a:solidFill>
                  <a:srgbClr val="923E22"/>
                </a:solidFill>
                <a:latin typeface="Cambria"/>
                <a:ea typeface="Cambria"/>
                <a:cs typeface="Cambria"/>
                <a:sym typeface="Cambria"/>
              </a:rPr>
              <a:t>Mémoire conversationnelle</a:t>
            </a:r>
            <a:endParaRPr sz="546">
              <a:solidFill>
                <a:srgbClr val="923E22"/>
              </a:solidFill>
            </a:endParaRPr>
          </a:p>
        </p:txBody>
      </p:sp>
      <p:sp>
        <p:nvSpPr>
          <p:cNvPr id="1051" name="Google Shape;1051;p55"/>
          <p:cNvSpPr txBox="1"/>
          <p:nvPr/>
        </p:nvSpPr>
        <p:spPr>
          <a:xfrm>
            <a:off x="1527766" y="3157978"/>
            <a:ext cx="990000" cy="107400"/>
          </a:xfrm>
          <a:prstGeom prst="rect">
            <a:avLst/>
          </a:prstGeom>
          <a:noFill/>
          <a:ln>
            <a:noFill/>
          </a:ln>
        </p:spPr>
        <p:txBody>
          <a:bodyPr anchorCtr="0" anchor="t" bIns="11525" lIns="0" spcFirstLastPara="1" rIns="0" wrap="square" tIns="1152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fr" sz="546" u="none" cap="none" strike="noStrike">
                <a:solidFill>
                  <a:srgbClr val="B7791F"/>
                </a:solidFill>
                <a:latin typeface="Calibri"/>
                <a:ea typeface="Calibri"/>
                <a:cs typeface="Calibri"/>
                <a:sym typeface="Calibri"/>
              </a:rPr>
              <a:t>Redis + PostgreSQL</a:t>
            </a:r>
            <a:endParaRPr sz="667">
              <a:solidFill>
                <a:srgbClr val="B7791F"/>
              </a:solidFill>
            </a:endParaRPr>
          </a:p>
        </p:txBody>
      </p:sp>
      <p:sp>
        <p:nvSpPr>
          <p:cNvPr id="1052" name="Google Shape;1052;p55"/>
          <p:cNvSpPr/>
          <p:nvPr/>
        </p:nvSpPr>
        <p:spPr>
          <a:xfrm>
            <a:off x="3332581" y="2787251"/>
            <a:ext cx="1176900" cy="507900"/>
          </a:xfrm>
          <a:prstGeom prst="roundRect">
            <a:avLst>
              <a:gd fmla="val 6000" name="adj"/>
            </a:avLst>
          </a:prstGeom>
          <a:solidFill>
            <a:srgbClr val="CCC743">
              <a:alpha val="7999"/>
            </a:srgbClr>
          </a:solidFill>
          <a:ln cap="flat" cmpd="sng" w="7225">
            <a:solidFill>
              <a:srgbClr val="CCC743"/>
            </a:solidFill>
            <a:prstDash val="solid"/>
            <a:round/>
            <a:headEnd len="sm" w="sm" type="none"/>
            <a:tailEnd len="sm" w="sm" type="none"/>
          </a:ln>
          <a:effectLst>
            <a:outerShdw blurRad="27293" rotWithShape="0" dir="5400000" dist="11372">
              <a:srgbClr val="8A93A6">
                <a:alpha val="32159"/>
              </a:srgbClr>
            </a:outerShdw>
          </a:effectLst>
        </p:spPr>
        <p:txBody>
          <a:bodyPr anchorCtr="0" anchor="ctr" bIns="20800" lIns="41600" spcFirstLastPara="1" rIns="41600" wrap="square" tIns="208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849" u="none" cap="none" strike="noStrike">
              <a:solidFill>
                <a:srgbClr val="0E9C8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3" name="Google Shape;1053;p55"/>
          <p:cNvSpPr/>
          <p:nvPr/>
        </p:nvSpPr>
        <p:spPr>
          <a:xfrm>
            <a:off x="3432411" y="2870438"/>
            <a:ext cx="174600" cy="174600"/>
          </a:xfrm>
          <a:prstGeom prst="ellipse">
            <a:avLst/>
          </a:prstGeom>
          <a:noFill/>
          <a:ln cap="flat" cmpd="sng" w="9525">
            <a:solidFill>
              <a:srgbClr val="CCC74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fr" sz="667" u="none" cap="none" strike="noStrike">
                <a:solidFill>
                  <a:srgbClr val="CCC743"/>
                </a:solidFill>
                <a:latin typeface="Cambria"/>
                <a:ea typeface="Cambria"/>
                <a:cs typeface="Cambria"/>
                <a:sym typeface="Cambria"/>
              </a:rPr>
              <a:t>2</a:t>
            </a:r>
            <a:endParaRPr sz="667">
              <a:solidFill>
                <a:srgbClr val="CCC743"/>
              </a:solidFill>
            </a:endParaRPr>
          </a:p>
        </p:txBody>
      </p:sp>
      <p:sp>
        <p:nvSpPr>
          <p:cNvPr id="1054" name="Google Shape;1054;p55"/>
          <p:cNvSpPr txBox="1"/>
          <p:nvPr/>
        </p:nvSpPr>
        <p:spPr>
          <a:xfrm>
            <a:off x="3673665" y="2862120"/>
            <a:ext cx="761100" cy="88500"/>
          </a:xfrm>
          <a:prstGeom prst="rect">
            <a:avLst/>
          </a:prstGeom>
          <a:noFill/>
          <a:ln>
            <a:noFill/>
          </a:ln>
        </p:spPr>
        <p:txBody>
          <a:bodyPr anchorCtr="0" anchor="t" bIns="11525" lIns="0" spcFirstLastPara="1" rIns="0" wrap="square" tIns="115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fr" sz="425" u="none" cap="none" strike="noStrike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BESOIN</a:t>
            </a:r>
            <a:endParaRPr sz="667">
              <a:solidFill>
                <a:srgbClr val="9CA3AF"/>
              </a:solidFill>
            </a:endParaRPr>
          </a:p>
        </p:txBody>
      </p:sp>
      <p:sp>
        <p:nvSpPr>
          <p:cNvPr id="1055" name="Google Shape;1055;p55"/>
          <p:cNvSpPr txBox="1"/>
          <p:nvPr/>
        </p:nvSpPr>
        <p:spPr>
          <a:xfrm>
            <a:off x="3673665" y="2961945"/>
            <a:ext cx="761100" cy="107400"/>
          </a:xfrm>
          <a:prstGeom prst="rect">
            <a:avLst/>
          </a:prstGeom>
          <a:noFill/>
          <a:ln>
            <a:noFill/>
          </a:ln>
        </p:spPr>
        <p:txBody>
          <a:bodyPr anchorCtr="0" anchor="t" bIns="11525" lIns="0" spcFirstLastPara="1" rIns="0" wrap="square" tIns="115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fr" sz="546" u="none" cap="none" strike="noStrike">
                <a:solidFill>
                  <a:srgbClr val="CCC743"/>
                </a:solidFill>
                <a:latin typeface="Cambria"/>
                <a:ea typeface="Cambria"/>
                <a:cs typeface="Cambria"/>
                <a:sym typeface="Cambria"/>
              </a:rPr>
              <a:t>Contexte géographique</a:t>
            </a:r>
            <a:endParaRPr sz="546">
              <a:solidFill>
                <a:srgbClr val="CCC743"/>
              </a:solidFill>
            </a:endParaRPr>
          </a:p>
        </p:txBody>
      </p:sp>
      <p:sp>
        <p:nvSpPr>
          <p:cNvPr id="1056" name="Google Shape;1056;p55"/>
          <p:cNvSpPr txBox="1"/>
          <p:nvPr/>
        </p:nvSpPr>
        <p:spPr>
          <a:xfrm>
            <a:off x="3442759" y="3169916"/>
            <a:ext cx="990000" cy="107400"/>
          </a:xfrm>
          <a:prstGeom prst="rect">
            <a:avLst/>
          </a:prstGeom>
          <a:noFill/>
          <a:ln>
            <a:noFill/>
          </a:ln>
        </p:spPr>
        <p:txBody>
          <a:bodyPr anchorCtr="0" anchor="t" bIns="11525" lIns="0" spcFirstLastPara="1" rIns="0" wrap="square" tIns="1152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fr" sz="546" u="none" cap="none" strike="noStrike">
                <a:solidFill>
                  <a:srgbClr val="B7791F"/>
                </a:solidFill>
                <a:latin typeface="Calibri"/>
                <a:ea typeface="Calibri"/>
                <a:cs typeface="Calibri"/>
                <a:sym typeface="Calibri"/>
              </a:rPr>
              <a:t>PostGIS</a:t>
            </a:r>
            <a:endParaRPr sz="667">
              <a:solidFill>
                <a:srgbClr val="B7791F"/>
              </a:solidFill>
            </a:endParaRPr>
          </a:p>
        </p:txBody>
      </p:sp>
      <p:sp>
        <p:nvSpPr>
          <p:cNvPr id="1057" name="Google Shape;1057;p55"/>
          <p:cNvSpPr/>
          <p:nvPr/>
        </p:nvSpPr>
        <p:spPr>
          <a:xfrm>
            <a:off x="4634525" y="2787251"/>
            <a:ext cx="1176900" cy="507900"/>
          </a:xfrm>
          <a:prstGeom prst="roundRect">
            <a:avLst>
              <a:gd fmla="val 6000" name="adj"/>
            </a:avLst>
          </a:prstGeom>
          <a:solidFill>
            <a:srgbClr val="CCC743">
              <a:alpha val="7999"/>
            </a:srgbClr>
          </a:solidFill>
          <a:ln cap="flat" cmpd="sng" w="7225">
            <a:solidFill>
              <a:srgbClr val="CCC743"/>
            </a:solidFill>
            <a:prstDash val="solid"/>
            <a:round/>
            <a:headEnd len="sm" w="sm" type="none"/>
            <a:tailEnd len="sm" w="sm" type="none"/>
          </a:ln>
          <a:effectLst>
            <a:outerShdw blurRad="27293" rotWithShape="0" dir="5400000" dist="11372">
              <a:srgbClr val="8A93A6">
                <a:alpha val="32159"/>
              </a:srgbClr>
            </a:outerShdw>
          </a:effectLst>
        </p:spPr>
        <p:txBody>
          <a:bodyPr anchorCtr="0" anchor="ctr" bIns="20800" lIns="41600" spcFirstLastPara="1" rIns="41600" wrap="square" tIns="208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849" u="none" cap="none" strike="noStrike">
              <a:solidFill>
                <a:srgbClr val="0E9C8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8" name="Google Shape;1058;p55"/>
          <p:cNvSpPr/>
          <p:nvPr/>
        </p:nvSpPr>
        <p:spPr>
          <a:xfrm>
            <a:off x="4734354" y="2870438"/>
            <a:ext cx="174600" cy="174600"/>
          </a:xfrm>
          <a:prstGeom prst="ellipse">
            <a:avLst/>
          </a:prstGeom>
          <a:noFill/>
          <a:ln cap="flat" cmpd="sng" w="9525">
            <a:solidFill>
              <a:srgbClr val="CCC74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fr" sz="667" u="none" cap="none" strike="noStrike">
                <a:solidFill>
                  <a:srgbClr val="CCC743"/>
                </a:solidFill>
                <a:latin typeface="Cambria"/>
                <a:ea typeface="Cambria"/>
                <a:cs typeface="Cambria"/>
                <a:sym typeface="Cambria"/>
              </a:rPr>
              <a:t>3</a:t>
            </a:r>
            <a:endParaRPr sz="667">
              <a:solidFill>
                <a:srgbClr val="CCC743"/>
              </a:solidFill>
            </a:endParaRPr>
          </a:p>
        </p:txBody>
      </p:sp>
      <p:sp>
        <p:nvSpPr>
          <p:cNvPr id="1059" name="Google Shape;1059;p55"/>
          <p:cNvSpPr txBox="1"/>
          <p:nvPr/>
        </p:nvSpPr>
        <p:spPr>
          <a:xfrm>
            <a:off x="4975609" y="2862120"/>
            <a:ext cx="761100" cy="88500"/>
          </a:xfrm>
          <a:prstGeom prst="rect">
            <a:avLst/>
          </a:prstGeom>
          <a:noFill/>
          <a:ln>
            <a:noFill/>
          </a:ln>
        </p:spPr>
        <p:txBody>
          <a:bodyPr anchorCtr="0" anchor="t" bIns="11525" lIns="0" spcFirstLastPara="1" rIns="0" wrap="square" tIns="115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fr" sz="425" u="none" cap="none" strike="noStrike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BESOIN</a:t>
            </a:r>
            <a:endParaRPr sz="667">
              <a:solidFill>
                <a:srgbClr val="9CA3AF"/>
              </a:solidFill>
            </a:endParaRPr>
          </a:p>
        </p:txBody>
      </p:sp>
      <p:sp>
        <p:nvSpPr>
          <p:cNvPr id="1060" name="Google Shape;1060;p55"/>
          <p:cNvSpPr txBox="1"/>
          <p:nvPr/>
        </p:nvSpPr>
        <p:spPr>
          <a:xfrm>
            <a:off x="4975609" y="2961945"/>
            <a:ext cx="761100" cy="107400"/>
          </a:xfrm>
          <a:prstGeom prst="rect">
            <a:avLst/>
          </a:prstGeom>
          <a:noFill/>
          <a:ln>
            <a:noFill/>
          </a:ln>
        </p:spPr>
        <p:txBody>
          <a:bodyPr anchorCtr="0" anchor="t" bIns="11525" lIns="0" spcFirstLastPara="1" rIns="0" wrap="square" tIns="115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fr" sz="546" u="none" cap="none" strike="noStrike">
                <a:solidFill>
                  <a:srgbClr val="CCC743"/>
                </a:solidFill>
                <a:latin typeface="Cambria"/>
                <a:ea typeface="Cambria"/>
                <a:cs typeface="Cambria"/>
                <a:sym typeface="Cambria"/>
              </a:rPr>
              <a:t>Web temps réel</a:t>
            </a:r>
            <a:endParaRPr sz="546">
              <a:solidFill>
                <a:srgbClr val="CCC743"/>
              </a:solidFill>
            </a:endParaRPr>
          </a:p>
        </p:txBody>
      </p:sp>
      <p:sp>
        <p:nvSpPr>
          <p:cNvPr id="1061" name="Google Shape;1061;p55"/>
          <p:cNvSpPr txBox="1"/>
          <p:nvPr/>
        </p:nvSpPr>
        <p:spPr>
          <a:xfrm>
            <a:off x="4744703" y="3169916"/>
            <a:ext cx="990000" cy="107400"/>
          </a:xfrm>
          <a:prstGeom prst="rect">
            <a:avLst/>
          </a:prstGeom>
          <a:noFill/>
          <a:ln>
            <a:noFill/>
          </a:ln>
        </p:spPr>
        <p:txBody>
          <a:bodyPr anchorCtr="0" anchor="t" bIns="11525" lIns="0" spcFirstLastPara="1" rIns="0" wrap="square" tIns="1152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fr" sz="546" u="none" cap="none" strike="noStrike">
                <a:solidFill>
                  <a:srgbClr val="B7791F"/>
                </a:solidFill>
                <a:latin typeface="Calibri"/>
                <a:ea typeface="Calibri"/>
                <a:cs typeface="Calibri"/>
                <a:sym typeface="Calibri"/>
              </a:rPr>
              <a:t>smolagents + Tavily</a:t>
            </a:r>
            <a:endParaRPr sz="667">
              <a:solidFill>
                <a:srgbClr val="B7791F"/>
              </a:solidFill>
            </a:endParaRPr>
          </a:p>
        </p:txBody>
      </p:sp>
      <p:sp>
        <p:nvSpPr>
          <p:cNvPr id="1062" name="Google Shape;1062;p55"/>
          <p:cNvSpPr/>
          <p:nvPr/>
        </p:nvSpPr>
        <p:spPr>
          <a:xfrm>
            <a:off x="4078923" y="3475913"/>
            <a:ext cx="174600" cy="174600"/>
          </a:xfrm>
          <a:prstGeom prst="ellipse">
            <a:avLst/>
          </a:prstGeom>
          <a:noFill/>
          <a:ln cap="flat" cmpd="sng" w="9525">
            <a:solidFill>
              <a:srgbClr val="B07BC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fr" sz="667" u="none" cap="none" strike="noStrike">
                <a:solidFill>
                  <a:srgbClr val="B07BC2"/>
                </a:solidFill>
                <a:latin typeface="Cambria"/>
                <a:ea typeface="Cambria"/>
                <a:cs typeface="Cambria"/>
                <a:sym typeface="Cambria"/>
              </a:rPr>
              <a:t>4</a:t>
            </a:r>
            <a:endParaRPr sz="667">
              <a:solidFill>
                <a:srgbClr val="B07BC2"/>
              </a:solidFill>
            </a:endParaRPr>
          </a:p>
        </p:txBody>
      </p:sp>
      <p:sp>
        <p:nvSpPr>
          <p:cNvPr id="1063" name="Google Shape;1063;p55"/>
          <p:cNvSpPr txBox="1"/>
          <p:nvPr/>
        </p:nvSpPr>
        <p:spPr>
          <a:xfrm>
            <a:off x="4320178" y="3467595"/>
            <a:ext cx="761100" cy="88500"/>
          </a:xfrm>
          <a:prstGeom prst="rect">
            <a:avLst/>
          </a:prstGeom>
          <a:noFill/>
          <a:ln>
            <a:noFill/>
          </a:ln>
        </p:spPr>
        <p:txBody>
          <a:bodyPr anchorCtr="0" anchor="t" bIns="11525" lIns="0" spcFirstLastPara="1" rIns="0" wrap="square" tIns="115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fr" sz="425" u="none" cap="none" strike="noStrike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BESOIN</a:t>
            </a:r>
            <a:endParaRPr sz="667">
              <a:solidFill>
                <a:srgbClr val="9CA3AF"/>
              </a:solidFill>
            </a:endParaRPr>
          </a:p>
        </p:txBody>
      </p:sp>
      <p:sp>
        <p:nvSpPr>
          <p:cNvPr id="1064" name="Google Shape;1064;p55"/>
          <p:cNvSpPr txBox="1"/>
          <p:nvPr/>
        </p:nvSpPr>
        <p:spPr>
          <a:xfrm>
            <a:off x="4320178" y="3567420"/>
            <a:ext cx="761100" cy="107400"/>
          </a:xfrm>
          <a:prstGeom prst="rect">
            <a:avLst/>
          </a:prstGeom>
          <a:noFill/>
          <a:ln>
            <a:noFill/>
          </a:ln>
        </p:spPr>
        <p:txBody>
          <a:bodyPr anchorCtr="0" anchor="t" bIns="11525" lIns="0" spcFirstLastPara="1" rIns="0" wrap="square" tIns="115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fr" sz="546" u="none" cap="none" strike="noStrike">
                <a:solidFill>
                  <a:srgbClr val="B07BC2"/>
                </a:solidFill>
                <a:latin typeface="Cambria"/>
                <a:ea typeface="Cambria"/>
                <a:cs typeface="Cambria"/>
                <a:sym typeface="Cambria"/>
              </a:rPr>
              <a:t>Monitoring</a:t>
            </a:r>
            <a:endParaRPr sz="546">
              <a:solidFill>
                <a:srgbClr val="B07BC2"/>
              </a:solidFill>
            </a:endParaRPr>
          </a:p>
        </p:txBody>
      </p:sp>
      <p:sp>
        <p:nvSpPr>
          <p:cNvPr id="1065" name="Google Shape;1065;p55"/>
          <p:cNvSpPr txBox="1"/>
          <p:nvPr/>
        </p:nvSpPr>
        <p:spPr>
          <a:xfrm>
            <a:off x="4089272" y="3775391"/>
            <a:ext cx="990000" cy="107400"/>
          </a:xfrm>
          <a:prstGeom prst="rect">
            <a:avLst/>
          </a:prstGeom>
          <a:noFill/>
          <a:ln>
            <a:noFill/>
          </a:ln>
        </p:spPr>
        <p:txBody>
          <a:bodyPr anchorCtr="0" anchor="t" bIns="11525" lIns="0" spcFirstLastPara="1" rIns="0" wrap="square" tIns="1152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fr" sz="546" u="none" cap="none" strike="noStrike">
                <a:solidFill>
                  <a:srgbClr val="B7791F"/>
                </a:solidFill>
                <a:latin typeface="Calibri"/>
                <a:ea typeface="Calibri"/>
                <a:cs typeface="Calibri"/>
                <a:sym typeface="Calibri"/>
              </a:rPr>
              <a:t>Langfuse + Cockpit</a:t>
            </a:r>
            <a:endParaRPr sz="667">
              <a:solidFill>
                <a:srgbClr val="B7791F"/>
              </a:solidFill>
            </a:endParaRPr>
          </a:p>
        </p:txBody>
      </p:sp>
      <p:sp>
        <p:nvSpPr>
          <p:cNvPr id="1066" name="Google Shape;1066;p55"/>
          <p:cNvSpPr txBox="1"/>
          <p:nvPr/>
        </p:nvSpPr>
        <p:spPr>
          <a:xfrm>
            <a:off x="377200" y="233175"/>
            <a:ext cx="1773600" cy="45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9050" lIns="0" spcFirstLastPara="1" rIns="0" wrap="square" tIns="190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1800">
                <a:solidFill>
                  <a:srgbClr val="0E9C8A"/>
                </a:solidFill>
                <a:latin typeface="Calibri"/>
                <a:ea typeface="Calibri"/>
                <a:cs typeface="Calibri"/>
                <a:sym typeface="Calibri"/>
              </a:rPr>
              <a:t>Du POC au MVP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7" name="Google Shape;1067;p55"/>
          <p:cNvSpPr txBox="1"/>
          <p:nvPr/>
        </p:nvSpPr>
        <p:spPr>
          <a:xfrm>
            <a:off x="377200" y="675550"/>
            <a:ext cx="37122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9050" lIns="0" spcFirstLastPara="1" rIns="0" wrap="square" tIns="190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1100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Le schéma du POC RAG Puls-Events, augmenté par les besoins</a:t>
            </a:r>
            <a:endParaRPr b="1" sz="1100">
              <a:solidFill>
                <a:srgbClr val="9CA3A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8" name="Google Shape;1068;p55"/>
          <p:cNvSpPr txBox="1"/>
          <p:nvPr/>
        </p:nvSpPr>
        <p:spPr>
          <a:xfrm>
            <a:off x="6478515" y="992299"/>
            <a:ext cx="1097400" cy="19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9050" lIns="0" spcFirstLastPara="1" rIns="0" wrap="square" tIns="190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fr" sz="1000" u="none" cap="none" strike="noStrike">
                <a:solidFill>
                  <a:srgbClr val="0E9C8A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r>
              <a:rPr b="1" i="0" lang="fr" sz="1000" u="none" cap="none" strike="noStrike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    </a:t>
            </a:r>
            <a:r>
              <a:rPr b="0" i="0" lang="fr" sz="800" u="none" cap="none" strike="noStrike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fait évoluer</a:t>
            </a:r>
            <a:endParaRPr sz="1100">
              <a:solidFill>
                <a:srgbClr val="9CA3AF"/>
              </a:solidFill>
            </a:endParaRPr>
          </a:p>
        </p:txBody>
      </p:sp>
      <p:sp>
        <p:nvSpPr>
          <p:cNvPr id="1069" name="Google Shape;1069;p55"/>
          <p:cNvSpPr/>
          <p:nvPr/>
        </p:nvSpPr>
        <p:spPr>
          <a:xfrm>
            <a:off x="2284350" y="1593125"/>
            <a:ext cx="461700" cy="2013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0E9C8A">
              <a:alpha val="60000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0" name="Google Shape;1070;p55"/>
          <p:cNvSpPr/>
          <p:nvPr/>
        </p:nvSpPr>
        <p:spPr>
          <a:xfrm>
            <a:off x="4295575" y="1603525"/>
            <a:ext cx="461700" cy="2013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0E9C8A">
              <a:alpha val="60000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1" name="Google Shape;1071;p55"/>
          <p:cNvSpPr/>
          <p:nvPr/>
        </p:nvSpPr>
        <p:spPr>
          <a:xfrm>
            <a:off x="6323275" y="1598638"/>
            <a:ext cx="461700" cy="2013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0E9C8A">
              <a:alpha val="60000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2" name="Google Shape;1072;p55"/>
          <p:cNvSpPr/>
          <p:nvPr/>
        </p:nvSpPr>
        <p:spPr>
          <a:xfrm>
            <a:off x="6815900" y="2340200"/>
            <a:ext cx="461700" cy="2013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0E9C8A">
              <a:alpha val="60000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3" name="Google Shape;1073;p55"/>
          <p:cNvSpPr/>
          <p:nvPr/>
        </p:nvSpPr>
        <p:spPr>
          <a:xfrm>
            <a:off x="1775200" y="2340188"/>
            <a:ext cx="461700" cy="2013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0E9C8A">
              <a:alpha val="60000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4" name="Google Shape;1074;p55"/>
          <p:cNvSpPr/>
          <p:nvPr/>
        </p:nvSpPr>
        <p:spPr>
          <a:xfrm>
            <a:off x="5135675" y="2335063"/>
            <a:ext cx="461700" cy="2013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0E9C8A">
              <a:alpha val="60000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5" name="Google Shape;1075;p55"/>
          <p:cNvSpPr/>
          <p:nvPr/>
        </p:nvSpPr>
        <p:spPr>
          <a:xfrm>
            <a:off x="3455450" y="2340188"/>
            <a:ext cx="461700" cy="2013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0E9C8A">
              <a:alpha val="60000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6" name="Google Shape;1076;p55"/>
          <p:cNvSpPr/>
          <p:nvPr/>
        </p:nvSpPr>
        <p:spPr>
          <a:xfrm>
            <a:off x="3798700" y="2186800"/>
            <a:ext cx="1450200" cy="519300"/>
          </a:xfrm>
          <a:prstGeom prst="roundRect">
            <a:avLst>
              <a:gd fmla="val 6000" name="adj"/>
            </a:avLst>
          </a:prstGeom>
          <a:solidFill>
            <a:srgbClr val="CCC743">
              <a:alpha val="7999"/>
            </a:srgbClr>
          </a:solidFill>
          <a:ln cap="flat" cmpd="sng" w="7225">
            <a:solidFill>
              <a:srgbClr val="CCC743"/>
            </a:solidFill>
            <a:prstDash val="solid"/>
            <a:round/>
            <a:headEnd len="sm" w="sm" type="none"/>
            <a:tailEnd len="sm" w="sm" type="none"/>
          </a:ln>
          <a:effectLst>
            <a:outerShdw blurRad="27293" rotWithShape="0" dir="5400000" dist="11372">
              <a:srgbClr val="8A93A6">
                <a:alpha val="32159"/>
              </a:srgbClr>
            </a:outerShdw>
          </a:effectLst>
        </p:spPr>
        <p:txBody>
          <a:bodyPr anchorCtr="0" anchor="ctr" bIns="20800" lIns="41600" spcFirstLastPara="1" rIns="41600" wrap="square" tIns="208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849" u="none" cap="none" strike="noStrike">
              <a:solidFill>
                <a:srgbClr val="0E9C8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7" name="Google Shape;1077;p55"/>
          <p:cNvSpPr txBox="1"/>
          <p:nvPr/>
        </p:nvSpPr>
        <p:spPr>
          <a:xfrm>
            <a:off x="377200" y="4945850"/>
            <a:ext cx="999000" cy="166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700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MVP RAG Puls-Events</a:t>
            </a:r>
            <a:endParaRPr sz="700">
              <a:solidFill>
                <a:srgbClr val="9CA3A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2" name="Shape 10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3" name="Google Shape;1083;p56"/>
          <p:cNvSpPr/>
          <p:nvPr/>
        </p:nvSpPr>
        <p:spPr>
          <a:xfrm>
            <a:off x="424800" y="2186875"/>
            <a:ext cx="3149700" cy="519300"/>
          </a:xfrm>
          <a:prstGeom prst="roundRect">
            <a:avLst>
              <a:gd fmla="val 6000" name="adj"/>
            </a:avLst>
          </a:prstGeom>
          <a:solidFill>
            <a:srgbClr val="923E22">
              <a:alpha val="7999"/>
            </a:srgbClr>
          </a:solidFill>
          <a:ln cap="flat" cmpd="sng" w="7225">
            <a:solidFill>
              <a:srgbClr val="923E22"/>
            </a:solidFill>
            <a:prstDash val="solid"/>
            <a:round/>
            <a:headEnd len="sm" w="sm" type="none"/>
            <a:tailEnd len="sm" w="sm" type="none"/>
          </a:ln>
          <a:effectLst>
            <a:outerShdw blurRad="27293" rotWithShape="0" dir="5400000" dist="11372">
              <a:srgbClr val="8A93A6">
                <a:alpha val="32159"/>
              </a:srgbClr>
            </a:outerShdw>
          </a:effectLst>
        </p:spPr>
        <p:txBody>
          <a:bodyPr anchorCtr="0" anchor="ctr" bIns="20800" lIns="41600" spcFirstLastPara="1" rIns="41600" wrap="square" tIns="208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849" u="none" cap="none" strike="noStrike">
              <a:solidFill>
                <a:srgbClr val="0E9C8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4" name="Google Shape;1084;p56"/>
          <p:cNvSpPr/>
          <p:nvPr/>
        </p:nvSpPr>
        <p:spPr>
          <a:xfrm>
            <a:off x="477400" y="3392738"/>
            <a:ext cx="8092800" cy="507900"/>
          </a:xfrm>
          <a:prstGeom prst="roundRect">
            <a:avLst>
              <a:gd fmla="val 6000" name="adj"/>
            </a:avLst>
          </a:prstGeom>
          <a:solidFill>
            <a:srgbClr val="B07BC2">
              <a:alpha val="7000"/>
            </a:srgbClr>
          </a:solidFill>
          <a:ln cap="flat" cmpd="sng" w="7225">
            <a:solidFill>
              <a:srgbClr val="B07BC2"/>
            </a:solidFill>
            <a:prstDash val="solid"/>
            <a:round/>
            <a:headEnd len="sm" w="sm" type="none"/>
            <a:tailEnd len="sm" w="sm" type="none"/>
          </a:ln>
          <a:effectLst>
            <a:outerShdw blurRad="27293" rotWithShape="0" dir="5400000" dist="11372">
              <a:srgbClr val="8A93A6">
                <a:alpha val="32159"/>
              </a:srgbClr>
            </a:outerShdw>
          </a:effectLst>
        </p:spPr>
        <p:txBody>
          <a:bodyPr anchorCtr="0" anchor="ctr" bIns="20800" lIns="41600" spcFirstLastPara="1" rIns="41600" wrap="square" tIns="208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849" u="none" cap="none" strike="noStrike">
              <a:solidFill>
                <a:srgbClr val="0E9C8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5" name="Google Shape;1085;p56"/>
          <p:cNvSpPr/>
          <p:nvPr/>
        </p:nvSpPr>
        <p:spPr>
          <a:xfrm>
            <a:off x="6478535" y="530960"/>
            <a:ext cx="150900" cy="150900"/>
          </a:xfrm>
          <a:prstGeom prst="roundRect">
            <a:avLst>
              <a:gd fmla="val 16667" name="adj"/>
            </a:avLst>
          </a:prstGeom>
          <a:solidFill>
            <a:srgbClr val="185FA5">
              <a:alpha val="6960"/>
            </a:srgbClr>
          </a:solidFill>
          <a:ln cap="flat" cmpd="sng" w="9525">
            <a:solidFill>
              <a:srgbClr val="185FA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6" name="Google Shape;1086;p56"/>
          <p:cNvSpPr txBox="1"/>
          <p:nvPr/>
        </p:nvSpPr>
        <p:spPr>
          <a:xfrm>
            <a:off x="6691151" y="510375"/>
            <a:ext cx="1371600" cy="17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9050" lIns="0" spcFirstLastPara="1" rIns="0" wrap="square" tIns="190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fr" sz="800" u="none" cap="none" strike="noStrike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hérité (</a:t>
            </a:r>
            <a:r>
              <a:rPr lang="fr" sz="900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POC RAG Puls-Events</a:t>
            </a:r>
            <a:r>
              <a:rPr b="0" i="0" lang="fr" sz="800" u="none" cap="none" strike="noStrike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)</a:t>
            </a:r>
            <a:endParaRPr sz="1100">
              <a:solidFill>
                <a:srgbClr val="9CA3AF"/>
              </a:solidFill>
            </a:endParaRPr>
          </a:p>
        </p:txBody>
      </p:sp>
      <p:sp>
        <p:nvSpPr>
          <p:cNvPr id="1087" name="Google Shape;1087;p56"/>
          <p:cNvSpPr/>
          <p:nvPr/>
        </p:nvSpPr>
        <p:spPr>
          <a:xfrm>
            <a:off x="6478515" y="769260"/>
            <a:ext cx="150900" cy="150900"/>
          </a:xfrm>
          <a:prstGeom prst="roundRect">
            <a:avLst>
              <a:gd fmla="val 16667" name="adj"/>
            </a:avLst>
          </a:prstGeom>
          <a:solidFill>
            <a:srgbClr val="0E9C8A">
              <a:alpha val="7999"/>
            </a:srgbClr>
          </a:solidFill>
          <a:ln cap="flat" cmpd="sng" w="11900">
            <a:solidFill>
              <a:srgbClr val="0E9C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8" name="Google Shape;1088;p56"/>
          <p:cNvSpPr txBox="1"/>
          <p:nvPr/>
        </p:nvSpPr>
        <p:spPr>
          <a:xfrm>
            <a:off x="6691125" y="748675"/>
            <a:ext cx="1497900" cy="17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9050" lIns="0" spcFirstLastPara="1" rIns="0" wrap="square" tIns="190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fr" sz="800" u="none" cap="none" strike="noStrike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nouveau (</a:t>
            </a:r>
            <a:r>
              <a:rPr lang="fr" sz="900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MVP RAG Puls-Events</a:t>
            </a:r>
            <a:r>
              <a:rPr b="0" i="0" lang="fr" sz="800" u="none" cap="none" strike="noStrike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)</a:t>
            </a:r>
            <a:endParaRPr sz="1100">
              <a:solidFill>
                <a:srgbClr val="9CA3AF"/>
              </a:solidFill>
            </a:endParaRPr>
          </a:p>
        </p:txBody>
      </p:sp>
      <p:sp>
        <p:nvSpPr>
          <p:cNvPr id="1089" name="Google Shape;1089;p56"/>
          <p:cNvSpPr/>
          <p:nvPr/>
        </p:nvSpPr>
        <p:spPr>
          <a:xfrm>
            <a:off x="480073" y="1248156"/>
            <a:ext cx="2434500" cy="219300"/>
          </a:xfrm>
          <a:prstGeom prst="roundRect">
            <a:avLst>
              <a:gd fmla="val 16667" name="adj"/>
            </a:avLst>
          </a:prstGeom>
          <a:solidFill>
            <a:srgbClr val="185FA5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BATCH — construction de l'index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0" name="Google Shape;1090;p56"/>
          <p:cNvSpPr/>
          <p:nvPr/>
        </p:nvSpPr>
        <p:spPr>
          <a:xfrm>
            <a:off x="651527" y="1495044"/>
            <a:ext cx="1680300" cy="397800"/>
          </a:xfrm>
          <a:prstGeom prst="roundRect">
            <a:avLst>
              <a:gd fmla="val 6000" name="adj"/>
            </a:avLst>
          </a:prstGeom>
          <a:solidFill>
            <a:srgbClr val="185FA5">
              <a:alpha val="6960"/>
            </a:srgbClr>
          </a:solidFill>
          <a:ln cap="flat" cmpd="sng" w="9525">
            <a:solidFill>
              <a:srgbClr val="185FA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900">
                <a:solidFill>
                  <a:srgbClr val="185FA5"/>
                </a:solidFill>
                <a:latin typeface="Cambria"/>
                <a:ea typeface="Cambria"/>
                <a:cs typeface="Cambria"/>
                <a:sym typeface="Cambria"/>
              </a:rPr>
              <a:t>Open Agenda</a:t>
            </a:r>
            <a:endParaRPr sz="1100">
              <a:solidFill>
                <a:srgbClr val="185FA5"/>
              </a:solidFill>
            </a:endParaRPr>
          </a:p>
          <a:p>
            <a:pPr indent="0" lvl="0" marL="0" rtl="0" algn="ctr">
              <a:spcBef>
                <a:spcPts val="100"/>
              </a:spcBef>
              <a:spcAft>
                <a:spcPts val="0"/>
              </a:spcAft>
              <a:buNone/>
            </a:pPr>
            <a:r>
              <a:rPr lang="fr" sz="700">
                <a:solidFill>
                  <a:srgbClr val="185FA5"/>
                </a:solidFill>
                <a:latin typeface="Calibri"/>
                <a:ea typeface="Calibri"/>
                <a:cs typeface="Calibri"/>
                <a:sym typeface="Calibri"/>
              </a:rPr>
              <a:t>API Opendatasoft</a:t>
            </a:r>
            <a:endParaRPr>
              <a:solidFill>
                <a:srgbClr val="185FA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1" name="Google Shape;1091;p56"/>
          <p:cNvSpPr/>
          <p:nvPr/>
        </p:nvSpPr>
        <p:spPr>
          <a:xfrm>
            <a:off x="2674691" y="1495044"/>
            <a:ext cx="1680300" cy="397800"/>
          </a:xfrm>
          <a:prstGeom prst="roundRect">
            <a:avLst>
              <a:gd fmla="val 6000" name="adj"/>
            </a:avLst>
          </a:prstGeom>
          <a:solidFill>
            <a:srgbClr val="0E9C8A">
              <a:alpha val="7999"/>
            </a:srgbClr>
          </a:solidFill>
          <a:ln cap="flat" cmpd="sng" w="9525">
            <a:solidFill>
              <a:srgbClr val="0E9C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900">
                <a:solidFill>
                  <a:srgbClr val="0E9C8A"/>
                </a:solidFill>
                <a:latin typeface="Cambria"/>
                <a:ea typeface="Cambria"/>
                <a:cs typeface="Cambria"/>
                <a:sym typeface="Cambria"/>
              </a:rPr>
              <a:t>Ingestion</a:t>
            </a:r>
            <a:endParaRPr sz="1100">
              <a:solidFill>
                <a:srgbClr val="0E9C8A"/>
              </a:solidFill>
            </a:endParaRPr>
          </a:p>
          <a:p>
            <a:pPr indent="0" lvl="0" marL="0" rtl="0" algn="ctr">
              <a:spcBef>
                <a:spcPts val="200"/>
              </a:spcBef>
              <a:spcAft>
                <a:spcPts val="0"/>
              </a:spcAft>
              <a:buNone/>
            </a:pPr>
            <a:r>
              <a:rPr i="1" lang="fr" sz="700">
                <a:solidFill>
                  <a:srgbClr val="185FA5"/>
                </a:solidFill>
                <a:latin typeface="Calibri"/>
                <a:ea typeface="Calibri"/>
                <a:cs typeface="Calibri"/>
                <a:sym typeface="Calibri"/>
              </a:rPr>
              <a:t>script Python </a:t>
            </a:r>
            <a:r>
              <a:rPr b="1" lang="fr" sz="700">
                <a:solidFill>
                  <a:srgbClr val="0E9C8A"/>
                </a:solidFill>
                <a:latin typeface="Calibri"/>
                <a:ea typeface="Calibri"/>
                <a:cs typeface="Calibri"/>
                <a:sym typeface="Calibri"/>
              </a:rPr>
              <a:t>→ Kestra</a:t>
            </a:r>
            <a:endParaRPr>
              <a:solidFill>
                <a:srgbClr val="185FA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2" name="Google Shape;1092;p56"/>
          <p:cNvSpPr/>
          <p:nvPr/>
        </p:nvSpPr>
        <p:spPr>
          <a:xfrm>
            <a:off x="4697855" y="1494882"/>
            <a:ext cx="1680300" cy="397800"/>
          </a:xfrm>
          <a:prstGeom prst="roundRect">
            <a:avLst>
              <a:gd fmla="val 6000" name="adj"/>
            </a:avLst>
          </a:prstGeom>
          <a:solidFill>
            <a:srgbClr val="185FA5">
              <a:alpha val="6960"/>
            </a:srgbClr>
          </a:solidFill>
          <a:ln cap="flat" cmpd="sng" w="9525">
            <a:solidFill>
              <a:srgbClr val="185FA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900">
                <a:solidFill>
                  <a:srgbClr val="185FA5"/>
                </a:solidFill>
                <a:latin typeface="Cambria"/>
                <a:ea typeface="Cambria"/>
                <a:cs typeface="Cambria"/>
                <a:sym typeface="Cambria"/>
              </a:rPr>
              <a:t>Embeddings</a:t>
            </a:r>
            <a:endParaRPr sz="1100">
              <a:solidFill>
                <a:srgbClr val="185FA5"/>
              </a:solidFill>
            </a:endParaRPr>
          </a:p>
          <a:p>
            <a:pPr indent="0" lvl="0" marL="0" rtl="0" algn="ctr">
              <a:spcBef>
                <a:spcPts val="100"/>
              </a:spcBef>
              <a:spcAft>
                <a:spcPts val="0"/>
              </a:spcAft>
              <a:buNone/>
            </a:pPr>
            <a:r>
              <a:rPr lang="fr" sz="700">
                <a:solidFill>
                  <a:srgbClr val="185FA5"/>
                </a:solidFill>
                <a:latin typeface="Calibri"/>
                <a:ea typeface="Calibri"/>
                <a:cs typeface="Calibri"/>
                <a:sym typeface="Calibri"/>
              </a:rPr>
              <a:t>mistral-embed</a:t>
            </a:r>
            <a:endParaRPr sz="1100">
              <a:solidFill>
                <a:srgbClr val="185FA5"/>
              </a:solidFill>
            </a:endParaRPr>
          </a:p>
        </p:txBody>
      </p:sp>
      <p:sp>
        <p:nvSpPr>
          <p:cNvPr id="1093" name="Google Shape;1093;p56"/>
          <p:cNvSpPr/>
          <p:nvPr/>
        </p:nvSpPr>
        <p:spPr>
          <a:xfrm>
            <a:off x="6721019" y="1495044"/>
            <a:ext cx="1680300" cy="397800"/>
          </a:xfrm>
          <a:prstGeom prst="roundRect">
            <a:avLst>
              <a:gd fmla="val 6000" name="adj"/>
            </a:avLst>
          </a:prstGeom>
          <a:solidFill>
            <a:srgbClr val="0E9C8A">
              <a:alpha val="7999"/>
            </a:srgbClr>
          </a:solidFill>
          <a:ln cap="flat" cmpd="sng" w="9525">
            <a:solidFill>
              <a:srgbClr val="0E9C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900">
                <a:solidFill>
                  <a:srgbClr val="0E9C8A"/>
                </a:solidFill>
                <a:latin typeface="Cambria"/>
                <a:ea typeface="Cambria"/>
                <a:cs typeface="Cambria"/>
                <a:sym typeface="Cambria"/>
              </a:rPr>
              <a:t>Index vectoriel</a:t>
            </a:r>
            <a:endParaRPr sz="1100">
              <a:solidFill>
                <a:srgbClr val="0E9C8A"/>
              </a:solidFill>
            </a:endParaRPr>
          </a:p>
          <a:p>
            <a:pPr indent="0" lvl="0" marL="0" rtl="0" algn="ctr">
              <a:spcBef>
                <a:spcPts val="200"/>
              </a:spcBef>
              <a:spcAft>
                <a:spcPts val="0"/>
              </a:spcAft>
              <a:buNone/>
            </a:pPr>
            <a:r>
              <a:rPr i="1" lang="fr" sz="700">
                <a:solidFill>
                  <a:srgbClr val="185FA5"/>
                </a:solidFill>
                <a:latin typeface="Calibri"/>
                <a:ea typeface="Calibri"/>
                <a:cs typeface="Calibri"/>
                <a:sym typeface="Calibri"/>
              </a:rPr>
              <a:t>FAISS local </a:t>
            </a:r>
            <a:r>
              <a:rPr b="1" lang="fr" sz="700">
                <a:solidFill>
                  <a:srgbClr val="0E9C8A"/>
                </a:solidFill>
                <a:latin typeface="Calibri"/>
                <a:ea typeface="Calibri"/>
                <a:cs typeface="Calibri"/>
                <a:sym typeface="Calibri"/>
              </a:rPr>
              <a:t>→ pgvector</a:t>
            </a:r>
            <a:endParaRPr>
              <a:solidFill>
                <a:srgbClr val="185FA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4" name="Google Shape;1094;p56"/>
          <p:cNvSpPr/>
          <p:nvPr/>
        </p:nvSpPr>
        <p:spPr>
          <a:xfrm>
            <a:off x="480098" y="2016165"/>
            <a:ext cx="2434500" cy="219300"/>
          </a:xfrm>
          <a:prstGeom prst="roundRect">
            <a:avLst>
              <a:gd fmla="val 16667" name="adj"/>
            </a:avLst>
          </a:prstGeom>
          <a:solidFill>
            <a:srgbClr val="185FA5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RUNTIME — réponse à une question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5" name="Google Shape;1095;p56"/>
          <p:cNvSpPr/>
          <p:nvPr/>
        </p:nvSpPr>
        <p:spPr>
          <a:xfrm>
            <a:off x="480100" y="2263051"/>
            <a:ext cx="1371600" cy="397800"/>
          </a:xfrm>
          <a:prstGeom prst="roundRect">
            <a:avLst>
              <a:gd fmla="val 6000" name="adj"/>
            </a:avLst>
          </a:prstGeom>
          <a:solidFill>
            <a:srgbClr val="185FA5">
              <a:alpha val="6960"/>
            </a:srgbClr>
          </a:solidFill>
          <a:ln cap="flat" cmpd="sng" w="9525">
            <a:solidFill>
              <a:srgbClr val="185FA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900">
                <a:solidFill>
                  <a:srgbClr val="185FA5"/>
                </a:solidFill>
                <a:latin typeface="Cambria"/>
                <a:ea typeface="Cambria"/>
                <a:cs typeface="Cambria"/>
                <a:sym typeface="Cambria"/>
              </a:rPr>
              <a:t>Utilisateur</a:t>
            </a:r>
            <a:endParaRPr sz="1100">
              <a:solidFill>
                <a:srgbClr val="185FA5"/>
              </a:solidFill>
            </a:endParaRPr>
          </a:p>
          <a:p>
            <a:pPr indent="0" lvl="0" marL="0" rtl="0" algn="ctr">
              <a:spcBef>
                <a:spcPts val="100"/>
              </a:spcBef>
              <a:spcAft>
                <a:spcPts val="0"/>
              </a:spcAft>
              <a:buNone/>
            </a:pPr>
            <a:r>
              <a:rPr lang="fr" sz="700">
                <a:solidFill>
                  <a:srgbClr val="185FA5"/>
                </a:solidFill>
                <a:latin typeface="Calibri"/>
                <a:ea typeface="Calibri"/>
                <a:cs typeface="Calibri"/>
                <a:sym typeface="Calibri"/>
              </a:rPr>
              <a:t>question</a:t>
            </a:r>
            <a:endParaRPr>
              <a:solidFill>
                <a:srgbClr val="185FA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6" name="Google Shape;1096;p56"/>
          <p:cNvSpPr/>
          <p:nvPr/>
        </p:nvSpPr>
        <p:spPr>
          <a:xfrm>
            <a:off x="2160350" y="2263051"/>
            <a:ext cx="1371600" cy="397800"/>
          </a:xfrm>
          <a:prstGeom prst="roundRect">
            <a:avLst>
              <a:gd fmla="val 6000" name="adj"/>
            </a:avLst>
          </a:prstGeom>
          <a:solidFill>
            <a:srgbClr val="0E9C8A">
              <a:alpha val="7999"/>
            </a:srgbClr>
          </a:solidFill>
          <a:ln cap="flat" cmpd="sng" w="9525">
            <a:solidFill>
              <a:srgbClr val="0E9C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900">
                <a:solidFill>
                  <a:srgbClr val="0E9C8A"/>
                </a:solidFill>
                <a:latin typeface="Cambria"/>
                <a:ea typeface="Cambria"/>
                <a:cs typeface="Cambria"/>
                <a:sym typeface="Cambria"/>
              </a:rPr>
              <a:t>Interface</a:t>
            </a:r>
            <a:endParaRPr sz="1100">
              <a:solidFill>
                <a:srgbClr val="0E9C8A"/>
              </a:solidFill>
            </a:endParaRPr>
          </a:p>
          <a:p>
            <a:pPr indent="0" lvl="0" marL="0" rtl="0" algn="ctr">
              <a:spcBef>
                <a:spcPts val="200"/>
              </a:spcBef>
              <a:spcAft>
                <a:spcPts val="0"/>
              </a:spcAft>
              <a:buNone/>
            </a:pPr>
            <a:r>
              <a:rPr i="1" lang="fr" sz="700">
                <a:solidFill>
                  <a:srgbClr val="185FA5"/>
                </a:solidFill>
                <a:latin typeface="Calibri"/>
                <a:ea typeface="Calibri"/>
                <a:cs typeface="Calibri"/>
                <a:sym typeface="Calibri"/>
              </a:rPr>
              <a:t>Streamlit / CLI </a:t>
            </a:r>
            <a:r>
              <a:rPr b="1" lang="fr" sz="700">
                <a:solidFill>
                  <a:srgbClr val="0E9C8A"/>
                </a:solidFill>
                <a:latin typeface="Calibri"/>
                <a:ea typeface="Calibri"/>
                <a:cs typeface="Calibri"/>
                <a:sym typeface="Calibri"/>
              </a:rPr>
              <a:t>→ FastAPI · SSE</a:t>
            </a:r>
            <a:endParaRPr>
              <a:solidFill>
                <a:srgbClr val="185FA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7" name="Google Shape;1097;p56"/>
          <p:cNvSpPr/>
          <p:nvPr/>
        </p:nvSpPr>
        <p:spPr>
          <a:xfrm>
            <a:off x="3840608" y="2263051"/>
            <a:ext cx="1371600" cy="397800"/>
          </a:xfrm>
          <a:prstGeom prst="roundRect">
            <a:avLst>
              <a:gd fmla="val 6000" name="adj"/>
            </a:avLst>
          </a:prstGeom>
          <a:solidFill>
            <a:srgbClr val="185FA5">
              <a:alpha val="6960"/>
            </a:srgbClr>
          </a:solidFill>
          <a:ln cap="flat" cmpd="sng" w="9525">
            <a:solidFill>
              <a:srgbClr val="185FA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900">
                <a:solidFill>
                  <a:srgbClr val="185FA5"/>
                </a:solidFill>
                <a:latin typeface="Cambria"/>
                <a:ea typeface="Cambria"/>
                <a:cs typeface="Cambria"/>
                <a:sym typeface="Cambria"/>
              </a:rPr>
              <a:t>Retriever hybride</a:t>
            </a:r>
            <a:endParaRPr sz="1100">
              <a:solidFill>
                <a:srgbClr val="185FA5"/>
              </a:solidFill>
            </a:endParaRPr>
          </a:p>
          <a:p>
            <a:pPr indent="0" lvl="0" marL="0" rtl="0" algn="ctr">
              <a:spcBef>
                <a:spcPts val="100"/>
              </a:spcBef>
              <a:spcAft>
                <a:spcPts val="0"/>
              </a:spcAft>
              <a:buNone/>
            </a:pPr>
            <a:r>
              <a:rPr lang="fr" sz="700">
                <a:solidFill>
                  <a:srgbClr val="185FA5"/>
                </a:solidFill>
                <a:latin typeface="Calibri"/>
                <a:ea typeface="Calibri"/>
                <a:cs typeface="Calibri"/>
                <a:sym typeface="Calibri"/>
              </a:rPr>
              <a:t>BM25 + dense (MMR)</a:t>
            </a:r>
            <a:endParaRPr>
              <a:solidFill>
                <a:srgbClr val="185FA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8" name="Google Shape;1098;p56"/>
          <p:cNvSpPr/>
          <p:nvPr/>
        </p:nvSpPr>
        <p:spPr>
          <a:xfrm>
            <a:off x="5520865" y="2263051"/>
            <a:ext cx="1371600" cy="397800"/>
          </a:xfrm>
          <a:prstGeom prst="roundRect">
            <a:avLst>
              <a:gd fmla="val 6000" name="adj"/>
            </a:avLst>
          </a:prstGeom>
          <a:solidFill>
            <a:srgbClr val="185FA5">
              <a:alpha val="6960"/>
            </a:srgbClr>
          </a:solidFill>
          <a:ln cap="flat" cmpd="sng" w="9525">
            <a:solidFill>
              <a:srgbClr val="185FA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900">
                <a:solidFill>
                  <a:srgbClr val="185FA5"/>
                </a:solidFill>
                <a:latin typeface="Cambria"/>
                <a:ea typeface="Cambria"/>
                <a:cs typeface="Cambria"/>
                <a:sym typeface="Cambria"/>
              </a:rPr>
              <a:t>mistral-small</a:t>
            </a:r>
            <a:endParaRPr sz="1100">
              <a:solidFill>
                <a:srgbClr val="185FA5"/>
              </a:solidFill>
            </a:endParaRPr>
          </a:p>
          <a:p>
            <a:pPr indent="0" lvl="0" marL="0" rtl="0" algn="ctr">
              <a:spcBef>
                <a:spcPts val="100"/>
              </a:spcBef>
              <a:spcAft>
                <a:spcPts val="0"/>
              </a:spcAft>
              <a:buNone/>
            </a:pPr>
            <a:r>
              <a:rPr lang="fr" sz="700">
                <a:solidFill>
                  <a:srgbClr val="185FA5"/>
                </a:solidFill>
                <a:latin typeface="Calibri"/>
                <a:ea typeface="Calibri"/>
                <a:cs typeface="Calibri"/>
                <a:sym typeface="Calibri"/>
              </a:rPr>
              <a:t>génération · sources</a:t>
            </a:r>
            <a:endParaRPr>
              <a:solidFill>
                <a:srgbClr val="185FA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9" name="Google Shape;1099;p56"/>
          <p:cNvSpPr/>
          <p:nvPr/>
        </p:nvSpPr>
        <p:spPr>
          <a:xfrm>
            <a:off x="7201123" y="2263051"/>
            <a:ext cx="1371600" cy="397800"/>
          </a:xfrm>
          <a:prstGeom prst="roundRect">
            <a:avLst>
              <a:gd fmla="val 6000" name="adj"/>
            </a:avLst>
          </a:prstGeom>
          <a:solidFill>
            <a:srgbClr val="185FA5">
              <a:alpha val="6960"/>
            </a:srgbClr>
          </a:solidFill>
          <a:ln cap="flat" cmpd="sng" w="9525">
            <a:solidFill>
              <a:srgbClr val="185FA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900">
                <a:solidFill>
                  <a:srgbClr val="185FA5"/>
                </a:solidFill>
                <a:latin typeface="Cambria"/>
                <a:ea typeface="Cambria"/>
                <a:cs typeface="Cambria"/>
                <a:sym typeface="Cambria"/>
              </a:rPr>
              <a:t>Réponse + sources</a:t>
            </a:r>
            <a:endParaRPr sz="1100">
              <a:solidFill>
                <a:srgbClr val="185FA5"/>
              </a:solidFill>
            </a:endParaRPr>
          </a:p>
          <a:p>
            <a:pPr indent="0" lvl="0" marL="0" rtl="0" algn="ctr">
              <a:spcBef>
                <a:spcPts val="100"/>
              </a:spcBef>
              <a:spcAft>
                <a:spcPts val="0"/>
              </a:spcAft>
              <a:buNone/>
            </a:pPr>
            <a:r>
              <a:rPr lang="fr" sz="700">
                <a:solidFill>
                  <a:srgbClr val="185FA5"/>
                </a:solidFill>
                <a:latin typeface="Calibri"/>
                <a:ea typeface="Calibri"/>
                <a:cs typeface="Calibri"/>
                <a:sym typeface="Calibri"/>
              </a:rPr>
              <a:t>citations</a:t>
            </a:r>
            <a:endParaRPr>
              <a:solidFill>
                <a:srgbClr val="185FA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100" name="Google Shape;1100;p56"/>
          <p:cNvCxnSpPr>
            <a:stCxn id="1093" idx="2"/>
            <a:endCxn id="1097" idx="0"/>
          </p:cNvCxnSpPr>
          <p:nvPr/>
        </p:nvCxnSpPr>
        <p:spPr>
          <a:xfrm flipH="1">
            <a:off x="4526369" y="1892844"/>
            <a:ext cx="3034800" cy="370200"/>
          </a:xfrm>
          <a:prstGeom prst="straightConnector1">
            <a:avLst/>
          </a:prstGeom>
          <a:noFill/>
          <a:ln cap="flat" cmpd="sng" w="15225">
            <a:solidFill>
              <a:srgbClr val="FFFB8C"/>
            </a:solidFill>
            <a:prstDash val="dash"/>
            <a:round/>
            <a:headEnd len="sm" w="sm" type="oval"/>
            <a:tailEnd len="med" w="med" type="oval"/>
          </a:ln>
        </p:spPr>
      </p:cxnSp>
      <p:sp>
        <p:nvSpPr>
          <p:cNvPr id="1101" name="Google Shape;1101;p56"/>
          <p:cNvSpPr txBox="1"/>
          <p:nvPr/>
        </p:nvSpPr>
        <p:spPr>
          <a:xfrm>
            <a:off x="4764446" y="1938063"/>
            <a:ext cx="1097400" cy="1461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0" spcFirstLastPara="1" rIns="0" wrap="square" tIns="190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fr" sz="700" u="none" cap="none" strike="noStrike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embeddings + métadonnées</a:t>
            </a:r>
            <a:endParaRPr sz="1100">
              <a:solidFill>
                <a:srgbClr val="9CA3AF"/>
              </a:solidFill>
            </a:endParaRPr>
          </a:p>
        </p:txBody>
      </p:sp>
      <p:sp>
        <p:nvSpPr>
          <p:cNvPr id="1102" name="Google Shape;1102;p56"/>
          <p:cNvSpPr/>
          <p:nvPr/>
        </p:nvSpPr>
        <p:spPr>
          <a:xfrm>
            <a:off x="1417588" y="2775313"/>
            <a:ext cx="1176900" cy="507900"/>
          </a:xfrm>
          <a:prstGeom prst="roundRect">
            <a:avLst>
              <a:gd fmla="val 6000" name="adj"/>
            </a:avLst>
          </a:prstGeom>
          <a:solidFill>
            <a:srgbClr val="923E22">
              <a:alpha val="7999"/>
            </a:srgbClr>
          </a:solidFill>
          <a:ln cap="flat" cmpd="sng" w="7225">
            <a:solidFill>
              <a:srgbClr val="923E22"/>
            </a:solidFill>
            <a:prstDash val="solid"/>
            <a:round/>
            <a:headEnd len="sm" w="sm" type="none"/>
            <a:tailEnd len="sm" w="sm" type="none"/>
          </a:ln>
          <a:effectLst>
            <a:outerShdw blurRad="27293" rotWithShape="0" dir="5400000" dist="11372">
              <a:srgbClr val="8A93A6">
                <a:alpha val="32159"/>
              </a:srgbClr>
            </a:outerShdw>
          </a:effectLst>
        </p:spPr>
        <p:txBody>
          <a:bodyPr anchorCtr="0" anchor="ctr" bIns="20800" lIns="41600" spcFirstLastPara="1" rIns="41600" wrap="square" tIns="208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849" u="none" cap="none" strike="noStrike">
              <a:solidFill>
                <a:srgbClr val="0E9C8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3" name="Google Shape;1103;p56"/>
          <p:cNvSpPr/>
          <p:nvPr/>
        </p:nvSpPr>
        <p:spPr>
          <a:xfrm>
            <a:off x="1517417" y="2858501"/>
            <a:ext cx="174600" cy="174600"/>
          </a:xfrm>
          <a:prstGeom prst="ellipse">
            <a:avLst/>
          </a:prstGeom>
          <a:noFill/>
          <a:ln cap="flat" cmpd="sng" w="9525">
            <a:solidFill>
              <a:srgbClr val="923E2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fr" sz="667" u="none" cap="none" strike="noStrike">
                <a:solidFill>
                  <a:srgbClr val="923E22"/>
                </a:solidFill>
                <a:latin typeface="Cambria"/>
                <a:ea typeface="Cambria"/>
                <a:cs typeface="Cambria"/>
                <a:sym typeface="Cambria"/>
              </a:rPr>
              <a:t>1</a:t>
            </a:r>
            <a:endParaRPr sz="667">
              <a:solidFill>
                <a:srgbClr val="923E22"/>
              </a:solidFill>
            </a:endParaRPr>
          </a:p>
        </p:txBody>
      </p:sp>
      <p:sp>
        <p:nvSpPr>
          <p:cNvPr id="1104" name="Google Shape;1104;p56"/>
          <p:cNvSpPr txBox="1"/>
          <p:nvPr/>
        </p:nvSpPr>
        <p:spPr>
          <a:xfrm>
            <a:off x="1758672" y="2850182"/>
            <a:ext cx="761100" cy="88500"/>
          </a:xfrm>
          <a:prstGeom prst="rect">
            <a:avLst/>
          </a:prstGeom>
          <a:noFill/>
          <a:ln>
            <a:noFill/>
          </a:ln>
        </p:spPr>
        <p:txBody>
          <a:bodyPr anchorCtr="0" anchor="t" bIns="11525" lIns="0" spcFirstLastPara="1" rIns="0" wrap="square" tIns="115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fr" sz="425" u="none" cap="none" strike="noStrike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BESOIN</a:t>
            </a:r>
            <a:endParaRPr sz="667">
              <a:solidFill>
                <a:srgbClr val="9CA3AF"/>
              </a:solidFill>
            </a:endParaRPr>
          </a:p>
        </p:txBody>
      </p:sp>
      <p:sp>
        <p:nvSpPr>
          <p:cNvPr id="1105" name="Google Shape;1105;p56"/>
          <p:cNvSpPr txBox="1"/>
          <p:nvPr/>
        </p:nvSpPr>
        <p:spPr>
          <a:xfrm>
            <a:off x="1758672" y="2950007"/>
            <a:ext cx="761100" cy="191400"/>
          </a:xfrm>
          <a:prstGeom prst="rect">
            <a:avLst/>
          </a:prstGeom>
          <a:noFill/>
          <a:ln>
            <a:noFill/>
          </a:ln>
        </p:spPr>
        <p:txBody>
          <a:bodyPr anchorCtr="0" anchor="t" bIns="11525" lIns="0" spcFirstLastPara="1" rIns="0" wrap="square" tIns="115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fr" sz="546" u="none" cap="none" strike="noStrike">
                <a:solidFill>
                  <a:srgbClr val="923E22"/>
                </a:solidFill>
                <a:latin typeface="Cambria"/>
                <a:ea typeface="Cambria"/>
                <a:cs typeface="Cambria"/>
                <a:sym typeface="Cambria"/>
              </a:rPr>
              <a:t>Mémoire conversationnelle</a:t>
            </a:r>
            <a:endParaRPr sz="546">
              <a:solidFill>
                <a:srgbClr val="923E22"/>
              </a:solidFill>
            </a:endParaRPr>
          </a:p>
        </p:txBody>
      </p:sp>
      <p:sp>
        <p:nvSpPr>
          <p:cNvPr id="1106" name="Google Shape;1106;p56"/>
          <p:cNvSpPr txBox="1"/>
          <p:nvPr/>
        </p:nvSpPr>
        <p:spPr>
          <a:xfrm>
            <a:off x="1527766" y="3157978"/>
            <a:ext cx="990000" cy="107400"/>
          </a:xfrm>
          <a:prstGeom prst="rect">
            <a:avLst/>
          </a:prstGeom>
          <a:noFill/>
          <a:ln>
            <a:noFill/>
          </a:ln>
        </p:spPr>
        <p:txBody>
          <a:bodyPr anchorCtr="0" anchor="t" bIns="11525" lIns="0" spcFirstLastPara="1" rIns="0" wrap="square" tIns="1152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fr" sz="546" u="none" cap="none" strike="noStrike">
                <a:solidFill>
                  <a:srgbClr val="B7791F"/>
                </a:solidFill>
                <a:latin typeface="Calibri"/>
                <a:ea typeface="Calibri"/>
                <a:cs typeface="Calibri"/>
                <a:sym typeface="Calibri"/>
              </a:rPr>
              <a:t>Redis + PostgreSQL</a:t>
            </a:r>
            <a:endParaRPr sz="667">
              <a:solidFill>
                <a:srgbClr val="B7791F"/>
              </a:solidFill>
            </a:endParaRPr>
          </a:p>
        </p:txBody>
      </p:sp>
      <p:sp>
        <p:nvSpPr>
          <p:cNvPr id="1107" name="Google Shape;1107;p56"/>
          <p:cNvSpPr/>
          <p:nvPr/>
        </p:nvSpPr>
        <p:spPr>
          <a:xfrm>
            <a:off x="3332581" y="2787251"/>
            <a:ext cx="1176900" cy="507900"/>
          </a:xfrm>
          <a:prstGeom prst="roundRect">
            <a:avLst>
              <a:gd fmla="val 6000" name="adj"/>
            </a:avLst>
          </a:prstGeom>
          <a:solidFill>
            <a:srgbClr val="CCC743">
              <a:alpha val="7999"/>
            </a:srgbClr>
          </a:solidFill>
          <a:ln cap="flat" cmpd="sng" w="7225">
            <a:solidFill>
              <a:srgbClr val="CCC743"/>
            </a:solidFill>
            <a:prstDash val="solid"/>
            <a:round/>
            <a:headEnd len="sm" w="sm" type="none"/>
            <a:tailEnd len="sm" w="sm" type="none"/>
          </a:ln>
          <a:effectLst>
            <a:outerShdw blurRad="27293" rotWithShape="0" dir="5400000" dist="11372">
              <a:srgbClr val="8A93A6">
                <a:alpha val="32159"/>
              </a:srgbClr>
            </a:outerShdw>
          </a:effectLst>
        </p:spPr>
        <p:txBody>
          <a:bodyPr anchorCtr="0" anchor="ctr" bIns="20800" lIns="41600" spcFirstLastPara="1" rIns="41600" wrap="square" tIns="208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849" u="none" cap="none" strike="noStrike">
              <a:solidFill>
                <a:srgbClr val="0E9C8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8" name="Google Shape;1108;p56"/>
          <p:cNvSpPr/>
          <p:nvPr/>
        </p:nvSpPr>
        <p:spPr>
          <a:xfrm>
            <a:off x="3432411" y="2870438"/>
            <a:ext cx="174600" cy="174600"/>
          </a:xfrm>
          <a:prstGeom prst="ellipse">
            <a:avLst/>
          </a:prstGeom>
          <a:noFill/>
          <a:ln cap="flat" cmpd="sng" w="9525">
            <a:solidFill>
              <a:srgbClr val="CCC74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fr" sz="667" u="none" cap="none" strike="noStrike">
                <a:solidFill>
                  <a:srgbClr val="CCC743"/>
                </a:solidFill>
                <a:latin typeface="Cambria"/>
                <a:ea typeface="Cambria"/>
                <a:cs typeface="Cambria"/>
                <a:sym typeface="Cambria"/>
              </a:rPr>
              <a:t>2</a:t>
            </a:r>
            <a:endParaRPr sz="667">
              <a:solidFill>
                <a:srgbClr val="CCC743"/>
              </a:solidFill>
            </a:endParaRPr>
          </a:p>
        </p:txBody>
      </p:sp>
      <p:sp>
        <p:nvSpPr>
          <p:cNvPr id="1109" name="Google Shape;1109;p56"/>
          <p:cNvSpPr txBox="1"/>
          <p:nvPr/>
        </p:nvSpPr>
        <p:spPr>
          <a:xfrm>
            <a:off x="3673665" y="2862120"/>
            <a:ext cx="761100" cy="88500"/>
          </a:xfrm>
          <a:prstGeom prst="rect">
            <a:avLst/>
          </a:prstGeom>
          <a:noFill/>
          <a:ln>
            <a:noFill/>
          </a:ln>
        </p:spPr>
        <p:txBody>
          <a:bodyPr anchorCtr="0" anchor="t" bIns="11525" lIns="0" spcFirstLastPara="1" rIns="0" wrap="square" tIns="115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fr" sz="425" u="none" cap="none" strike="noStrike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BESOIN</a:t>
            </a:r>
            <a:endParaRPr sz="667">
              <a:solidFill>
                <a:srgbClr val="9CA3AF"/>
              </a:solidFill>
            </a:endParaRPr>
          </a:p>
        </p:txBody>
      </p:sp>
      <p:sp>
        <p:nvSpPr>
          <p:cNvPr id="1110" name="Google Shape;1110;p56"/>
          <p:cNvSpPr txBox="1"/>
          <p:nvPr/>
        </p:nvSpPr>
        <p:spPr>
          <a:xfrm>
            <a:off x="3673665" y="2961945"/>
            <a:ext cx="761100" cy="107400"/>
          </a:xfrm>
          <a:prstGeom prst="rect">
            <a:avLst/>
          </a:prstGeom>
          <a:noFill/>
          <a:ln>
            <a:noFill/>
          </a:ln>
        </p:spPr>
        <p:txBody>
          <a:bodyPr anchorCtr="0" anchor="t" bIns="11525" lIns="0" spcFirstLastPara="1" rIns="0" wrap="square" tIns="115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fr" sz="546" u="none" cap="none" strike="noStrike">
                <a:solidFill>
                  <a:srgbClr val="CCC743"/>
                </a:solidFill>
                <a:latin typeface="Cambria"/>
                <a:ea typeface="Cambria"/>
                <a:cs typeface="Cambria"/>
                <a:sym typeface="Cambria"/>
              </a:rPr>
              <a:t>Contexte géographique</a:t>
            </a:r>
            <a:endParaRPr sz="546">
              <a:solidFill>
                <a:srgbClr val="CCC743"/>
              </a:solidFill>
            </a:endParaRPr>
          </a:p>
        </p:txBody>
      </p:sp>
      <p:sp>
        <p:nvSpPr>
          <p:cNvPr id="1111" name="Google Shape;1111;p56"/>
          <p:cNvSpPr txBox="1"/>
          <p:nvPr/>
        </p:nvSpPr>
        <p:spPr>
          <a:xfrm>
            <a:off x="3442759" y="3169916"/>
            <a:ext cx="990000" cy="107400"/>
          </a:xfrm>
          <a:prstGeom prst="rect">
            <a:avLst/>
          </a:prstGeom>
          <a:noFill/>
          <a:ln>
            <a:noFill/>
          </a:ln>
        </p:spPr>
        <p:txBody>
          <a:bodyPr anchorCtr="0" anchor="t" bIns="11525" lIns="0" spcFirstLastPara="1" rIns="0" wrap="square" tIns="1152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fr" sz="546" u="none" cap="none" strike="noStrike">
                <a:solidFill>
                  <a:srgbClr val="B7791F"/>
                </a:solidFill>
                <a:latin typeface="Calibri"/>
                <a:ea typeface="Calibri"/>
                <a:cs typeface="Calibri"/>
                <a:sym typeface="Calibri"/>
              </a:rPr>
              <a:t>PostGIS</a:t>
            </a:r>
            <a:endParaRPr sz="667">
              <a:solidFill>
                <a:srgbClr val="B7791F"/>
              </a:solidFill>
            </a:endParaRPr>
          </a:p>
        </p:txBody>
      </p:sp>
      <p:sp>
        <p:nvSpPr>
          <p:cNvPr id="1112" name="Google Shape;1112;p56"/>
          <p:cNvSpPr/>
          <p:nvPr/>
        </p:nvSpPr>
        <p:spPr>
          <a:xfrm>
            <a:off x="4634525" y="2787251"/>
            <a:ext cx="1176900" cy="507900"/>
          </a:xfrm>
          <a:prstGeom prst="roundRect">
            <a:avLst>
              <a:gd fmla="val 6000" name="adj"/>
            </a:avLst>
          </a:prstGeom>
          <a:solidFill>
            <a:srgbClr val="CCC743">
              <a:alpha val="7999"/>
            </a:srgbClr>
          </a:solidFill>
          <a:ln cap="flat" cmpd="sng" w="7225">
            <a:solidFill>
              <a:srgbClr val="CCC743"/>
            </a:solidFill>
            <a:prstDash val="solid"/>
            <a:round/>
            <a:headEnd len="sm" w="sm" type="none"/>
            <a:tailEnd len="sm" w="sm" type="none"/>
          </a:ln>
          <a:effectLst>
            <a:outerShdw blurRad="27293" rotWithShape="0" dir="5400000" dist="11372">
              <a:srgbClr val="8A93A6">
                <a:alpha val="32159"/>
              </a:srgbClr>
            </a:outerShdw>
          </a:effectLst>
        </p:spPr>
        <p:txBody>
          <a:bodyPr anchorCtr="0" anchor="ctr" bIns="20800" lIns="41600" spcFirstLastPara="1" rIns="41600" wrap="square" tIns="208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849" u="none" cap="none" strike="noStrike">
              <a:solidFill>
                <a:srgbClr val="0E9C8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3" name="Google Shape;1113;p56"/>
          <p:cNvSpPr/>
          <p:nvPr/>
        </p:nvSpPr>
        <p:spPr>
          <a:xfrm>
            <a:off x="4734354" y="2870438"/>
            <a:ext cx="174600" cy="174600"/>
          </a:xfrm>
          <a:prstGeom prst="ellipse">
            <a:avLst/>
          </a:prstGeom>
          <a:noFill/>
          <a:ln cap="flat" cmpd="sng" w="9525">
            <a:solidFill>
              <a:srgbClr val="CCC74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fr" sz="667" u="none" cap="none" strike="noStrike">
                <a:solidFill>
                  <a:srgbClr val="CCC743"/>
                </a:solidFill>
                <a:latin typeface="Cambria"/>
                <a:ea typeface="Cambria"/>
                <a:cs typeface="Cambria"/>
                <a:sym typeface="Cambria"/>
              </a:rPr>
              <a:t>3</a:t>
            </a:r>
            <a:endParaRPr sz="667">
              <a:solidFill>
                <a:srgbClr val="CCC743"/>
              </a:solidFill>
            </a:endParaRPr>
          </a:p>
        </p:txBody>
      </p:sp>
      <p:sp>
        <p:nvSpPr>
          <p:cNvPr id="1114" name="Google Shape;1114;p56"/>
          <p:cNvSpPr txBox="1"/>
          <p:nvPr/>
        </p:nvSpPr>
        <p:spPr>
          <a:xfrm>
            <a:off x="4975609" y="2862120"/>
            <a:ext cx="761100" cy="88500"/>
          </a:xfrm>
          <a:prstGeom prst="rect">
            <a:avLst/>
          </a:prstGeom>
          <a:noFill/>
          <a:ln>
            <a:noFill/>
          </a:ln>
        </p:spPr>
        <p:txBody>
          <a:bodyPr anchorCtr="0" anchor="t" bIns="11525" lIns="0" spcFirstLastPara="1" rIns="0" wrap="square" tIns="115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fr" sz="425" u="none" cap="none" strike="noStrike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BESOIN</a:t>
            </a:r>
            <a:endParaRPr sz="667">
              <a:solidFill>
                <a:srgbClr val="9CA3AF"/>
              </a:solidFill>
            </a:endParaRPr>
          </a:p>
        </p:txBody>
      </p:sp>
      <p:sp>
        <p:nvSpPr>
          <p:cNvPr id="1115" name="Google Shape;1115;p56"/>
          <p:cNvSpPr txBox="1"/>
          <p:nvPr/>
        </p:nvSpPr>
        <p:spPr>
          <a:xfrm>
            <a:off x="4975609" y="2961945"/>
            <a:ext cx="761100" cy="107400"/>
          </a:xfrm>
          <a:prstGeom prst="rect">
            <a:avLst/>
          </a:prstGeom>
          <a:noFill/>
          <a:ln>
            <a:noFill/>
          </a:ln>
        </p:spPr>
        <p:txBody>
          <a:bodyPr anchorCtr="0" anchor="t" bIns="11525" lIns="0" spcFirstLastPara="1" rIns="0" wrap="square" tIns="115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fr" sz="546" u="none" cap="none" strike="noStrike">
                <a:solidFill>
                  <a:srgbClr val="CCC743"/>
                </a:solidFill>
                <a:latin typeface="Cambria"/>
                <a:ea typeface="Cambria"/>
                <a:cs typeface="Cambria"/>
                <a:sym typeface="Cambria"/>
              </a:rPr>
              <a:t>Web temps réel</a:t>
            </a:r>
            <a:endParaRPr sz="546">
              <a:solidFill>
                <a:srgbClr val="CCC743"/>
              </a:solidFill>
            </a:endParaRPr>
          </a:p>
        </p:txBody>
      </p:sp>
      <p:sp>
        <p:nvSpPr>
          <p:cNvPr id="1116" name="Google Shape;1116;p56"/>
          <p:cNvSpPr txBox="1"/>
          <p:nvPr/>
        </p:nvSpPr>
        <p:spPr>
          <a:xfrm>
            <a:off x="4744703" y="3169916"/>
            <a:ext cx="990000" cy="107400"/>
          </a:xfrm>
          <a:prstGeom prst="rect">
            <a:avLst/>
          </a:prstGeom>
          <a:noFill/>
          <a:ln>
            <a:noFill/>
          </a:ln>
        </p:spPr>
        <p:txBody>
          <a:bodyPr anchorCtr="0" anchor="t" bIns="11525" lIns="0" spcFirstLastPara="1" rIns="0" wrap="square" tIns="1152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fr" sz="546" u="none" cap="none" strike="noStrike">
                <a:solidFill>
                  <a:srgbClr val="B7791F"/>
                </a:solidFill>
                <a:latin typeface="Calibri"/>
                <a:ea typeface="Calibri"/>
                <a:cs typeface="Calibri"/>
                <a:sym typeface="Calibri"/>
              </a:rPr>
              <a:t>smolagents + Tavily</a:t>
            </a:r>
            <a:endParaRPr sz="667">
              <a:solidFill>
                <a:srgbClr val="B7791F"/>
              </a:solidFill>
            </a:endParaRPr>
          </a:p>
        </p:txBody>
      </p:sp>
      <p:sp>
        <p:nvSpPr>
          <p:cNvPr id="1117" name="Google Shape;1117;p56"/>
          <p:cNvSpPr/>
          <p:nvPr/>
        </p:nvSpPr>
        <p:spPr>
          <a:xfrm>
            <a:off x="4078923" y="3475913"/>
            <a:ext cx="174600" cy="174600"/>
          </a:xfrm>
          <a:prstGeom prst="ellipse">
            <a:avLst/>
          </a:prstGeom>
          <a:noFill/>
          <a:ln cap="flat" cmpd="sng" w="9525">
            <a:solidFill>
              <a:srgbClr val="B07BC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fr" sz="667" u="none" cap="none" strike="noStrike">
                <a:solidFill>
                  <a:srgbClr val="B07BC2"/>
                </a:solidFill>
                <a:latin typeface="Cambria"/>
                <a:ea typeface="Cambria"/>
                <a:cs typeface="Cambria"/>
                <a:sym typeface="Cambria"/>
              </a:rPr>
              <a:t>4</a:t>
            </a:r>
            <a:endParaRPr sz="667">
              <a:solidFill>
                <a:srgbClr val="B07BC2"/>
              </a:solidFill>
            </a:endParaRPr>
          </a:p>
        </p:txBody>
      </p:sp>
      <p:sp>
        <p:nvSpPr>
          <p:cNvPr id="1118" name="Google Shape;1118;p56"/>
          <p:cNvSpPr txBox="1"/>
          <p:nvPr/>
        </p:nvSpPr>
        <p:spPr>
          <a:xfrm>
            <a:off x="4320178" y="3467595"/>
            <a:ext cx="761100" cy="88500"/>
          </a:xfrm>
          <a:prstGeom prst="rect">
            <a:avLst/>
          </a:prstGeom>
          <a:noFill/>
          <a:ln>
            <a:noFill/>
          </a:ln>
        </p:spPr>
        <p:txBody>
          <a:bodyPr anchorCtr="0" anchor="t" bIns="11525" lIns="0" spcFirstLastPara="1" rIns="0" wrap="square" tIns="115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fr" sz="425" u="none" cap="none" strike="noStrike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BESOIN</a:t>
            </a:r>
            <a:endParaRPr sz="667">
              <a:solidFill>
                <a:srgbClr val="9CA3AF"/>
              </a:solidFill>
            </a:endParaRPr>
          </a:p>
        </p:txBody>
      </p:sp>
      <p:sp>
        <p:nvSpPr>
          <p:cNvPr id="1119" name="Google Shape;1119;p56"/>
          <p:cNvSpPr txBox="1"/>
          <p:nvPr/>
        </p:nvSpPr>
        <p:spPr>
          <a:xfrm>
            <a:off x="4320178" y="3567420"/>
            <a:ext cx="761100" cy="107400"/>
          </a:xfrm>
          <a:prstGeom prst="rect">
            <a:avLst/>
          </a:prstGeom>
          <a:noFill/>
          <a:ln>
            <a:noFill/>
          </a:ln>
        </p:spPr>
        <p:txBody>
          <a:bodyPr anchorCtr="0" anchor="t" bIns="11525" lIns="0" spcFirstLastPara="1" rIns="0" wrap="square" tIns="115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fr" sz="546" u="none" cap="none" strike="noStrike">
                <a:solidFill>
                  <a:srgbClr val="B07BC2"/>
                </a:solidFill>
                <a:latin typeface="Cambria"/>
                <a:ea typeface="Cambria"/>
                <a:cs typeface="Cambria"/>
                <a:sym typeface="Cambria"/>
              </a:rPr>
              <a:t>Monitoring</a:t>
            </a:r>
            <a:endParaRPr sz="546">
              <a:solidFill>
                <a:srgbClr val="B07BC2"/>
              </a:solidFill>
            </a:endParaRPr>
          </a:p>
        </p:txBody>
      </p:sp>
      <p:sp>
        <p:nvSpPr>
          <p:cNvPr id="1120" name="Google Shape;1120;p56"/>
          <p:cNvSpPr txBox="1"/>
          <p:nvPr/>
        </p:nvSpPr>
        <p:spPr>
          <a:xfrm>
            <a:off x="4089272" y="3775391"/>
            <a:ext cx="990000" cy="107400"/>
          </a:xfrm>
          <a:prstGeom prst="rect">
            <a:avLst/>
          </a:prstGeom>
          <a:noFill/>
          <a:ln>
            <a:noFill/>
          </a:ln>
        </p:spPr>
        <p:txBody>
          <a:bodyPr anchorCtr="0" anchor="t" bIns="11525" lIns="0" spcFirstLastPara="1" rIns="0" wrap="square" tIns="1152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fr" sz="546" u="none" cap="none" strike="noStrike">
                <a:solidFill>
                  <a:srgbClr val="B7791F"/>
                </a:solidFill>
                <a:latin typeface="Calibri"/>
                <a:ea typeface="Calibri"/>
                <a:cs typeface="Calibri"/>
                <a:sym typeface="Calibri"/>
              </a:rPr>
              <a:t>Langfuse + Cockpit</a:t>
            </a:r>
            <a:endParaRPr sz="667">
              <a:solidFill>
                <a:srgbClr val="B7791F"/>
              </a:solidFill>
            </a:endParaRPr>
          </a:p>
        </p:txBody>
      </p:sp>
      <p:sp>
        <p:nvSpPr>
          <p:cNvPr id="1121" name="Google Shape;1121;p56"/>
          <p:cNvSpPr txBox="1"/>
          <p:nvPr/>
        </p:nvSpPr>
        <p:spPr>
          <a:xfrm>
            <a:off x="377200" y="233175"/>
            <a:ext cx="1773600" cy="45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9050" lIns="0" spcFirstLastPara="1" rIns="0" wrap="square" tIns="190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1800">
                <a:solidFill>
                  <a:srgbClr val="0E9C8A"/>
                </a:solidFill>
                <a:latin typeface="Calibri"/>
                <a:ea typeface="Calibri"/>
                <a:cs typeface="Calibri"/>
                <a:sym typeface="Calibri"/>
              </a:rPr>
              <a:t>Du POC au MVP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2" name="Google Shape;1122;p56"/>
          <p:cNvSpPr txBox="1"/>
          <p:nvPr/>
        </p:nvSpPr>
        <p:spPr>
          <a:xfrm>
            <a:off x="377200" y="675550"/>
            <a:ext cx="37122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9050" lIns="0" spcFirstLastPara="1" rIns="0" wrap="square" tIns="190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1100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Le schéma du POC RAG Puls-Events, augmenté par les besoins</a:t>
            </a:r>
            <a:endParaRPr b="1" sz="1100">
              <a:solidFill>
                <a:srgbClr val="9CA3A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3" name="Google Shape;1123;p56"/>
          <p:cNvSpPr/>
          <p:nvPr/>
        </p:nvSpPr>
        <p:spPr>
          <a:xfrm>
            <a:off x="381600" y="3998225"/>
            <a:ext cx="8380800" cy="630900"/>
          </a:xfrm>
          <a:prstGeom prst="roundRect">
            <a:avLst>
              <a:gd fmla="val 6000" name="adj"/>
            </a:avLst>
          </a:prstGeom>
          <a:solidFill>
            <a:srgbClr val="4F46E5">
              <a:alpha val="7999"/>
            </a:srgbClr>
          </a:solidFill>
          <a:ln cap="flat" cmpd="sng" w="9525">
            <a:solidFill>
              <a:srgbClr val="4F46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4" name="Google Shape;1124;p56"/>
          <p:cNvSpPr txBox="1"/>
          <p:nvPr/>
        </p:nvSpPr>
        <p:spPr>
          <a:xfrm>
            <a:off x="491400" y="4083440"/>
            <a:ext cx="79554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9050" lIns="0" spcFirstLastPara="1" rIns="0" wrap="square" tIns="190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fr" sz="1100" u="none" cap="none" strike="noStrike">
                <a:solidFill>
                  <a:srgbClr val="4F46E5"/>
                </a:solidFill>
                <a:latin typeface="Cambria"/>
                <a:ea typeface="Cambria"/>
                <a:cs typeface="Cambria"/>
                <a:sym typeface="Cambria"/>
              </a:rPr>
              <a:t>SCALEWAY — cloud souverain  (UE · FR / RGPD)</a:t>
            </a:r>
            <a:endParaRPr sz="1100">
              <a:solidFill>
                <a:srgbClr val="4F46E5"/>
              </a:solidFill>
            </a:endParaRPr>
          </a:p>
        </p:txBody>
      </p:sp>
      <p:sp>
        <p:nvSpPr>
          <p:cNvPr id="1125" name="Google Shape;1125;p56"/>
          <p:cNvSpPr txBox="1"/>
          <p:nvPr/>
        </p:nvSpPr>
        <p:spPr>
          <a:xfrm>
            <a:off x="491400" y="4364618"/>
            <a:ext cx="8161200" cy="17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9050" lIns="0" spcFirstLastPara="1" rIns="0" wrap="square" tIns="190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fr" sz="900" u="none" cap="none" strike="noStrike">
                <a:solidFill>
                  <a:srgbClr val="4F46E5"/>
                </a:solidFill>
                <a:latin typeface="Calibri"/>
                <a:ea typeface="Calibri"/>
                <a:cs typeface="Calibri"/>
                <a:sym typeface="Calibri"/>
              </a:rPr>
              <a:t>Serverless Containers </a:t>
            </a:r>
            <a:r>
              <a:rPr b="0" i="0" lang="fr" sz="800" u="none" cap="none" strike="noStrike">
                <a:solidFill>
                  <a:srgbClr val="4F46E5"/>
                </a:solidFill>
                <a:latin typeface="Calibri"/>
                <a:ea typeface="Calibri"/>
                <a:cs typeface="Calibri"/>
                <a:sym typeface="Calibri"/>
              </a:rPr>
              <a:t>(API + agent smolagents)      </a:t>
            </a:r>
            <a:r>
              <a:rPr b="1" i="0" lang="fr" sz="900" u="none" cap="none" strike="noStrike">
                <a:solidFill>
                  <a:srgbClr val="4F46E5"/>
                </a:solidFill>
                <a:latin typeface="Calibri"/>
                <a:ea typeface="Calibri"/>
                <a:cs typeface="Calibri"/>
                <a:sym typeface="Calibri"/>
              </a:rPr>
              <a:t>Managed PostgreSQL </a:t>
            </a:r>
            <a:r>
              <a:rPr b="0" i="0" lang="fr" sz="800" u="none" cap="none" strike="noStrike">
                <a:solidFill>
                  <a:srgbClr val="4F46E5"/>
                </a:solidFill>
                <a:latin typeface="Calibri"/>
                <a:ea typeface="Calibri"/>
                <a:cs typeface="Calibri"/>
                <a:sym typeface="Calibri"/>
              </a:rPr>
              <a:t>(pgvector · PostGIS · mémoire LT)      </a:t>
            </a:r>
            <a:r>
              <a:rPr b="1" i="0" lang="fr" sz="900" u="none" cap="none" strike="noStrike">
                <a:solidFill>
                  <a:srgbClr val="4F46E5"/>
                </a:solidFill>
                <a:latin typeface="Calibri"/>
                <a:ea typeface="Calibri"/>
                <a:cs typeface="Calibri"/>
                <a:sym typeface="Calibri"/>
              </a:rPr>
              <a:t>Managed Redis </a:t>
            </a:r>
            <a:r>
              <a:rPr b="0" i="0" lang="fr" sz="800" u="none" cap="none" strike="noStrike">
                <a:solidFill>
                  <a:srgbClr val="4F46E5"/>
                </a:solidFill>
                <a:latin typeface="Calibri"/>
                <a:ea typeface="Calibri"/>
                <a:cs typeface="Calibri"/>
                <a:sym typeface="Calibri"/>
              </a:rPr>
              <a:t>· Object Storage</a:t>
            </a:r>
            <a:endParaRPr sz="1100">
              <a:solidFill>
                <a:srgbClr val="4F46E5"/>
              </a:solidFill>
            </a:endParaRPr>
          </a:p>
        </p:txBody>
      </p:sp>
      <p:sp>
        <p:nvSpPr>
          <p:cNvPr id="1126" name="Google Shape;1126;p56"/>
          <p:cNvSpPr txBox="1"/>
          <p:nvPr/>
        </p:nvSpPr>
        <p:spPr>
          <a:xfrm>
            <a:off x="6478515" y="992299"/>
            <a:ext cx="1097400" cy="19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9050" lIns="0" spcFirstLastPara="1" rIns="0" wrap="square" tIns="190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fr" sz="1000" u="none" cap="none" strike="noStrike">
                <a:solidFill>
                  <a:srgbClr val="0E9C8A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r>
              <a:rPr b="1" i="0" lang="fr" sz="1000" u="none" cap="none" strike="noStrike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    </a:t>
            </a:r>
            <a:r>
              <a:rPr b="0" i="0" lang="fr" sz="800" u="none" cap="none" strike="noStrike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fait évoluer</a:t>
            </a:r>
            <a:endParaRPr sz="1100">
              <a:solidFill>
                <a:srgbClr val="9CA3AF"/>
              </a:solidFill>
            </a:endParaRPr>
          </a:p>
        </p:txBody>
      </p:sp>
      <p:sp>
        <p:nvSpPr>
          <p:cNvPr id="1127" name="Google Shape;1127;p56"/>
          <p:cNvSpPr/>
          <p:nvPr/>
        </p:nvSpPr>
        <p:spPr>
          <a:xfrm>
            <a:off x="2284350" y="1593125"/>
            <a:ext cx="461700" cy="2013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0E9C8A">
              <a:alpha val="60000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8" name="Google Shape;1128;p56"/>
          <p:cNvSpPr/>
          <p:nvPr/>
        </p:nvSpPr>
        <p:spPr>
          <a:xfrm>
            <a:off x="4295575" y="1603525"/>
            <a:ext cx="461700" cy="2013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0E9C8A">
              <a:alpha val="60000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9" name="Google Shape;1129;p56"/>
          <p:cNvSpPr/>
          <p:nvPr/>
        </p:nvSpPr>
        <p:spPr>
          <a:xfrm>
            <a:off x="6323275" y="1598638"/>
            <a:ext cx="461700" cy="2013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0E9C8A">
              <a:alpha val="60000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0" name="Google Shape;1130;p56"/>
          <p:cNvSpPr/>
          <p:nvPr/>
        </p:nvSpPr>
        <p:spPr>
          <a:xfrm>
            <a:off x="6815900" y="2340200"/>
            <a:ext cx="461700" cy="2013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0E9C8A">
              <a:alpha val="60000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1" name="Google Shape;1131;p56"/>
          <p:cNvSpPr/>
          <p:nvPr/>
        </p:nvSpPr>
        <p:spPr>
          <a:xfrm>
            <a:off x="1775200" y="2340188"/>
            <a:ext cx="461700" cy="2013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0E9C8A">
              <a:alpha val="60000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2" name="Google Shape;1132;p56"/>
          <p:cNvSpPr/>
          <p:nvPr/>
        </p:nvSpPr>
        <p:spPr>
          <a:xfrm>
            <a:off x="5135675" y="2335063"/>
            <a:ext cx="461700" cy="2013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0E9C8A">
              <a:alpha val="60000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3" name="Google Shape;1133;p56"/>
          <p:cNvSpPr/>
          <p:nvPr/>
        </p:nvSpPr>
        <p:spPr>
          <a:xfrm>
            <a:off x="3455450" y="2340188"/>
            <a:ext cx="461700" cy="2013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0E9C8A">
              <a:alpha val="60000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4" name="Google Shape;1134;p56"/>
          <p:cNvSpPr/>
          <p:nvPr/>
        </p:nvSpPr>
        <p:spPr>
          <a:xfrm>
            <a:off x="3798700" y="2186800"/>
            <a:ext cx="1450200" cy="519300"/>
          </a:xfrm>
          <a:prstGeom prst="roundRect">
            <a:avLst>
              <a:gd fmla="val 6000" name="adj"/>
            </a:avLst>
          </a:prstGeom>
          <a:solidFill>
            <a:srgbClr val="CCC743">
              <a:alpha val="7999"/>
            </a:srgbClr>
          </a:solidFill>
          <a:ln cap="flat" cmpd="sng" w="7225">
            <a:solidFill>
              <a:srgbClr val="CCC743"/>
            </a:solidFill>
            <a:prstDash val="solid"/>
            <a:round/>
            <a:headEnd len="sm" w="sm" type="none"/>
            <a:tailEnd len="sm" w="sm" type="none"/>
          </a:ln>
          <a:effectLst>
            <a:outerShdw blurRad="27293" rotWithShape="0" dir="5400000" dist="11372">
              <a:srgbClr val="8A93A6">
                <a:alpha val="32159"/>
              </a:srgbClr>
            </a:outerShdw>
          </a:effectLst>
        </p:spPr>
        <p:txBody>
          <a:bodyPr anchorCtr="0" anchor="ctr" bIns="20800" lIns="41600" spcFirstLastPara="1" rIns="41600" wrap="square" tIns="208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849" u="none" cap="none" strike="noStrike">
              <a:solidFill>
                <a:srgbClr val="0E9C8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5" name="Google Shape;1135;p56"/>
          <p:cNvSpPr txBox="1"/>
          <p:nvPr/>
        </p:nvSpPr>
        <p:spPr>
          <a:xfrm>
            <a:off x="377200" y="4945850"/>
            <a:ext cx="999000" cy="166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700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MVP RAG Puls-Events</a:t>
            </a:r>
            <a:endParaRPr sz="700">
              <a:solidFill>
                <a:srgbClr val="9CA3A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0" name="Shape 1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1" name="Google Shape;1141;p57"/>
          <p:cNvSpPr txBox="1"/>
          <p:nvPr/>
        </p:nvSpPr>
        <p:spPr>
          <a:xfrm>
            <a:off x="377200" y="233175"/>
            <a:ext cx="2286900" cy="45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9050" lIns="0" spcFirstLastPara="1" rIns="0" wrap="square" tIns="190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1800">
                <a:solidFill>
                  <a:srgbClr val="0E9C8A"/>
                </a:solidFill>
                <a:latin typeface="Calibri"/>
                <a:ea typeface="Calibri"/>
                <a:cs typeface="Calibri"/>
                <a:sym typeface="Calibri"/>
              </a:rPr>
              <a:t>L’architecture du MVP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2" name="Google Shape;1142;p57"/>
          <p:cNvSpPr txBox="1"/>
          <p:nvPr/>
        </p:nvSpPr>
        <p:spPr>
          <a:xfrm>
            <a:off x="377200" y="675550"/>
            <a:ext cx="26754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9050" lIns="0" spcFirstLastPara="1" rIns="0" wrap="square" tIns="190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1100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L'architecture en une idée : consolider</a:t>
            </a:r>
            <a:endParaRPr b="1" sz="1100">
              <a:solidFill>
                <a:srgbClr val="9CA3A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3" name="Google Shape;1143;p57"/>
          <p:cNvSpPr txBox="1"/>
          <p:nvPr/>
        </p:nvSpPr>
        <p:spPr>
          <a:xfrm>
            <a:off x="377200" y="4945850"/>
            <a:ext cx="999000" cy="166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700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MVP RAG Puls-Events</a:t>
            </a:r>
            <a:endParaRPr sz="700">
              <a:solidFill>
                <a:srgbClr val="9CA3A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8" name="Shape 1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9" name="Google Shape;1149;p58"/>
          <p:cNvSpPr txBox="1"/>
          <p:nvPr/>
        </p:nvSpPr>
        <p:spPr>
          <a:xfrm>
            <a:off x="377200" y="233175"/>
            <a:ext cx="2286900" cy="45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9050" lIns="0" spcFirstLastPara="1" rIns="0" wrap="square" tIns="190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1800">
                <a:solidFill>
                  <a:srgbClr val="0E9C8A"/>
                </a:solidFill>
                <a:latin typeface="Calibri"/>
                <a:ea typeface="Calibri"/>
                <a:cs typeface="Calibri"/>
                <a:sym typeface="Calibri"/>
              </a:rPr>
              <a:t>L’architecture du MVP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0" name="Google Shape;1150;p58"/>
          <p:cNvSpPr txBox="1"/>
          <p:nvPr/>
        </p:nvSpPr>
        <p:spPr>
          <a:xfrm>
            <a:off x="377200" y="675550"/>
            <a:ext cx="26754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9050" lIns="0" spcFirstLastPara="1" rIns="0" wrap="square" tIns="190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1100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L'architecture en une idée : consolider</a:t>
            </a:r>
            <a:endParaRPr b="1" sz="1100">
              <a:solidFill>
                <a:srgbClr val="9CA3A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1" name="Google Shape;1151;p58"/>
          <p:cNvSpPr txBox="1"/>
          <p:nvPr/>
        </p:nvSpPr>
        <p:spPr>
          <a:xfrm>
            <a:off x="377200" y="4945850"/>
            <a:ext cx="999000" cy="166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700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MVP RAG Puls-Events</a:t>
            </a:r>
            <a:endParaRPr sz="700">
              <a:solidFill>
                <a:srgbClr val="9CA3A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2" name="Google Shape;1152;p58"/>
          <p:cNvSpPr/>
          <p:nvPr/>
        </p:nvSpPr>
        <p:spPr>
          <a:xfrm>
            <a:off x="1805250" y="1247250"/>
            <a:ext cx="5533500" cy="665700"/>
          </a:xfrm>
          <a:prstGeom prst="roundRect">
            <a:avLst>
              <a:gd fmla="val 16667" name="adj"/>
            </a:avLst>
          </a:prstGeom>
          <a:solidFill>
            <a:srgbClr val="0E9C8A">
              <a:alpha val="31999"/>
            </a:srgbClr>
          </a:solidFill>
          <a:ln cap="flat" cmpd="sng" w="9525">
            <a:solidFill>
              <a:srgbClr val="0E9C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>
                <a:solidFill>
                  <a:srgbClr val="0E9C8A"/>
                </a:solidFill>
                <a:latin typeface="Calibri"/>
                <a:ea typeface="Calibri"/>
                <a:cs typeface="Calibri"/>
                <a:sym typeface="Calibri"/>
              </a:rPr>
              <a:t>Une seule base PostgreSQL : relationnel + pgvector + PostGIS + mémoire</a:t>
            </a:r>
            <a:endParaRPr>
              <a:solidFill>
                <a:srgbClr val="0E9C8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7" name="Shape 1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8" name="Google Shape;1158;p59"/>
          <p:cNvSpPr txBox="1"/>
          <p:nvPr/>
        </p:nvSpPr>
        <p:spPr>
          <a:xfrm>
            <a:off x="377200" y="233175"/>
            <a:ext cx="2286900" cy="45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9050" lIns="0" spcFirstLastPara="1" rIns="0" wrap="square" tIns="190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1800">
                <a:solidFill>
                  <a:srgbClr val="0E9C8A"/>
                </a:solidFill>
                <a:latin typeface="Calibri"/>
                <a:ea typeface="Calibri"/>
                <a:cs typeface="Calibri"/>
                <a:sym typeface="Calibri"/>
              </a:rPr>
              <a:t>L’architecture du MVP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9" name="Google Shape;1159;p59"/>
          <p:cNvSpPr txBox="1"/>
          <p:nvPr/>
        </p:nvSpPr>
        <p:spPr>
          <a:xfrm>
            <a:off x="377200" y="675550"/>
            <a:ext cx="26754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9050" lIns="0" spcFirstLastPara="1" rIns="0" wrap="square" tIns="190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1100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L'architecture en une idée : consolider</a:t>
            </a:r>
            <a:endParaRPr b="1" sz="1100">
              <a:solidFill>
                <a:srgbClr val="9CA3A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0" name="Google Shape;1160;p59"/>
          <p:cNvSpPr txBox="1"/>
          <p:nvPr/>
        </p:nvSpPr>
        <p:spPr>
          <a:xfrm>
            <a:off x="377200" y="4945850"/>
            <a:ext cx="999000" cy="166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700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MVP RAG Puls-Events</a:t>
            </a:r>
            <a:endParaRPr sz="700">
              <a:solidFill>
                <a:srgbClr val="9CA3A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1" name="Google Shape;1161;p59"/>
          <p:cNvSpPr/>
          <p:nvPr/>
        </p:nvSpPr>
        <p:spPr>
          <a:xfrm>
            <a:off x="1805250" y="1247250"/>
            <a:ext cx="5533500" cy="665700"/>
          </a:xfrm>
          <a:prstGeom prst="roundRect">
            <a:avLst>
              <a:gd fmla="val 16667" name="adj"/>
            </a:avLst>
          </a:prstGeom>
          <a:solidFill>
            <a:srgbClr val="0E9C8A">
              <a:alpha val="31999"/>
            </a:srgbClr>
          </a:solidFill>
          <a:ln cap="flat" cmpd="sng" w="9525">
            <a:solidFill>
              <a:srgbClr val="0E9C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>
                <a:solidFill>
                  <a:srgbClr val="0E9C8A"/>
                </a:solidFill>
                <a:latin typeface="Calibri"/>
                <a:ea typeface="Calibri"/>
                <a:cs typeface="Calibri"/>
                <a:sym typeface="Calibri"/>
              </a:rPr>
              <a:t>Une seule base PostgreSQL : relationnel + pgvector + PostGIS + mémoire</a:t>
            </a:r>
            <a:endParaRPr>
              <a:solidFill>
                <a:srgbClr val="0E9C8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2" name="Google Shape;1162;p59"/>
          <p:cNvSpPr/>
          <p:nvPr/>
        </p:nvSpPr>
        <p:spPr>
          <a:xfrm>
            <a:off x="1805250" y="2009729"/>
            <a:ext cx="5533500" cy="665700"/>
          </a:xfrm>
          <a:prstGeom prst="roundRect">
            <a:avLst>
              <a:gd fmla="val 16667" name="adj"/>
            </a:avLst>
          </a:prstGeom>
          <a:solidFill>
            <a:srgbClr val="0E9C8A">
              <a:alpha val="23999"/>
            </a:srgbClr>
          </a:solidFill>
          <a:ln cap="flat" cmpd="sng" w="9525">
            <a:solidFill>
              <a:srgbClr val="0E9C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>
                <a:solidFill>
                  <a:srgbClr val="0E9C8A"/>
                </a:solidFill>
                <a:latin typeface="Calibri"/>
                <a:ea typeface="Calibri"/>
                <a:cs typeface="Calibri"/>
                <a:sym typeface="Calibri"/>
              </a:rPr>
              <a:t>Cœur RAG du POC réutilisé (Mistral + LangChain + retriever hybride)</a:t>
            </a:r>
            <a:endParaRPr>
              <a:solidFill>
                <a:srgbClr val="0E9C8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7" name="Shape 1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8" name="Google Shape;1168;p60"/>
          <p:cNvSpPr txBox="1"/>
          <p:nvPr/>
        </p:nvSpPr>
        <p:spPr>
          <a:xfrm>
            <a:off x="377200" y="233175"/>
            <a:ext cx="2286900" cy="45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9050" lIns="0" spcFirstLastPara="1" rIns="0" wrap="square" tIns="190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1800">
                <a:solidFill>
                  <a:srgbClr val="0E9C8A"/>
                </a:solidFill>
                <a:latin typeface="Calibri"/>
                <a:ea typeface="Calibri"/>
                <a:cs typeface="Calibri"/>
                <a:sym typeface="Calibri"/>
              </a:rPr>
              <a:t>L’architecture du MVP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9" name="Google Shape;1169;p60"/>
          <p:cNvSpPr txBox="1"/>
          <p:nvPr/>
        </p:nvSpPr>
        <p:spPr>
          <a:xfrm>
            <a:off x="377200" y="675550"/>
            <a:ext cx="26754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9050" lIns="0" spcFirstLastPara="1" rIns="0" wrap="square" tIns="190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1100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L'architecture en une idée : consolider</a:t>
            </a:r>
            <a:endParaRPr b="1" sz="1100">
              <a:solidFill>
                <a:srgbClr val="9CA3A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0" name="Google Shape;1170;p60"/>
          <p:cNvSpPr txBox="1"/>
          <p:nvPr/>
        </p:nvSpPr>
        <p:spPr>
          <a:xfrm>
            <a:off x="377200" y="4945850"/>
            <a:ext cx="999000" cy="166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700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MVP RAG Puls-Events</a:t>
            </a:r>
            <a:endParaRPr sz="700">
              <a:solidFill>
                <a:srgbClr val="9CA3A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1" name="Google Shape;1171;p60"/>
          <p:cNvSpPr/>
          <p:nvPr/>
        </p:nvSpPr>
        <p:spPr>
          <a:xfrm>
            <a:off x="1805250" y="1247250"/>
            <a:ext cx="5533500" cy="665700"/>
          </a:xfrm>
          <a:prstGeom prst="roundRect">
            <a:avLst>
              <a:gd fmla="val 16667" name="adj"/>
            </a:avLst>
          </a:prstGeom>
          <a:solidFill>
            <a:srgbClr val="0E9C8A">
              <a:alpha val="31999"/>
            </a:srgbClr>
          </a:solidFill>
          <a:ln cap="flat" cmpd="sng" w="9525">
            <a:solidFill>
              <a:srgbClr val="0E9C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>
                <a:solidFill>
                  <a:srgbClr val="0E9C8A"/>
                </a:solidFill>
                <a:latin typeface="Calibri"/>
                <a:ea typeface="Calibri"/>
                <a:cs typeface="Calibri"/>
                <a:sym typeface="Calibri"/>
              </a:rPr>
              <a:t>Une seule base PostgreSQL : relationnel + pgvector + PostGIS + mémoire</a:t>
            </a:r>
            <a:endParaRPr>
              <a:solidFill>
                <a:srgbClr val="0E9C8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2" name="Google Shape;1172;p60"/>
          <p:cNvSpPr/>
          <p:nvPr/>
        </p:nvSpPr>
        <p:spPr>
          <a:xfrm>
            <a:off x="1805250" y="2009729"/>
            <a:ext cx="5533500" cy="665700"/>
          </a:xfrm>
          <a:prstGeom prst="roundRect">
            <a:avLst>
              <a:gd fmla="val 16667" name="adj"/>
            </a:avLst>
          </a:prstGeom>
          <a:solidFill>
            <a:srgbClr val="0E9C8A">
              <a:alpha val="23999"/>
            </a:srgbClr>
          </a:solidFill>
          <a:ln cap="flat" cmpd="sng" w="9525">
            <a:solidFill>
              <a:srgbClr val="0E9C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>
                <a:solidFill>
                  <a:srgbClr val="0E9C8A"/>
                </a:solidFill>
                <a:latin typeface="Calibri"/>
                <a:ea typeface="Calibri"/>
                <a:cs typeface="Calibri"/>
                <a:sym typeface="Calibri"/>
              </a:rPr>
              <a:t>Cœur RAG du POC réutilisé (Mistral + LangChain + retriever hybride)</a:t>
            </a:r>
            <a:endParaRPr>
              <a:solidFill>
                <a:srgbClr val="0E9C8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3" name="Google Shape;1173;p60"/>
          <p:cNvSpPr/>
          <p:nvPr/>
        </p:nvSpPr>
        <p:spPr>
          <a:xfrm>
            <a:off x="1805250" y="2778646"/>
            <a:ext cx="5533500" cy="665700"/>
          </a:xfrm>
          <a:prstGeom prst="roundRect">
            <a:avLst>
              <a:gd fmla="val 16667" name="adj"/>
            </a:avLst>
          </a:prstGeom>
          <a:solidFill>
            <a:srgbClr val="0E9C8A">
              <a:alpha val="15999"/>
            </a:srgbClr>
          </a:solidFill>
          <a:ln cap="flat" cmpd="sng" w="9525">
            <a:solidFill>
              <a:srgbClr val="0E9C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>
                <a:solidFill>
                  <a:srgbClr val="0E9C8A"/>
                </a:solidFill>
                <a:latin typeface="Calibri"/>
                <a:ea typeface="Calibri"/>
                <a:cs typeface="Calibri"/>
                <a:sym typeface="Calibri"/>
              </a:rPr>
              <a:t>Agent smolagents : arbitre base interne vs recherche web</a:t>
            </a:r>
            <a:endParaRPr>
              <a:solidFill>
                <a:srgbClr val="0E9C8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8" name="Shape 1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9" name="Google Shape;1179;p61"/>
          <p:cNvSpPr txBox="1"/>
          <p:nvPr/>
        </p:nvSpPr>
        <p:spPr>
          <a:xfrm>
            <a:off x="377200" y="233175"/>
            <a:ext cx="2286900" cy="45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9050" lIns="0" spcFirstLastPara="1" rIns="0" wrap="square" tIns="190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1800">
                <a:solidFill>
                  <a:srgbClr val="0E9C8A"/>
                </a:solidFill>
                <a:latin typeface="Calibri"/>
                <a:ea typeface="Calibri"/>
                <a:cs typeface="Calibri"/>
                <a:sym typeface="Calibri"/>
              </a:rPr>
              <a:t>L’architecture du MVP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0" name="Google Shape;1180;p61"/>
          <p:cNvSpPr txBox="1"/>
          <p:nvPr/>
        </p:nvSpPr>
        <p:spPr>
          <a:xfrm>
            <a:off x="377200" y="675550"/>
            <a:ext cx="26754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9050" lIns="0" spcFirstLastPara="1" rIns="0" wrap="square" tIns="190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1100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L'architecture en une idée : consolider</a:t>
            </a:r>
            <a:endParaRPr b="1" sz="1100">
              <a:solidFill>
                <a:srgbClr val="9CA3A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1" name="Google Shape;1181;p61"/>
          <p:cNvSpPr txBox="1"/>
          <p:nvPr/>
        </p:nvSpPr>
        <p:spPr>
          <a:xfrm>
            <a:off x="377200" y="4945850"/>
            <a:ext cx="999000" cy="166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700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MVP RAG Puls-Events</a:t>
            </a:r>
            <a:endParaRPr sz="700">
              <a:solidFill>
                <a:srgbClr val="9CA3A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2" name="Google Shape;1182;p61"/>
          <p:cNvSpPr/>
          <p:nvPr/>
        </p:nvSpPr>
        <p:spPr>
          <a:xfrm>
            <a:off x="1805250" y="1247250"/>
            <a:ext cx="5533500" cy="665700"/>
          </a:xfrm>
          <a:prstGeom prst="roundRect">
            <a:avLst>
              <a:gd fmla="val 16667" name="adj"/>
            </a:avLst>
          </a:prstGeom>
          <a:solidFill>
            <a:srgbClr val="0E9C8A">
              <a:alpha val="31999"/>
            </a:srgbClr>
          </a:solidFill>
          <a:ln cap="flat" cmpd="sng" w="9525">
            <a:solidFill>
              <a:srgbClr val="0E9C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>
                <a:solidFill>
                  <a:srgbClr val="0E9C8A"/>
                </a:solidFill>
                <a:latin typeface="Calibri"/>
                <a:ea typeface="Calibri"/>
                <a:cs typeface="Calibri"/>
                <a:sym typeface="Calibri"/>
              </a:rPr>
              <a:t>Une seule base PostgreSQL : relationnel + pgvector + PostGIS + mémoire</a:t>
            </a:r>
            <a:endParaRPr>
              <a:solidFill>
                <a:srgbClr val="0E9C8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3" name="Google Shape;1183;p61"/>
          <p:cNvSpPr/>
          <p:nvPr/>
        </p:nvSpPr>
        <p:spPr>
          <a:xfrm>
            <a:off x="1805250" y="2009729"/>
            <a:ext cx="5533500" cy="665700"/>
          </a:xfrm>
          <a:prstGeom prst="roundRect">
            <a:avLst>
              <a:gd fmla="val 16667" name="adj"/>
            </a:avLst>
          </a:prstGeom>
          <a:solidFill>
            <a:srgbClr val="0E9C8A">
              <a:alpha val="23999"/>
            </a:srgbClr>
          </a:solidFill>
          <a:ln cap="flat" cmpd="sng" w="9525">
            <a:solidFill>
              <a:srgbClr val="0E9C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>
                <a:solidFill>
                  <a:srgbClr val="0E9C8A"/>
                </a:solidFill>
                <a:latin typeface="Calibri"/>
                <a:ea typeface="Calibri"/>
                <a:cs typeface="Calibri"/>
                <a:sym typeface="Calibri"/>
              </a:rPr>
              <a:t>Cœur RAG du POC réutilisé (Mistral + LangChain + retriever hybride)</a:t>
            </a:r>
            <a:endParaRPr>
              <a:solidFill>
                <a:srgbClr val="0E9C8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4" name="Google Shape;1184;p61"/>
          <p:cNvSpPr/>
          <p:nvPr/>
        </p:nvSpPr>
        <p:spPr>
          <a:xfrm>
            <a:off x="1805250" y="2778646"/>
            <a:ext cx="5533500" cy="665700"/>
          </a:xfrm>
          <a:prstGeom prst="roundRect">
            <a:avLst>
              <a:gd fmla="val 16667" name="adj"/>
            </a:avLst>
          </a:prstGeom>
          <a:solidFill>
            <a:srgbClr val="0E9C8A">
              <a:alpha val="15999"/>
            </a:srgbClr>
          </a:solidFill>
          <a:ln cap="flat" cmpd="sng" w="9525">
            <a:solidFill>
              <a:srgbClr val="0E9C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>
                <a:solidFill>
                  <a:srgbClr val="0E9C8A"/>
                </a:solidFill>
                <a:latin typeface="Calibri"/>
                <a:ea typeface="Calibri"/>
                <a:cs typeface="Calibri"/>
                <a:sym typeface="Calibri"/>
              </a:rPr>
              <a:t>Agent smolagents : arbitre base interne vs recherche web</a:t>
            </a:r>
            <a:endParaRPr>
              <a:solidFill>
                <a:srgbClr val="0E9C8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5" name="Google Shape;1185;p61"/>
          <p:cNvSpPr/>
          <p:nvPr/>
        </p:nvSpPr>
        <p:spPr>
          <a:xfrm>
            <a:off x="1805250" y="3547575"/>
            <a:ext cx="5533500" cy="665700"/>
          </a:xfrm>
          <a:prstGeom prst="roundRect">
            <a:avLst>
              <a:gd fmla="val 16667" name="adj"/>
            </a:avLst>
          </a:prstGeom>
          <a:solidFill>
            <a:srgbClr val="0E9C8A">
              <a:alpha val="7999"/>
            </a:srgbClr>
          </a:solidFill>
          <a:ln cap="flat" cmpd="sng" w="9525">
            <a:solidFill>
              <a:srgbClr val="0E9C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>
                <a:solidFill>
                  <a:srgbClr val="0E9C8A"/>
                </a:solidFill>
                <a:latin typeface="Calibri"/>
                <a:ea typeface="Calibri"/>
                <a:cs typeface="Calibri"/>
                <a:sym typeface="Calibri"/>
              </a:rPr>
              <a:t>Double observabilité : Cockpit (infra) + Langfuse (qualité RAG)</a:t>
            </a:r>
            <a:endParaRPr>
              <a:solidFill>
                <a:srgbClr val="0E9C8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0" name="Shape 1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1" name="Google Shape;1191;p62"/>
          <p:cNvSpPr txBox="1"/>
          <p:nvPr/>
        </p:nvSpPr>
        <p:spPr>
          <a:xfrm>
            <a:off x="377200" y="675550"/>
            <a:ext cx="26754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9050" lIns="0" spcFirstLastPara="1" rIns="0" wrap="square" tIns="190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1100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Architecture MVP - chatbot RAG Puls-EVents</a:t>
            </a:r>
            <a:endParaRPr b="1" sz="1100">
              <a:solidFill>
                <a:srgbClr val="9CA3A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2" name="Google Shape;1192;p62"/>
          <p:cNvSpPr txBox="1"/>
          <p:nvPr/>
        </p:nvSpPr>
        <p:spPr>
          <a:xfrm>
            <a:off x="377200" y="4945850"/>
            <a:ext cx="999000" cy="166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700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MVP RAG Puls-Events</a:t>
            </a:r>
            <a:endParaRPr sz="700">
              <a:solidFill>
                <a:srgbClr val="9CA3A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3" name="Google Shape;1193;p62"/>
          <p:cNvSpPr txBox="1"/>
          <p:nvPr/>
        </p:nvSpPr>
        <p:spPr>
          <a:xfrm>
            <a:off x="377200" y="233175"/>
            <a:ext cx="2286900" cy="45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9050" lIns="0" spcFirstLastPara="1" rIns="0" wrap="square" tIns="190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1800">
                <a:solidFill>
                  <a:srgbClr val="0E9C8A"/>
                </a:solidFill>
                <a:latin typeface="Calibri"/>
                <a:ea typeface="Calibri"/>
                <a:cs typeface="Calibri"/>
                <a:sym typeface="Calibri"/>
              </a:rPr>
              <a:t>L’architecture du MVP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8" name="Shape 1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9" name="Google Shape;1199;p63"/>
          <p:cNvSpPr txBox="1"/>
          <p:nvPr/>
        </p:nvSpPr>
        <p:spPr>
          <a:xfrm>
            <a:off x="377200" y="675550"/>
            <a:ext cx="26754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9050" lIns="0" spcFirstLastPara="1" rIns="0" wrap="square" tIns="190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1100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Architecture MVP - chatbot RAG Puls-EVents</a:t>
            </a:r>
            <a:endParaRPr b="1" sz="1100">
              <a:solidFill>
                <a:srgbClr val="9CA3A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0" name="Google Shape;1200;p63"/>
          <p:cNvSpPr txBox="1"/>
          <p:nvPr/>
        </p:nvSpPr>
        <p:spPr>
          <a:xfrm>
            <a:off x="377200" y="4945850"/>
            <a:ext cx="999000" cy="166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700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MVP RAG Puls-Events</a:t>
            </a:r>
            <a:endParaRPr sz="700">
              <a:solidFill>
                <a:srgbClr val="9CA3A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1" name="Google Shape;1201;p63"/>
          <p:cNvSpPr/>
          <p:nvPr/>
        </p:nvSpPr>
        <p:spPr>
          <a:xfrm>
            <a:off x="64125" y="1631700"/>
            <a:ext cx="8941200" cy="2605500"/>
          </a:xfrm>
          <a:prstGeom prst="roundRect">
            <a:avLst>
              <a:gd fmla="val 6000" name="adj"/>
            </a:avLst>
          </a:prstGeom>
          <a:noFill/>
          <a:ln cap="flat" cmpd="sng" w="9525">
            <a:solidFill>
              <a:srgbClr val="B07BC2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2" name="Google Shape;1202;p63"/>
          <p:cNvSpPr txBox="1"/>
          <p:nvPr/>
        </p:nvSpPr>
        <p:spPr>
          <a:xfrm>
            <a:off x="283150" y="3953488"/>
            <a:ext cx="2454600" cy="23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1000">
                <a:solidFill>
                  <a:srgbClr val="B07BC2"/>
                </a:solidFill>
                <a:latin typeface="Calibri"/>
                <a:ea typeface="Calibri"/>
                <a:cs typeface="Calibri"/>
                <a:sym typeface="Calibri"/>
              </a:rPr>
              <a:t>SCALEWAY</a:t>
            </a:r>
            <a:r>
              <a:rPr lang="fr" sz="800">
                <a:solidFill>
                  <a:srgbClr val="B07BC2"/>
                </a:solidFill>
                <a:latin typeface="Calibri"/>
                <a:ea typeface="Calibri"/>
                <a:cs typeface="Calibri"/>
                <a:sym typeface="Calibri"/>
              </a:rPr>
              <a:t> - cloud souverain (UE, hors CLOUD Act) </a:t>
            </a:r>
            <a:endParaRPr sz="800">
              <a:solidFill>
                <a:srgbClr val="B07BC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3" name="Google Shape;1203;p63"/>
          <p:cNvSpPr/>
          <p:nvPr/>
        </p:nvSpPr>
        <p:spPr>
          <a:xfrm>
            <a:off x="7068700" y="4409050"/>
            <a:ext cx="144600" cy="72900"/>
          </a:xfrm>
          <a:prstGeom prst="roundRect">
            <a:avLst>
              <a:gd fmla="val 16667" name="adj"/>
            </a:avLst>
          </a:prstGeom>
          <a:solidFill>
            <a:srgbClr val="9CA3AF">
              <a:alpha val="6960"/>
            </a:srgbClr>
          </a:solidFill>
          <a:ln cap="flat" cmpd="sng" w="9525">
            <a:solidFill>
              <a:srgbClr val="9CA3A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4" name="Google Shape;1204;p63"/>
          <p:cNvSpPr/>
          <p:nvPr/>
        </p:nvSpPr>
        <p:spPr>
          <a:xfrm>
            <a:off x="7068700" y="4550067"/>
            <a:ext cx="144600" cy="72900"/>
          </a:xfrm>
          <a:prstGeom prst="roundRect">
            <a:avLst>
              <a:gd fmla="val 16667" name="adj"/>
            </a:avLst>
          </a:prstGeom>
          <a:solidFill>
            <a:srgbClr val="923E22">
              <a:alpha val="7999"/>
            </a:srgbClr>
          </a:solidFill>
          <a:ln cap="flat" cmpd="sng" w="9525">
            <a:solidFill>
              <a:srgbClr val="923E2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5" name="Google Shape;1205;p63"/>
          <p:cNvSpPr/>
          <p:nvPr/>
        </p:nvSpPr>
        <p:spPr>
          <a:xfrm>
            <a:off x="7068700" y="4962200"/>
            <a:ext cx="144600" cy="72900"/>
          </a:xfrm>
          <a:prstGeom prst="roundRect">
            <a:avLst>
              <a:gd fmla="val 16667" name="adj"/>
            </a:avLst>
          </a:prstGeom>
          <a:solidFill>
            <a:srgbClr val="674EA7">
              <a:alpha val="7999"/>
            </a:srgbClr>
          </a:solidFill>
          <a:ln cap="flat" cmpd="sng" w="9525">
            <a:solidFill>
              <a:srgbClr val="674EA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6" name="Google Shape;1206;p63"/>
          <p:cNvSpPr/>
          <p:nvPr/>
        </p:nvSpPr>
        <p:spPr>
          <a:xfrm>
            <a:off x="7068700" y="4691085"/>
            <a:ext cx="144600" cy="72900"/>
          </a:xfrm>
          <a:prstGeom prst="roundRect">
            <a:avLst>
              <a:gd fmla="val 16667" name="adj"/>
            </a:avLst>
          </a:prstGeom>
          <a:solidFill>
            <a:srgbClr val="0000FF">
              <a:alpha val="14000"/>
            </a:srgbClr>
          </a:solidFill>
          <a:ln cap="flat" cmpd="sng" w="9525">
            <a:solidFill>
              <a:srgbClr val="00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7" name="Google Shape;1207;p63"/>
          <p:cNvSpPr/>
          <p:nvPr/>
        </p:nvSpPr>
        <p:spPr>
          <a:xfrm>
            <a:off x="7068700" y="4825177"/>
            <a:ext cx="144600" cy="72900"/>
          </a:xfrm>
          <a:prstGeom prst="roundRect">
            <a:avLst>
              <a:gd fmla="val 16667" name="adj"/>
            </a:avLst>
          </a:prstGeom>
          <a:solidFill>
            <a:srgbClr val="0E9C8A">
              <a:alpha val="15999"/>
            </a:srgbClr>
          </a:solidFill>
          <a:ln cap="flat" cmpd="sng" w="9525">
            <a:solidFill>
              <a:srgbClr val="0E9C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8" name="Google Shape;1208;p63"/>
          <p:cNvSpPr txBox="1"/>
          <p:nvPr/>
        </p:nvSpPr>
        <p:spPr>
          <a:xfrm>
            <a:off x="7232825" y="4367250"/>
            <a:ext cx="1755600" cy="68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600">
                <a:solidFill>
                  <a:srgbClr val="8A93A6"/>
                </a:solidFill>
                <a:latin typeface="Calibri"/>
                <a:ea typeface="Calibri"/>
                <a:cs typeface="Calibri"/>
                <a:sym typeface="Calibri"/>
              </a:rPr>
              <a:t>Sources externes</a:t>
            </a:r>
            <a:endParaRPr sz="600">
              <a:solidFill>
                <a:srgbClr val="8A93A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600">
                <a:solidFill>
                  <a:srgbClr val="8A93A6"/>
                </a:solidFill>
                <a:latin typeface="Calibri"/>
                <a:ea typeface="Calibri"/>
                <a:cs typeface="Calibri"/>
                <a:sym typeface="Calibri"/>
              </a:rPr>
              <a:t>Ingestion (Kestra)</a:t>
            </a:r>
            <a:endParaRPr sz="600">
              <a:solidFill>
                <a:srgbClr val="8A93A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600">
                <a:solidFill>
                  <a:srgbClr val="8A93A6"/>
                </a:solidFill>
                <a:latin typeface="Calibri"/>
                <a:ea typeface="Calibri"/>
                <a:cs typeface="Calibri"/>
                <a:sym typeface="Calibri"/>
              </a:rPr>
              <a:t>Stockage (PostgreSQL / Redis / Object storage)</a:t>
            </a:r>
            <a:endParaRPr sz="600">
              <a:solidFill>
                <a:srgbClr val="8A93A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600">
                <a:solidFill>
                  <a:srgbClr val="8A93A6"/>
                </a:solidFill>
                <a:latin typeface="Calibri"/>
                <a:ea typeface="Calibri"/>
                <a:cs typeface="Calibri"/>
                <a:sym typeface="Calibri"/>
              </a:rPr>
              <a:t>Applications (API + agent)</a:t>
            </a:r>
            <a:endParaRPr sz="600">
              <a:solidFill>
                <a:srgbClr val="8A93A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600">
                <a:solidFill>
                  <a:srgbClr val="8A93A6"/>
                </a:solidFill>
                <a:latin typeface="Calibri"/>
                <a:ea typeface="Calibri"/>
                <a:cs typeface="Calibri"/>
                <a:sym typeface="Calibri"/>
              </a:rPr>
              <a:t>Observabilité</a:t>
            </a:r>
            <a:endParaRPr sz="600">
              <a:solidFill>
                <a:srgbClr val="8A93A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9" name="Google Shape;1209;p63"/>
          <p:cNvSpPr txBox="1"/>
          <p:nvPr/>
        </p:nvSpPr>
        <p:spPr>
          <a:xfrm>
            <a:off x="377200" y="233175"/>
            <a:ext cx="2286900" cy="45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9050" lIns="0" spcFirstLastPara="1" rIns="0" wrap="square" tIns="190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1800">
                <a:solidFill>
                  <a:srgbClr val="0E9C8A"/>
                </a:solidFill>
                <a:latin typeface="Calibri"/>
                <a:ea typeface="Calibri"/>
                <a:cs typeface="Calibri"/>
                <a:sym typeface="Calibri"/>
              </a:rPr>
              <a:t>L’architecture du MVP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4" name="Shape 1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5" name="Google Shape;1215;p64"/>
          <p:cNvSpPr txBox="1"/>
          <p:nvPr/>
        </p:nvSpPr>
        <p:spPr>
          <a:xfrm>
            <a:off x="377200" y="675550"/>
            <a:ext cx="26754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9050" lIns="0" spcFirstLastPara="1" rIns="0" wrap="square" tIns="190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1100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Architecture MVP - chatbot RAG Puls-EVents</a:t>
            </a:r>
            <a:endParaRPr b="1" sz="1100">
              <a:solidFill>
                <a:srgbClr val="9CA3A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6" name="Google Shape;1216;p64"/>
          <p:cNvSpPr txBox="1"/>
          <p:nvPr/>
        </p:nvSpPr>
        <p:spPr>
          <a:xfrm>
            <a:off x="377200" y="4945850"/>
            <a:ext cx="999000" cy="166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700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MVP RAG Puls-Events</a:t>
            </a:r>
            <a:endParaRPr sz="700">
              <a:solidFill>
                <a:srgbClr val="9CA3A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7" name="Google Shape;1217;p64"/>
          <p:cNvSpPr/>
          <p:nvPr/>
        </p:nvSpPr>
        <p:spPr>
          <a:xfrm>
            <a:off x="64125" y="1631700"/>
            <a:ext cx="8941200" cy="2605500"/>
          </a:xfrm>
          <a:prstGeom prst="roundRect">
            <a:avLst>
              <a:gd fmla="val 6000" name="adj"/>
            </a:avLst>
          </a:prstGeom>
          <a:noFill/>
          <a:ln cap="flat" cmpd="sng" w="9525">
            <a:solidFill>
              <a:srgbClr val="B07BC2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8" name="Google Shape;1218;p64"/>
          <p:cNvSpPr/>
          <p:nvPr/>
        </p:nvSpPr>
        <p:spPr>
          <a:xfrm>
            <a:off x="499800" y="980277"/>
            <a:ext cx="2286000" cy="521400"/>
          </a:xfrm>
          <a:prstGeom prst="roundRect">
            <a:avLst>
              <a:gd fmla="val 16667" name="adj"/>
            </a:avLst>
          </a:prstGeom>
          <a:solidFill>
            <a:srgbClr val="9CA3AF">
              <a:alpha val="6960"/>
            </a:srgbClr>
          </a:solidFill>
          <a:ln cap="flat" cmpd="sng" w="12700">
            <a:solidFill>
              <a:srgbClr val="9CA3A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6575" lIns="91425" spcFirstLastPara="1" rIns="73150" wrap="square" tIns="365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800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Opendatasoft API</a:t>
            </a:r>
            <a:endParaRPr b="1" sz="800">
              <a:solidFill>
                <a:srgbClr val="9CA3A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600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events Open Agenda</a:t>
            </a:r>
            <a:endParaRPr b="1" sz="600">
              <a:solidFill>
                <a:srgbClr val="9CA3A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9" name="Google Shape;1219;p64"/>
          <p:cNvSpPr txBox="1"/>
          <p:nvPr/>
        </p:nvSpPr>
        <p:spPr>
          <a:xfrm>
            <a:off x="283150" y="3953488"/>
            <a:ext cx="2454600" cy="23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1000">
                <a:solidFill>
                  <a:srgbClr val="B07BC2"/>
                </a:solidFill>
                <a:latin typeface="Calibri"/>
                <a:ea typeface="Calibri"/>
                <a:cs typeface="Calibri"/>
                <a:sym typeface="Calibri"/>
              </a:rPr>
              <a:t>SCALEWAY</a:t>
            </a:r>
            <a:r>
              <a:rPr lang="fr" sz="800">
                <a:solidFill>
                  <a:srgbClr val="B07BC2"/>
                </a:solidFill>
                <a:latin typeface="Calibri"/>
                <a:ea typeface="Calibri"/>
                <a:cs typeface="Calibri"/>
                <a:sym typeface="Calibri"/>
              </a:rPr>
              <a:t> - cloud souverain (UE, hors CLOUD Act) </a:t>
            </a:r>
            <a:endParaRPr sz="800">
              <a:solidFill>
                <a:srgbClr val="B07BC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0" name="Google Shape;1220;p64"/>
          <p:cNvSpPr/>
          <p:nvPr/>
        </p:nvSpPr>
        <p:spPr>
          <a:xfrm>
            <a:off x="7068700" y="4409050"/>
            <a:ext cx="144600" cy="72900"/>
          </a:xfrm>
          <a:prstGeom prst="roundRect">
            <a:avLst>
              <a:gd fmla="val 16667" name="adj"/>
            </a:avLst>
          </a:prstGeom>
          <a:solidFill>
            <a:srgbClr val="9CA3AF">
              <a:alpha val="6960"/>
            </a:srgbClr>
          </a:solidFill>
          <a:ln cap="flat" cmpd="sng" w="9525">
            <a:solidFill>
              <a:srgbClr val="9CA3A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1" name="Google Shape;1221;p64"/>
          <p:cNvSpPr/>
          <p:nvPr/>
        </p:nvSpPr>
        <p:spPr>
          <a:xfrm>
            <a:off x="7068700" y="4550067"/>
            <a:ext cx="144600" cy="72900"/>
          </a:xfrm>
          <a:prstGeom prst="roundRect">
            <a:avLst>
              <a:gd fmla="val 16667" name="adj"/>
            </a:avLst>
          </a:prstGeom>
          <a:solidFill>
            <a:srgbClr val="923E22">
              <a:alpha val="7999"/>
            </a:srgbClr>
          </a:solidFill>
          <a:ln cap="flat" cmpd="sng" w="9525">
            <a:solidFill>
              <a:srgbClr val="923E2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2" name="Google Shape;1222;p64"/>
          <p:cNvSpPr/>
          <p:nvPr/>
        </p:nvSpPr>
        <p:spPr>
          <a:xfrm>
            <a:off x="7068700" y="4962200"/>
            <a:ext cx="144600" cy="72900"/>
          </a:xfrm>
          <a:prstGeom prst="roundRect">
            <a:avLst>
              <a:gd fmla="val 16667" name="adj"/>
            </a:avLst>
          </a:prstGeom>
          <a:solidFill>
            <a:srgbClr val="674EA7">
              <a:alpha val="7999"/>
            </a:srgbClr>
          </a:solidFill>
          <a:ln cap="flat" cmpd="sng" w="9525">
            <a:solidFill>
              <a:srgbClr val="674EA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3" name="Google Shape;1223;p64"/>
          <p:cNvSpPr/>
          <p:nvPr/>
        </p:nvSpPr>
        <p:spPr>
          <a:xfrm>
            <a:off x="7068700" y="4691085"/>
            <a:ext cx="144600" cy="72900"/>
          </a:xfrm>
          <a:prstGeom prst="roundRect">
            <a:avLst>
              <a:gd fmla="val 16667" name="adj"/>
            </a:avLst>
          </a:prstGeom>
          <a:solidFill>
            <a:srgbClr val="0000FF">
              <a:alpha val="14000"/>
            </a:srgbClr>
          </a:solidFill>
          <a:ln cap="flat" cmpd="sng" w="9525">
            <a:solidFill>
              <a:srgbClr val="00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4" name="Google Shape;1224;p64"/>
          <p:cNvSpPr/>
          <p:nvPr/>
        </p:nvSpPr>
        <p:spPr>
          <a:xfrm>
            <a:off x="7068700" y="4825177"/>
            <a:ext cx="144600" cy="72900"/>
          </a:xfrm>
          <a:prstGeom prst="roundRect">
            <a:avLst>
              <a:gd fmla="val 16667" name="adj"/>
            </a:avLst>
          </a:prstGeom>
          <a:solidFill>
            <a:srgbClr val="0E9C8A">
              <a:alpha val="15999"/>
            </a:srgbClr>
          </a:solidFill>
          <a:ln cap="flat" cmpd="sng" w="9525">
            <a:solidFill>
              <a:srgbClr val="0E9C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5" name="Google Shape;1225;p64"/>
          <p:cNvSpPr txBox="1"/>
          <p:nvPr/>
        </p:nvSpPr>
        <p:spPr>
          <a:xfrm>
            <a:off x="7232825" y="4367250"/>
            <a:ext cx="1755600" cy="68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600">
                <a:solidFill>
                  <a:srgbClr val="8A93A6"/>
                </a:solidFill>
                <a:latin typeface="Calibri"/>
                <a:ea typeface="Calibri"/>
                <a:cs typeface="Calibri"/>
                <a:sym typeface="Calibri"/>
              </a:rPr>
              <a:t>Sources externes</a:t>
            </a:r>
            <a:endParaRPr sz="600">
              <a:solidFill>
                <a:srgbClr val="8A93A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600">
                <a:solidFill>
                  <a:srgbClr val="8A93A6"/>
                </a:solidFill>
                <a:latin typeface="Calibri"/>
                <a:ea typeface="Calibri"/>
                <a:cs typeface="Calibri"/>
                <a:sym typeface="Calibri"/>
              </a:rPr>
              <a:t>Ingestion (Kestra)</a:t>
            </a:r>
            <a:endParaRPr sz="600">
              <a:solidFill>
                <a:srgbClr val="8A93A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600">
                <a:solidFill>
                  <a:srgbClr val="8A93A6"/>
                </a:solidFill>
                <a:latin typeface="Calibri"/>
                <a:ea typeface="Calibri"/>
                <a:cs typeface="Calibri"/>
                <a:sym typeface="Calibri"/>
              </a:rPr>
              <a:t>Stockage (PostgreSQL / Redis / Object storage)</a:t>
            </a:r>
            <a:endParaRPr sz="600">
              <a:solidFill>
                <a:srgbClr val="8A93A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600">
                <a:solidFill>
                  <a:srgbClr val="8A93A6"/>
                </a:solidFill>
                <a:latin typeface="Calibri"/>
                <a:ea typeface="Calibri"/>
                <a:cs typeface="Calibri"/>
                <a:sym typeface="Calibri"/>
              </a:rPr>
              <a:t>Applications (API + agent)</a:t>
            </a:r>
            <a:endParaRPr sz="600">
              <a:solidFill>
                <a:srgbClr val="8A93A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600">
                <a:solidFill>
                  <a:srgbClr val="8A93A6"/>
                </a:solidFill>
                <a:latin typeface="Calibri"/>
                <a:ea typeface="Calibri"/>
                <a:cs typeface="Calibri"/>
                <a:sym typeface="Calibri"/>
              </a:rPr>
              <a:t>Observabilité</a:t>
            </a:r>
            <a:endParaRPr sz="600">
              <a:solidFill>
                <a:srgbClr val="8A93A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6" name="Google Shape;1226;p64"/>
          <p:cNvSpPr txBox="1"/>
          <p:nvPr/>
        </p:nvSpPr>
        <p:spPr>
          <a:xfrm>
            <a:off x="377200" y="233175"/>
            <a:ext cx="2286900" cy="45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9050" lIns="0" spcFirstLastPara="1" rIns="0" wrap="square" tIns="190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1800">
                <a:solidFill>
                  <a:srgbClr val="0E9C8A"/>
                </a:solidFill>
                <a:latin typeface="Calibri"/>
                <a:ea typeface="Calibri"/>
                <a:cs typeface="Calibri"/>
                <a:sym typeface="Calibri"/>
              </a:rPr>
              <a:t>L’architecture du MVP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1" name="Shape 1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2" name="Google Shape;1232;p65"/>
          <p:cNvSpPr txBox="1"/>
          <p:nvPr/>
        </p:nvSpPr>
        <p:spPr>
          <a:xfrm>
            <a:off x="377200" y="675550"/>
            <a:ext cx="26754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9050" lIns="0" spcFirstLastPara="1" rIns="0" wrap="square" tIns="190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1100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Architecture MVP - chatbot RAG Puls-EVents</a:t>
            </a:r>
            <a:endParaRPr b="1" sz="1100">
              <a:solidFill>
                <a:srgbClr val="9CA3A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3" name="Google Shape;1233;p65"/>
          <p:cNvSpPr txBox="1"/>
          <p:nvPr/>
        </p:nvSpPr>
        <p:spPr>
          <a:xfrm>
            <a:off x="377200" y="4945850"/>
            <a:ext cx="999000" cy="166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700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MVP RAG Puls-Events</a:t>
            </a:r>
            <a:endParaRPr sz="700">
              <a:solidFill>
                <a:srgbClr val="9CA3A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4" name="Google Shape;1234;p65"/>
          <p:cNvSpPr/>
          <p:nvPr/>
        </p:nvSpPr>
        <p:spPr>
          <a:xfrm>
            <a:off x="64125" y="1631700"/>
            <a:ext cx="8941200" cy="2605500"/>
          </a:xfrm>
          <a:prstGeom prst="roundRect">
            <a:avLst>
              <a:gd fmla="val 6000" name="adj"/>
            </a:avLst>
          </a:prstGeom>
          <a:noFill/>
          <a:ln cap="flat" cmpd="sng" w="9525">
            <a:solidFill>
              <a:srgbClr val="B07BC2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5" name="Google Shape;1235;p65"/>
          <p:cNvSpPr/>
          <p:nvPr/>
        </p:nvSpPr>
        <p:spPr>
          <a:xfrm>
            <a:off x="499800" y="980277"/>
            <a:ext cx="2286000" cy="521400"/>
          </a:xfrm>
          <a:prstGeom prst="roundRect">
            <a:avLst>
              <a:gd fmla="val 16667" name="adj"/>
            </a:avLst>
          </a:prstGeom>
          <a:solidFill>
            <a:srgbClr val="9CA3AF">
              <a:alpha val="6960"/>
            </a:srgbClr>
          </a:solidFill>
          <a:ln cap="flat" cmpd="sng" w="12700">
            <a:solidFill>
              <a:srgbClr val="9CA3A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6575" lIns="91425" spcFirstLastPara="1" rIns="73150" wrap="square" tIns="365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800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Opendatasoft API</a:t>
            </a:r>
            <a:endParaRPr b="1" sz="800">
              <a:solidFill>
                <a:srgbClr val="9CA3A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600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events Open Agenda</a:t>
            </a:r>
            <a:endParaRPr b="1" sz="600">
              <a:solidFill>
                <a:srgbClr val="9CA3A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6" name="Google Shape;1236;p65"/>
          <p:cNvSpPr/>
          <p:nvPr/>
        </p:nvSpPr>
        <p:spPr>
          <a:xfrm>
            <a:off x="576219" y="1831125"/>
            <a:ext cx="1578000" cy="359700"/>
          </a:xfrm>
          <a:prstGeom prst="roundRect">
            <a:avLst>
              <a:gd fmla="val 16667" name="adj"/>
            </a:avLst>
          </a:prstGeom>
          <a:solidFill>
            <a:srgbClr val="923E22">
              <a:alpha val="7999"/>
            </a:srgbClr>
          </a:solidFill>
          <a:ln cap="flat" cmpd="sng" w="9525">
            <a:solidFill>
              <a:srgbClr val="923E2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800">
                <a:solidFill>
                  <a:srgbClr val="923E22"/>
                </a:solidFill>
                <a:latin typeface="Calibri"/>
                <a:ea typeface="Calibri"/>
                <a:cs typeface="Calibri"/>
                <a:sym typeface="Calibri"/>
              </a:rPr>
              <a:t>Kestra</a:t>
            </a:r>
            <a:r>
              <a:rPr lang="fr" sz="600">
                <a:solidFill>
                  <a:srgbClr val="923E22"/>
                </a:solidFill>
                <a:latin typeface="Calibri"/>
                <a:ea typeface="Calibri"/>
                <a:cs typeface="Calibri"/>
                <a:sym typeface="Calibri"/>
              </a:rPr>
              <a:t> - ingestion planifiée</a:t>
            </a:r>
            <a:endParaRPr sz="600">
              <a:solidFill>
                <a:srgbClr val="923E2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 sz="600">
                <a:solidFill>
                  <a:srgbClr val="923E22"/>
                </a:solidFill>
                <a:latin typeface="Calibri"/>
                <a:ea typeface="Calibri"/>
                <a:cs typeface="Calibri"/>
                <a:sym typeface="Calibri"/>
              </a:rPr>
              <a:t>fetch ⇒ clean ⇒ embed ⇒ upsert</a:t>
            </a:r>
            <a:endParaRPr sz="600">
              <a:solidFill>
                <a:srgbClr val="923E2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237" name="Google Shape;1237;p65"/>
          <p:cNvCxnSpPr>
            <a:endCxn id="1236" idx="0"/>
          </p:cNvCxnSpPr>
          <p:nvPr/>
        </p:nvCxnSpPr>
        <p:spPr>
          <a:xfrm flipH="1">
            <a:off x="1365219" y="1511925"/>
            <a:ext cx="2100" cy="319200"/>
          </a:xfrm>
          <a:prstGeom prst="straightConnector1">
            <a:avLst/>
          </a:prstGeom>
          <a:noFill/>
          <a:ln cap="flat" cmpd="sng" w="9525">
            <a:solidFill>
              <a:srgbClr val="923E2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238" name="Google Shape;1238;p65"/>
          <p:cNvSpPr txBox="1"/>
          <p:nvPr/>
        </p:nvSpPr>
        <p:spPr>
          <a:xfrm>
            <a:off x="1290360" y="1518088"/>
            <a:ext cx="582600" cy="12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 sz="600">
                <a:solidFill>
                  <a:srgbClr val="923E22"/>
                </a:solidFill>
                <a:latin typeface="Calibri"/>
                <a:ea typeface="Calibri"/>
                <a:cs typeface="Calibri"/>
                <a:sym typeface="Calibri"/>
              </a:rPr>
              <a:t>événements</a:t>
            </a:r>
            <a:endParaRPr sz="600">
              <a:solidFill>
                <a:srgbClr val="923E2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9" name="Google Shape;1239;p65"/>
          <p:cNvSpPr txBox="1"/>
          <p:nvPr/>
        </p:nvSpPr>
        <p:spPr>
          <a:xfrm>
            <a:off x="283150" y="3953488"/>
            <a:ext cx="2454600" cy="23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1000">
                <a:solidFill>
                  <a:srgbClr val="B07BC2"/>
                </a:solidFill>
                <a:latin typeface="Calibri"/>
                <a:ea typeface="Calibri"/>
                <a:cs typeface="Calibri"/>
                <a:sym typeface="Calibri"/>
              </a:rPr>
              <a:t>SCALEWAY</a:t>
            </a:r>
            <a:r>
              <a:rPr lang="fr" sz="800">
                <a:solidFill>
                  <a:srgbClr val="B07BC2"/>
                </a:solidFill>
                <a:latin typeface="Calibri"/>
                <a:ea typeface="Calibri"/>
                <a:cs typeface="Calibri"/>
                <a:sym typeface="Calibri"/>
              </a:rPr>
              <a:t> - cloud souverain (UE, hors CLOUD Act) </a:t>
            </a:r>
            <a:endParaRPr sz="800">
              <a:solidFill>
                <a:srgbClr val="B07BC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0" name="Google Shape;1240;p65"/>
          <p:cNvSpPr/>
          <p:nvPr/>
        </p:nvSpPr>
        <p:spPr>
          <a:xfrm>
            <a:off x="7068700" y="4409050"/>
            <a:ext cx="144600" cy="72900"/>
          </a:xfrm>
          <a:prstGeom prst="roundRect">
            <a:avLst>
              <a:gd fmla="val 16667" name="adj"/>
            </a:avLst>
          </a:prstGeom>
          <a:solidFill>
            <a:srgbClr val="9CA3AF">
              <a:alpha val="6960"/>
            </a:srgbClr>
          </a:solidFill>
          <a:ln cap="flat" cmpd="sng" w="9525">
            <a:solidFill>
              <a:srgbClr val="9CA3A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1" name="Google Shape;1241;p65"/>
          <p:cNvSpPr/>
          <p:nvPr/>
        </p:nvSpPr>
        <p:spPr>
          <a:xfrm>
            <a:off x="7068700" y="4550067"/>
            <a:ext cx="144600" cy="72900"/>
          </a:xfrm>
          <a:prstGeom prst="roundRect">
            <a:avLst>
              <a:gd fmla="val 16667" name="adj"/>
            </a:avLst>
          </a:prstGeom>
          <a:solidFill>
            <a:srgbClr val="923E22">
              <a:alpha val="7999"/>
            </a:srgbClr>
          </a:solidFill>
          <a:ln cap="flat" cmpd="sng" w="9525">
            <a:solidFill>
              <a:srgbClr val="923E2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2" name="Google Shape;1242;p65"/>
          <p:cNvSpPr/>
          <p:nvPr/>
        </p:nvSpPr>
        <p:spPr>
          <a:xfrm>
            <a:off x="7068700" y="4962200"/>
            <a:ext cx="144600" cy="72900"/>
          </a:xfrm>
          <a:prstGeom prst="roundRect">
            <a:avLst>
              <a:gd fmla="val 16667" name="adj"/>
            </a:avLst>
          </a:prstGeom>
          <a:solidFill>
            <a:srgbClr val="674EA7">
              <a:alpha val="7999"/>
            </a:srgbClr>
          </a:solidFill>
          <a:ln cap="flat" cmpd="sng" w="9525">
            <a:solidFill>
              <a:srgbClr val="674EA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3" name="Google Shape;1243;p65"/>
          <p:cNvSpPr/>
          <p:nvPr/>
        </p:nvSpPr>
        <p:spPr>
          <a:xfrm>
            <a:off x="7068700" y="4691085"/>
            <a:ext cx="144600" cy="72900"/>
          </a:xfrm>
          <a:prstGeom prst="roundRect">
            <a:avLst>
              <a:gd fmla="val 16667" name="adj"/>
            </a:avLst>
          </a:prstGeom>
          <a:solidFill>
            <a:srgbClr val="0000FF">
              <a:alpha val="14000"/>
            </a:srgbClr>
          </a:solidFill>
          <a:ln cap="flat" cmpd="sng" w="9525">
            <a:solidFill>
              <a:srgbClr val="00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4" name="Google Shape;1244;p65"/>
          <p:cNvSpPr/>
          <p:nvPr/>
        </p:nvSpPr>
        <p:spPr>
          <a:xfrm>
            <a:off x="7068700" y="4825177"/>
            <a:ext cx="144600" cy="72900"/>
          </a:xfrm>
          <a:prstGeom prst="roundRect">
            <a:avLst>
              <a:gd fmla="val 16667" name="adj"/>
            </a:avLst>
          </a:prstGeom>
          <a:solidFill>
            <a:srgbClr val="0E9C8A">
              <a:alpha val="15999"/>
            </a:srgbClr>
          </a:solidFill>
          <a:ln cap="flat" cmpd="sng" w="9525">
            <a:solidFill>
              <a:srgbClr val="0E9C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5" name="Google Shape;1245;p65"/>
          <p:cNvSpPr txBox="1"/>
          <p:nvPr/>
        </p:nvSpPr>
        <p:spPr>
          <a:xfrm>
            <a:off x="7232825" y="4367250"/>
            <a:ext cx="1755600" cy="68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600">
                <a:solidFill>
                  <a:srgbClr val="8A93A6"/>
                </a:solidFill>
                <a:latin typeface="Calibri"/>
                <a:ea typeface="Calibri"/>
                <a:cs typeface="Calibri"/>
                <a:sym typeface="Calibri"/>
              </a:rPr>
              <a:t>Sources externes</a:t>
            </a:r>
            <a:endParaRPr sz="600">
              <a:solidFill>
                <a:srgbClr val="8A93A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600">
                <a:solidFill>
                  <a:srgbClr val="8A93A6"/>
                </a:solidFill>
                <a:latin typeface="Calibri"/>
                <a:ea typeface="Calibri"/>
                <a:cs typeface="Calibri"/>
                <a:sym typeface="Calibri"/>
              </a:rPr>
              <a:t>Ingestion (Kestra)</a:t>
            </a:r>
            <a:endParaRPr sz="600">
              <a:solidFill>
                <a:srgbClr val="8A93A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600">
                <a:solidFill>
                  <a:srgbClr val="8A93A6"/>
                </a:solidFill>
                <a:latin typeface="Calibri"/>
                <a:ea typeface="Calibri"/>
                <a:cs typeface="Calibri"/>
                <a:sym typeface="Calibri"/>
              </a:rPr>
              <a:t>Stockage (PostgreSQL / Redis / Object storage)</a:t>
            </a:r>
            <a:endParaRPr sz="600">
              <a:solidFill>
                <a:srgbClr val="8A93A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600">
                <a:solidFill>
                  <a:srgbClr val="8A93A6"/>
                </a:solidFill>
                <a:latin typeface="Calibri"/>
                <a:ea typeface="Calibri"/>
                <a:cs typeface="Calibri"/>
                <a:sym typeface="Calibri"/>
              </a:rPr>
              <a:t>Applications (API + agent)</a:t>
            </a:r>
            <a:endParaRPr sz="600">
              <a:solidFill>
                <a:srgbClr val="8A93A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600">
                <a:solidFill>
                  <a:srgbClr val="8A93A6"/>
                </a:solidFill>
                <a:latin typeface="Calibri"/>
                <a:ea typeface="Calibri"/>
                <a:cs typeface="Calibri"/>
                <a:sym typeface="Calibri"/>
              </a:rPr>
              <a:t>Observabilité</a:t>
            </a:r>
            <a:endParaRPr sz="600">
              <a:solidFill>
                <a:srgbClr val="8A93A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6" name="Google Shape;1246;p65"/>
          <p:cNvSpPr txBox="1"/>
          <p:nvPr/>
        </p:nvSpPr>
        <p:spPr>
          <a:xfrm>
            <a:off x="377200" y="233175"/>
            <a:ext cx="2286900" cy="45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9050" lIns="0" spcFirstLastPara="1" rIns="0" wrap="square" tIns="190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1800">
                <a:solidFill>
                  <a:srgbClr val="0E9C8A"/>
                </a:solidFill>
                <a:latin typeface="Calibri"/>
                <a:ea typeface="Calibri"/>
                <a:cs typeface="Calibri"/>
                <a:sym typeface="Calibri"/>
              </a:rPr>
              <a:t>L’architecture du MVP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1" name="Shape 1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2" name="Google Shape;1252;p66"/>
          <p:cNvSpPr txBox="1"/>
          <p:nvPr/>
        </p:nvSpPr>
        <p:spPr>
          <a:xfrm>
            <a:off x="377200" y="675550"/>
            <a:ext cx="26754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9050" lIns="0" spcFirstLastPara="1" rIns="0" wrap="square" tIns="190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1100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Architecture MVP - chatbot RAG Puls-EVents</a:t>
            </a:r>
            <a:endParaRPr b="1" sz="1100">
              <a:solidFill>
                <a:srgbClr val="9CA3A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3" name="Google Shape;1253;p66"/>
          <p:cNvSpPr txBox="1"/>
          <p:nvPr/>
        </p:nvSpPr>
        <p:spPr>
          <a:xfrm>
            <a:off x="377200" y="4945850"/>
            <a:ext cx="999000" cy="166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700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MVP RAG Puls-Events</a:t>
            </a:r>
            <a:endParaRPr sz="700">
              <a:solidFill>
                <a:srgbClr val="9CA3A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4" name="Google Shape;1254;p66"/>
          <p:cNvSpPr/>
          <p:nvPr/>
        </p:nvSpPr>
        <p:spPr>
          <a:xfrm>
            <a:off x="64125" y="1631700"/>
            <a:ext cx="8941200" cy="2605500"/>
          </a:xfrm>
          <a:prstGeom prst="roundRect">
            <a:avLst>
              <a:gd fmla="val 6000" name="adj"/>
            </a:avLst>
          </a:prstGeom>
          <a:noFill/>
          <a:ln cap="flat" cmpd="sng" w="9525">
            <a:solidFill>
              <a:srgbClr val="B07BC2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5" name="Google Shape;1255;p66"/>
          <p:cNvSpPr/>
          <p:nvPr/>
        </p:nvSpPr>
        <p:spPr>
          <a:xfrm>
            <a:off x="499800" y="980277"/>
            <a:ext cx="2286000" cy="521400"/>
          </a:xfrm>
          <a:prstGeom prst="roundRect">
            <a:avLst>
              <a:gd fmla="val 16667" name="adj"/>
            </a:avLst>
          </a:prstGeom>
          <a:solidFill>
            <a:srgbClr val="9CA3AF">
              <a:alpha val="6960"/>
            </a:srgbClr>
          </a:solidFill>
          <a:ln cap="flat" cmpd="sng" w="12700">
            <a:solidFill>
              <a:srgbClr val="9CA3A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6575" lIns="91425" spcFirstLastPara="1" rIns="73150" wrap="square" tIns="365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800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Opendatasoft API</a:t>
            </a:r>
            <a:endParaRPr b="1" sz="800">
              <a:solidFill>
                <a:srgbClr val="9CA3A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600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events Open Agenda</a:t>
            </a:r>
            <a:endParaRPr b="1" sz="600">
              <a:solidFill>
                <a:srgbClr val="9CA3A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6" name="Google Shape;1256;p66"/>
          <p:cNvSpPr/>
          <p:nvPr/>
        </p:nvSpPr>
        <p:spPr>
          <a:xfrm>
            <a:off x="3429000" y="979502"/>
            <a:ext cx="2286000" cy="521400"/>
          </a:xfrm>
          <a:prstGeom prst="roundRect">
            <a:avLst>
              <a:gd fmla="val 16667" name="adj"/>
            </a:avLst>
          </a:prstGeom>
          <a:solidFill>
            <a:srgbClr val="9CA3AF">
              <a:alpha val="6960"/>
            </a:srgbClr>
          </a:solidFill>
          <a:ln cap="flat" cmpd="sng" w="12700">
            <a:solidFill>
              <a:srgbClr val="9CA3A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6575" lIns="91425" spcFirstLastPara="1" rIns="73150" wrap="square" tIns="365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800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Mistral API (UE)</a:t>
            </a:r>
            <a:endParaRPr b="1" sz="800">
              <a:solidFill>
                <a:srgbClr val="9CA3A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600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embeddings + LLM</a:t>
            </a:r>
            <a:endParaRPr b="1" sz="600">
              <a:solidFill>
                <a:srgbClr val="9CA3A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7" name="Google Shape;1257;p66"/>
          <p:cNvSpPr/>
          <p:nvPr/>
        </p:nvSpPr>
        <p:spPr>
          <a:xfrm>
            <a:off x="576219" y="1831125"/>
            <a:ext cx="1578000" cy="359700"/>
          </a:xfrm>
          <a:prstGeom prst="roundRect">
            <a:avLst>
              <a:gd fmla="val 16667" name="adj"/>
            </a:avLst>
          </a:prstGeom>
          <a:solidFill>
            <a:srgbClr val="923E22">
              <a:alpha val="7999"/>
            </a:srgbClr>
          </a:solidFill>
          <a:ln cap="flat" cmpd="sng" w="9525">
            <a:solidFill>
              <a:srgbClr val="923E2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800">
                <a:solidFill>
                  <a:srgbClr val="923E22"/>
                </a:solidFill>
                <a:latin typeface="Calibri"/>
                <a:ea typeface="Calibri"/>
                <a:cs typeface="Calibri"/>
                <a:sym typeface="Calibri"/>
              </a:rPr>
              <a:t>Kestra</a:t>
            </a:r>
            <a:r>
              <a:rPr lang="fr" sz="600">
                <a:solidFill>
                  <a:srgbClr val="923E22"/>
                </a:solidFill>
                <a:latin typeface="Calibri"/>
                <a:ea typeface="Calibri"/>
                <a:cs typeface="Calibri"/>
                <a:sym typeface="Calibri"/>
              </a:rPr>
              <a:t> - ingestion planifiée</a:t>
            </a:r>
            <a:endParaRPr sz="600">
              <a:solidFill>
                <a:srgbClr val="923E2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 sz="600">
                <a:solidFill>
                  <a:srgbClr val="923E22"/>
                </a:solidFill>
                <a:latin typeface="Calibri"/>
                <a:ea typeface="Calibri"/>
                <a:cs typeface="Calibri"/>
                <a:sym typeface="Calibri"/>
              </a:rPr>
              <a:t>fetch ⇒ clean ⇒ embed ⇒ upsert</a:t>
            </a:r>
            <a:endParaRPr sz="600">
              <a:solidFill>
                <a:srgbClr val="923E2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258" name="Google Shape;1258;p66"/>
          <p:cNvCxnSpPr>
            <a:endCxn id="1257" idx="0"/>
          </p:cNvCxnSpPr>
          <p:nvPr/>
        </p:nvCxnSpPr>
        <p:spPr>
          <a:xfrm flipH="1">
            <a:off x="1365219" y="1511925"/>
            <a:ext cx="2100" cy="319200"/>
          </a:xfrm>
          <a:prstGeom prst="straightConnector1">
            <a:avLst/>
          </a:prstGeom>
          <a:noFill/>
          <a:ln cap="flat" cmpd="sng" w="9525">
            <a:solidFill>
              <a:srgbClr val="923E2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259" name="Google Shape;1259;p66"/>
          <p:cNvCxnSpPr>
            <a:stCxn id="1257" idx="3"/>
            <a:endCxn id="1256" idx="1"/>
          </p:cNvCxnSpPr>
          <p:nvPr/>
        </p:nvCxnSpPr>
        <p:spPr>
          <a:xfrm flipH="1" rot="10800000">
            <a:off x="2154219" y="1240275"/>
            <a:ext cx="1274700" cy="770700"/>
          </a:xfrm>
          <a:prstGeom prst="curvedConnector3">
            <a:avLst>
              <a:gd fmla="val 50003" name="adj1"/>
            </a:avLst>
          </a:prstGeom>
          <a:noFill/>
          <a:ln cap="flat" cmpd="sng" w="9525">
            <a:solidFill>
              <a:srgbClr val="923E22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1260" name="Google Shape;1260;p66"/>
          <p:cNvSpPr txBox="1"/>
          <p:nvPr/>
        </p:nvSpPr>
        <p:spPr>
          <a:xfrm>
            <a:off x="1290360" y="1518088"/>
            <a:ext cx="582600" cy="12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 sz="600">
                <a:solidFill>
                  <a:srgbClr val="923E22"/>
                </a:solidFill>
                <a:latin typeface="Calibri"/>
                <a:ea typeface="Calibri"/>
                <a:cs typeface="Calibri"/>
                <a:sym typeface="Calibri"/>
              </a:rPr>
              <a:t>événements</a:t>
            </a:r>
            <a:endParaRPr sz="600">
              <a:solidFill>
                <a:srgbClr val="923E2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1" name="Google Shape;1261;p66"/>
          <p:cNvSpPr txBox="1"/>
          <p:nvPr/>
        </p:nvSpPr>
        <p:spPr>
          <a:xfrm>
            <a:off x="2517323" y="1775063"/>
            <a:ext cx="582600" cy="12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 sz="600">
                <a:solidFill>
                  <a:srgbClr val="923E22"/>
                </a:solidFill>
                <a:latin typeface="Calibri"/>
                <a:ea typeface="Calibri"/>
                <a:cs typeface="Calibri"/>
                <a:sym typeface="Calibri"/>
              </a:rPr>
              <a:t>embeddings</a:t>
            </a:r>
            <a:endParaRPr sz="600">
              <a:solidFill>
                <a:srgbClr val="923E2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2" name="Google Shape;1262;p66"/>
          <p:cNvSpPr txBox="1"/>
          <p:nvPr/>
        </p:nvSpPr>
        <p:spPr>
          <a:xfrm>
            <a:off x="283150" y="3953488"/>
            <a:ext cx="2454600" cy="23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1000">
                <a:solidFill>
                  <a:srgbClr val="B07BC2"/>
                </a:solidFill>
                <a:latin typeface="Calibri"/>
                <a:ea typeface="Calibri"/>
                <a:cs typeface="Calibri"/>
                <a:sym typeface="Calibri"/>
              </a:rPr>
              <a:t>SCALEWAY</a:t>
            </a:r>
            <a:r>
              <a:rPr lang="fr" sz="800">
                <a:solidFill>
                  <a:srgbClr val="B07BC2"/>
                </a:solidFill>
                <a:latin typeface="Calibri"/>
                <a:ea typeface="Calibri"/>
                <a:cs typeface="Calibri"/>
                <a:sym typeface="Calibri"/>
              </a:rPr>
              <a:t> - cloud souverain (UE, hors CLOUD Act) </a:t>
            </a:r>
            <a:endParaRPr sz="800">
              <a:solidFill>
                <a:srgbClr val="B07BC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3" name="Google Shape;1263;p66"/>
          <p:cNvSpPr/>
          <p:nvPr/>
        </p:nvSpPr>
        <p:spPr>
          <a:xfrm>
            <a:off x="7068700" y="4409050"/>
            <a:ext cx="144600" cy="72900"/>
          </a:xfrm>
          <a:prstGeom prst="roundRect">
            <a:avLst>
              <a:gd fmla="val 16667" name="adj"/>
            </a:avLst>
          </a:prstGeom>
          <a:solidFill>
            <a:srgbClr val="9CA3AF">
              <a:alpha val="6960"/>
            </a:srgbClr>
          </a:solidFill>
          <a:ln cap="flat" cmpd="sng" w="9525">
            <a:solidFill>
              <a:srgbClr val="9CA3A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4" name="Google Shape;1264;p66"/>
          <p:cNvSpPr/>
          <p:nvPr/>
        </p:nvSpPr>
        <p:spPr>
          <a:xfrm>
            <a:off x="7068700" y="4550067"/>
            <a:ext cx="144600" cy="72900"/>
          </a:xfrm>
          <a:prstGeom prst="roundRect">
            <a:avLst>
              <a:gd fmla="val 16667" name="adj"/>
            </a:avLst>
          </a:prstGeom>
          <a:solidFill>
            <a:srgbClr val="923E22">
              <a:alpha val="7999"/>
            </a:srgbClr>
          </a:solidFill>
          <a:ln cap="flat" cmpd="sng" w="9525">
            <a:solidFill>
              <a:srgbClr val="923E2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5" name="Google Shape;1265;p66"/>
          <p:cNvSpPr/>
          <p:nvPr/>
        </p:nvSpPr>
        <p:spPr>
          <a:xfrm>
            <a:off x="7068700" y="4962200"/>
            <a:ext cx="144600" cy="72900"/>
          </a:xfrm>
          <a:prstGeom prst="roundRect">
            <a:avLst>
              <a:gd fmla="val 16667" name="adj"/>
            </a:avLst>
          </a:prstGeom>
          <a:solidFill>
            <a:srgbClr val="674EA7">
              <a:alpha val="7999"/>
            </a:srgbClr>
          </a:solidFill>
          <a:ln cap="flat" cmpd="sng" w="9525">
            <a:solidFill>
              <a:srgbClr val="674EA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6" name="Google Shape;1266;p66"/>
          <p:cNvSpPr/>
          <p:nvPr/>
        </p:nvSpPr>
        <p:spPr>
          <a:xfrm>
            <a:off x="7068700" y="4691085"/>
            <a:ext cx="144600" cy="72900"/>
          </a:xfrm>
          <a:prstGeom prst="roundRect">
            <a:avLst>
              <a:gd fmla="val 16667" name="adj"/>
            </a:avLst>
          </a:prstGeom>
          <a:solidFill>
            <a:srgbClr val="0000FF">
              <a:alpha val="14000"/>
            </a:srgbClr>
          </a:solidFill>
          <a:ln cap="flat" cmpd="sng" w="9525">
            <a:solidFill>
              <a:srgbClr val="00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7" name="Google Shape;1267;p66"/>
          <p:cNvSpPr/>
          <p:nvPr/>
        </p:nvSpPr>
        <p:spPr>
          <a:xfrm>
            <a:off x="7068700" y="4825177"/>
            <a:ext cx="144600" cy="72900"/>
          </a:xfrm>
          <a:prstGeom prst="roundRect">
            <a:avLst>
              <a:gd fmla="val 16667" name="adj"/>
            </a:avLst>
          </a:prstGeom>
          <a:solidFill>
            <a:srgbClr val="0E9C8A">
              <a:alpha val="15999"/>
            </a:srgbClr>
          </a:solidFill>
          <a:ln cap="flat" cmpd="sng" w="9525">
            <a:solidFill>
              <a:srgbClr val="0E9C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8" name="Google Shape;1268;p66"/>
          <p:cNvSpPr txBox="1"/>
          <p:nvPr/>
        </p:nvSpPr>
        <p:spPr>
          <a:xfrm>
            <a:off x="7232825" y="4367250"/>
            <a:ext cx="1755600" cy="68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600">
                <a:solidFill>
                  <a:srgbClr val="8A93A6"/>
                </a:solidFill>
                <a:latin typeface="Calibri"/>
                <a:ea typeface="Calibri"/>
                <a:cs typeface="Calibri"/>
                <a:sym typeface="Calibri"/>
              </a:rPr>
              <a:t>Sources externes</a:t>
            </a:r>
            <a:endParaRPr sz="600">
              <a:solidFill>
                <a:srgbClr val="8A93A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600">
                <a:solidFill>
                  <a:srgbClr val="8A93A6"/>
                </a:solidFill>
                <a:latin typeface="Calibri"/>
                <a:ea typeface="Calibri"/>
                <a:cs typeface="Calibri"/>
                <a:sym typeface="Calibri"/>
              </a:rPr>
              <a:t>Ingestion (Kestra)</a:t>
            </a:r>
            <a:endParaRPr sz="600">
              <a:solidFill>
                <a:srgbClr val="8A93A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600">
                <a:solidFill>
                  <a:srgbClr val="8A93A6"/>
                </a:solidFill>
                <a:latin typeface="Calibri"/>
                <a:ea typeface="Calibri"/>
                <a:cs typeface="Calibri"/>
                <a:sym typeface="Calibri"/>
              </a:rPr>
              <a:t>Stockage (PostgreSQL / Redis / Object storage)</a:t>
            </a:r>
            <a:endParaRPr sz="600">
              <a:solidFill>
                <a:srgbClr val="8A93A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600">
                <a:solidFill>
                  <a:srgbClr val="8A93A6"/>
                </a:solidFill>
                <a:latin typeface="Calibri"/>
                <a:ea typeface="Calibri"/>
                <a:cs typeface="Calibri"/>
                <a:sym typeface="Calibri"/>
              </a:rPr>
              <a:t>Applications (API + agent)</a:t>
            </a:r>
            <a:endParaRPr sz="600">
              <a:solidFill>
                <a:srgbClr val="8A93A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600">
                <a:solidFill>
                  <a:srgbClr val="8A93A6"/>
                </a:solidFill>
                <a:latin typeface="Calibri"/>
                <a:ea typeface="Calibri"/>
                <a:cs typeface="Calibri"/>
                <a:sym typeface="Calibri"/>
              </a:rPr>
              <a:t>Observabilité</a:t>
            </a:r>
            <a:endParaRPr sz="600">
              <a:solidFill>
                <a:srgbClr val="8A93A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9" name="Google Shape;1269;p66"/>
          <p:cNvSpPr txBox="1"/>
          <p:nvPr/>
        </p:nvSpPr>
        <p:spPr>
          <a:xfrm>
            <a:off x="377200" y="233175"/>
            <a:ext cx="2286900" cy="45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9050" lIns="0" spcFirstLastPara="1" rIns="0" wrap="square" tIns="190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1800">
                <a:solidFill>
                  <a:srgbClr val="0E9C8A"/>
                </a:solidFill>
                <a:latin typeface="Calibri"/>
                <a:ea typeface="Calibri"/>
                <a:cs typeface="Calibri"/>
                <a:sym typeface="Calibri"/>
              </a:rPr>
              <a:t>L’architecture du MVP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4" name="Shape 1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5" name="Google Shape;1275;p67"/>
          <p:cNvSpPr txBox="1"/>
          <p:nvPr/>
        </p:nvSpPr>
        <p:spPr>
          <a:xfrm>
            <a:off x="377200" y="675550"/>
            <a:ext cx="26754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9050" lIns="0" spcFirstLastPara="1" rIns="0" wrap="square" tIns="190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1100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Architecture MVP - chatbot RAG Puls-EVents</a:t>
            </a:r>
            <a:endParaRPr b="1" sz="1100">
              <a:solidFill>
                <a:srgbClr val="9CA3A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6" name="Google Shape;1276;p67"/>
          <p:cNvSpPr txBox="1"/>
          <p:nvPr/>
        </p:nvSpPr>
        <p:spPr>
          <a:xfrm>
            <a:off x="377200" y="4945850"/>
            <a:ext cx="999000" cy="166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700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MVP RAG Puls-Events</a:t>
            </a:r>
            <a:endParaRPr sz="700">
              <a:solidFill>
                <a:srgbClr val="9CA3A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7" name="Google Shape;1277;p67"/>
          <p:cNvSpPr/>
          <p:nvPr/>
        </p:nvSpPr>
        <p:spPr>
          <a:xfrm>
            <a:off x="64125" y="1631700"/>
            <a:ext cx="8941200" cy="2605500"/>
          </a:xfrm>
          <a:prstGeom prst="roundRect">
            <a:avLst>
              <a:gd fmla="val 6000" name="adj"/>
            </a:avLst>
          </a:prstGeom>
          <a:noFill/>
          <a:ln cap="flat" cmpd="sng" w="9525">
            <a:solidFill>
              <a:srgbClr val="B07BC2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8" name="Google Shape;1278;p67"/>
          <p:cNvSpPr/>
          <p:nvPr/>
        </p:nvSpPr>
        <p:spPr>
          <a:xfrm>
            <a:off x="499800" y="980277"/>
            <a:ext cx="2286000" cy="521400"/>
          </a:xfrm>
          <a:prstGeom prst="roundRect">
            <a:avLst>
              <a:gd fmla="val 16667" name="adj"/>
            </a:avLst>
          </a:prstGeom>
          <a:solidFill>
            <a:srgbClr val="9CA3AF">
              <a:alpha val="6960"/>
            </a:srgbClr>
          </a:solidFill>
          <a:ln cap="flat" cmpd="sng" w="12700">
            <a:solidFill>
              <a:srgbClr val="9CA3A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6575" lIns="91425" spcFirstLastPara="1" rIns="73150" wrap="square" tIns="365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800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Opendatasoft API</a:t>
            </a:r>
            <a:endParaRPr b="1" sz="800">
              <a:solidFill>
                <a:srgbClr val="9CA3A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600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events Open Agenda</a:t>
            </a:r>
            <a:endParaRPr b="1" sz="600">
              <a:solidFill>
                <a:srgbClr val="9CA3A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9" name="Google Shape;1279;p67"/>
          <p:cNvSpPr/>
          <p:nvPr/>
        </p:nvSpPr>
        <p:spPr>
          <a:xfrm>
            <a:off x="3429000" y="979502"/>
            <a:ext cx="2286000" cy="521400"/>
          </a:xfrm>
          <a:prstGeom prst="roundRect">
            <a:avLst>
              <a:gd fmla="val 16667" name="adj"/>
            </a:avLst>
          </a:prstGeom>
          <a:solidFill>
            <a:srgbClr val="9CA3AF">
              <a:alpha val="6960"/>
            </a:srgbClr>
          </a:solidFill>
          <a:ln cap="flat" cmpd="sng" w="12700">
            <a:solidFill>
              <a:srgbClr val="9CA3A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6575" lIns="91425" spcFirstLastPara="1" rIns="73150" wrap="square" tIns="365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800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Mistral API (UE)</a:t>
            </a:r>
            <a:endParaRPr b="1" sz="800">
              <a:solidFill>
                <a:srgbClr val="9CA3A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600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embeddings + LLM</a:t>
            </a:r>
            <a:endParaRPr b="1" sz="600">
              <a:solidFill>
                <a:srgbClr val="9CA3A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0" name="Google Shape;1280;p67"/>
          <p:cNvSpPr/>
          <p:nvPr/>
        </p:nvSpPr>
        <p:spPr>
          <a:xfrm>
            <a:off x="576219" y="1831125"/>
            <a:ext cx="1578000" cy="359700"/>
          </a:xfrm>
          <a:prstGeom prst="roundRect">
            <a:avLst>
              <a:gd fmla="val 16667" name="adj"/>
            </a:avLst>
          </a:prstGeom>
          <a:solidFill>
            <a:srgbClr val="923E22">
              <a:alpha val="7999"/>
            </a:srgbClr>
          </a:solidFill>
          <a:ln cap="flat" cmpd="sng" w="9525">
            <a:solidFill>
              <a:srgbClr val="923E2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800">
                <a:solidFill>
                  <a:srgbClr val="923E22"/>
                </a:solidFill>
                <a:latin typeface="Calibri"/>
                <a:ea typeface="Calibri"/>
                <a:cs typeface="Calibri"/>
                <a:sym typeface="Calibri"/>
              </a:rPr>
              <a:t>Kestra</a:t>
            </a:r>
            <a:r>
              <a:rPr lang="fr" sz="600">
                <a:solidFill>
                  <a:srgbClr val="923E22"/>
                </a:solidFill>
                <a:latin typeface="Calibri"/>
                <a:ea typeface="Calibri"/>
                <a:cs typeface="Calibri"/>
                <a:sym typeface="Calibri"/>
              </a:rPr>
              <a:t> - ingestion planifiée</a:t>
            </a:r>
            <a:endParaRPr sz="600">
              <a:solidFill>
                <a:srgbClr val="923E2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 sz="600">
                <a:solidFill>
                  <a:srgbClr val="923E22"/>
                </a:solidFill>
                <a:latin typeface="Calibri"/>
                <a:ea typeface="Calibri"/>
                <a:cs typeface="Calibri"/>
                <a:sym typeface="Calibri"/>
              </a:rPr>
              <a:t>fetch ⇒ clean ⇒ embed ⇒ upsert</a:t>
            </a:r>
            <a:endParaRPr sz="600">
              <a:solidFill>
                <a:srgbClr val="923E2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281" name="Google Shape;1281;p67"/>
          <p:cNvCxnSpPr>
            <a:endCxn id="1280" idx="0"/>
          </p:cNvCxnSpPr>
          <p:nvPr/>
        </p:nvCxnSpPr>
        <p:spPr>
          <a:xfrm flipH="1">
            <a:off x="1365219" y="1511925"/>
            <a:ext cx="2100" cy="319200"/>
          </a:xfrm>
          <a:prstGeom prst="straightConnector1">
            <a:avLst/>
          </a:prstGeom>
          <a:noFill/>
          <a:ln cap="flat" cmpd="sng" w="9525">
            <a:solidFill>
              <a:srgbClr val="923E2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282" name="Google Shape;1282;p67"/>
          <p:cNvCxnSpPr>
            <a:stCxn id="1280" idx="3"/>
            <a:endCxn id="1279" idx="1"/>
          </p:cNvCxnSpPr>
          <p:nvPr/>
        </p:nvCxnSpPr>
        <p:spPr>
          <a:xfrm flipH="1" rot="10800000">
            <a:off x="2154219" y="1240275"/>
            <a:ext cx="1274700" cy="770700"/>
          </a:xfrm>
          <a:prstGeom prst="curvedConnector3">
            <a:avLst>
              <a:gd fmla="val 50003" name="adj1"/>
            </a:avLst>
          </a:prstGeom>
          <a:noFill/>
          <a:ln cap="flat" cmpd="sng" w="9525">
            <a:solidFill>
              <a:srgbClr val="923E22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1283" name="Google Shape;1283;p67"/>
          <p:cNvSpPr txBox="1"/>
          <p:nvPr/>
        </p:nvSpPr>
        <p:spPr>
          <a:xfrm>
            <a:off x="1290360" y="1518088"/>
            <a:ext cx="582600" cy="12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 sz="600">
                <a:solidFill>
                  <a:srgbClr val="923E22"/>
                </a:solidFill>
                <a:latin typeface="Calibri"/>
                <a:ea typeface="Calibri"/>
                <a:cs typeface="Calibri"/>
                <a:sym typeface="Calibri"/>
              </a:rPr>
              <a:t>événements</a:t>
            </a:r>
            <a:endParaRPr sz="600">
              <a:solidFill>
                <a:srgbClr val="923E2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4" name="Google Shape;1284;p67"/>
          <p:cNvSpPr txBox="1"/>
          <p:nvPr/>
        </p:nvSpPr>
        <p:spPr>
          <a:xfrm>
            <a:off x="2517323" y="1775063"/>
            <a:ext cx="582600" cy="12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 sz="600">
                <a:solidFill>
                  <a:srgbClr val="923E22"/>
                </a:solidFill>
                <a:latin typeface="Calibri"/>
                <a:ea typeface="Calibri"/>
                <a:cs typeface="Calibri"/>
                <a:sym typeface="Calibri"/>
              </a:rPr>
              <a:t>embeddings</a:t>
            </a:r>
            <a:endParaRPr sz="600">
              <a:solidFill>
                <a:srgbClr val="923E2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5" name="Google Shape;1285;p67"/>
          <p:cNvSpPr txBox="1"/>
          <p:nvPr/>
        </p:nvSpPr>
        <p:spPr>
          <a:xfrm>
            <a:off x="283150" y="3953488"/>
            <a:ext cx="2454600" cy="23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1000">
                <a:solidFill>
                  <a:srgbClr val="B07BC2"/>
                </a:solidFill>
                <a:latin typeface="Calibri"/>
                <a:ea typeface="Calibri"/>
                <a:cs typeface="Calibri"/>
                <a:sym typeface="Calibri"/>
              </a:rPr>
              <a:t>SCALEWAY</a:t>
            </a:r>
            <a:r>
              <a:rPr lang="fr" sz="800">
                <a:solidFill>
                  <a:srgbClr val="B07BC2"/>
                </a:solidFill>
                <a:latin typeface="Calibri"/>
                <a:ea typeface="Calibri"/>
                <a:cs typeface="Calibri"/>
                <a:sym typeface="Calibri"/>
              </a:rPr>
              <a:t> - cloud souverain (UE, hors CLOUD Act) </a:t>
            </a:r>
            <a:endParaRPr sz="800">
              <a:solidFill>
                <a:srgbClr val="B07BC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6" name="Google Shape;1286;p67"/>
          <p:cNvSpPr/>
          <p:nvPr/>
        </p:nvSpPr>
        <p:spPr>
          <a:xfrm>
            <a:off x="7068700" y="4409050"/>
            <a:ext cx="144600" cy="72900"/>
          </a:xfrm>
          <a:prstGeom prst="roundRect">
            <a:avLst>
              <a:gd fmla="val 16667" name="adj"/>
            </a:avLst>
          </a:prstGeom>
          <a:solidFill>
            <a:srgbClr val="9CA3AF">
              <a:alpha val="6960"/>
            </a:srgbClr>
          </a:solidFill>
          <a:ln cap="flat" cmpd="sng" w="9525">
            <a:solidFill>
              <a:srgbClr val="9CA3A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7" name="Google Shape;1287;p67"/>
          <p:cNvSpPr/>
          <p:nvPr/>
        </p:nvSpPr>
        <p:spPr>
          <a:xfrm>
            <a:off x="7068700" y="4550067"/>
            <a:ext cx="144600" cy="72900"/>
          </a:xfrm>
          <a:prstGeom prst="roundRect">
            <a:avLst>
              <a:gd fmla="val 16667" name="adj"/>
            </a:avLst>
          </a:prstGeom>
          <a:solidFill>
            <a:srgbClr val="923E22">
              <a:alpha val="7999"/>
            </a:srgbClr>
          </a:solidFill>
          <a:ln cap="flat" cmpd="sng" w="9525">
            <a:solidFill>
              <a:srgbClr val="923E2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8" name="Google Shape;1288;p67"/>
          <p:cNvSpPr/>
          <p:nvPr/>
        </p:nvSpPr>
        <p:spPr>
          <a:xfrm>
            <a:off x="7068700" y="4962200"/>
            <a:ext cx="144600" cy="72900"/>
          </a:xfrm>
          <a:prstGeom prst="roundRect">
            <a:avLst>
              <a:gd fmla="val 16667" name="adj"/>
            </a:avLst>
          </a:prstGeom>
          <a:solidFill>
            <a:srgbClr val="674EA7">
              <a:alpha val="7999"/>
            </a:srgbClr>
          </a:solidFill>
          <a:ln cap="flat" cmpd="sng" w="9525">
            <a:solidFill>
              <a:srgbClr val="674EA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9" name="Google Shape;1289;p67"/>
          <p:cNvSpPr/>
          <p:nvPr/>
        </p:nvSpPr>
        <p:spPr>
          <a:xfrm>
            <a:off x="7068700" y="4691085"/>
            <a:ext cx="144600" cy="72900"/>
          </a:xfrm>
          <a:prstGeom prst="roundRect">
            <a:avLst>
              <a:gd fmla="val 16667" name="adj"/>
            </a:avLst>
          </a:prstGeom>
          <a:solidFill>
            <a:srgbClr val="0000FF">
              <a:alpha val="14000"/>
            </a:srgbClr>
          </a:solidFill>
          <a:ln cap="flat" cmpd="sng" w="9525">
            <a:solidFill>
              <a:srgbClr val="00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0" name="Google Shape;1290;p67"/>
          <p:cNvSpPr/>
          <p:nvPr/>
        </p:nvSpPr>
        <p:spPr>
          <a:xfrm>
            <a:off x="7068700" y="4825177"/>
            <a:ext cx="144600" cy="72900"/>
          </a:xfrm>
          <a:prstGeom prst="roundRect">
            <a:avLst>
              <a:gd fmla="val 16667" name="adj"/>
            </a:avLst>
          </a:prstGeom>
          <a:solidFill>
            <a:srgbClr val="0E9C8A">
              <a:alpha val="15999"/>
            </a:srgbClr>
          </a:solidFill>
          <a:ln cap="flat" cmpd="sng" w="9525">
            <a:solidFill>
              <a:srgbClr val="0E9C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1" name="Google Shape;1291;p67"/>
          <p:cNvSpPr txBox="1"/>
          <p:nvPr/>
        </p:nvSpPr>
        <p:spPr>
          <a:xfrm>
            <a:off x="7232825" y="4367250"/>
            <a:ext cx="1755600" cy="68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600">
                <a:solidFill>
                  <a:srgbClr val="8A93A6"/>
                </a:solidFill>
                <a:latin typeface="Calibri"/>
                <a:ea typeface="Calibri"/>
                <a:cs typeface="Calibri"/>
                <a:sym typeface="Calibri"/>
              </a:rPr>
              <a:t>Sources externes</a:t>
            </a:r>
            <a:endParaRPr sz="600">
              <a:solidFill>
                <a:srgbClr val="8A93A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600">
                <a:solidFill>
                  <a:srgbClr val="8A93A6"/>
                </a:solidFill>
                <a:latin typeface="Calibri"/>
                <a:ea typeface="Calibri"/>
                <a:cs typeface="Calibri"/>
                <a:sym typeface="Calibri"/>
              </a:rPr>
              <a:t>Ingestion (Kestra)</a:t>
            </a:r>
            <a:endParaRPr sz="600">
              <a:solidFill>
                <a:srgbClr val="8A93A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600">
                <a:solidFill>
                  <a:srgbClr val="8A93A6"/>
                </a:solidFill>
                <a:latin typeface="Calibri"/>
                <a:ea typeface="Calibri"/>
                <a:cs typeface="Calibri"/>
                <a:sym typeface="Calibri"/>
              </a:rPr>
              <a:t>Stockage (PostgreSQL / Redis / Object storage)</a:t>
            </a:r>
            <a:endParaRPr sz="600">
              <a:solidFill>
                <a:srgbClr val="8A93A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600">
                <a:solidFill>
                  <a:srgbClr val="8A93A6"/>
                </a:solidFill>
                <a:latin typeface="Calibri"/>
                <a:ea typeface="Calibri"/>
                <a:cs typeface="Calibri"/>
                <a:sym typeface="Calibri"/>
              </a:rPr>
              <a:t>Applications (API + agent)</a:t>
            </a:r>
            <a:endParaRPr sz="600">
              <a:solidFill>
                <a:srgbClr val="8A93A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600">
                <a:solidFill>
                  <a:srgbClr val="8A93A6"/>
                </a:solidFill>
                <a:latin typeface="Calibri"/>
                <a:ea typeface="Calibri"/>
                <a:cs typeface="Calibri"/>
                <a:sym typeface="Calibri"/>
              </a:rPr>
              <a:t>Observabilité</a:t>
            </a:r>
            <a:endParaRPr sz="600">
              <a:solidFill>
                <a:srgbClr val="8A93A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2" name="Google Shape;1292;p67"/>
          <p:cNvSpPr txBox="1"/>
          <p:nvPr/>
        </p:nvSpPr>
        <p:spPr>
          <a:xfrm>
            <a:off x="377200" y="233175"/>
            <a:ext cx="2286900" cy="45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9050" lIns="0" spcFirstLastPara="1" rIns="0" wrap="square" tIns="190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1800">
                <a:solidFill>
                  <a:srgbClr val="0E9C8A"/>
                </a:solidFill>
                <a:latin typeface="Calibri"/>
                <a:ea typeface="Calibri"/>
                <a:cs typeface="Calibri"/>
                <a:sym typeface="Calibri"/>
              </a:rPr>
              <a:t>L’architecture du MVP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293" name="Google Shape;1293;p67"/>
          <p:cNvCxnSpPr/>
          <p:nvPr/>
        </p:nvCxnSpPr>
        <p:spPr>
          <a:xfrm flipH="1">
            <a:off x="562119" y="2010975"/>
            <a:ext cx="14100" cy="1633200"/>
          </a:xfrm>
          <a:prstGeom prst="curvedConnector3">
            <a:avLst>
              <a:gd fmla="val 1788788" name="adj1"/>
            </a:avLst>
          </a:prstGeom>
          <a:noFill/>
          <a:ln cap="flat" cmpd="sng" w="9525">
            <a:solidFill>
              <a:srgbClr val="923E2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294" name="Google Shape;1294;p67"/>
          <p:cNvSpPr txBox="1"/>
          <p:nvPr/>
        </p:nvSpPr>
        <p:spPr>
          <a:xfrm>
            <a:off x="21775" y="2444838"/>
            <a:ext cx="399300" cy="12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 sz="600">
                <a:solidFill>
                  <a:srgbClr val="923E22"/>
                </a:solidFill>
                <a:latin typeface="Calibri"/>
                <a:ea typeface="Calibri"/>
                <a:cs typeface="Calibri"/>
                <a:sym typeface="Calibri"/>
              </a:rPr>
              <a:t>dump</a:t>
            </a:r>
            <a:endParaRPr sz="600">
              <a:solidFill>
                <a:srgbClr val="923E2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5" name="Google Shape;1295;p67"/>
          <p:cNvSpPr/>
          <p:nvPr/>
        </p:nvSpPr>
        <p:spPr>
          <a:xfrm>
            <a:off x="562125" y="3492525"/>
            <a:ext cx="1578000" cy="303000"/>
          </a:xfrm>
          <a:prstGeom prst="roundRect">
            <a:avLst>
              <a:gd fmla="val 16667" name="adj"/>
            </a:avLst>
          </a:prstGeom>
          <a:solidFill>
            <a:srgbClr val="0000FF">
              <a:alpha val="3999"/>
            </a:srgbClr>
          </a:solidFill>
          <a:ln cap="flat" cmpd="sng" w="9525">
            <a:solidFill>
              <a:srgbClr val="00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800">
                <a:solidFill>
                  <a:srgbClr val="3C78D8"/>
                </a:solidFill>
                <a:latin typeface="Calibri"/>
                <a:ea typeface="Calibri"/>
                <a:cs typeface="Calibri"/>
                <a:sym typeface="Calibri"/>
              </a:rPr>
              <a:t>Object storage</a:t>
            </a:r>
            <a:r>
              <a:rPr lang="fr" sz="800">
                <a:solidFill>
                  <a:srgbClr val="3C78D8"/>
                </a:solidFill>
                <a:latin typeface="Calibri"/>
                <a:ea typeface="Calibri"/>
                <a:cs typeface="Calibri"/>
                <a:sym typeface="Calibri"/>
              </a:rPr>
              <a:t> S3</a:t>
            </a:r>
            <a:endParaRPr sz="800">
              <a:solidFill>
                <a:srgbClr val="3C78D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0" name="Shape 1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1" name="Google Shape;1301;p68"/>
          <p:cNvSpPr txBox="1"/>
          <p:nvPr/>
        </p:nvSpPr>
        <p:spPr>
          <a:xfrm>
            <a:off x="377200" y="675550"/>
            <a:ext cx="26754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9050" lIns="0" spcFirstLastPara="1" rIns="0" wrap="square" tIns="190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1100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Architecture MVP - chatbot RAG Puls-EVents</a:t>
            </a:r>
            <a:endParaRPr b="1" sz="1100">
              <a:solidFill>
                <a:srgbClr val="9CA3A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2" name="Google Shape;1302;p68"/>
          <p:cNvSpPr txBox="1"/>
          <p:nvPr/>
        </p:nvSpPr>
        <p:spPr>
          <a:xfrm>
            <a:off x="377200" y="4945850"/>
            <a:ext cx="999000" cy="166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700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MVP RAG Puls-Events</a:t>
            </a:r>
            <a:endParaRPr sz="700">
              <a:solidFill>
                <a:srgbClr val="9CA3A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3" name="Google Shape;1303;p68"/>
          <p:cNvSpPr/>
          <p:nvPr/>
        </p:nvSpPr>
        <p:spPr>
          <a:xfrm>
            <a:off x="64125" y="1631700"/>
            <a:ext cx="8941200" cy="2605500"/>
          </a:xfrm>
          <a:prstGeom prst="roundRect">
            <a:avLst>
              <a:gd fmla="val 6000" name="adj"/>
            </a:avLst>
          </a:prstGeom>
          <a:noFill/>
          <a:ln cap="flat" cmpd="sng" w="9525">
            <a:solidFill>
              <a:srgbClr val="B07BC2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4" name="Google Shape;1304;p68"/>
          <p:cNvSpPr/>
          <p:nvPr/>
        </p:nvSpPr>
        <p:spPr>
          <a:xfrm>
            <a:off x="499800" y="980277"/>
            <a:ext cx="2286000" cy="521400"/>
          </a:xfrm>
          <a:prstGeom prst="roundRect">
            <a:avLst>
              <a:gd fmla="val 16667" name="adj"/>
            </a:avLst>
          </a:prstGeom>
          <a:solidFill>
            <a:srgbClr val="9CA3AF">
              <a:alpha val="6960"/>
            </a:srgbClr>
          </a:solidFill>
          <a:ln cap="flat" cmpd="sng" w="12700">
            <a:solidFill>
              <a:srgbClr val="9CA3A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6575" lIns="91425" spcFirstLastPara="1" rIns="73150" wrap="square" tIns="365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800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Opendatasoft API</a:t>
            </a:r>
            <a:endParaRPr b="1" sz="800">
              <a:solidFill>
                <a:srgbClr val="9CA3A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600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events Open Agenda</a:t>
            </a:r>
            <a:endParaRPr b="1" sz="600">
              <a:solidFill>
                <a:srgbClr val="9CA3A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5" name="Google Shape;1305;p68"/>
          <p:cNvSpPr/>
          <p:nvPr/>
        </p:nvSpPr>
        <p:spPr>
          <a:xfrm>
            <a:off x="3429000" y="979502"/>
            <a:ext cx="2286000" cy="521400"/>
          </a:xfrm>
          <a:prstGeom prst="roundRect">
            <a:avLst>
              <a:gd fmla="val 16667" name="adj"/>
            </a:avLst>
          </a:prstGeom>
          <a:solidFill>
            <a:srgbClr val="9CA3AF">
              <a:alpha val="6960"/>
            </a:srgbClr>
          </a:solidFill>
          <a:ln cap="flat" cmpd="sng" w="12700">
            <a:solidFill>
              <a:srgbClr val="9CA3A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6575" lIns="91425" spcFirstLastPara="1" rIns="73150" wrap="square" tIns="365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800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Mistral API (UE)</a:t>
            </a:r>
            <a:endParaRPr b="1" sz="800">
              <a:solidFill>
                <a:srgbClr val="9CA3A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600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embeddings + LLM</a:t>
            </a:r>
            <a:endParaRPr b="1" sz="600">
              <a:solidFill>
                <a:srgbClr val="9CA3A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6" name="Google Shape;1306;p68"/>
          <p:cNvSpPr/>
          <p:nvPr/>
        </p:nvSpPr>
        <p:spPr>
          <a:xfrm>
            <a:off x="576219" y="1831125"/>
            <a:ext cx="1578000" cy="359700"/>
          </a:xfrm>
          <a:prstGeom prst="roundRect">
            <a:avLst>
              <a:gd fmla="val 16667" name="adj"/>
            </a:avLst>
          </a:prstGeom>
          <a:solidFill>
            <a:srgbClr val="923E22">
              <a:alpha val="7999"/>
            </a:srgbClr>
          </a:solidFill>
          <a:ln cap="flat" cmpd="sng" w="9525">
            <a:solidFill>
              <a:srgbClr val="923E2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800">
                <a:solidFill>
                  <a:srgbClr val="923E22"/>
                </a:solidFill>
                <a:latin typeface="Calibri"/>
                <a:ea typeface="Calibri"/>
                <a:cs typeface="Calibri"/>
                <a:sym typeface="Calibri"/>
              </a:rPr>
              <a:t>Kestra</a:t>
            </a:r>
            <a:r>
              <a:rPr lang="fr" sz="600">
                <a:solidFill>
                  <a:srgbClr val="923E22"/>
                </a:solidFill>
                <a:latin typeface="Calibri"/>
                <a:ea typeface="Calibri"/>
                <a:cs typeface="Calibri"/>
                <a:sym typeface="Calibri"/>
              </a:rPr>
              <a:t> - ingestion planifiée</a:t>
            </a:r>
            <a:endParaRPr sz="600">
              <a:solidFill>
                <a:srgbClr val="923E2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 sz="600">
                <a:solidFill>
                  <a:srgbClr val="923E22"/>
                </a:solidFill>
                <a:latin typeface="Calibri"/>
                <a:ea typeface="Calibri"/>
                <a:cs typeface="Calibri"/>
                <a:sym typeface="Calibri"/>
              </a:rPr>
              <a:t>fetch ⇒ clean ⇒ embed ⇒ upsert</a:t>
            </a:r>
            <a:endParaRPr sz="600">
              <a:solidFill>
                <a:srgbClr val="923E2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7" name="Google Shape;1307;p68"/>
          <p:cNvSpPr/>
          <p:nvPr/>
        </p:nvSpPr>
        <p:spPr>
          <a:xfrm>
            <a:off x="562125" y="2350491"/>
            <a:ext cx="1578000" cy="521400"/>
          </a:xfrm>
          <a:prstGeom prst="roundRect">
            <a:avLst>
              <a:gd fmla="val 16667" name="adj"/>
            </a:avLst>
          </a:prstGeom>
          <a:solidFill>
            <a:srgbClr val="0000FF">
              <a:alpha val="14000"/>
            </a:srgbClr>
          </a:solidFill>
          <a:ln cap="flat" cmpd="sng" w="9525">
            <a:solidFill>
              <a:srgbClr val="00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800">
                <a:solidFill>
                  <a:srgbClr val="3C78D8"/>
                </a:solidFill>
                <a:latin typeface="Calibri"/>
                <a:ea typeface="Calibri"/>
                <a:cs typeface="Calibri"/>
                <a:sym typeface="Calibri"/>
              </a:rPr>
              <a:t>Managed PostgreSQL</a:t>
            </a:r>
            <a:endParaRPr b="1" sz="800">
              <a:solidFill>
                <a:srgbClr val="3C78D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66700" lvl="0" marL="457200" rtl="0" algn="l">
              <a:spcBef>
                <a:spcPts val="0"/>
              </a:spcBef>
              <a:spcAft>
                <a:spcPts val="0"/>
              </a:spcAft>
              <a:buClr>
                <a:srgbClr val="3C78D8"/>
              </a:buClr>
              <a:buSzPts val="600"/>
              <a:buFont typeface="Calibri"/>
              <a:buChar char="●"/>
            </a:pPr>
            <a:r>
              <a:rPr lang="fr" sz="600">
                <a:solidFill>
                  <a:srgbClr val="3C78D8"/>
                </a:solidFill>
                <a:latin typeface="Calibri"/>
                <a:ea typeface="Calibri"/>
                <a:cs typeface="Calibri"/>
                <a:sym typeface="Calibri"/>
              </a:rPr>
              <a:t>pgvector (embeddings)</a:t>
            </a:r>
            <a:endParaRPr sz="600">
              <a:solidFill>
                <a:srgbClr val="3C78D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66700" lvl="0" marL="457200" rtl="0" algn="l">
              <a:spcBef>
                <a:spcPts val="0"/>
              </a:spcBef>
              <a:spcAft>
                <a:spcPts val="0"/>
              </a:spcAft>
              <a:buClr>
                <a:srgbClr val="3C78D8"/>
              </a:buClr>
              <a:buSzPts val="600"/>
              <a:buFont typeface="Calibri"/>
              <a:buChar char="●"/>
            </a:pPr>
            <a:r>
              <a:t/>
            </a:r>
            <a:endParaRPr sz="600">
              <a:solidFill>
                <a:srgbClr val="3C78D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66700" lvl="0" marL="457200" rtl="0" algn="l">
              <a:spcBef>
                <a:spcPts val="0"/>
              </a:spcBef>
              <a:spcAft>
                <a:spcPts val="0"/>
              </a:spcAft>
              <a:buClr>
                <a:srgbClr val="3C78D8"/>
              </a:buClr>
              <a:buSzPts val="600"/>
              <a:buFont typeface="Calibri"/>
              <a:buChar char="●"/>
            </a:pPr>
            <a:r>
              <a:t/>
            </a:r>
            <a:endParaRPr sz="600">
              <a:solidFill>
                <a:srgbClr val="3C78D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8" name="Google Shape;1308;p68"/>
          <p:cNvSpPr/>
          <p:nvPr/>
        </p:nvSpPr>
        <p:spPr>
          <a:xfrm>
            <a:off x="562125" y="3492525"/>
            <a:ext cx="1578000" cy="303000"/>
          </a:xfrm>
          <a:prstGeom prst="roundRect">
            <a:avLst>
              <a:gd fmla="val 16667" name="adj"/>
            </a:avLst>
          </a:prstGeom>
          <a:solidFill>
            <a:srgbClr val="0000FF">
              <a:alpha val="3999"/>
            </a:srgbClr>
          </a:solidFill>
          <a:ln cap="flat" cmpd="sng" w="9525">
            <a:solidFill>
              <a:srgbClr val="00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800">
                <a:solidFill>
                  <a:srgbClr val="3C78D8"/>
                </a:solidFill>
                <a:latin typeface="Calibri"/>
                <a:ea typeface="Calibri"/>
                <a:cs typeface="Calibri"/>
                <a:sym typeface="Calibri"/>
              </a:rPr>
              <a:t>Object storage</a:t>
            </a:r>
            <a:r>
              <a:rPr lang="fr" sz="800">
                <a:solidFill>
                  <a:srgbClr val="3C78D8"/>
                </a:solidFill>
                <a:latin typeface="Calibri"/>
                <a:ea typeface="Calibri"/>
                <a:cs typeface="Calibri"/>
                <a:sym typeface="Calibri"/>
              </a:rPr>
              <a:t> S3</a:t>
            </a:r>
            <a:endParaRPr sz="800">
              <a:solidFill>
                <a:srgbClr val="3C78D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309" name="Google Shape;1309;p68"/>
          <p:cNvCxnSpPr>
            <a:endCxn id="1306" idx="0"/>
          </p:cNvCxnSpPr>
          <p:nvPr/>
        </p:nvCxnSpPr>
        <p:spPr>
          <a:xfrm flipH="1">
            <a:off x="1365219" y="1511925"/>
            <a:ext cx="2100" cy="319200"/>
          </a:xfrm>
          <a:prstGeom prst="straightConnector1">
            <a:avLst/>
          </a:prstGeom>
          <a:noFill/>
          <a:ln cap="flat" cmpd="sng" w="9525">
            <a:solidFill>
              <a:srgbClr val="923E2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310" name="Google Shape;1310;p68"/>
          <p:cNvCxnSpPr>
            <a:stCxn id="1306" idx="3"/>
            <a:endCxn id="1305" idx="1"/>
          </p:cNvCxnSpPr>
          <p:nvPr/>
        </p:nvCxnSpPr>
        <p:spPr>
          <a:xfrm flipH="1" rot="10800000">
            <a:off x="2154219" y="1240275"/>
            <a:ext cx="1274700" cy="770700"/>
          </a:xfrm>
          <a:prstGeom prst="curvedConnector3">
            <a:avLst>
              <a:gd fmla="val 50003" name="adj1"/>
            </a:avLst>
          </a:prstGeom>
          <a:noFill/>
          <a:ln cap="flat" cmpd="sng" w="9525">
            <a:solidFill>
              <a:srgbClr val="923E22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1311" name="Google Shape;1311;p68"/>
          <p:cNvCxnSpPr>
            <a:stCxn id="1306" idx="2"/>
            <a:endCxn id="1307" idx="0"/>
          </p:cNvCxnSpPr>
          <p:nvPr/>
        </p:nvCxnSpPr>
        <p:spPr>
          <a:xfrm flipH="1">
            <a:off x="1351119" y="2190825"/>
            <a:ext cx="14100" cy="159600"/>
          </a:xfrm>
          <a:prstGeom prst="straightConnector1">
            <a:avLst/>
          </a:prstGeom>
          <a:noFill/>
          <a:ln cap="flat" cmpd="sng" w="9525">
            <a:solidFill>
              <a:srgbClr val="923E2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312" name="Google Shape;1312;p68"/>
          <p:cNvCxnSpPr>
            <a:stCxn id="1306" idx="1"/>
            <a:endCxn id="1308" idx="1"/>
          </p:cNvCxnSpPr>
          <p:nvPr/>
        </p:nvCxnSpPr>
        <p:spPr>
          <a:xfrm flipH="1">
            <a:off x="562119" y="2010975"/>
            <a:ext cx="14100" cy="1633200"/>
          </a:xfrm>
          <a:prstGeom prst="curvedConnector3">
            <a:avLst>
              <a:gd fmla="val 1788788" name="adj1"/>
            </a:avLst>
          </a:prstGeom>
          <a:noFill/>
          <a:ln cap="flat" cmpd="sng" w="9525">
            <a:solidFill>
              <a:srgbClr val="923E2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313" name="Google Shape;1313;p68"/>
          <p:cNvSpPr txBox="1"/>
          <p:nvPr/>
        </p:nvSpPr>
        <p:spPr>
          <a:xfrm>
            <a:off x="21775" y="2444838"/>
            <a:ext cx="399300" cy="12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 sz="600">
                <a:solidFill>
                  <a:srgbClr val="923E22"/>
                </a:solidFill>
                <a:latin typeface="Calibri"/>
                <a:ea typeface="Calibri"/>
                <a:cs typeface="Calibri"/>
                <a:sym typeface="Calibri"/>
              </a:rPr>
              <a:t>dump</a:t>
            </a:r>
            <a:endParaRPr sz="600">
              <a:solidFill>
                <a:srgbClr val="923E2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4" name="Google Shape;1314;p68"/>
          <p:cNvSpPr txBox="1"/>
          <p:nvPr/>
        </p:nvSpPr>
        <p:spPr>
          <a:xfrm>
            <a:off x="1310800" y="2206363"/>
            <a:ext cx="399300" cy="12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 sz="600">
                <a:solidFill>
                  <a:srgbClr val="923E22"/>
                </a:solidFill>
                <a:latin typeface="Calibri"/>
                <a:ea typeface="Calibri"/>
                <a:cs typeface="Calibri"/>
                <a:sym typeface="Calibri"/>
              </a:rPr>
              <a:t>upsert</a:t>
            </a:r>
            <a:endParaRPr sz="600">
              <a:solidFill>
                <a:srgbClr val="923E2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5" name="Google Shape;1315;p68"/>
          <p:cNvSpPr txBox="1"/>
          <p:nvPr/>
        </p:nvSpPr>
        <p:spPr>
          <a:xfrm>
            <a:off x="1290360" y="1518088"/>
            <a:ext cx="582600" cy="12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 sz="600">
                <a:solidFill>
                  <a:srgbClr val="923E22"/>
                </a:solidFill>
                <a:latin typeface="Calibri"/>
                <a:ea typeface="Calibri"/>
                <a:cs typeface="Calibri"/>
                <a:sym typeface="Calibri"/>
              </a:rPr>
              <a:t>événements</a:t>
            </a:r>
            <a:endParaRPr sz="600">
              <a:solidFill>
                <a:srgbClr val="923E2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6" name="Google Shape;1316;p68"/>
          <p:cNvSpPr txBox="1"/>
          <p:nvPr/>
        </p:nvSpPr>
        <p:spPr>
          <a:xfrm>
            <a:off x="2517323" y="1775063"/>
            <a:ext cx="582600" cy="12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 sz="600">
                <a:solidFill>
                  <a:srgbClr val="923E22"/>
                </a:solidFill>
                <a:latin typeface="Calibri"/>
                <a:ea typeface="Calibri"/>
                <a:cs typeface="Calibri"/>
                <a:sym typeface="Calibri"/>
              </a:rPr>
              <a:t>embeddings</a:t>
            </a:r>
            <a:endParaRPr sz="600">
              <a:solidFill>
                <a:srgbClr val="923E2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7" name="Google Shape;1317;p68"/>
          <p:cNvSpPr txBox="1"/>
          <p:nvPr/>
        </p:nvSpPr>
        <p:spPr>
          <a:xfrm>
            <a:off x="283150" y="3953488"/>
            <a:ext cx="2454600" cy="23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1000">
                <a:solidFill>
                  <a:srgbClr val="B07BC2"/>
                </a:solidFill>
                <a:latin typeface="Calibri"/>
                <a:ea typeface="Calibri"/>
                <a:cs typeface="Calibri"/>
                <a:sym typeface="Calibri"/>
              </a:rPr>
              <a:t>SCALEWAY</a:t>
            </a:r>
            <a:r>
              <a:rPr lang="fr" sz="800">
                <a:solidFill>
                  <a:srgbClr val="B07BC2"/>
                </a:solidFill>
                <a:latin typeface="Calibri"/>
                <a:ea typeface="Calibri"/>
                <a:cs typeface="Calibri"/>
                <a:sym typeface="Calibri"/>
              </a:rPr>
              <a:t> - cloud souverain (UE, hors CLOUD Act) </a:t>
            </a:r>
            <a:endParaRPr sz="800">
              <a:solidFill>
                <a:srgbClr val="B07BC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8" name="Google Shape;1318;p68"/>
          <p:cNvSpPr/>
          <p:nvPr/>
        </p:nvSpPr>
        <p:spPr>
          <a:xfrm>
            <a:off x="7068700" y="4409050"/>
            <a:ext cx="144600" cy="72900"/>
          </a:xfrm>
          <a:prstGeom prst="roundRect">
            <a:avLst>
              <a:gd fmla="val 16667" name="adj"/>
            </a:avLst>
          </a:prstGeom>
          <a:solidFill>
            <a:srgbClr val="9CA3AF">
              <a:alpha val="6960"/>
            </a:srgbClr>
          </a:solidFill>
          <a:ln cap="flat" cmpd="sng" w="9525">
            <a:solidFill>
              <a:srgbClr val="9CA3A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9" name="Google Shape;1319;p68"/>
          <p:cNvSpPr/>
          <p:nvPr/>
        </p:nvSpPr>
        <p:spPr>
          <a:xfrm>
            <a:off x="7068700" y="4550067"/>
            <a:ext cx="144600" cy="72900"/>
          </a:xfrm>
          <a:prstGeom prst="roundRect">
            <a:avLst>
              <a:gd fmla="val 16667" name="adj"/>
            </a:avLst>
          </a:prstGeom>
          <a:solidFill>
            <a:srgbClr val="923E22">
              <a:alpha val="7999"/>
            </a:srgbClr>
          </a:solidFill>
          <a:ln cap="flat" cmpd="sng" w="9525">
            <a:solidFill>
              <a:srgbClr val="923E2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0" name="Google Shape;1320;p68"/>
          <p:cNvSpPr/>
          <p:nvPr/>
        </p:nvSpPr>
        <p:spPr>
          <a:xfrm>
            <a:off x="7068700" y="4962200"/>
            <a:ext cx="144600" cy="72900"/>
          </a:xfrm>
          <a:prstGeom prst="roundRect">
            <a:avLst>
              <a:gd fmla="val 16667" name="adj"/>
            </a:avLst>
          </a:prstGeom>
          <a:solidFill>
            <a:srgbClr val="674EA7">
              <a:alpha val="7999"/>
            </a:srgbClr>
          </a:solidFill>
          <a:ln cap="flat" cmpd="sng" w="9525">
            <a:solidFill>
              <a:srgbClr val="674EA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1" name="Google Shape;1321;p68"/>
          <p:cNvSpPr/>
          <p:nvPr/>
        </p:nvSpPr>
        <p:spPr>
          <a:xfrm>
            <a:off x="7068700" y="4691085"/>
            <a:ext cx="144600" cy="72900"/>
          </a:xfrm>
          <a:prstGeom prst="roundRect">
            <a:avLst>
              <a:gd fmla="val 16667" name="adj"/>
            </a:avLst>
          </a:prstGeom>
          <a:solidFill>
            <a:srgbClr val="0000FF">
              <a:alpha val="14000"/>
            </a:srgbClr>
          </a:solidFill>
          <a:ln cap="flat" cmpd="sng" w="9525">
            <a:solidFill>
              <a:srgbClr val="00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2" name="Google Shape;1322;p68"/>
          <p:cNvSpPr/>
          <p:nvPr/>
        </p:nvSpPr>
        <p:spPr>
          <a:xfrm>
            <a:off x="7068700" y="4825177"/>
            <a:ext cx="144600" cy="72900"/>
          </a:xfrm>
          <a:prstGeom prst="roundRect">
            <a:avLst>
              <a:gd fmla="val 16667" name="adj"/>
            </a:avLst>
          </a:prstGeom>
          <a:solidFill>
            <a:srgbClr val="0E9C8A">
              <a:alpha val="15999"/>
            </a:srgbClr>
          </a:solidFill>
          <a:ln cap="flat" cmpd="sng" w="9525">
            <a:solidFill>
              <a:srgbClr val="0E9C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3" name="Google Shape;1323;p68"/>
          <p:cNvSpPr txBox="1"/>
          <p:nvPr/>
        </p:nvSpPr>
        <p:spPr>
          <a:xfrm>
            <a:off x="7232825" y="4367250"/>
            <a:ext cx="1755600" cy="68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600">
                <a:solidFill>
                  <a:srgbClr val="8A93A6"/>
                </a:solidFill>
                <a:latin typeface="Calibri"/>
                <a:ea typeface="Calibri"/>
                <a:cs typeface="Calibri"/>
                <a:sym typeface="Calibri"/>
              </a:rPr>
              <a:t>Sources externes</a:t>
            </a:r>
            <a:endParaRPr sz="600">
              <a:solidFill>
                <a:srgbClr val="8A93A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600">
                <a:solidFill>
                  <a:srgbClr val="8A93A6"/>
                </a:solidFill>
                <a:latin typeface="Calibri"/>
                <a:ea typeface="Calibri"/>
                <a:cs typeface="Calibri"/>
                <a:sym typeface="Calibri"/>
              </a:rPr>
              <a:t>Ingestion (Kestra)</a:t>
            </a:r>
            <a:endParaRPr sz="600">
              <a:solidFill>
                <a:srgbClr val="8A93A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600">
                <a:solidFill>
                  <a:srgbClr val="8A93A6"/>
                </a:solidFill>
                <a:latin typeface="Calibri"/>
                <a:ea typeface="Calibri"/>
                <a:cs typeface="Calibri"/>
                <a:sym typeface="Calibri"/>
              </a:rPr>
              <a:t>Stockage (PostgreSQL / Redis / Object storage)</a:t>
            </a:r>
            <a:endParaRPr sz="600">
              <a:solidFill>
                <a:srgbClr val="8A93A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600">
                <a:solidFill>
                  <a:srgbClr val="8A93A6"/>
                </a:solidFill>
                <a:latin typeface="Calibri"/>
                <a:ea typeface="Calibri"/>
                <a:cs typeface="Calibri"/>
                <a:sym typeface="Calibri"/>
              </a:rPr>
              <a:t>Applications (API + agent)</a:t>
            </a:r>
            <a:endParaRPr sz="600">
              <a:solidFill>
                <a:srgbClr val="8A93A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600">
                <a:solidFill>
                  <a:srgbClr val="8A93A6"/>
                </a:solidFill>
                <a:latin typeface="Calibri"/>
                <a:ea typeface="Calibri"/>
                <a:cs typeface="Calibri"/>
                <a:sym typeface="Calibri"/>
              </a:rPr>
              <a:t>Observabilité</a:t>
            </a:r>
            <a:endParaRPr sz="600">
              <a:solidFill>
                <a:srgbClr val="8A93A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4" name="Google Shape;1324;p68"/>
          <p:cNvSpPr txBox="1"/>
          <p:nvPr/>
        </p:nvSpPr>
        <p:spPr>
          <a:xfrm>
            <a:off x="377200" y="233175"/>
            <a:ext cx="2286900" cy="45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9050" lIns="0" spcFirstLastPara="1" rIns="0" wrap="square" tIns="190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1800">
                <a:solidFill>
                  <a:srgbClr val="0E9C8A"/>
                </a:solidFill>
                <a:latin typeface="Calibri"/>
                <a:ea typeface="Calibri"/>
                <a:cs typeface="Calibri"/>
                <a:sym typeface="Calibri"/>
              </a:rPr>
              <a:t>L’architecture du MVP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9" name="Shape 1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0" name="Google Shape;1330;p69"/>
          <p:cNvSpPr txBox="1"/>
          <p:nvPr/>
        </p:nvSpPr>
        <p:spPr>
          <a:xfrm>
            <a:off x="377200" y="675550"/>
            <a:ext cx="26754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9050" lIns="0" spcFirstLastPara="1" rIns="0" wrap="square" tIns="190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1100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Architecture MVP - chatbot RAG Puls-EVents</a:t>
            </a:r>
            <a:endParaRPr b="1" sz="1100">
              <a:solidFill>
                <a:srgbClr val="9CA3A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1" name="Google Shape;1331;p69"/>
          <p:cNvSpPr txBox="1"/>
          <p:nvPr/>
        </p:nvSpPr>
        <p:spPr>
          <a:xfrm>
            <a:off x="377200" y="4945850"/>
            <a:ext cx="999000" cy="166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700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MVP RAG Puls-Events</a:t>
            </a:r>
            <a:endParaRPr sz="700">
              <a:solidFill>
                <a:srgbClr val="9CA3A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2" name="Google Shape;1332;p69"/>
          <p:cNvSpPr/>
          <p:nvPr/>
        </p:nvSpPr>
        <p:spPr>
          <a:xfrm>
            <a:off x="64125" y="1631700"/>
            <a:ext cx="8941200" cy="2605500"/>
          </a:xfrm>
          <a:prstGeom prst="roundRect">
            <a:avLst>
              <a:gd fmla="val 6000" name="adj"/>
            </a:avLst>
          </a:prstGeom>
          <a:noFill/>
          <a:ln cap="flat" cmpd="sng" w="9525">
            <a:solidFill>
              <a:srgbClr val="B07BC2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3" name="Google Shape;1333;p69"/>
          <p:cNvSpPr/>
          <p:nvPr/>
        </p:nvSpPr>
        <p:spPr>
          <a:xfrm>
            <a:off x="499800" y="980277"/>
            <a:ext cx="2286000" cy="521400"/>
          </a:xfrm>
          <a:prstGeom prst="roundRect">
            <a:avLst>
              <a:gd fmla="val 16667" name="adj"/>
            </a:avLst>
          </a:prstGeom>
          <a:solidFill>
            <a:srgbClr val="9CA3AF">
              <a:alpha val="6960"/>
            </a:srgbClr>
          </a:solidFill>
          <a:ln cap="flat" cmpd="sng" w="12700">
            <a:solidFill>
              <a:srgbClr val="9CA3A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6575" lIns="91425" spcFirstLastPara="1" rIns="73150" wrap="square" tIns="365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800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Opendatasoft API</a:t>
            </a:r>
            <a:endParaRPr b="1" sz="800">
              <a:solidFill>
                <a:srgbClr val="9CA3A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600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events Open Agenda</a:t>
            </a:r>
            <a:endParaRPr b="1" sz="600">
              <a:solidFill>
                <a:srgbClr val="9CA3A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4" name="Google Shape;1334;p69"/>
          <p:cNvSpPr/>
          <p:nvPr/>
        </p:nvSpPr>
        <p:spPr>
          <a:xfrm>
            <a:off x="3429000" y="979502"/>
            <a:ext cx="2286000" cy="521400"/>
          </a:xfrm>
          <a:prstGeom prst="roundRect">
            <a:avLst>
              <a:gd fmla="val 16667" name="adj"/>
            </a:avLst>
          </a:prstGeom>
          <a:solidFill>
            <a:srgbClr val="9CA3AF">
              <a:alpha val="6960"/>
            </a:srgbClr>
          </a:solidFill>
          <a:ln cap="flat" cmpd="sng" w="12700">
            <a:solidFill>
              <a:srgbClr val="9CA3A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6575" lIns="91425" spcFirstLastPara="1" rIns="73150" wrap="square" tIns="365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800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Mistral API (UE)</a:t>
            </a:r>
            <a:endParaRPr b="1" sz="800">
              <a:solidFill>
                <a:srgbClr val="9CA3A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600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embeddings + LLM</a:t>
            </a:r>
            <a:endParaRPr b="1" sz="600">
              <a:solidFill>
                <a:srgbClr val="9CA3A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5" name="Google Shape;1335;p69"/>
          <p:cNvSpPr/>
          <p:nvPr/>
        </p:nvSpPr>
        <p:spPr>
          <a:xfrm>
            <a:off x="576219" y="1831125"/>
            <a:ext cx="1578000" cy="359700"/>
          </a:xfrm>
          <a:prstGeom prst="roundRect">
            <a:avLst>
              <a:gd fmla="val 16667" name="adj"/>
            </a:avLst>
          </a:prstGeom>
          <a:solidFill>
            <a:srgbClr val="923E22">
              <a:alpha val="7999"/>
            </a:srgbClr>
          </a:solidFill>
          <a:ln cap="flat" cmpd="sng" w="9525">
            <a:solidFill>
              <a:srgbClr val="923E2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800">
                <a:solidFill>
                  <a:srgbClr val="923E22"/>
                </a:solidFill>
                <a:latin typeface="Calibri"/>
                <a:ea typeface="Calibri"/>
                <a:cs typeface="Calibri"/>
                <a:sym typeface="Calibri"/>
              </a:rPr>
              <a:t>Kestra</a:t>
            </a:r>
            <a:r>
              <a:rPr lang="fr" sz="600">
                <a:solidFill>
                  <a:srgbClr val="923E22"/>
                </a:solidFill>
                <a:latin typeface="Calibri"/>
                <a:ea typeface="Calibri"/>
                <a:cs typeface="Calibri"/>
                <a:sym typeface="Calibri"/>
              </a:rPr>
              <a:t> - ingestion planifiée</a:t>
            </a:r>
            <a:endParaRPr sz="600">
              <a:solidFill>
                <a:srgbClr val="923E2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 sz="600">
                <a:solidFill>
                  <a:srgbClr val="923E22"/>
                </a:solidFill>
                <a:latin typeface="Calibri"/>
                <a:ea typeface="Calibri"/>
                <a:cs typeface="Calibri"/>
                <a:sym typeface="Calibri"/>
              </a:rPr>
              <a:t>fetch ⇒ clean ⇒ embed ⇒ upsert</a:t>
            </a:r>
            <a:endParaRPr sz="600">
              <a:solidFill>
                <a:srgbClr val="923E2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6" name="Google Shape;1336;p69"/>
          <p:cNvSpPr/>
          <p:nvPr/>
        </p:nvSpPr>
        <p:spPr>
          <a:xfrm>
            <a:off x="562125" y="2350491"/>
            <a:ext cx="1578000" cy="521400"/>
          </a:xfrm>
          <a:prstGeom prst="roundRect">
            <a:avLst>
              <a:gd fmla="val 16667" name="adj"/>
            </a:avLst>
          </a:prstGeom>
          <a:solidFill>
            <a:srgbClr val="0000FF">
              <a:alpha val="14000"/>
            </a:srgbClr>
          </a:solidFill>
          <a:ln cap="flat" cmpd="sng" w="9525">
            <a:solidFill>
              <a:srgbClr val="00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800">
                <a:solidFill>
                  <a:srgbClr val="3C78D8"/>
                </a:solidFill>
                <a:latin typeface="Calibri"/>
                <a:ea typeface="Calibri"/>
                <a:cs typeface="Calibri"/>
                <a:sym typeface="Calibri"/>
              </a:rPr>
              <a:t>Managed PostgreSQL</a:t>
            </a:r>
            <a:endParaRPr b="1" sz="800">
              <a:solidFill>
                <a:srgbClr val="3C78D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66700" lvl="0" marL="457200" rtl="0" algn="l">
              <a:spcBef>
                <a:spcPts val="0"/>
              </a:spcBef>
              <a:spcAft>
                <a:spcPts val="0"/>
              </a:spcAft>
              <a:buClr>
                <a:srgbClr val="3C78D8"/>
              </a:buClr>
              <a:buSzPts val="600"/>
              <a:buFont typeface="Calibri"/>
              <a:buChar char="●"/>
            </a:pPr>
            <a:r>
              <a:rPr lang="fr" sz="600">
                <a:solidFill>
                  <a:srgbClr val="3C78D8"/>
                </a:solidFill>
                <a:latin typeface="Calibri"/>
                <a:ea typeface="Calibri"/>
                <a:cs typeface="Calibri"/>
                <a:sym typeface="Calibri"/>
              </a:rPr>
              <a:t>pgvector (embeddings)</a:t>
            </a:r>
            <a:endParaRPr sz="600">
              <a:solidFill>
                <a:srgbClr val="3C78D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66700" lvl="0" marL="457200" rtl="0" algn="l">
              <a:spcBef>
                <a:spcPts val="0"/>
              </a:spcBef>
              <a:spcAft>
                <a:spcPts val="0"/>
              </a:spcAft>
              <a:buClr>
                <a:srgbClr val="3C78D8"/>
              </a:buClr>
              <a:buSzPts val="600"/>
              <a:buFont typeface="Calibri"/>
              <a:buChar char="●"/>
            </a:pPr>
            <a:r>
              <a:t/>
            </a:r>
            <a:endParaRPr sz="600">
              <a:solidFill>
                <a:srgbClr val="3C78D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66700" lvl="0" marL="457200" rtl="0" algn="l">
              <a:spcBef>
                <a:spcPts val="0"/>
              </a:spcBef>
              <a:spcAft>
                <a:spcPts val="0"/>
              </a:spcAft>
              <a:buClr>
                <a:srgbClr val="3C78D8"/>
              </a:buClr>
              <a:buSzPts val="600"/>
              <a:buFont typeface="Calibri"/>
              <a:buChar char="●"/>
            </a:pPr>
            <a:r>
              <a:t/>
            </a:r>
            <a:endParaRPr sz="600">
              <a:solidFill>
                <a:srgbClr val="3C78D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7" name="Google Shape;1337;p69"/>
          <p:cNvSpPr/>
          <p:nvPr/>
        </p:nvSpPr>
        <p:spPr>
          <a:xfrm>
            <a:off x="562125" y="3492525"/>
            <a:ext cx="1578000" cy="303000"/>
          </a:xfrm>
          <a:prstGeom prst="roundRect">
            <a:avLst>
              <a:gd fmla="val 16667" name="adj"/>
            </a:avLst>
          </a:prstGeom>
          <a:solidFill>
            <a:srgbClr val="0000FF">
              <a:alpha val="3999"/>
            </a:srgbClr>
          </a:solidFill>
          <a:ln cap="flat" cmpd="sng" w="9525">
            <a:solidFill>
              <a:srgbClr val="00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800">
                <a:solidFill>
                  <a:srgbClr val="3C78D8"/>
                </a:solidFill>
                <a:latin typeface="Calibri"/>
                <a:ea typeface="Calibri"/>
                <a:cs typeface="Calibri"/>
                <a:sym typeface="Calibri"/>
              </a:rPr>
              <a:t>Object storage</a:t>
            </a:r>
            <a:r>
              <a:rPr lang="fr" sz="800">
                <a:solidFill>
                  <a:srgbClr val="3C78D8"/>
                </a:solidFill>
                <a:latin typeface="Calibri"/>
                <a:ea typeface="Calibri"/>
                <a:cs typeface="Calibri"/>
                <a:sym typeface="Calibri"/>
              </a:rPr>
              <a:t> S3</a:t>
            </a:r>
            <a:endParaRPr sz="800">
              <a:solidFill>
                <a:srgbClr val="3C78D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8" name="Google Shape;1338;p69"/>
          <p:cNvSpPr/>
          <p:nvPr/>
        </p:nvSpPr>
        <p:spPr>
          <a:xfrm>
            <a:off x="2967450" y="4523300"/>
            <a:ext cx="3209100" cy="329700"/>
          </a:xfrm>
          <a:prstGeom prst="roundRect">
            <a:avLst>
              <a:gd fmla="val 16667" name="adj"/>
            </a:avLst>
          </a:prstGeom>
          <a:solidFill>
            <a:srgbClr val="F4F4F5"/>
          </a:solidFill>
          <a:ln cap="flat" cmpd="sng" w="9525">
            <a:solidFill>
              <a:srgbClr val="222A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800">
                <a:solidFill>
                  <a:srgbClr val="222A3A"/>
                </a:solidFill>
                <a:latin typeface="Calibri"/>
                <a:ea typeface="Calibri"/>
                <a:cs typeface="Calibri"/>
                <a:sym typeface="Calibri"/>
              </a:rPr>
              <a:t>frontend web / Utilisateurs</a:t>
            </a:r>
            <a:endParaRPr b="1" sz="800">
              <a:solidFill>
                <a:srgbClr val="222A3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339" name="Google Shape;1339;p69"/>
          <p:cNvCxnSpPr>
            <a:endCxn id="1335" idx="0"/>
          </p:cNvCxnSpPr>
          <p:nvPr/>
        </p:nvCxnSpPr>
        <p:spPr>
          <a:xfrm flipH="1">
            <a:off x="1365219" y="1511925"/>
            <a:ext cx="2100" cy="319200"/>
          </a:xfrm>
          <a:prstGeom prst="straightConnector1">
            <a:avLst/>
          </a:prstGeom>
          <a:noFill/>
          <a:ln cap="flat" cmpd="sng" w="9525">
            <a:solidFill>
              <a:srgbClr val="923E2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340" name="Google Shape;1340;p69"/>
          <p:cNvCxnSpPr>
            <a:stCxn id="1335" idx="3"/>
            <a:endCxn id="1334" idx="1"/>
          </p:cNvCxnSpPr>
          <p:nvPr/>
        </p:nvCxnSpPr>
        <p:spPr>
          <a:xfrm flipH="1" rot="10800000">
            <a:off x="2154219" y="1240275"/>
            <a:ext cx="1274700" cy="770700"/>
          </a:xfrm>
          <a:prstGeom prst="curvedConnector3">
            <a:avLst>
              <a:gd fmla="val 50003" name="adj1"/>
            </a:avLst>
          </a:prstGeom>
          <a:noFill/>
          <a:ln cap="flat" cmpd="sng" w="9525">
            <a:solidFill>
              <a:srgbClr val="923E22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1341" name="Google Shape;1341;p69"/>
          <p:cNvCxnSpPr>
            <a:stCxn id="1335" idx="2"/>
            <a:endCxn id="1336" idx="0"/>
          </p:cNvCxnSpPr>
          <p:nvPr/>
        </p:nvCxnSpPr>
        <p:spPr>
          <a:xfrm flipH="1">
            <a:off x="1351119" y="2190825"/>
            <a:ext cx="14100" cy="159600"/>
          </a:xfrm>
          <a:prstGeom prst="straightConnector1">
            <a:avLst/>
          </a:prstGeom>
          <a:noFill/>
          <a:ln cap="flat" cmpd="sng" w="9525">
            <a:solidFill>
              <a:srgbClr val="923E2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342" name="Google Shape;1342;p69"/>
          <p:cNvCxnSpPr>
            <a:stCxn id="1335" idx="1"/>
            <a:endCxn id="1337" idx="1"/>
          </p:cNvCxnSpPr>
          <p:nvPr/>
        </p:nvCxnSpPr>
        <p:spPr>
          <a:xfrm flipH="1">
            <a:off x="562119" y="2010975"/>
            <a:ext cx="14100" cy="1633200"/>
          </a:xfrm>
          <a:prstGeom prst="curvedConnector3">
            <a:avLst>
              <a:gd fmla="val 1788788" name="adj1"/>
            </a:avLst>
          </a:prstGeom>
          <a:noFill/>
          <a:ln cap="flat" cmpd="sng" w="9525">
            <a:solidFill>
              <a:srgbClr val="923E2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343" name="Google Shape;1343;p69"/>
          <p:cNvSpPr txBox="1"/>
          <p:nvPr/>
        </p:nvSpPr>
        <p:spPr>
          <a:xfrm>
            <a:off x="21775" y="2444838"/>
            <a:ext cx="399300" cy="12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 sz="600">
                <a:solidFill>
                  <a:srgbClr val="923E22"/>
                </a:solidFill>
                <a:latin typeface="Calibri"/>
                <a:ea typeface="Calibri"/>
                <a:cs typeface="Calibri"/>
                <a:sym typeface="Calibri"/>
              </a:rPr>
              <a:t>dump</a:t>
            </a:r>
            <a:endParaRPr sz="600">
              <a:solidFill>
                <a:srgbClr val="923E2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4" name="Google Shape;1344;p69"/>
          <p:cNvSpPr txBox="1"/>
          <p:nvPr/>
        </p:nvSpPr>
        <p:spPr>
          <a:xfrm>
            <a:off x="1310800" y="2206363"/>
            <a:ext cx="399300" cy="12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 sz="600">
                <a:solidFill>
                  <a:srgbClr val="923E22"/>
                </a:solidFill>
                <a:latin typeface="Calibri"/>
                <a:ea typeface="Calibri"/>
                <a:cs typeface="Calibri"/>
                <a:sym typeface="Calibri"/>
              </a:rPr>
              <a:t>upsert</a:t>
            </a:r>
            <a:endParaRPr sz="600">
              <a:solidFill>
                <a:srgbClr val="923E2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5" name="Google Shape;1345;p69"/>
          <p:cNvSpPr txBox="1"/>
          <p:nvPr/>
        </p:nvSpPr>
        <p:spPr>
          <a:xfrm>
            <a:off x="1290360" y="1518088"/>
            <a:ext cx="582600" cy="12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 sz="600">
                <a:solidFill>
                  <a:srgbClr val="923E22"/>
                </a:solidFill>
                <a:latin typeface="Calibri"/>
                <a:ea typeface="Calibri"/>
                <a:cs typeface="Calibri"/>
                <a:sym typeface="Calibri"/>
              </a:rPr>
              <a:t>événements</a:t>
            </a:r>
            <a:endParaRPr sz="600">
              <a:solidFill>
                <a:srgbClr val="923E2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6" name="Google Shape;1346;p69"/>
          <p:cNvSpPr txBox="1"/>
          <p:nvPr/>
        </p:nvSpPr>
        <p:spPr>
          <a:xfrm>
            <a:off x="2517323" y="1775063"/>
            <a:ext cx="582600" cy="12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 sz="600">
                <a:solidFill>
                  <a:srgbClr val="923E22"/>
                </a:solidFill>
                <a:latin typeface="Calibri"/>
                <a:ea typeface="Calibri"/>
                <a:cs typeface="Calibri"/>
                <a:sym typeface="Calibri"/>
              </a:rPr>
              <a:t>embeddings</a:t>
            </a:r>
            <a:endParaRPr sz="600">
              <a:solidFill>
                <a:srgbClr val="923E2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7" name="Google Shape;1347;p69"/>
          <p:cNvSpPr txBox="1"/>
          <p:nvPr/>
        </p:nvSpPr>
        <p:spPr>
          <a:xfrm>
            <a:off x="283150" y="3953488"/>
            <a:ext cx="2454600" cy="23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1000">
                <a:solidFill>
                  <a:srgbClr val="B07BC2"/>
                </a:solidFill>
                <a:latin typeface="Calibri"/>
                <a:ea typeface="Calibri"/>
                <a:cs typeface="Calibri"/>
                <a:sym typeface="Calibri"/>
              </a:rPr>
              <a:t>SCALEWAY</a:t>
            </a:r>
            <a:r>
              <a:rPr lang="fr" sz="800">
                <a:solidFill>
                  <a:srgbClr val="B07BC2"/>
                </a:solidFill>
                <a:latin typeface="Calibri"/>
                <a:ea typeface="Calibri"/>
                <a:cs typeface="Calibri"/>
                <a:sym typeface="Calibri"/>
              </a:rPr>
              <a:t> - cloud souverain (UE, hors CLOUD Act) </a:t>
            </a:r>
            <a:endParaRPr sz="800">
              <a:solidFill>
                <a:srgbClr val="B07BC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8" name="Google Shape;1348;p69"/>
          <p:cNvSpPr/>
          <p:nvPr/>
        </p:nvSpPr>
        <p:spPr>
          <a:xfrm>
            <a:off x="7068700" y="4409050"/>
            <a:ext cx="144600" cy="72900"/>
          </a:xfrm>
          <a:prstGeom prst="roundRect">
            <a:avLst>
              <a:gd fmla="val 16667" name="adj"/>
            </a:avLst>
          </a:prstGeom>
          <a:solidFill>
            <a:srgbClr val="9CA3AF">
              <a:alpha val="6960"/>
            </a:srgbClr>
          </a:solidFill>
          <a:ln cap="flat" cmpd="sng" w="9525">
            <a:solidFill>
              <a:srgbClr val="9CA3A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9" name="Google Shape;1349;p69"/>
          <p:cNvSpPr/>
          <p:nvPr/>
        </p:nvSpPr>
        <p:spPr>
          <a:xfrm>
            <a:off x="7068700" y="4550067"/>
            <a:ext cx="144600" cy="72900"/>
          </a:xfrm>
          <a:prstGeom prst="roundRect">
            <a:avLst>
              <a:gd fmla="val 16667" name="adj"/>
            </a:avLst>
          </a:prstGeom>
          <a:solidFill>
            <a:srgbClr val="923E22">
              <a:alpha val="7999"/>
            </a:srgbClr>
          </a:solidFill>
          <a:ln cap="flat" cmpd="sng" w="9525">
            <a:solidFill>
              <a:srgbClr val="923E2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0" name="Google Shape;1350;p69"/>
          <p:cNvSpPr/>
          <p:nvPr/>
        </p:nvSpPr>
        <p:spPr>
          <a:xfrm>
            <a:off x="7068700" y="4962200"/>
            <a:ext cx="144600" cy="72900"/>
          </a:xfrm>
          <a:prstGeom prst="roundRect">
            <a:avLst>
              <a:gd fmla="val 16667" name="adj"/>
            </a:avLst>
          </a:prstGeom>
          <a:solidFill>
            <a:srgbClr val="674EA7">
              <a:alpha val="7999"/>
            </a:srgbClr>
          </a:solidFill>
          <a:ln cap="flat" cmpd="sng" w="9525">
            <a:solidFill>
              <a:srgbClr val="674EA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1" name="Google Shape;1351;p69"/>
          <p:cNvSpPr/>
          <p:nvPr/>
        </p:nvSpPr>
        <p:spPr>
          <a:xfrm>
            <a:off x="7068700" y="4691085"/>
            <a:ext cx="144600" cy="72900"/>
          </a:xfrm>
          <a:prstGeom prst="roundRect">
            <a:avLst>
              <a:gd fmla="val 16667" name="adj"/>
            </a:avLst>
          </a:prstGeom>
          <a:solidFill>
            <a:srgbClr val="0000FF">
              <a:alpha val="14000"/>
            </a:srgbClr>
          </a:solidFill>
          <a:ln cap="flat" cmpd="sng" w="9525">
            <a:solidFill>
              <a:srgbClr val="00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2" name="Google Shape;1352;p69"/>
          <p:cNvSpPr/>
          <p:nvPr/>
        </p:nvSpPr>
        <p:spPr>
          <a:xfrm>
            <a:off x="7068700" y="4825177"/>
            <a:ext cx="144600" cy="72900"/>
          </a:xfrm>
          <a:prstGeom prst="roundRect">
            <a:avLst>
              <a:gd fmla="val 16667" name="adj"/>
            </a:avLst>
          </a:prstGeom>
          <a:solidFill>
            <a:srgbClr val="0E9C8A">
              <a:alpha val="15999"/>
            </a:srgbClr>
          </a:solidFill>
          <a:ln cap="flat" cmpd="sng" w="9525">
            <a:solidFill>
              <a:srgbClr val="0E9C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3" name="Google Shape;1353;p69"/>
          <p:cNvSpPr txBox="1"/>
          <p:nvPr/>
        </p:nvSpPr>
        <p:spPr>
          <a:xfrm>
            <a:off x="7232825" y="4367250"/>
            <a:ext cx="1755600" cy="68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600">
                <a:solidFill>
                  <a:srgbClr val="8A93A6"/>
                </a:solidFill>
                <a:latin typeface="Calibri"/>
                <a:ea typeface="Calibri"/>
                <a:cs typeface="Calibri"/>
                <a:sym typeface="Calibri"/>
              </a:rPr>
              <a:t>Sources externes</a:t>
            </a:r>
            <a:endParaRPr sz="600">
              <a:solidFill>
                <a:srgbClr val="8A93A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600">
                <a:solidFill>
                  <a:srgbClr val="8A93A6"/>
                </a:solidFill>
                <a:latin typeface="Calibri"/>
                <a:ea typeface="Calibri"/>
                <a:cs typeface="Calibri"/>
                <a:sym typeface="Calibri"/>
              </a:rPr>
              <a:t>Ingestion (Kestra)</a:t>
            </a:r>
            <a:endParaRPr sz="600">
              <a:solidFill>
                <a:srgbClr val="8A93A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600">
                <a:solidFill>
                  <a:srgbClr val="8A93A6"/>
                </a:solidFill>
                <a:latin typeface="Calibri"/>
                <a:ea typeface="Calibri"/>
                <a:cs typeface="Calibri"/>
                <a:sym typeface="Calibri"/>
              </a:rPr>
              <a:t>Stockage (PostgreSQL / Redis / Object storage)</a:t>
            </a:r>
            <a:endParaRPr sz="600">
              <a:solidFill>
                <a:srgbClr val="8A93A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600">
                <a:solidFill>
                  <a:srgbClr val="8A93A6"/>
                </a:solidFill>
                <a:latin typeface="Calibri"/>
                <a:ea typeface="Calibri"/>
                <a:cs typeface="Calibri"/>
                <a:sym typeface="Calibri"/>
              </a:rPr>
              <a:t>Applications (API + agent)</a:t>
            </a:r>
            <a:endParaRPr sz="600">
              <a:solidFill>
                <a:srgbClr val="8A93A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600">
                <a:solidFill>
                  <a:srgbClr val="8A93A6"/>
                </a:solidFill>
                <a:latin typeface="Calibri"/>
                <a:ea typeface="Calibri"/>
                <a:cs typeface="Calibri"/>
                <a:sym typeface="Calibri"/>
              </a:rPr>
              <a:t>Observabilité</a:t>
            </a:r>
            <a:endParaRPr sz="600">
              <a:solidFill>
                <a:srgbClr val="8A93A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4" name="Google Shape;1354;p69"/>
          <p:cNvSpPr txBox="1"/>
          <p:nvPr/>
        </p:nvSpPr>
        <p:spPr>
          <a:xfrm>
            <a:off x="377200" y="233175"/>
            <a:ext cx="2286900" cy="45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9050" lIns="0" spcFirstLastPara="1" rIns="0" wrap="square" tIns="190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1800">
                <a:solidFill>
                  <a:srgbClr val="0E9C8A"/>
                </a:solidFill>
                <a:latin typeface="Calibri"/>
                <a:ea typeface="Calibri"/>
                <a:cs typeface="Calibri"/>
                <a:sym typeface="Calibri"/>
              </a:rPr>
              <a:t>L’architecture du MVP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9" name="Shape 1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0" name="Google Shape;1360;p70"/>
          <p:cNvSpPr txBox="1"/>
          <p:nvPr/>
        </p:nvSpPr>
        <p:spPr>
          <a:xfrm>
            <a:off x="377200" y="675550"/>
            <a:ext cx="26754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9050" lIns="0" spcFirstLastPara="1" rIns="0" wrap="square" tIns="190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1100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Architecture MVP - chatbot RAG Puls-EVents</a:t>
            </a:r>
            <a:endParaRPr b="1" sz="1100">
              <a:solidFill>
                <a:srgbClr val="9CA3A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1" name="Google Shape;1361;p70"/>
          <p:cNvSpPr txBox="1"/>
          <p:nvPr/>
        </p:nvSpPr>
        <p:spPr>
          <a:xfrm>
            <a:off x="377200" y="4945850"/>
            <a:ext cx="999000" cy="166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700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MVP RAG Puls-Events</a:t>
            </a:r>
            <a:endParaRPr sz="700">
              <a:solidFill>
                <a:srgbClr val="9CA3A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2" name="Google Shape;1362;p70"/>
          <p:cNvSpPr/>
          <p:nvPr/>
        </p:nvSpPr>
        <p:spPr>
          <a:xfrm>
            <a:off x="64125" y="1631700"/>
            <a:ext cx="8941200" cy="2605500"/>
          </a:xfrm>
          <a:prstGeom prst="roundRect">
            <a:avLst>
              <a:gd fmla="val 6000" name="adj"/>
            </a:avLst>
          </a:prstGeom>
          <a:noFill/>
          <a:ln cap="flat" cmpd="sng" w="9525">
            <a:solidFill>
              <a:srgbClr val="B07BC2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3" name="Google Shape;1363;p70"/>
          <p:cNvSpPr/>
          <p:nvPr/>
        </p:nvSpPr>
        <p:spPr>
          <a:xfrm>
            <a:off x="499800" y="980277"/>
            <a:ext cx="2286000" cy="521400"/>
          </a:xfrm>
          <a:prstGeom prst="roundRect">
            <a:avLst>
              <a:gd fmla="val 16667" name="adj"/>
            </a:avLst>
          </a:prstGeom>
          <a:solidFill>
            <a:srgbClr val="9CA3AF">
              <a:alpha val="6960"/>
            </a:srgbClr>
          </a:solidFill>
          <a:ln cap="flat" cmpd="sng" w="12700">
            <a:solidFill>
              <a:srgbClr val="9CA3A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6575" lIns="91425" spcFirstLastPara="1" rIns="73150" wrap="square" tIns="365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800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Opendatasoft API</a:t>
            </a:r>
            <a:endParaRPr b="1" sz="800">
              <a:solidFill>
                <a:srgbClr val="9CA3A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600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events Open Agenda</a:t>
            </a:r>
            <a:endParaRPr b="1" sz="600">
              <a:solidFill>
                <a:srgbClr val="9CA3A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4" name="Google Shape;1364;p70"/>
          <p:cNvSpPr/>
          <p:nvPr/>
        </p:nvSpPr>
        <p:spPr>
          <a:xfrm>
            <a:off x="3429000" y="979502"/>
            <a:ext cx="2286000" cy="521400"/>
          </a:xfrm>
          <a:prstGeom prst="roundRect">
            <a:avLst>
              <a:gd fmla="val 16667" name="adj"/>
            </a:avLst>
          </a:prstGeom>
          <a:solidFill>
            <a:srgbClr val="9CA3AF">
              <a:alpha val="6960"/>
            </a:srgbClr>
          </a:solidFill>
          <a:ln cap="flat" cmpd="sng" w="12700">
            <a:solidFill>
              <a:srgbClr val="9CA3A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6575" lIns="91425" spcFirstLastPara="1" rIns="73150" wrap="square" tIns="365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800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Mistral API (UE)</a:t>
            </a:r>
            <a:endParaRPr b="1" sz="800">
              <a:solidFill>
                <a:srgbClr val="9CA3A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600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embeddings + LLM</a:t>
            </a:r>
            <a:endParaRPr b="1" sz="600">
              <a:solidFill>
                <a:srgbClr val="9CA3A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5" name="Google Shape;1365;p70"/>
          <p:cNvSpPr/>
          <p:nvPr/>
        </p:nvSpPr>
        <p:spPr>
          <a:xfrm>
            <a:off x="576219" y="1831125"/>
            <a:ext cx="1578000" cy="359700"/>
          </a:xfrm>
          <a:prstGeom prst="roundRect">
            <a:avLst>
              <a:gd fmla="val 16667" name="adj"/>
            </a:avLst>
          </a:prstGeom>
          <a:solidFill>
            <a:srgbClr val="923E22">
              <a:alpha val="7999"/>
            </a:srgbClr>
          </a:solidFill>
          <a:ln cap="flat" cmpd="sng" w="9525">
            <a:solidFill>
              <a:srgbClr val="923E2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800">
                <a:solidFill>
                  <a:srgbClr val="923E22"/>
                </a:solidFill>
                <a:latin typeface="Calibri"/>
                <a:ea typeface="Calibri"/>
                <a:cs typeface="Calibri"/>
                <a:sym typeface="Calibri"/>
              </a:rPr>
              <a:t>Kestra</a:t>
            </a:r>
            <a:r>
              <a:rPr lang="fr" sz="600">
                <a:solidFill>
                  <a:srgbClr val="923E22"/>
                </a:solidFill>
                <a:latin typeface="Calibri"/>
                <a:ea typeface="Calibri"/>
                <a:cs typeface="Calibri"/>
                <a:sym typeface="Calibri"/>
              </a:rPr>
              <a:t> - ingestion planifiée</a:t>
            </a:r>
            <a:endParaRPr sz="600">
              <a:solidFill>
                <a:srgbClr val="923E2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 sz="600">
                <a:solidFill>
                  <a:srgbClr val="923E22"/>
                </a:solidFill>
                <a:latin typeface="Calibri"/>
                <a:ea typeface="Calibri"/>
                <a:cs typeface="Calibri"/>
                <a:sym typeface="Calibri"/>
              </a:rPr>
              <a:t>fetch ⇒ clean ⇒ embed ⇒ upsert</a:t>
            </a:r>
            <a:endParaRPr sz="600">
              <a:solidFill>
                <a:srgbClr val="923E2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6" name="Google Shape;1366;p70"/>
          <p:cNvSpPr/>
          <p:nvPr/>
        </p:nvSpPr>
        <p:spPr>
          <a:xfrm>
            <a:off x="562125" y="2350491"/>
            <a:ext cx="1578000" cy="521400"/>
          </a:xfrm>
          <a:prstGeom prst="roundRect">
            <a:avLst>
              <a:gd fmla="val 16667" name="adj"/>
            </a:avLst>
          </a:prstGeom>
          <a:solidFill>
            <a:srgbClr val="0000FF">
              <a:alpha val="14000"/>
            </a:srgbClr>
          </a:solidFill>
          <a:ln cap="flat" cmpd="sng" w="9525">
            <a:solidFill>
              <a:srgbClr val="00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800">
                <a:solidFill>
                  <a:srgbClr val="3C78D8"/>
                </a:solidFill>
                <a:latin typeface="Calibri"/>
                <a:ea typeface="Calibri"/>
                <a:cs typeface="Calibri"/>
                <a:sym typeface="Calibri"/>
              </a:rPr>
              <a:t>Managed PostgreSQL</a:t>
            </a:r>
            <a:endParaRPr b="1" sz="800">
              <a:solidFill>
                <a:srgbClr val="3C78D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66700" lvl="0" marL="457200" rtl="0" algn="l">
              <a:spcBef>
                <a:spcPts val="0"/>
              </a:spcBef>
              <a:spcAft>
                <a:spcPts val="0"/>
              </a:spcAft>
              <a:buClr>
                <a:srgbClr val="3C78D8"/>
              </a:buClr>
              <a:buSzPts val="600"/>
              <a:buFont typeface="Calibri"/>
              <a:buChar char="●"/>
            </a:pPr>
            <a:r>
              <a:rPr lang="fr" sz="600">
                <a:solidFill>
                  <a:srgbClr val="3C78D8"/>
                </a:solidFill>
                <a:latin typeface="Calibri"/>
                <a:ea typeface="Calibri"/>
                <a:cs typeface="Calibri"/>
                <a:sym typeface="Calibri"/>
              </a:rPr>
              <a:t>pgvector (embeddings)</a:t>
            </a:r>
            <a:endParaRPr sz="600">
              <a:solidFill>
                <a:srgbClr val="3C78D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66700" lvl="0" marL="457200" rtl="0" algn="l">
              <a:spcBef>
                <a:spcPts val="0"/>
              </a:spcBef>
              <a:spcAft>
                <a:spcPts val="0"/>
              </a:spcAft>
              <a:buClr>
                <a:srgbClr val="3C78D8"/>
              </a:buClr>
              <a:buSzPts val="600"/>
              <a:buFont typeface="Calibri"/>
              <a:buChar char="●"/>
            </a:pPr>
            <a:r>
              <a:t/>
            </a:r>
            <a:endParaRPr sz="600">
              <a:solidFill>
                <a:srgbClr val="3C78D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66700" lvl="0" marL="457200" rtl="0" algn="l">
              <a:spcBef>
                <a:spcPts val="0"/>
              </a:spcBef>
              <a:spcAft>
                <a:spcPts val="0"/>
              </a:spcAft>
              <a:buClr>
                <a:srgbClr val="3C78D8"/>
              </a:buClr>
              <a:buSzPts val="600"/>
              <a:buFont typeface="Calibri"/>
              <a:buChar char="●"/>
            </a:pPr>
            <a:r>
              <a:t/>
            </a:r>
            <a:endParaRPr sz="600">
              <a:solidFill>
                <a:srgbClr val="3C78D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7" name="Google Shape;1367;p70"/>
          <p:cNvSpPr/>
          <p:nvPr/>
        </p:nvSpPr>
        <p:spPr>
          <a:xfrm>
            <a:off x="562125" y="3492525"/>
            <a:ext cx="1578000" cy="303000"/>
          </a:xfrm>
          <a:prstGeom prst="roundRect">
            <a:avLst>
              <a:gd fmla="val 16667" name="adj"/>
            </a:avLst>
          </a:prstGeom>
          <a:solidFill>
            <a:srgbClr val="0000FF">
              <a:alpha val="3999"/>
            </a:srgbClr>
          </a:solidFill>
          <a:ln cap="flat" cmpd="sng" w="9525">
            <a:solidFill>
              <a:srgbClr val="00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800">
                <a:solidFill>
                  <a:srgbClr val="3C78D8"/>
                </a:solidFill>
                <a:latin typeface="Calibri"/>
                <a:ea typeface="Calibri"/>
                <a:cs typeface="Calibri"/>
                <a:sym typeface="Calibri"/>
              </a:rPr>
              <a:t>Object storage</a:t>
            </a:r>
            <a:r>
              <a:rPr lang="fr" sz="800">
                <a:solidFill>
                  <a:srgbClr val="3C78D8"/>
                </a:solidFill>
                <a:latin typeface="Calibri"/>
                <a:ea typeface="Calibri"/>
                <a:cs typeface="Calibri"/>
                <a:sym typeface="Calibri"/>
              </a:rPr>
              <a:t> S3</a:t>
            </a:r>
            <a:endParaRPr sz="800">
              <a:solidFill>
                <a:srgbClr val="3C78D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8" name="Google Shape;1368;p70"/>
          <p:cNvSpPr/>
          <p:nvPr/>
        </p:nvSpPr>
        <p:spPr>
          <a:xfrm>
            <a:off x="3234300" y="1858100"/>
            <a:ext cx="2675400" cy="2257800"/>
          </a:xfrm>
          <a:prstGeom prst="roundRect">
            <a:avLst>
              <a:gd fmla="val 16667" name="adj"/>
            </a:avLst>
          </a:prstGeom>
          <a:solidFill>
            <a:srgbClr val="0E9C8A">
              <a:alpha val="7999"/>
            </a:srgbClr>
          </a:solidFill>
          <a:ln cap="flat" cmpd="sng" w="9525">
            <a:solidFill>
              <a:srgbClr val="0E9C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9" name="Google Shape;1369;p70"/>
          <p:cNvSpPr txBox="1"/>
          <p:nvPr/>
        </p:nvSpPr>
        <p:spPr>
          <a:xfrm>
            <a:off x="3560475" y="1932625"/>
            <a:ext cx="19485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800">
                <a:solidFill>
                  <a:srgbClr val="0E9C8A"/>
                </a:solidFill>
                <a:latin typeface="Calibri"/>
                <a:ea typeface="Calibri"/>
                <a:cs typeface="Calibri"/>
                <a:sym typeface="Calibri"/>
              </a:rPr>
              <a:t>Serverless Containers - API FastAPI (SSE)</a:t>
            </a:r>
            <a:endParaRPr b="1" sz="800">
              <a:solidFill>
                <a:srgbClr val="0E9C8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0" name="Google Shape;1370;p70"/>
          <p:cNvSpPr/>
          <p:nvPr/>
        </p:nvSpPr>
        <p:spPr>
          <a:xfrm>
            <a:off x="2967450" y="4523300"/>
            <a:ext cx="3209100" cy="329700"/>
          </a:xfrm>
          <a:prstGeom prst="roundRect">
            <a:avLst>
              <a:gd fmla="val 16667" name="adj"/>
            </a:avLst>
          </a:prstGeom>
          <a:solidFill>
            <a:srgbClr val="F4F4F5"/>
          </a:solidFill>
          <a:ln cap="flat" cmpd="sng" w="9525">
            <a:solidFill>
              <a:srgbClr val="222A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800">
                <a:solidFill>
                  <a:srgbClr val="222A3A"/>
                </a:solidFill>
                <a:latin typeface="Calibri"/>
                <a:ea typeface="Calibri"/>
                <a:cs typeface="Calibri"/>
                <a:sym typeface="Calibri"/>
              </a:rPr>
              <a:t>frontend web / Utilisateurs</a:t>
            </a:r>
            <a:endParaRPr b="1" sz="800">
              <a:solidFill>
                <a:srgbClr val="222A3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1" name="Google Shape;1371;p70"/>
          <p:cNvSpPr txBox="1"/>
          <p:nvPr/>
        </p:nvSpPr>
        <p:spPr>
          <a:xfrm>
            <a:off x="4586100" y="4275550"/>
            <a:ext cx="1090200" cy="20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 sz="600">
                <a:solidFill>
                  <a:srgbClr val="F4F4F5"/>
                </a:solidFill>
                <a:latin typeface="Calibri"/>
                <a:ea typeface="Calibri"/>
                <a:cs typeface="Calibri"/>
                <a:sym typeface="Calibri"/>
              </a:rPr>
              <a:t>question ⇒ / réponse SSE ⇐</a:t>
            </a:r>
            <a:endParaRPr sz="600">
              <a:solidFill>
                <a:srgbClr val="F4F4F5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 sz="600">
                <a:solidFill>
                  <a:srgbClr val="F4F4F5"/>
                </a:solidFill>
                <a:latin typeface="Calibri"/>
                <a:ea typeface="Calibri"/>
                <a:cs typeface="Calibri"/>
                <a:sym typeface="Calibri"/>
              </a:rPr>
              <a:t>(HTTPS/SSE)</a:t>
            </a:r>
            <a:endParaRPr sz="600">
              <a:solidFill>
                <a:srgbClr val="F4F4F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372" name="Google Shape;1372;p70"/>
          <p:cNvCxnSpPr>
            <a:endCxn id="1365" idx="0"/>
          </p:cNvCxnSpPr>
          <p:nvPr/>
        </p:nvCxnSpPr>
        <p:spPr>
          <a:xfrm flipH="1">
            <a:off x="1365219" y="1511925"/>
            <a:ext cx="2100" cy="319200"/>
          </a:xfrm>
          <a:prstGeom prst="straightConnector1">
            <a:avLst/>
          </a:prstGeom>
          <a:noFill/>
          <a:ln cap="flat" cmpd="sng" w="9525">
            <a:solidFill>
              <a:srgbClr val="923E2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373" name="Google Shape;1373;p70"/>
          <p:cNvCxnSpPr>
            <a:stCxn id="1365" idx="3"/>
            <a:endCxn id="1364" idx="1"/>
          </p:cNvCxnSpPr>
          <p:nvPr/>
        </p:nvCxnSpPr>
        <p:spPr>
          <a:xfrm flipH="1" rot="10800000">
            <a:off x="2154219" y="1240275"/>
            <a:ext cx="1274700" cy="770700"/>
          </a:xfrm>
          <a:prstGeom prst="curvedConnector3">
            <a:avLst>
              <a:gd fmla="val 50003" name="adj1"/>
            </a:avLst>
          </a:prstGeom>
          <a:noFill/>
          <a:ln cap="flat" cmpd="sng" w="9525">
            <a:solidFill>
              <a:srgbClr val="923E22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1374" name="Google Shape;1374;p70"/>
          <p:cNvCxnSpPr>
            <a:stCxn id="1365" idx="2"/>
            <a:endCxn id="1366" idx="0"/>
          </p:cNvCxnSpPr>
          <p:nvPr/>
        </p:nvCxnSpPr>
        <p:spPr>
          <a:xfrm flipH="1">
            <a:off x="1351119" y="2190825"/>
            <a:ext cx="14100" cy="159600"/>
          </a:xfrm>
          <a:prstGeom prst="straightConnector1">
            <a:avLst/>
          </a:prstGeom>
          <a:noFill/>
          <a:ln cap="flat" cmpd="sng" w="9525">
            <a:solidFill>
              <a:srgbClr val="923E2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375" name="Google Shape;1375;p70"/>
          <p:cNvCxnSpPr>
            <a:stCxn id="1365" idx="1"/>
            <a:endCxn id="1367" idx="1"/>
          </p:cNvCxnSpPr>
          <p:nvPr/>
        </p:nvCxnSpPr>
        <p:spPr>
          <a:xfrm flipH="1">
            <a:off x="562119" y="2010975"/>
            <a:ext cx="14100" cy="1633200"/>
          </a:xfrm>
          <a:prstGeom prst="curvedConnector3">
            <a:avLst>
              <a:gd fmla="val 1788788" name="adj1"/>
            </a:avLst>
          </a:prstGeom>
          <a:noFill/>
          <a:ln cap="flat" cmpd="sng" w="9525">
            <a:solidFill>
              <a:srgbClr val="923E2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376" name="Google Shape;1376;p70"/>
          <p:cNvSpPr txBox="1"/>
          <p:nvPr/>
        </p:nvSpPr>
        <p:spPr>
          <a:xfrm>
            <a:off x="21775" y="2444838"/>
            <a:ext cx="399300" cy="12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 sz="600">
                <a:solidFill>
                  <a:srgbClr val="923E22"/>
                </a:solidFill>
                <a:latin typeface="Calibri"/>
                <a:ea typeface="Calibri"/>
                <a:cs typeface="Calibri"/>
                <a:sym typeface="Calibri"/>
              </a:rPr>
              <a:t>dump</a:t>
            </a:r>
            <a:endParaRPr sz="600">
              <a:solidFill>
                <a:srgbClr val="923E2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7" name="Google Shape;1377;p70"/>
          <p:cNvSpPr txBox="1"/>
          <p:nvPr/>
        </p:nvSpPr>
        <p:spPr>
          <a:xfrm>
            <a:off x="1310800" y="2206363"/>
            <a:ext cx="399300" cy="12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 sz="600">
                <a:solidFill>
                  <a:srgbClr val="923E22"/>
                </a:solidFill>
                <a:latin typeface="Calibri"/>
                <a:ea typeface="Calibri"/>
                <a:cs typeface="Calibri"/>
                <a:sym typeface="Calibri"/>
              </a:rPr>
              <a:t>upsert</a:t>
            </a:r>
            <a:endParaRPr sz="600">
              <a:solidFill>
                <a:srgbClr val="923E2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8" name="Google Shape;1378;p70"/>
          <p:cNvSpPr txBox="1"/>
          <p:nvPr/>
        </p:nvSpPr>
        <p:spPr>
          <a:xfrm>
            <a:off x="1290360" y="1518088"/>
            <a:ext cx="582600" cy="12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 sz="600">
                <a:solidFill>
                  <a:srgbClr val="923E22"/>
                </a:solidFill>
                <a:latin typeface="Calibri"/>
                <a:ea typeface="Calibri"/>
                <a:cs typeface="Calibri"/>
                <a:sym typeface="Calibri"/>
              </a:rPr>
              <a:t>événements</a:t>
            </a:r>
            <a:endParaRPr sz="600">
              <a:solidFill>
                <a:srgbClr val="923E2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9" name="Google Shape;1379;p70"/>
          <p:cNvSpPr txBox="1"/>
          <p:nvPr/>
        </p:nvSpPr>
        <p:spPr>
          <a:xfrm>
            <a:off x="2517323" y="1775063"/>
            <a:ext cx="582600" cy="12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 sz="600">
                <a:solidFill>
                  <a:srgbClr val="923E22"/>
                </a:solidFill>
                <a:latin typeface="Calibri"/>
                <a:ea typeface="Calibri"/>
                <a:cs typeface="Calibri"/>
                <a:sym typeface="Calibri"/>
              </a:rPr>
              <a:t>embeddings</a:t>
            </a:r>
            <a:endParaRPr sz="600">
              <a:solidFill>
                <a:srgbClr val="923E2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0" name="Google Shape;1380;p70"/>
          <p:cNvSpPr txBox="1"/>
          <p:nvPr/>
        </p:nvSpPr>
        <p:spPr>
          <a:xfrm>
            <a:off x="283150" y="3953488"/>
            <a:ext cx="2454600" cy="23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1000">
                <a:solidFill>
                  <a:srgbClr val="B07BC2"/>
                </a:solidFill>
                <a:latin typeface="Calibri"/>
                <a:ea typeface="Calibri"/>
                <a:cs typeface="Calibri"/>
                <a:sym typeface="Calibri"/>
              </a:rPr>
              <a:t>SCALEWAY</a:t>
            </a:r>
            <a:r>
              <a:rPr lang="fr" sz="800">
                <a:solidFill>
                  <a:srgbClr val="B07BC2"/>
                </a:solidFill>
                <a:latin typeface="Calibri"/>
                <a:ea typeface="Calibri"/>
                <a:cs typeface="Calibri"/>
                <a:sym typeface="Calibri"/>
              </a:rPr>
              <a:t> - cloud souverain (UE, hors CLOUD Act) </a:t>
            </a:r>
            <a:endParaRPr sz="800">
              <a:solidFill>
                <a:srgbClr val="B07BC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1" name="Google Shape;1381;p70"/>
          <p:cNvSpPr/>
          <p:nvPr/>
        </p:nvSpPr>
        <p:spPr>
          <a:xfrm>
            <a:off x="7068700" y="4409050"/>
            <a:ext cx="144600" cy="72900"/>
          </a:xfrm>
          <a:prstGeom prst="roundRect">
            <a:avLst>
              <a:gd fmla="val 16667" name="adj"/>
            </a:avLst>
          </a:prstGeom>
          <a:solidFill>
            <a:srgbClr val="9CA3AF">
              <a:alpha val="6960"/>
            </a:srgbClr>
          </a:solidFill>
          <a:ln cap="flat" cmpd="sng" w="9525">
            <a:solidFill>
              <a:srgbClr val="9CA3A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2" name="Google Shape;1382;p70"/>
          <p:cNvSpPr/>
          <p:nvPr/>
        </p:nvSpPr>
        <p:spPr>
          <a:xfrm>
            <a:off x="7068700" y="4550067"/>
            <a:ext cx="144600" cy="72900"/>
          </a:xfrm>
          <a:prstGeom prst="roundRect">
            <a:avLst>
              <a:gd fmla="val 16667" name="adj"/>
            </a:avLst>
          </a:prstGeom>
          <a:solidFill>
            <a:srgbClr val="923E22">
              <a:alpha val="7999"/>
            </a:srgbClr>
          </a:solidFill>
          <a:ln cap="flat" cmpd="sng" w="9525">
            <a:solidFill>
              <a:srgbClr val="923E2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3" name="Google Shape;1383;p70"/>
          <p:cNvSpPr/>
          <p:nvPr/>
        </p:nvSpPr>
        <p:spPr>
          <a:xfrm>
            <a:off x="7068700" y="4962200"/>
            <a:ext cx="144600" cy="72900"/>
          </a:xfrm>
          <a:prstGeom prst="roundRect">
            <a:avLst>
              <a:gd fmla="val 16667" name="adj"/>
            </a:avLst>
          </a:prstGeom>
          <a:solidFill>
            <a:srgbClr val="674EA7">
              <a:alpha val="7999"/>
            </a:srgbClr>
          </a:solidFill>
          <a:ln cap="flat" cmpd="sng" w="9525">
            <a:solidFill>
              <a:srgbClr val="674EA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4" name="Google Shape;1384;p70"/>
          <p:cNvSpPr/>
          <p:nvPr/>
        </p:nvSpPr>
        <p:spPr>
          <a:xfrm>
            <a:off x="7068700" y="4691085"/>
            <a:ext cx="144600" cy="72900"/>
          </a:xfrm>
          <a:prstGeom prst="roundRect">
            <a:avLst>
              <a:gd fmla="val 16667" name="adj"/>
            </a:avLst>
          </a:prstGeom>
          <a:solidFill>
            <a:srgbClr val="0000FF">
              <a:alpha val="14000"/>
            </a:srgbClr>
          </a:solidFill>
          <a:ln cap="flat" cmpd="sng" w="9525">
            <a:solidFill>
              <a:srgbClr val="00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5" name="Google Shape;1385;p70"/>
          <p:cNvSpPr/>
          <p:nvPr/>
        </p:nvSpPr>
        <p:spPr>
          <a:xfrm>
            <a:off x="7068700" y="4825177"/>
            <a:ext cx="144600" cy="72900"/>
          </a:xfrm>
          <a:prstGeom prst="roundRect">
            <a:avLst>
              <a:gd fmla="val 16667" name="adj"/>
            </a:avLst>
          </a:prstGeom>
          <a:solidFill>
            <a:srgbClr val="0E9C8A">
              <a:alpha val="15999"/>
            </a:srgbClr>
          </a:solidFill>
          <a:ln cap="flat" cmpd="sng" w="9525">
            <a:solidFill>
              <a:srgbClr val="0E9C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386" name="Google Shape;1386;p70"/>
          <p:cNvCxnSpPr>
            <a:endCxn id="1368" idx="2"/>
          </p:cNvCxnSpPr>
          <p:nvPr/>
        </p:nvCxnSpPr>
        <p:spPr>
          <a:xfrm rot="10800000">
            <a:off x="4572000" y="4115900"/>
            <a:ext cx="14100" cy="410100"/>
          </a:xfrm>
          <a:prstGeom prst="straightConnector1">
            <a:avLst/>
          </a:prstGeom>
          <a:noFill/>
          <a:ln cap="flat" cmpd="sng" w="9525">
            <a:solidFill>
              <a:srgbClr val="F4F4F5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387" name="Google Shape;1387;p70"/>
          <p:cNvSpPr txBox="1"/>
          <p:nvPr/>
        </p:nvSpPr>
        <p:spPr>
          <a:xfrm>
            <a:off x="7232825" y="4367250"/>
            <a:ext cx="1755600" cy="68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600">
                <a:solidFill>
                  <a:srgbClr val="8A93A6"/>
                </a:solidFill>
                <a:latin typeface="Calibri"/>
                <a:ea typeface="Calibri"/>
                <a:cs typeface="Calibri"/>
                <a:sym typeface="Calibri"/>
              </a:rPr>
              <a:t>Sources externes</a:t>
            </a:r>
            <a:endParaRPr sz="600">
              <a:solidFill>
                <a:srgbClr val="8A93A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600">
                <a:solidFill>
                  <a:srgbClr val="8A93A6"/>
                </a:solidFill>
                <a:latin typeface="Calibri"/>
                <a:ea typeface="Calibri"/>
                <a:cs typeface="Calibri"/>
                <a:sym typeface="Calibri"/>
              </a:rPr>
              <a:t>Ingestion (Kestra)</a:t>
            </a:r>
            <a:endParaRPr sz="600">
              <a:solidFill>
                <a:srgbClr val="8A93A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600">
                <a:solidFill>
                  <a:srgbClr val="8A93A6"/>
                </a:solidFill>
                <a:latin typeface="Calibri"/>
                <a:ea typeface="Calibri"/>
                <a:cs typeface="Calibri"/>
                <a:sym typeface="Calibri"/>
              </a:rPr>
              <a:t>Stockage (PostgreSQL / Redis / Object storage)</a:t>
            </a:r>
            <a:endParaRPr sz="600">
              <a:solidFill>
                <a:srgbClr val="8A93A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600">
                <a:solidFill>
                  <a:srgbClr val="8A93A6"/>
                </a:solidFill>
                <a:latin typeface="Calibri"/>
                <a:ea typeface="Calibri"/>
                <a:cs typeface="Calibri"/>
                <a:sym typeface="Calibri"/>
              </a:rPr>
              <a:t>Applications (API + agent)</a:t>
            </a:r>
            <a:endParaRPr sz="600">
              <a:solidFill>
                <a:srgbClr val="8A93A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600">
                <a:solidFill>
                  <a:srgbClr val="8A93A6"/>
                </a:solidFill>
                <a:latin typeface="Calibri"/>
                <a:ea typeface="Calibri"/>
                <a:cs typeface="Calibri"/>
                <a:sym typeface="Calibri"/>
              </a:rPr>
              <a:t>Observabilité</a:t>
            </a:r>
            <a:endParaRPr sz="600">
              <a:solidFill>
                <a:srgbClr val="8A93A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8" name="Google Shape;1388;p70"/>
          <p:cNvSpPr txBox="1"/>
          <p:nvPr/>
        </p:nvSpPr>
        <p:spPr>
          <a:xfrm>
            <a:off x="377200" y="233175"/>
            <a:ext cx="2286900" cy="45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9050" lIns="0" spcFirstLastPara="1" rIns="0" wrap="square" tIns="190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1800">
                <a:solidFill>
                  <a:srgbClr val="0E9C8A"/>
                </a:solidFill>
                <a:latin typeface="Calibri"/>
                <a:ea typeface="Calibri"/>
                <a:cs typeface="Calibri"/>
                <a:sym typeface="Calibri"/>
              </a:rPr>
              <a:t>L’architecture du MVP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3" name="Shape 1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4" name="Google Shape;1394;p71"/>
          <p:cNvSpPr txBox="1"/>
          <p:nvPr/>
        </p:nvSpPr>
        <p:spPr>
          <a:xfrm>
            <a:off x="377200" y="675550"/>
            <a:ext cx="26754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9050" lIns="0" spcFirstLastPara="1" rIns="0" wrap="square" tIns="190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1100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Architecture MVP - chatbot RAG Puls-EVents</a:t>
            </a:r>
            <a:endParaRPr b="1" sz="1100">
              <a:solidFill>
                <a:srgbClr val="9CA3A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5" name="Google Shape;1395;p71"/>
          <p:cNvSpPr txBox="1"/>
          <p:nvPr/>
        </p:nvSpPr>
        <p:spPr>
          <a:xfrm>
            <a:off x="377200" y="4945850"/>
            <a:ext cx="999000" cy="166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700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MVP RAG Puls-Events</a:t>
            </a:r>
            <a:endParaRPr sz="700">
              <a:solidFill>
                <a:srgbClr val="9CA3A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6" name="Google Shape;1396;p71"/>
          <p:cNvSpPr/>
          <p:nvPr/>
        </p:nvSpPr>
        <p:spPr>
          <a:xfrm>
            <a:off x="64125" y="1631700"/>
            <a:ext cx="8941200" cy="2605500"/>
          </a:xfrm>
          <a:prstGeom prst="roundRect">
            <a:avLst>
              <a:gd fmla="val 6000" name="adj"/>
            </a:avLst>
          </a:prstGeom>
          <a:noFill/>
          <a:ln cap="flat" cmpd="sng" w="9525">
            <a:solidFill>
              <a:srgbClr val="B07BC2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7" name="Google Shape;1397;p71"/>
          <p:cNvSpPr/>
          <p:nvPr/>
        </p:nvSpPr>
        <p:spPr>
          <a:xfrm>
            <a:off x="499800" y="980277"/>
            <a:ext cx="2286000" cy="521400"/>
          </a:xfrm>
          <a:prstGeom prst="roundRect">
            <a:avLst>
              <a:gd fmla="val 16667" name="adj"/>
            </a:avLst>
          </a:prstGeom>
          <a:solidFill>
            <a:srgbClr val="9CA3AF">
              <a:alpha val="6960"/>
            </a:srgbClr>
          </a:solidFill>
          <a:ln cap="flat" cmpd="sng" w="12700">
            <a:solidFill>
              <a:srgbClr val="9CA3A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6575" lIns="91425" spcFirstLastPara="1" rIns="73150" wrap="square" tIns="365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800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Opendatasoft API</a:t>
            </a:r>
            <a:endParaRPr b="1" sz="800">
              <a:solidFill>
                <a:srgbClr val="9CA3A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600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events Open Agenda</a:t>
            </a:r>
            <a:endParaRPr b="1" sz="600">
              <a:solidFill>
                <a:srgbClr val="9CA3A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8" name="Google Shape;1398;p71"/>
          <p:cNvSpPr/>
          <p:nvPr/>
        </p:nvSpPr>
        <p:spPr>
          <a:xfrm>
            <a:off x="3429000" y="979502"/>
            <a:ext cx="2286000" cy="521400"/>
          </a:xfrm>
          <a:prstGeom prst="roundRect">
            <a:avLst>
              <a:gd fmla="val 16667" name="adj"/>
            </a:avLst>
          </a:prstGeom>
          <a:solidFill>
            <a:srgbClr val="9CA3AF">
              <a:alpha val="6960"/>
            </a:srgbClr>
          </a:solidFill>
          <a:ln cap="flat" cmpd="sng" w="12700">
            <a:solidFill>
              <a:srgbClr val="9CA3A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6575" lIns="91425" spcFirstLastPara="1" rIns="73150" wrap="square" tIns="365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800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Mistral API (UE)</a:t>
            </a:r>
            <a:endParaRPr b="1" sz="800">
              <a:solidFill>
                <a:srgbClr val="9CA3A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600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embeddings + LLM</a:t>
            </a:r>
            <a:endParaRPr b="1" sz="600">
              <a:solidFill>
                <a:srgbClr val="9CA3A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9" name="Google Shape;1399;p71"/>
          <p:cNvSpPr/>
          <p:nvPr/>
        </p:nvSpPr>
        <p:spPr>
          <a:xfrm>
            <a:off x="576219" y="1831125"/>
            <a:ext cx="1578000" cy="359700"/>
          </a:xfrm>
          <a:prstGeom prst="roundRect">
            <a:avLst>
              <a:gd fmla="val 16667" name="adj"/>
            </a:avLst>
          </a:prstGeom>
          <a:solidFill>
            <a:srgbClr val="923E22">
              <a:alpha val="7999"/>
            </a:srgbClr>
          </a:solidFill>
          <a:ln cap="flat" cmpd="sng" w="9525">
            <a:solidFill>
              <a:srgbClr val="923E2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800">
                <a:solidFill>
                  <a:srgbClr val="923E22"/>
                </a:solidFill>
                <a:latin typeface="Calibri"/>
                <a:ea typeface="Calibri"/>
                <a:cs typeface="Calibri"/>
                <a:sym typeface="Calibri"/>
              </a:rPr>
              <a:t>Kestra</a:t>
            </a:r>
            <a:r>
              <a:rPr lang="fr" sz="600">
                <a:solidFill>
                  <a:srgbClr val="923E22"/>
                </a:solidFill>
                <a:latin typeface="Calibri"/>
                <a:ea typeface="Calibri"/>
                <a:cs typeface="Calibri"/>
                <a:sym typeface="Calibri"/>
              </a:rPr>
              <a:t> - ingestion planifiée</a:t>
            </a:r>
            <a:endParaRPr sz="600">
              <a:solidFill>
                <a:srgbClr val="923E2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 sz="600">
                <a:solidFill>
                  <a:srgbClr val="923E22"/>
                </a:solidFill>
                <a:latin typeface="Calibri"/>
                <a:ea typeface="Calibri"/>
                <a:cs typeface="Calibri"/>
                <a:sym typeface="Calibri"/>
              </a:rPr>
              <a:t>fetch ⇒ clean ⇒ embed ⇒ upsert</a:t>
            </a:r>
            <a:endParaRPr sz="600">
              <a:solidFill>
                <a:srgbClr val="923E2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0" name="Google Shape;1400;p71"/>
          <p:cNvSpPr/>
          <p:nvPr/>
        </p:nvSpPr>
        <p:spPr>
          <a:xfrm>
            <a:off x="562125" y="2350491"/>
            <a:ext cx="1578000" cy="521400"/>
          </a:xfrm>
          <a:prstGeom prst="roundRect">
            <a:avLst>
              <a:gd fmla="val 16667" name="adj"/>
            </a:avLst>
          </a:prstGeom>
          <a:solidFill>
            <a:srgbClr val="0000FF">
              <a:alpha val="14000"/>
            </a:srgbClr>
          </a:solidFill>
          <a:ln cap="flat" cmpd="sng" w="9525">
            <a:solidFill>
              <a:srgbClr val="00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800">
                <a:solidFill>
                  <a:srgbClr val="3C78D8"/>
                </a:solidFill>
                <a:latin typeface="Calibri"/>
                <a:ea typeface="Calibri"/>
                <a:cs typeface="Calibri"/>
                <a:sym typeface="Calibri"/>
              </a:rPr>
              <a:t>Managed PostgreSQL</a:t>
            </a:r>
            <a:endParaRPr b="1" sz="800">
              <a:solidFill>
                <a:srgbClr val="3C78D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66700" lvl="0" marL="457200" rtl="0" algn="l">
              <a:spcBef>
                <a:spcPts val="0"/>
              </a:spcBef>
              <a:spcAft>
                <a:spcPts val="0"/>
              </a:spcAft>
              <a:buClr>
                <a:srgbClr val="3C78D8"/>
              </a:buClr>
              <a:buSzPts val="600"/>
              <a:buFont typeface="Calibri"/>
              <a:buChar char="●"/>
            </a:pPr>
            <a:r>
              <a:rPr lang="fr" sz="600">
                <a:solidFill>
                  <a:srgbClr val="3C78D8"/>
                </a:solidFill>
                <a:latin typeface="Calibri"/>
                <a:ea typeface="Calibri"/>
                <a:cs typeface="Calibri"/>
                <a:sym typeface="Calibri"/>
              </a:rPr>
              <a:t>pgvector (embeddings)</a:t>
            </a:r>
            <a:endParaRPr sz="600">
              <a:solidFill>
                <a:srgbClr val="3C78D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66700" lvl="0" marL="457200" rtl="0" algn="l">
              <a:spcBef>
                <a:spcPts val="0"/>
              </a:spcBef>
              <a:spcAft>
                <a:spcPts val="0"/>
              </a:spcAft>
              <a:buClr>
                <a:srgbClr val="3C78D8"/>
              </a:buClr>
              <a:buSzPts val="600"/>
              <a:buFont typeface="Calibri"/>
              <a:buChar char="●"/>
            </a:pPr>
            <a:r>
              <a:t/>
            </a:r>
            <a:endParaRPr sz="600">
              <a:solidFill>
                <a:srgbClr val="3C78D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66700" lvl="0" marL="457200" rtl="0" algn="l">
              <a:spcBef>
                <a:spcPts val="0"/>
              </a:spcBef>
              <a:spcAft>
                <a:spcPts val="0"/>
              </a:spcAft>
              <a:buClr>
                <a:srgbClr val="3C78D8"/>
              </a:buClr>
              <a:buSzPts val="600"/>
              <a:buFont typeface="Calibri"/>
              <a:buChar char="●"/>
            </a:pPr>
            <a:r>
              <a:t/>
            </a:r>
            <a:endParaRPr sz="600">
              <a:solidFill>
                <a:srgbClr val="3C78D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1" name="Google Shape;1401;p71"/>
          <p:cNvSpPr/>
          <p:nvPr/>
        </p:nvSpPr>
        <p:spPr>
          <a:xfrm>
            <a:off x="562125" y="3492525"/>
            <a:ext cx="1578000" cy="303000"/>
          </a:xfrm>
          <a:prstGeom prst="roundRect">
            <a:avLst>
              <a:gd fmla="val 16667" name="adj"/>
            </a:avLst>
          </a:prstGeom>
          <a:solidFill>
            <a:srgbClr val="0000FF">
              <a:alpha val="3999"/>
            </a:srgbClr>
          </a:solidFill>
          <a:ln cap="flat" cmpd="sng" w="9525">
            <a:solidFill>
              <a:srgbClr val="00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800">
                <a:solidFill>
                  <a:srgbClr val="3C78D8"/>
                </a:solidFill>
                <a:latin typeface="Calibri"/>
                <a:ea typeface="Calibri"/>
                <a:cs typeface="Calibri"/>
                <a:sym typeface="Calibri"/>
              </a:rPr>
              <a:t>Object storage</a:t>
            </a:r>
            <a:r>
              <a:rPr lang="fr" sz="800">
                <a:solidFill>
                  <a:srgbClr val="3C78D8"/>
                </a:solidFill>
                <a:latin typeface="Calibri"/>
                <a:ea typeface="Calibri"/>
                <a:cs typeface="Calibri"/>
                <a:sym typeface="Calibri"/>
              </a:rPr>
              <a:t> S3</a:t>
            </a:r>
            <a:endParaRPr sz="800">
              <a:solidFill>
                <a:srgbClr val="3C78D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2" name="Google Shape;1402;p71"/>
          <p:cNvSpPr/>
          <p:nvPr/>
        </p:nvSpPr>
        <p:spPr>
          <a:xfrm>
            <a:off x="3234300" y="1858100"/>
            <a:ext cx="2675400" cy="2257800"/>
          </a:xfrm>
          <a:prstGeom prst="roundRect">
            <a:avLst>
              <a:gd fmla="val 16667" name="adj"/>
            </a:avLst>
          </a:prstGeom>
          <a:solidFill>
            <a:srgbClr val="0E9C8A">
              <a:alpha val="7999"/>
            </a:srgbClr>
          </a:solidFill>
          <a:ln cap="flat" cmpd="sng" w="9525">
            <a:solidFill>
              <a:srgbClr val="0E9C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3" name="Google Shape;1403;p71"/>
          <p:cNvSpPr/>
          <p:nvPr/>
        </p:nvSpPr>
        <p:spPr>
          <a:xfrm>
            <a:off x="3431358" y="2172800"/>
            <a:ext cx="2270400" cy="521400"/>
          </a:xfrm>
          <a:prstGeom prst="roundRect">
            <a:avLst>
              <a:gd fmla="val 16667" name="adj"/>
            </a:avLst>
          </a:prstGeom>
          <a:solidFill>
            <a:srgbClr val="0E9C8A">
              <a:alpha val="23999"/>
            </a:srgbClr>
          </a:solidFill>
          <a:ln cap="flat" cmpd="sng" w="9525">
            <a:solidFill>
              <a:srgbClr val="0E9C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800">
                <a:solidFill>
                  <a:srgbClr val="0E9C8A"/>
                </a:solidFill>
                <a:latin typeface="Calibri"/>
                <a:ea typeface="Calibri"/>
                <a:cs typeface="Calibri"/>
                <a:sym typeface="Calibri"/>
              </a:rPr>
              <a:t>Agents smolagents</a:t>
            </a:r>
            <a:endParaRPr b="1" sz="800">
              <a:solidFill>
                <a:srgbClr val="0E9C8A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 sz="600">
                <a:solidFill>
                  <a:srgbClr val="0E9C8A"/>
                </a:solidFill>
                <a:latin typeface="Calibri"/>
                <a:ea typeface="Calibri"/>
                <a:cs typeface="Calibri"/>
                <a:sym typeface="Calibri"/>
              </a:rPr>
              <a:t>(orchestration des outils)</a:t>
            </a:r>
            <a:endParaRPr sz="600">
              <a:solidFill>
                <a:srgbClr val="0E9C8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4" name="Google Shape;1404;p71"/>
          <p:cNvSpPr txBox="1"/>
          <p:nvPr/>
        </p:nvSpPr>
        <p:spPr>
          <a:xfrm>
            <a:off x="3560475" y="1932625"/>
            <a:ext cx="19485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800">
                <a:solidFill>
                  <a:srgbClr val="0E9C8A"/>
                </a:solidFill>
                <a:latin typeface="Calibri"/>
                <a:ea typeface="Calibri"/>
                <a:cs typeface="Calibri"/>
                <a:sym typeface="Calibri"/>
              </a:rPr>
              <a:t>Serverless Containers - API FastAPI (SSE)</a:t>
            </a:r>
            <a:endParaRPr b="1" sz="800">
              <a:solidFill>
                <a:srgbClr val="0E9C8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5" name="Google Shape;1405;p71"/>
          <p:cNvSpPr/>
          <p:nvPr/>
        </p:nvSpPr>
        <p:spPr>
          <a:xfrm>
            <a:off x="2967450" y="4523300"/>
            <a:ext cx="3209100" cy="329700"/>
          </a:xfrm>
          <a:prstGeom prst="roundRect">
            <a:avLst>
              <a:gd fmla="val 16667" name="adj"/>
            </a:avLst>
          </a:prstGeom>
          <a:solidFill>
            <a:srgbClr val="F4F4F5"/>
          </a:solidFill>
          <a:ln cap="flat" cmpd="sng" w="9525">
            <a:solidFill>
              <a:srgbClr val="222A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800">
                <a:solidFill>
                  <a:srgbClr val="222A3A"/>
                </a:solidFill>
                <a:latin typeface="Calibri"/>
                <a:ea typeface="Calibri"/>
                <a:cs typeface="Calibri"/>
                <a:sym typeface="Calibri"/>
              </a:rPr>
              <a:t>frontend web / Utilisateurs</a:t>
            </a:r>
            <a:endParaRPr b="1" sz="800">
              <a:solidFill>
                <a:srgbClr val="222A3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6" name="Google Shape;1406;p71"/>
          <p:cNvSpPr txBox="1"/>
          <p:nvPr/>
        </p:nvSpPr>
        <p:spPr>
          <a:xfrm>
            <a:off x="4586100" y="4275550"/>
            <a:ext cx="1090200" cy="20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 sz="600">
                <a:solidFill>
                  <a:srgbClr val="F4F4F5"/>
                </a:solidFill>
                <a:latin typeface="Calibri"/>
                <a:ea typeface="Calibri"/>
                <a:cs typeface="Calibri"/>
                <a:sym typeface="Calibri"/>
              </a:rPr>
              <a:t>question ⇒ / réponse SSE ⇐</a:t>
            </a:r>
            <a:endParaRPr sz="600">
              <a:solidFill>
                <a:srgbClr val="F4F4F5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 sz="600">
                <a:solidFill>
                  <a:srgbClr val="F4F4F5"/>
                </a:solidFill>
                <a:latin typeface="Calibri"/>
                <a:ea typeface="Calibri"/>
                <a:cs typeface="Calibri"/>
                <a:sym typeface="Calibri"/>
              </a:rPr>
              <a:t>(HTTPS/SSE)</a:t>
            </a:r>
            <a:endParaRPr sz="600">
              <a:solidFill>
                <a:srgbClr val="F4F4F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407" name="Google Shape;1407;p71"/>
          <p:cNvCxnSpPr>
            <a:endCxn id="1399" idx="0"/>
          </p:cNvCxnSpPr>
          <p:nvPr/>
        </p:nvCxnSpPr>
        <p:spPr>
          <a:xfrm flipH="1">
            <a:off x="1365219" y="1511925"/>
            <a:ext cx="2100" cy="319200"/>
          </a:xfrm>
          <a:prstGeom prst="straightConnector1">
            <a:avLst/>
          </a:prstGeom>
          <a:noFill/>
          <a:ln cap="flat" cmpd="sng" w="9525">
            <a:solidFill>
              <a:srgbClr val="923E2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408" name="Google Shape;1408;p71"/>
          <p:cNvCxnSpPr>
            <a:stCxn id="1399" idx="3"/>
            <a:endCxn id="1398" idx="1"/>
          </p:cNvCxnSpPr>
          <p:nvPr/>
        </p:nvCxnSpPr>
        <p:spPr>
          <a:xfrm flipH="1" rot="10800000">
            <a:off x="2154219" y="1240275"/>
            <a:ext cx="1274700" cy="770700"/>
          </a:xfrm>
          <a:prstGeom prst="curvedConnector3">
            <a:avLst>
              <a:gd fmla="val 50003" name="adj1"/>
            </a:avLst>
          </a:prstGeom>
          <a:noFill/>
          <a:ln cap="flat" cmpd="sng" w="9525">
            <a:solidFill>
              <a:srgbClr val="923E22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1409" name="Google Shape;1409;p71"/>
          <p:cNvCxnSpPr>
            <a:stCxn id="1399" idx="2"/>
            <a:endCxn id="1400" idx="0"/>
          </p:cNvCxnSpPr>
          <p:nvPr/>
        </p:nvCxnSpPr>
        <p:spPr>
          <a:xfrm flipH="1">
            <a:off x="1351119" y="2190825"/>
            <a:ext cx="14100" cy="159600"/>
          </a:xfrm>
          <a:prstGeom prst="straightConnector1">
            <a:avLst/>
          </a:prstGeom>
          <a:noFill/>
          <a:ln cap="flat" cmpd="sng" w="9525">
            <a:solidFill>
              <a:srgbClr val="923E2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410" name="Google Shape;1410;p71"/>
          <p:cNvCxnSpPr>
            <a:stCxn id="1399" idx="1"/>
            <a:endCxn id="1401" idx="1"/>
          </p:cNvCxnSpPr>
          <p:nvPr/>
        </p:nvCxnSpPr>
        <p:spPr>
          <a:xfrm flipH="1">
            <a:off x="562119" y="2010975"/>
            <a:ext cx="14100" cy="1633200"/>
          </a:xfrm>
          <a:prstGeom prst="curvedConnector3">
            <a:avLst>
              <a:gd fmla="val 1788788" name="adj1"/>
            </a:avLst>
          </a:prstGeom>
          <a:noFill/>
          <a:ln cap="flat" cmpd="sng" w="9525">
            <a:solidFill>
              <a:srgbClr val="923E2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411" name="Google Shape;1411;p71"/>
          <p:cNvSpPr txBox="1"/>
          <p:nvPr/>
        </p:nvSpPr>
        <p:spPr>
          <a:xfrm>
            <a:off x="21775" y="2444838"/>
            <a:ext cx="399300" cy="12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 sz="600">
                <a:solidFill>
                  <a:srgbClr val="923E22"/>
                </a:solidFill>
                <a:latin typeface="Calibri"/>
                <a:ea typeface="Calibri"/>
                <a:cs typeface="Calibri"/>
                <a:sym typeface="Calibri"/>
              </a:rPr>
              <a:t>dump</a:t>
            </a:r>
            <a:endParaRPr sz="600">
              <a:solidFill>
                <a:srgbClr val="923E2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2" name="Google Shape;1412;p71"/>
          <p:cNvSpPr txBox="1"/>
          <p:nvPr/>
        </p:nvSpPr>
        <p:spPr>
          <a:xfrm>
            <a:off x="1310800" y="2206363"/>
            <a:ext cx="399300" cy="12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 sz="600">
                <a:solidFill>
                  <a:srgbClr val="923E22"/>
                </a:solidFill>
                <a:latin typeface="Calibri"/>
                <a:ea typeface="Calibri"/>
                <a:cs typeface="Calibri"/>
                <a:sym typeface="Calibri"/>
              </a:rPr>
              <a:t>upsert</a:t>
            </a:r>
            <a:endParaRPr sz="600">
              <a:solidFill>
                <a:srgbClr val="923E2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3" name="Google Shape;1413;p71"/>
          <p:cNvSpPr txBox="1"/>
          <p:nvPr/>
        </p:nvSpPr>
        <p:spPr>
          <a:xfrm>
            <a:off x="1290360" y="1518088"/>
            <a:ext cx="582600" cy="12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 sz="600">
                <a:solidFill>
                  <a:srgbClr val="923E22"/>
                </a:solidFill>
                <a:latin typeface="Calibri"/>
                <a:ea typeface="Calibri"/>
                <a:cs typeface="Calibri"/>
                <a:sym typeface="Calibri"/>
              </a:rPr>
              <a:t>événements</a:t>
            </a:r>
            <a:endParaRPr sz="600">
              <a:solidFill>
                <a:srgbClr val="923E2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4" name="Google Shape;1414;p71"/>
          <p:cNvSpPr txBox="1"/>
          <p:nvPr/>
        </p:nvSpPr>
        <p:spPr>
          <a:xfrm>
            <a:off x="2517323" y="1775063"/>
            <a:ext cx="582600" cy="12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 sz="600">
                <a:solidFill>
                  <a:srgbClr val="923E22"/>
                </a:solidFill>
                <a:latin typeface="Calibri"/>
                <a:ea typeface="Calibri"/>
                <a:cs typeface="Calibri"/>
                <a:sym typeface="Calibri"/>
              </a:rPr>
              <a:t>embeddings</a:t>
            </a:r>
            <a:endParaRPr sz="600">
              <a:solidFill>
                <a:srgbClr val="923E2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5" name="Google Shape;1415;p71"/>
          <p:cNvSpPr txBox="1"/>
          <p:nvPr/>
        </p:nvSpPr>
        <p:spPr>
          <a:xfrm>
            <a:off x="283150" y="3953488"/>
            <a:ext cx="2454600" cy="23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1000">
                <a:solidFill>
                  <a:srgbClr val="B07BC2"/>
                </a:solidFill>
                <a:latin typeface="Calibri"/>
                <a:ea typeface="Calibri"/>
                <a:cs typeface="Calibri"/>
                <a:sym typeface="Calibri"/>
              </a:rPr>
              <a:t>SCALEWAY</a:t>
            </a:r>
            <a:r>
              <a:rPr lang="fr" sz="800">
                <a:solidFill>
                  <a:srgbClr val="B07BC2"/>
                </a:solidFill>
                <a:latin typeface="Calibri"/>
                <a:ea typeface="Calibri"/>
                <a:cs typeface="Calibri"/>
                <a:sym typeface="Calibri"/>
              </a:rPr>
              <a:t> - cloud souverain (UE, hors CLOUD Act) </a:t>
            </a:r>
            <a:endParaRPr sz="800">
              <a:solidFill>
                <a:srgbClr val="B07BC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6" name="Google Shape;1416;p71"/>
          <p:cNvSpPr/>
          <p:nvPr/>
        </p:nvSpPr>
        <p:spPr>
          <a:xfrm>
            <a:off x="7068700" y="4409050"/>
            <a:ext cx="144600" cy="72900"/>
          </a:xfrm>
          <a:prstGeom prst="roundRect">
            <a:avLst>
              <a:gd fmla="val 16667" name="adj"/>
            </a:avLst>
          </a:prstGeom>
          <a:solidFill>
            <a:srgbClr val="9CA3AF">
              <a:alpha val="6960"/>
            </a:srgbClr>
          </a:solidFill>
          <a:ln cap="flat" cmpd="sng" w="9525">
            <a:solidFill>
              <a:srgbClr val="9CA3A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7" name="Google Shape;1417;p71"/>
          <p:cNvSpPr/>
          <p:nvPr/>
        </p:nvSpPr>
        <p:spPr>
          <a:xfrm>
            <a:off x="7068700" y="4550067"/>
            <a:ext cx="144600" cy="72900"/>
          </a:xfrm>
          <a:prstGeom prst="roundRect">
            <a:avLst>
              <a:gd fmla="val 16667" name="adj"/>
            </a:avLst>
          </a:prstGeom>
          <a:solidFill>
            <a:srgbClr val="923E22">
              <a:alpha val="7999"/>
            </a:srgbClr>
          </a:solidFill>
          <a:ln cap="flat" cmpd="sng" w="9525">
            <a:solidFill>
              <a:srgbClr val="923E2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8" name="Google Shape;1418;p71"/>
          <p:cNvSpPr/>
          <p:nvPr/>
        </p:nvSpPr>
        <p:spPr>
          <a:xfrm>
            <a:off x="7068700" y="4962200"/>
            <a:ext cx="144600" cy="72900"/>
          </a:xfrm>
          <a:prstGeom prst="roundRect">
            <a:avLst>
              <a:gd fmla="val 16667" name="adj"/>
            </a:avLst>
          </a:prstGeom>
          <a:solidFill>
            <a:srgbClr val="674EA7">
              <a:alpha val="7999"/>
            </a:srgbClr>
          </a:solidFill>
          <a:ln cap="flat" cmpd="sng" w="9525">
            <a:solidFill>
              <a:srgbClr val="674EA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9" name="Google Shape;1419;p71"/>
          <p:cNvSpPr/>
          <p:nvPr/>
        </p:nvSpPr>
        <p:spPr>
          <a:xfrm>
            <a:off x="7068700" y="4691085"/>
            <a:ext cx="144600" cy="72900"/>
          </a:xfrm>
          <a:prstGeom prst="roundRect">
            <a:avLst>
              <a:gd fmla="val 16667" name="adj"/>
            </a:avLst>
          </a:prstGeom>
          <a:solidFill>
            <a:srgbClr val="0000FF">
              <a:alpha val="14000"/>
            </a:srgbClr>
          </a:solidFill>
          <a:ln cap="flat" cmpd="sng" w="9525">
            <a:solidFill>
              <a:srgbClr val="00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0" name="Google Shape;1420;p71"/>
          <p:cNvSpPr/>
          <p:nvPr/>
        </p:nvSpPr>
        <p:spPr>
          <a:xfrm>
            <a:off x="7068700" y="4825177"/>
            <a:ext cx="144600" cy="72900"/>
          </a:xfrm>
          <a:prstGeom prst="roundRect">
            <a:avLst>
              <a:gd fmla="val 16667" name="adj"/>
            </a:avLst>
          </a:prstGeom>
          <a:solidFill>
            <a:srgbClr val="0E9C8A">
              <a:alpha val="15999"/>
            </a:srgbClr>
          </a:solidFill>
          <a:ln cap="flat" cmpd="sng" w="9525">
            <a:solidFill>
              <a:srgbClr val="0E9C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421" name="Google Shape;1421;p71"/>
          <p:cNvCxnSpPr>
            <a:endCxn id="1402" idx="2"/>
          </p:cNvCxnSpPr>
          <p:nvPr/>
        </p:nvCxnSpPr>
        <p:spPr>
          <a:xfrm rot="10800000">
            <a:off x="4572000" y="4115900"/>
            <a:ext cx="14100" cy="410100"/>
          </a:xfrm>
          <a:prstGeom prst="straightConnector1">
            <a:avLst/>
          </a:prstGeom>
          <a:noFill/>
          <a:ln cap="flat" cmpd="sng" w="9525">
            <a:solidFill>
              <a:srgbClr val="F4F4F5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422" name="Google Shape;1422;p71"/>
          <p:cNvSpPr txBox="1"/>
          <p:nvPr/>
        </p:nvSpPr>
        <p:spPr>
          <a:xfrm>
            <a:off x="7232825" y="4367250"/>
            <a:ext cx="1755600" cy="68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600">
                <a:solidFill>
                  <a:srgbClr val="8A93A6"/>
                </a:solidFill>
                <a:latin typeface="Calibri"/>
                <a:ea typeface="Calibri"/>
                <a:cs typeface="Calibri"/>
                <a:sym typeface="Calibri"/>
              </a:rPr>
              <a:t>Sources externes</a:t>
            </a:r>
            <a:endParaRPr sz="600">
              <a:solidFill>
                <a:srgbClr val="8A93A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600">
                <a:solidFill>
                  <a:srgbClr val="8A93A6"/>
                </a:solidFill>
                <a:latin typeface="Calibri"/>
                <a:ea typeface="Calibri"/>
                <a:cs typeface="Calibri"/>
                <a:sym typeface="Calibri"/>
              </a:rPr>
              <a:t>Ingestion (Kestra)</a:t>
            </a:r>
            <a:endParaRPr sz="600">
              <a:solidFill>
                <a:srgbClr val="8A93A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600">
                <a:solidFill>
                  <a:srgbClr val="8A93A6"/>
                </a:solidFill>
                <a:latin typeface="Calibri"/>
                <a:ea typeface="Calibri"/>
                <a:cs typeface="Calibri"/>
                <a:sym typeface="Calibri"/>
              </a:rPr>
              <a:t>Stockage (PostgreSQL / Redis / Object storage)</a:t>
            </a:r>
            <a:endParaRPr sz="600">
              <a:solidFill>
                <a:srgbClr val="8A93A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600">
                <a:solidFill>
                  <a:srgbClr val="8A93A6"/>
                </a:solidFill>
                <a:latin typeface="Calibri"/>
                <a:ea typeface="Calibri"/>
                <a:cs typeface="Calibri"/>
                <a:sym typeface="Calibri"/>
              </a:rPr>
              <a:t>Applications (API + agent)</a:t>
            </a:r>
            <a:endParaRPr sz="600">
              <a:solidFill>
                <a:srgbClr val="8A93A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600">
                <a:solidFill>
                  <a:srgbClr val="8A93A6"/>
                </a:solidFill>
                <a:latin typeface="Calibri"/>
                <a:ea typeface="Calibri"/>
                <a:cs typeface="Calibri"/>
                <a:sym typeface="Calibri"/>
              </a:rPr>
              <a:t>Observabilité</a:t>
            </a:r>
            <a:endParaRPr sz="600">
              <a:solidFill>
                <a:srgbClr val="8A93A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3" name="Google Shape;1423;p71"/>
          <p:cNvSpPr txBox="1"/>
          <p:nvPr/>
        </p:nvSpPr>
        <p:spPr>
          <a:xfrm>
            <a:off x="377200" y="233175"/>
            <a:ext cx="2286900" cy="45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9050" lIns="0" spcFirstLastPara="1" rIns="0" wrap="square" tIns="190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1800">
                <a:solidFill>
                  <a:srgbClr val="0E9C8A"/>
                </a:solidFill>
                <a:latin typeface="Calibri"/>
                <a:ea typeface="Calibri"/>
                <a:cs typeface="Calibri"/>
                <a:sym typeface="Calibri"/>
              </a:rPr>
              <a:t>L’architecture du MVP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8" name="Shape 14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9" name="Google Shape;1429;p72"/>
          <p:cNvSpPr txBox="1"/>
          <p:nvPr/>
        </p:nvSpPr>
        <p:spPr>
          <a:xfrm>
            <a:off x="377200" y="675550"/>
            <a:ext cx="26754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9050" lIns="0" spcFirstLastPara="1" rIns="0" wrap="square" tIns="190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1100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Architecture MVP - chatbot RAG Puls-EVents</a:t>
            </a:r>
            <a:endParaRPr b="1" sz="1100">
              <a:solidFill>
                <a:srgbClr val="9CA3A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0" name="Google Shape;1430;p72"/>
          <p:cNvSpPr txBox="1"/>
          <p:nvPr/>
        </p:nvSpPr>
        <p:spPr>
          <a:xfrm>
            <a:off x="377200" y="4945850"/>
            <a:ext cx="999000" cy="166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700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MVP RAG Puls-Events</a:t>
            </a:r>
            <a:endParaRPr sz="700">
              <a:solidFill>
                <a:srgbClr val="9CA3A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1" name="Google Shape;1431;p72"/>
          <p:cNvSpPr/>
          <p:nvPr/>
        </p:nvSpPr>
        <p:spPr>
          <a:xfrm>
            <a:off x="64125" y="1631700"/>
            <a:ext cx="8941200" cy="2605500"/>
          </a:xfrm>
          <a:prstGeom prst="roundRect">
            <a:avLst>
              <a:gd fmla="val 6000" name="adj"/>
            </a:avLst>
          </a:prstGeom>
          <a:noFill/>
          <a:ln cap="flat" cmpd="sng" w="9525">
            <a:solidFill>
              <a:srgbClr val="B07BC2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2" name="Google Shape;1432;p72"/>
          <p:cNvSpPr/>
          <p:nvPr/>
        </p:nvSpPr>
        <p:spPr>
          <a:xfrm>
            <a:off x="499800" y="980277"/>
            <a:ext cx="2286000" cy="521400"/>
          </a:xfrm>
          <a:prstGeom prst="roundRect">
            <a:avLst>
              <a:gd fmla="val 16667" name="adj"/>
            </a:avLst>
          </a:prstGeom>
          <a:solidFill>
            <a:srgbClr val="9CA3AF">
              <a:alpha val="6960"/>
            </a:srgbClr>
          </a:solidFill>
          <a:ln cap="flat" cmpd="sng" w="12700">
            <a:solidFill>
              <a:srgbClr val="9CA3A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6575" lIns="91425" spcFirstLastPara="1" rIns="73150" wrap="square" tIns="365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800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Opendatasoft API</a:t>
            </a:r>
            <a:endParaRPr b="1" sz="800">
              <a:solidFill>
                <a:srgbClr val="9CA3A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600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events Open Agenda</a:t>
            </a:r>
            <a:endParaRPr b="1" sz="600">
              <a:solidFill>
                <a:srgbClr val="9CA3A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3" name="Google Shape;1433;p72"/>
          <p:cNvSpPr/>
          <p:nvPr/>
        </p:nvSpPr>
        <p:spPr>
          <a:xfrm>
            <a:off x="3429000" y="979502"/>
            <a:ext cx="2286000" cy="521400"/>
          </a:xfrm>
          <a:prstGeom prst="roundRect">
            <a:avLst>
              <a:gd fmla="val 16667" name="adj"/>
            </a:avLst>
          </a:prstGeom>
          <a:solidFill>
            <a:srgbClr val="9CA3AF">
              <a:alpha val="6960"/>
            </a:srgbClr>
          </a:solidFill>
          <a:ln cap="flat" cmpd="sng" w="12700">
            <a:solidFill>
              <a:srgbClr val="9CA3A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6575" lIns="91425" spcFirstLastPara="1" rIns="73150" wrap="square" tIns="365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800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Mistral API (UE)</a:t>
            </a:r>
            <a:endParaRPr b="1" sz="800">
              <a:solidFill>
                <a:srgbClr val="9CA3A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600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embeddings + LLM</a:t>
            </a:r>
            <a:endParaRPr b="1" sz="600">
              <a:solidFill>
                <a:srgbClr val="9CA3A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4" name="Google Shape;1434;p72"/>
          <p:cNvSpPr/>
          <p:nvPr/>
        </p:nvSpPr>
        <p:spPr>
          <a:xfrm>
            <a:off x="576219" y="1831125"/>
            <a:ext cx="1578000" cy="359700"/>
          </a:xfrm>
          <a:prstGeom prst="roundRect">
            <a:avLst>
              <a:gd fmla="val 16667" name="adj"/>
            </a:avLst>
          </a:prstGeom>
          <a:solidFill>
            <a:srgbClr val="923E22">
              <a:alpha val="7999"/>
            </a:srgbClr>
          </a:solidFill>
          <a:ln cap="flat" cmpd="sng" w="9525">
            <a:solidFill>
              <a:srgbClr val="923E2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800">
                <a:solidFill>
                  <a:srgbClr val="923E22"/>
                </a:solidFill>
                <a:latin typeface="Calibri"/>
                <a:ea typeface="Calibri"/>
                <a:cs typeface="Calibri"/>
                <a:sym typeface="Calibri"/>
              </a:rPr>
              <a:t>Kestra</a:t>
            </a:r>
            <a:r>
              <a:rPr lang="fr" sz="600">
                <a:solidFill>
                  <a:srgbClr val="923E22"/>
                </a:solidFill>
                <a:latin typeface="Calibri"/>
                <a:ea typeface="Calibri"/>
                <a:cs typeface="Calibri"/>
                <a:sym typeface="Calibri"/>
              </a:rPr>
              <a:t> - ingestion planifiée</a:t>
            </a:r>
            <a:endParaRPr sz="600">
              <a:solidFill>
                <a:srgbClr val="923E2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 sz="600">
                <a:solidFill>
                  <a:srgbClr val="923E22"/>
                </a:solidFill>
                <a:latin typeface="Calibri"/>
                <a:ea typeface="Calibri"/>
                <a:cs typeface="Calibri"/>
                <a:sym typeface="Calibri"/>
              </a:rPr>
              <a:t>fetch ⇒ clean ⇒ embed ⇒ upsert</a:t>
            </a:r>
            <a:endParaRPr sz="600">
              <a:solidFill>
                <a:srgbClr val="923E2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5" name="Google Shape;1435;p72"/>
          <p:cNvSpPr/>
          <p:nvPr/>
        </p:nvSpPr>
        <p:spPr>
          <a:xfrm>
            <a:off x="562125" y="2350491"/>
            <a:ext cx="1578000" cy="521400"/>
          </a:xfrm>
          <a:prstGeom prst="roundRect">
            <a:avLst>
              <a:gd fmla="val 16667" name="adj"/>
            </a:avLst>
          </a:prstGeom>
          <a:solidFill>
            <a:srgbClr val="0000FF">
              <a:alpha val="14000"/>
            </a:srgbClr>
          </a:solidFill>
          <a:ln cap="flat" cmpd="sng" w="9525">
            <a:solidFill>
              <a:srgbClr val="00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800">
                <a:solidFill>
                  <a:srgbClr val="3C78D8"/>
                </a:solidFill>
                <a:latin typeface="Calibri"/>
                <a:ea typeface="Calibri"/>
                <a:cs typeface="Calibri"/>
                <a:sym typeface="Calibri"/>
              </a:rPr>
              <a:t>Managed PostgreSQL</a:t>
            </a:r>
            <a:endParaRPr b="1" sz="800">
              <a:solidFill>
                <a:srgbClr val="3C78D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66700" lvl="0" marL="457200" rtl="0" algn="l">
              <a:spcBef>
                <a:spcPts val="0"/>
              </a:spcBef>
              <a:spcAft>
                <a:spcPts val="0"/>
              </a:spcAft>
              <a:buClr>
                <a:srgbClr val="3C78D8"/>
              </a:buClr>
              <a:buSzPts val="600"/>
              <a:buFont typeface="Calibri"/>
              <a:buChar char="●"/>
            </a:pPr>
            <a:r>
              <a:rPr lang="fr" sz="600">
                <a:solidFill>
                  <a:srgbClr val="3C78D8"/>
                </a:solidFill>
                <a:latin typeface="Calibri"/>
                <a:ea typeface="Calibri"/>
                <a:cs typeface="Calibri"/>
                <a:sym typeface="Calibri"/>
              </a:rPr>
              <a:t>pgvector (embeddings)</a:t>
            </a:r>
            <a:endParaRPr sz="600">
              <a:solidFill>
                <a:srgbClr val="3C78D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66700" lvl="0" marL="457200" rtl="0" algn="l">
              <a:spcBef>
                <a:spcPts val="0"/>
              </a:spcBef>
              <a:spcAft>
                <a:spcPts val="0"/>
              </a:spcAft>
              <a:buClr>
                <a:srgbClr val="3C78D8"/>
              </a:buClr>
              <a:buSzPts val="600"/>
              <a:buFont typeface="Calibri"/>
              <a:buChar char="●"/>
            </a:pPr>
            <a:r>
              <a:t/>
            </a:r>
            <a:endParaRPr sz="600">
              <a:solidFill>
                <a:srgbClr val="3C78D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66700" lvl="0" marL="457200" rtl="0" algn="l">
              <a:spcBef>
                <a:spcPts val="0"/>
              </a:spcBef>
              <a:spcAft>
                <a:spcPts val="0"/>
              </a:spcAft>
              <a:buClr>
                <a:srgbClr val="3C78D8"/>
              </a:buClr>
              <a:buSzPts val="600"/>
              <a:buFont typeface="Calibri"/>
              <a:buChar char="●"/>
            </a:pPr>
            <a:r>
              <a:t/>
            </a:r>
            <a:endParaRPr sz="600">
              <a:solidFill>
                <a:srgbClr val="3C78D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6" name="Google Shape;1436;p72"/>
          <p:cNvSpPr/>
          <p:nvPr/>
        </p:nvSpPr>
        <p:spPr>
          <a:xfrm>
            <a:off x="562125" y="3492525"/>
            <a:ext cx="1578000" cy="303000"/>
          </a:xfrm>
          <a:prstGeom prst="roundRect">
            <a:avLst>
              <a:gd fmla="val 16667" name="adj"/>
            </a:avLst>
          </a:prstGeom>
          <a:solidFill>
            <a:srgbClr val="0000FF">
              <a:alpha val="3999"/>
            </a:srgbClr>
          </a:solidFill>
          <a:ln cap="flat" cmpd="sng" w="9525">
            <a:solidFill>
              <a:srgbClr val="00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800">
                <a:solidFill>
                  <a:srgbClr val="3C78D8"/>
                </a:solidFill>
                <a:latin typeface="Calibri"/>
                <a:ea typeface="Calibri"/>
                <a:cs typeface="Calibri"/>
                <a:sym typeface="Calibri"/>
              </a:rPr>
              <a:t>Object storage</a:t>
            </a:r>
            <a:r>
              <a:rPr lang="fr" sz="800">
                <a:solidFill>
                  <a:srgbClr val="3C78D8"/>
                </a:solidFill>
                <a:latin typeface="Calibri"/>
                <a:ea typeface="Calibri"/>
                <a:cs typeface="Calibri"/>
                <a:sym typeface="Calibri"/>
              </a:rPr>
              <a:t> S3</a:t>
            </a:r>
            <a:endParaRPr sz="800">
              <a:solidFill>
                <a:srgbClr val="3C78D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7" name="Google Shape;1437;p72"/>
          <p:cNvSpPr/>
          <p:nvPr/>
        </p:nvSpPr>
        <p:spPr>
          <a:xfrm>
            <a:off x="3234300" y="1858100"/>
            <a:ext cx="2675400" cy="2257800"/>
          </a:xfrm>
          <a:prstGeom prst="roundRect">
            <a:avLst>
              <a:gd fmla="val 16667" name="adj"/>
            </a:avLst>
          </a:prstGeom>
          <a:solidFill>
            <a:srgbClr val="0E9C8A">
              <a:alpha val="7999"/>
            </a:srgbClr>
          </a:solidFill>
          <a:ln cap="flat" cmpd="sng" w="9525">
            <a:solidFill>
              <a:srgbClr val="0E9C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8" name="Google Shape;1438;p72"/>
          <p:cNvSpPr/>
          <p:nvPr/>
        </p:nvSpPr>
        <p:spPr>
          <a:xfrm>
            <a:off x="3431358" y="2172800"/>
            <a:ext cx="2270400" cy="521400"/>
          </a:xfrm>
          <a:prstGeom prst="roundRect">
            <a:avLst>
              <a:gd fmla="val 16667" name="adj"/>
            </a:avLst>
          </a:prstGeom>
          <a:solidFill>
            <a:srgbClr val="0E9C8A">
              <a:alpha val="23999"/>
            </a:srgbClr>
          </a:solidFill>
          <a:ln cap="flat" cmpd="sng" w="9525">
            <a:solidFill>
              <a:srgbClr val="0E9C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800">
                <a:solidFill>
                  <a:srgbClr val="0E9C8A"/>
                </a:solidFill>
                <a:latin typeface="Calibri"/>
                <a:ea typeface="Calibri"/>
                <a:cs typeface="Calibri"/>
                <a:sym typeface="Calibri"/>
              </a:rPr>
              <a:t>Agents smolagents</a:t>
            </a:r>
            <a:endParaRPr b="1" sz="800">
              <a:solidFill>
                <a:srgbClr val="0E9C8A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 sz="600">
                <a:solidFill>
                  <a:srgbClr val="0E9C8A"/>
                </a:solidFill>
                <a:latin typeface="Calibri"/>
                <a:ea typeface="Calibri"/>
                <a:cs typeface="Calibri"/>
                <a:sym typeface="Calibri"/>
              </a:rPr>
              <a:t>(orchestration des outils)</a:t>
            </a:r>
            <a:endParaRPr sz="600">
              <a:solidFill>
                <a:srgbClr val="0E9C8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9" name="Google Shape;1439;p72"/>
          <p:cNvSpPr txBox="1"/>
          <p:nvPr/>
        </p:nvSpPr>
        <p:spPr>
          <a:xfrm>
            <a:off x="3560475" y="1932625"/>
            <a:ext cx="19485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800">
                <a:solidFill>
                  <a:srgbClr val="0E9C8A"/>
                </a:solidFill>
                <a:latin typeface="Calibri"/>
                <a:ea typeface="Calibri"/>
                <a:cs typeface="Calibri"/>
                <a:sym typeface="Calibri"/>
              </a:rPr>
              <a:t>Serverless Containers - API FastAPI (SSE)</a:t>
            </a:r>
            <a:endParaRPr b="1" sz="800">
              <a:solidFill>
                <a:srgbClr val="0E9C8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0" name="Google Shape;1440;p72"/>
          <p:cNvSpPr/>
          <p:nvPr/>
        </p:nvSpPr>
        <p:spPr>
          <a:xfrm>
            <a:off x="4704742" y="3246350"/>
            <a:ext cx="1012500" cy="340800"/>
          </a:xfrm>
          <a:prstGeom prst="roundRect">
            <a:avLst>
              <a:gd fmla="val 16667" name="adj"/>
            </a:avLst>
          </a:prstGeom>
          <a:solidFill>
            <a:srgbClr val="0E9C8A">
              <a:alpha val="15999"/>
            </a:srgbClr>
          </a:solidFill>
          <a:ln cap="flat" cmpd="sng" w="9525">
            <a:solidFill>
              <a:srgbClr val="0E9C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800">
                <a:solidFill>
                  <a:srgbClr val="0E9C8A"/>
                </a:solidFill>
                <a:latin typeface="Calibri"/>
                <a:ea typeface="Calibri"/>
                <a:cs typeface="Calibri"/>
                <a:sym typeface="Calibri"/>
              </a:rPr>
              <a:t>outil mémoire</a:t>
            </a:r>
            <a:endParaRPr b="1" sz="800">
              <a:solidFill>
                <a:srgbClr val="0E9C8A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 sz="600">
                <a:solidFill>
                  <a:srgbClr val="0E9C8A"/>
                </a:solidFill>
                <a:latin typeface="Calibri"/>
                <a:ea typeface="Calibri"/>
                <a:cs typeface="Calibri"/>
                <a:sym typeface="Calibri"/>
              </a:rPr>
              <a:t>(Redis + PG)</a:t>
            </a:r>
            <a:endParaRPr sz="600">
              <a:solidFill>
                <a:srgbClr val="0E9C8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1" name="Google Shape;1441;p72"/>
          <p:cNvSpPr/>
          <p:nvPr/>
        </p:nvSpPr>
        <p:spPr>
          <a:xfrm>
            <a:off x="2967450" y="4523300"/>
            <a:ext cx="3209100" cy="329700"/>
          </a:xfrm>
          <a:prstGeom prst="roundRect">
            <a:avLst>
              <a:gd fmla="val 16667" name="adj"/>
            </a:avLst>
          </a:prstGeom>
          <a:solidFill>
            <a:srgbClr val="F4F4F5"/>
          </a:solidFill>
          <a:ln cap="flat" cmpd="sng" w="9525">
            <a:solidFill>
              <a:srgbClr val="222A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800">
                <a:solidFill>
                  <a:srgbClr val="222A3A"/>
                </a:solidFill>
                <a:latin typeface="Calibri"/>
                <a:ea typeface="Calibri"/>
                <a:cs typeface="Calibri"/>
                <a:sym typeface="Calibri"/>
              </a:rPr>
              <a:t>frontend web / Utilisateurs</a:t>
            </a:r>
            <a:endParaRPr b="1" sz="800">
              <a:solidFill>
                <a:srgbClr val="222A3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2" name="Google Shape;1442;p72"/>
          <p:cNvSpPr txBox="1"/>
          <p:nvPr/>
        </p:nvSpPr>
        <p:spPr>
          <a:xfrm>
            <a:off x="4586100" y="4275550"/>
            <a:ext cx="1090200" cy="20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 sz="600">
                <a:solidFill>
                  <a:srgbClr val="F4F4F5"/>
                </a:solidFill>
                <a:latin typeface="Calibri"/>
                <a:ea typeface="Calibri"/>
                <a:cs typeface="Calibri"/>
                <a:sym typeface="Calibri"/>
              </a:rPr>
              <a:t>question ⇒ / réponse SSE ⇐</a:t>
            </a:r>
            <a:endParaRPr sz="600">
              <a:solidFill>
                <a:srgbClr val="F4F4F5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 sz="600">
                <a:solidFill>
                  <a:srgbClr val="F4F4F5"/>
                </a:solidFill>
                <a:latin typeface="Calibri"/>
                <a:ea typeface="Calibri"/>
                <a:cs typeface="Calibri"/>
                <a:sym typeface="Calibri"/>
              </a:rPr>
              <a:t>(HTTPS/SSE)</a:t>
            </a:r>
            <a:endParaRPr sz="600">
              <a:solidFill>
                <a:srgbClr val="F4F4F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443" name="Google Shape;1443;p72"/>
          <p:cNvCxnSpPr>
            <a:endCxn id="1434" idx="0"/>
          </p:cNvCxnSpPr>
          <p:nvPr/>
        </p:nvCxnSpPr>
        <p:spPr>
          <a:xfrm flipH="1">
            <a:off x="1365219" y="1511925"/>
            <a:ext cx="2100" cy="319200"/>
          </a:xfrm>
          <a:prstGeom prst="straightConnector1">
            <a:avLst/>
          </a:prstGeom>
          <a:noFill/>
          <a:ln cap="flat" cmpd="sng" w="9525">
            <a:solidFill>
              <a:srgbClr val="923E2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444" name="Google Shape;1444;p72"/>
          <p:cNvCxnSpPr>
            <a:stCxn id="1434" idx="3"/>
            <a:endCxn id="1433" idx="1"/>
          </p:cNvCxnSpPr>
          <p:nvPr/>
        </p:nvCxnSpPr>
        <p:spPr>
          <a:xfrm flipH="1" rot="10800000">
            <a:off x="2154219" y="1240275"/>
            <a:ext cx="1274700" cy="770700"/>
          </a:xfrm>
          <a:prstGeom prst="curvedConnector3">
            <a:avLst>
              <a:gd fmla="val 50003" name="adj1"/>
            </a:avLst>
          </a:prstGeom>
          <a:noFill/>
          <a:ln cap="flat" cmpd="sng" w="9525">
            <a:solidFill>
              <a:srgbClr val="923E22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1445" name="Google Shape;1445;p72"/>
          <p:cNvCxnSpPr>
            <a:stCxn id="1434" idx="2"/>
            <a:endCxn id="1435" idx="0"/>
          </p:cNvCxnSpPr>
          <p:nvPr/>
        </p:nvCxnSpPr>
        <p:spPr>
          <a:xfrm flipH="1">
            <a:off x="1351119" y="2190825"/>
            <a:ext cx="14100" cy="159600"/>
          </a:xfrm>
          <a:prstGeom prst="straightConnector1">
            <a:avLst/>
          </a:prstGeom>
          <a:noFill/>
          <a:ln cap="flat" cmpd="sng" w="9525">
            <a:solidFill>
              <a:srgbClr val="923E2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446" name="Google Shape;1446;p72"/>
          <p:cNvCxnSpPr>
            <a:stCxn id="1434" idx="1"/>
            <a:endCxn id="1436" idx="1"/>
          </p:cNvCxnSpPr>
          <p:nvPr/>
        </p:nvCxnSpPr>
        <p:spPr>
          <a:xfrm flipH="1">
            <a:off x="562119" y="2010975"/>
            <a:ext cx="14100" cy="1633200"/>
          </a:xfrm>
          <a:prstGeom prst="curvedConnector3">
            <a:avLst>
              <a:gd fmla="val 1788788" name="adj1"/>
            </a:avLst>
          </a:prstGeom>
          <a:noFill/>
          <a:ln cap="flat" cmpd="sng" w="9525">
            <a:solidFill>
              <a:srgbClr val="923E2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447" name="Google Shape;1447;p72"/>
          <p:cNvSpPr txBox="1"/>
          <p:nvPr/>
        </p:nvSpPr>
        <p:spPr>
          <a:xfrm>
            <a:off x="21775" y="2444838"/>
            <a:ext cx="399300" cy="12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 sz="600">
                <a:solidFill>
                  <a:srgbClr val="923E22"/>
                </a:solidFill>
                <a:latin typeface="Calibri"/>
                <a:ea typeface="Calibri"/>
                <a:cs typeface="Calibri"/>
                <a:sym typeface="Calibri"/>
              </a:rPr>
              <a:t>dump</a:t>
            </a:r>
            <a:endParaRPr sz="600">
              <a:solidFill>
                <a:srgbClr val="923E2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8" name="Google Shape;1448;p72"/>
          <p:cNvSpPr txBox="1"/>
          <p:nvPr/>
        </p:nvSpPr>
        <p:spPr>
          <a:xfrm>
            <a:off x="1310800" y="2206363"/>
            <a:ext cx="399300" cy="12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 sz="600">
                <a:solidFill>
                  <a:srgbClr val="923E22"/>
                </a:solidFill>
                <a:latin typeface="Calibri"/>
                <a:ea typeface="Calibri"/>
                <a:cs typeface="Calibri"/>
                <a:sym typeface="Calibri"/>
              </a:rPr>
              <a:t>upsert</a:t>
            </a:r>
            <a:endParaRPr sz="600">
              <a:solidFill>
                <a:srgbClr val="923E2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9" name="Google Shape;1449;p72"/>
          <p:cNvSpPr txBox="1"/>
          <p:nvPr/>
        </p:nvSpPr>
        <p:spPr>
          <a:xfrm>
            <a:off x="1290360" y="1518088"/>
            <a:ext cx="582600" cy="12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 sz="600">
                <a:solidFill>
                  <a:srgbClr val="923E22"/>
                </a:solidFill>
                <a:latin typeface="Calibri"/>
                <a:ea typeface="Calibri"/>
                <a:cs typeface="Calibri"/>
                <a:sym typeface="Calibri"/>
              </a:rPr>
              <a:t>événements</a:t>
            </a:r>
            <a:endParaRPr sz="600">
              <a:solidFill>
                <a:srgbClr val="923E2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0" name="Google Shape;1450;p72"/>
          <p:cNvSpPr txBox="1"/>
          <p:nvPr/>
        </p:nvSpPr>
        <p:spPr>
          <a:xfrm>
            <a:off x="2517323" y="1775063"/>
            <a:ext cx="582600" cy="12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 sz="600">
                <a:solidFill>
                  <a:srgbClr val="923E22"/>
                </a:solidFill>
                <a:latin typeface="Calibri"/>
                <a:ea typeface="Calibri"/>
                <a:cs typeface="Calibri"/>
                <a:sym typeface="Calibri"/>
              </a:rPr>
              <a:t>embeddings</a:t>
            </a:r>
            <a:endParaRPr sz="600">
              <a:solidFill>
                <a:srgbClr val="923E2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1" name="Google Shape;1451;p72"/>
          <p:cNvSpPr txBox="1"/>
          <p:nvPr/>
        </p:nvSpPr>
        <p:spPr>
          <a:xfrm>
            <a:off x="283150" y="3953488"/>
            <a:ext cx="2454600" cy="23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1000">
                <a:solidFill>
                  <a:srgbClr val="B07BC2"/>
                </a:solidFill>
                <a:latin typeface="Calibri"/>
                <a:ea typeface="Calibri"/>
                <a:cs typeface="Calibri"/>
                <a:sym typeface="Calibri"/>
              </a:rPr>
              <a:t>SCALEWAY</a:t>
            </a:r>
            <a:r>
              <a:rPr lang="fr" sz="800">
                <a:solidFill>
                  <a:srgbClr val="B07BC2"/>
                </a:solidFill>
                <a:latin typeface="Calibri"/>
                <a:ea typeface="Calibri"/>
                <a:cs typeface="Calibri"/>
                <a:sym typeface="Calibri"/>
              </a:rPr>
              <a:t> - cloud souverain (UE, hors CLOUD Act) </a:t>
            </a:r>
            <a:endParaRPr sz="800">
              <a:solidFill>
                <a:srgbClr val="B07BC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2" name="Google Shape;1452;p72"/>
          <p:cNvSpPr/>
          <p:nvPr/>
        </p:nvSpPr>
        <p:spPr>
          <a:xfrm>
            <a:off x="7068700" y="4409050"/>
            <a:ext cx="144600" cy="72900"/>
          </a:xfrm>
          <a:prstGeom prst="roundRect">
            <a:avLst>
              <a:gd fmla="val 16667" name="adj"/>
            </a:avLst>
          </a:prstGeom>
          <a:solidFill>
            <a:srgbClr val="9CA3AF">
              <a:alpha val="6960"/>
            </a:srgbClr>
          </a:solidFill>
          <a:ln cap="flat" cmpd="sng" w="9525">
            <a:solidFill>
              <a:srgbClr val="9CA3A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3" name="Google Shape;1453;p72"/>
          <p:cNvSpPr/>
          <p:nvPr/>
        </p:nvSpPr>
        <p:spPr>
          <a:xfrm>
            <a:off x="7068700" y="4550067"/>
            <a:ext cx="144600" cy="72900"/>
          </a:xfrm>
          <a:prstGeom prst="roundRect">
            <a:avLst>
              <a:gd fmla="val 16667" name="adj"/>
            </a:avLst>
          </a:prstGeom>
          <a:solidFill>
            <a:srgbClr val="923E22">
              <a:alpha val="7999"/>
            </a:srgbClr>
          </a:solidFill>
          <a:ln cap="flat" cmpd="sng" w="9525">
            <a:solidFill>
              <a:srgbClr val="923E2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4" name="Google Shape;1454;p72"/>
          <p:cNvSpPr/>
          <p:nvPr/>
        </p:nvSpPr>
        <p:spPr>
          <a:xfrm>
            <a:off x="7068700" y="4962200"/>
            <a:ext cx="144600" cy="72900"/>
          </a:xfrm>
          <a:prstGeom prst="roundRect">
            <a:avLst>
              <a:gd fmla="val 16667" name="adj"/>
            </a:avLst>
          </a:prstGeom>
          <a:solidFill>
            <a:srgbClr val="674EA7">
              <a:alpha val="7999"/>
            </a:srgbClr>
          </a:solidFill>
          <a:ln cap="flat" cmpd="sng" w="9525">
            <a:solidFill>
              <a:srgbClr val="674EA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5" name="Google Shape;1455;p72"/>
          <p:cNvSpPr/>
          <p:nvPr/>
        </p:nvSpPr>
        <p:spPr>
          <a:xfrm>
            <a:off x="7068700" y="4691085"/>
            <a:ext cx="144600" cy="72900"/>
          </a:xfrm>
          <a:prstGeom prst="roundRect">
            <a:avLst>
              <a:gd fmla="val 16667" name="adj"/>
            </a:avLst>
          </a:prstGeom>
          <a:solidFill>
            <a:srgbClr val="0000FF">
              <a:alpha val="14000"/>
            </a:srgbClr>
          </a:solidFill>
          <a:ln cap="flat" cmpd="sng" w="9525">
            <a:solidFill>
              <a:srgbClr val="00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6" name="Google Shape;1456;p72"/>
          <p:cNvSpPr/>
          <p:nvPr/>
        </p:nvSpPr>
        <p:spPr>
          <a:xfrm>
            <a:off x="7068700" y="4825177"/>
            <a:ext cx="144600" cy="72900"/>
          </a:xfrm>
          <a:prstGeom prst="roundRect">
            <a:avLst>
              <a:gd fmla="val 16667" name="adj"/>
            </a:avLst>
          </a:prstGeom>
          <a:solidFill>
            <a:srgbClr val="0E9C8A">
              <a:alpha val="15999"/>
            </a:srgbClr>
          </a:solidFill>
          <a:ln cap="flat" cmpd="sng" w="9525">
            <a:solidFill>
              <a:srgbClr val="0E9C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457" name="Google Shape;1457;p72"/>
          <p:cNvCxnSpPr>
            <a:endCxn id="1437" idx="2"/>
          </p:cNvCxnSpPr>
          <p:nvPr/>
        </p:nvCxnSpPr>
        <p:spPr>
          <a:xfrm rot="10800000">
            <a:off x="4572000" y="4115900"/>
            <a:ext cx="14100" cy="410100"/>
          </a:xfrm>
          <a:prstGeom prst="straightConnector1">
            <a:avLst/>
          </a:prstGeom>
          <a:noFill/>
          <a:ln cap="flat" cmpd="sng" w="9525">
            <a:solidFill>
              <a:srgbClr val="F4F4F5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458" name="Google Shape;1458;p72"/>
          <p:cNvSpPr txBox="1"/>
          <p:nvPr/>
        </p:nvSpPr>
        <p:spPr>
          <a:xfrm>
            <a:off x="7232825" y="4367250"/>
            <a:ext cx="1755600" cy="68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600">
                <a:solidFill>
                  <a:srgbClr val="8A93A6"/>
                </a:solidFill>
                <a:latin typeface="Calibri"/>
                <a:ea typeface="Calibri"/>
                <a:cs typeface="Calibri"/>
                <a:sym typeface="Calibri"/>
              </a:rPr>
              <a:t>Sources externes</a:t>
            </a:r>
            <a:endParaRPr sz="600">
              <a:solidFill>
                <a:srgbClr val="8A93A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600">
                <a:solidFill>
                  <a:srgbClr val="8A93A6"/>
                </a:solidFill>
                <a:latin typeface="Calibri"/>
                <a:ea typeface="Calibri"/>
                <a:cs typeface="Calibri"/>
                <a:sym typeface="Calibri"/>
              </a:rPr>
              <a:t>Ingestion (Kestra)</a:t>
            </a:r>
            <a:endParaRPr sz="600">
              <a:solidFill>
                <a:srgbClr val="8A93A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600">
                <a:solidFill>
                  <a:srgbClr val="8A93A6"/>
                </a:solidFill>
                <a:latin typeface="Calibri"/>
                <a:ea typeface="Calibri"/>
                <a:cs typeface="Calibri"/>
                <a:sym typeface="Calibri"/>
              </a:rPr>
              <a:t>Stockage (PostgreSQL / Redis / Object storage)</a:t>
            </a:r>
            <a:endParaRPr sz="600">
              <a:solidFill>
                <a:srgbClr val="8A93A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600">
                <a:solidFill>
                  <a:srgbClr val="8A93A6"/>
                </a:solidFill>
                <a:latin typeface="Calibri"/>
                <a:ea typeface="Calibri"/>
                <a:cs typeface="Calibri"/>
                <a:sym typeface="Calibri"/>
              </a:rPr>
              <a:t>Applications (API + agent)</a:t>
            </a:r>
            <a:endParaRPr sz="600">
              <a:solidFill>
                <a:srgbClr val="8A93A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600">
                <a:solidFill>
                  <a:srgbClr val="8A93A6"/>
                </a:solidFill>
                <a:latin typeface="Calibri"/>
                <a:ea typeface="Calibri"/>
                <a:cs typeface="Calibri"/>
                <a:sym typeface="Calibri"/>
              </a:rPr>
              <a:t>Observabilité</a:t>
            </a:r>
            <a:endParaRPr sz="600">
              <a:solidFill>
                <a:srgbClr val="8A93A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9" name="Google Shape;1459;p72"/>
          <p:cNvSpPr txBox="1"/>
          <p:nvPr/>
        </p:nvSpPr>
        <p:spPr>
          <a:xfrm>
            <a:off x="377200" y="233175"/>
            <a:ext cx="2286900" cy="45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9050" lIns="0" spcFirstLastPara="1" rIns="0" wrap="square" tIns="190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1800">
                <a:solidFill>
                  <a:srgbClr val="0E9C8A"/>
                </a:solidFill>
                <a:latin typeface="Calibri"/>
                <a:ea typeface="Calibri"/>
                <a:cs typeface="Calibri"/>
                <a:sym typeface="Calibri"/>
              </a:rPr>
              <a:t>L’architecture du MVP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4" name="Shape 14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5" name="Google Shape;1465;p73"/>
          <p:cNvSpPr txBox="1"/>
          <p:nvPr/>
        </p:nvSpPr>
        <p:spPr>
          <a:xfrm>
            <a:off x="377200" y="675550"/>
            <a:ext cx="26754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9050" lIns="0" spcFirstLastPara="1" rIns="0" wrap="square" tIns="190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1100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Architecture MVP - chatbot RAG Puls-EVents</a:t>
            </a:r>
            <a:endParaRPr b="1" sz="1100">
              <a:solidFill>
                <a:srgbClr val="9CA3A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6" name="Google Shape;1466;p73"/>
          <p:cNvSpPr txBox="1"/>
          <p:nvPr/>
        </p:nvSpPr>
        <p:spPr>
          <a:xfrm>
            <a:off x="377200" y="4945850"/>
            <a:ext cx="999000" cy="166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700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MVP RAG Puls-Events</a:t>
            </a:r>
            <a:endParaRPr sz="700">
              <a:solidFill>
                <a:srgbClr val="9CA3A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7" name="Google Shape;1467;p73"/>
          <p:cNvSpPr/>
          <p:nvPr/>
        </p:nvSpPr>
        <p:spPr>
          <a:xfrm>
            <a:off x="64125" y="1631700"/>
            <a:ext cx="8941200" cy="2605500"/>
          </a:xfrm>
          <a:prstGeom prst="roundRect">
            <a:avLst>
              <a:gd fmla="val 6000" name="adj"/>
            </a:avLst>
          </a:prstGeom>
          <a:noFill/>
          <a:ln cap="flat" cmpd="sng" w="9525">
            <a:solidFill>
              <a:srgbClr val="B07BC2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8" name="Google Shape;1468;p73"/>
          <p:cNvSpPr/>
          <p:nvPr/>
        </p:nvSpPr>
        <p:spPr>
          <a:xfrm>
            <a:off x="499800" y="980277"/>
            <a:ext cx="2286000" cy="521400"/>
          </a:xfrm>
          <a:prstGeom prst="roundRect">
            <a:avLst>
              <a:gd fmla="val 16667" name="adj"/>
            </a:avLst>
          </a:prstGeom>
          <a:solidFill>
            <a:srgbClr val="9CA3AF">
              <a:alpha val="6960"/>
            </a:srgbClr>
          </a:solidFill>
          <a:ln cap="flat" cmpd="sng" w="12700">
            <a:solidFill>
              <a:srgbClr val="9CA3A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6575" lIns="91425" spcFirstLastPara="1" rIns="73150" wrap="square" tIns="365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800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Opendatasoft API</a:t>
            </a:r>
            <a:endParaRPr b="1" sz="800">
              <a:solidFill>
                <a:srgbClr val="9CA3A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600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events Open Agenda</a:t>
            </a:r>
            <a:endParaRPr b="1" sz="600">
              <a:solidFill>
                <a:srgbClr val="9CA3A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9" name="Google Shape;1469;p73"/>
          <p:cNvSpPr/>
          <p:nvPr/>
        </p:nvSpPr>
        <p:spPr>
          <a:xfrm>
            <a:off x="3429000" y="979502"/>
            <a:ext cx="2286000" cy="521400"/>
          </a:xfrm>
          <a:prstGeom prst="roundRect">
            <a:avLst>
              <a:gd fmla="val 16667" name="adj"/>
            </a:avLst>
          </a:prstGeom>
          <a:solidFill>
            <a:srgbClr val="9CA3AF">
              <a:alpha val="6960"/>
            </a:srgbClr>
          </a:solidFill>
          <a:ln cap="flat" cmpd="sng" w="12700">
            <a:solidFill>
              <a:srgbClr val="9CA3A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6575" lIns="91425" spcFirstLastPara="1" rIns="73150" wrap="square" tIns="365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800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Mistral API (UE)</a:t>
            </a:r>
            <a:endParaRPr b="1" sz="800">
              <a:solidFill>
                <a:srgbClr val="9CA3A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600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embeddings + LLM</a:t>
            </a:r>
            <a:endParaRPr b="1" sz="600">
              <a:solidFill>
                <a:srgbClr val="9CA3A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0" name="Google Shape;1470;p73"/>
          <p:cNvSpPr/>
          <p:nvPr/>
        </p:nvSpPr>
        <p:spPr>
          <a:xfrm>
            <a:off x="576219" y="1831125"/>
            <a:ext cx="1578000" cy="359700"/>
          </a:xfrm>
          <a:prstGeom prst="roundRect">
            <a:avLst>
              <a:gd fmla="val 16667" name="adj"/>
            </a:avLst>
          </a:prstGeom>
          <a:solidFill>
            <a:srgbClr val="923E22">
              <a:alpha val="7999"/>
            </a:srgbClr>
          </a:solidFill>
          <a:ln cap="flat" cmpd="sng" w="9525">
            <a:solidFill>
              <a:srgbClr val="923E2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800">
                <a:solidFill>
                  <a:srgbClr val="923E22"/>
                </a:solidFill>
                <a:latin typeface="Calibri"/>
                <a:ea typeface="Calibri"/>
                <a:cs typeface="Calibri"/>
                <a:sym typeface="Calibri"/>
              </a:rPr>
              <a:t>Kestra</a:t>
            </a:r>
            <a:r>
              <a:rPr lang="fr" sz="600">
                <a:solidFill>
                  <a:srgbClr val="923E22"/>
                </a:solidFill>
                <a:latin typeface="Calibri"/>
                <a:ea typeface="Calibri"/>
                <a:cs typeface="Calibri"/>
                <a:sym typeface="Calibri"/>
              </a:rPr>
              <a:t> - ingestion planifiée</a:t>
            </a:r>
            <a:endParaRPr sz="600">
              <a:solidFill>
                <a:srgbClr val="923E2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 sz="600">
                <a:solidFill>
                  <a:srgbClr val="923E22"/>
                </a:solidFill>
                <a:latin typeface="Calibri"/>
                <a:ea typeface="Calibri"/>
                <a:cs typeface="Calibri"/>
                <a:sym typeface="Calibri"/>
              </a:rPr>
              <a:t>fetch ⇒ clean ⇒ embed ⇒ upsert</a:t>
            </a:r>
            <a:endParaRPr sz="600">
              <a:solidFill>
                <a:srgbClr val="923E2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1" name="Google Shape;1471;p73"/>
          <p:cNvSpPr/>
          <p:nvPr/>
        </p:nvSpPr>
        <p:spPr>
          <a:xfrm>
            <a:off x="562125" y="2350491"/>
            <a:ext cx="1578000" cy="521400"/>
          </a:xfrm>
          <a:prstGeom prst="roundRect">
            <a:avLst>
              <a:gd fmla="val 16667" name="adj"/>
            </a:avLst>
          </a:prstGeom>
          <a:solidFill>
            <a:srgbClr val="0000FF">
              <a:alpha val="14000"/>
            </a:srgbClr>
          </a:solidFill>
          <a:ln cap="flat" cmpd="sng" w="9525">
            <a:solidFill>
              <a:srgbClr val="00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800">
                <a:solidFill>
                  <a:srgbClr val="3C78D8"/>
                </a:solidFill>
                <a:latin typeface="Calibri"/>
                <a:ea typeface="Calibri"/>
                <a:cs typeface="Calibri"/>
                <a:sym typeface="Calibri"/>
              </a:rPr>
              <a:t>Managed PostgreSQL</a:t>
            </a:r>
            <a:endParaRPr b="1" sz="800">
              <a:solidFill>
                <a:srgbClr val="3C78D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66700" lvl="0" marL="457200" rtl="0" algn="l">
              <a:spcBef>
                <a:spcPts val="0"/>
              </a:spcBef>
              <a:spcAft>
                <a:spcPts val="0"/>
              </a:spcAft>
              <a:buClr>
                <a:srgbClr val="3C78D8"/>
              </a:buClr>
              <a:buSzPts val="600"/>
              <a:buFont typeface="Calibri"/>
              <a:buChar char="●"/>
            </a:pPr>
            <a:r>
              <a:rPr lang="fr" sz="600">
                <a:solidFill>
                  <a:srgbClr val="3C78D8"/>
                </a:solidFill>
                <a:latin typeface="Calibri"/>
                <a:ea typeface="Calibri"/>
                <a:cs typeface="Calibri"/>
                <a:sym typeface="Calibri"/>
              </a:rPr>
              <a:t>pgvector (embeddings)</a:t>
            </a:r>
            <a:endParaRPr sz="600">
              <a:solidFill>
                <a:srgbClr val="3C78D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66700" lvl="0" marL="457200" rtl="0" algn="l">
              <a:spcBef>
                <a:spcPts val="0"/>
              </a:spcBef>
              <a:spcAft>
                <a:spcPts val="0"/>
              </a:spcAft>
              <a:buClr>
                <a:srgbClr val="3C78D8"/>
              </a:buClr>
              <a:buSzPts val="600"/>
              <a:buFont typeface="Calibri"/>
              <a:buChar char="●"/>
            </a:pPr>
            <a:r>
              <a:t/>
            </a:r>
            <a:endParaRPr sz="600">
              <a:solidFill>
                <a:srgbClr val="3C78D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66700" lvl="0" marL="457200" rtl="0" algn="l">
              <a:spcBef>
                <a:spcPts val="0"/>
              </a:spcBef>
              <a:spcAft>
                <a:spcPts val="0"/>
              </a:spcAft>
              <a:buClr>
                <a:srgbClr val="3C78D8"/>
              </a:buClr>
              <a:buSzPts val="600"/>
              <a:buFont typeface="Calibri"/>
              <a:buChar char="●"/>
            </a:pPr>
            <a:r>
              <a:rPr lang="fr" sz="600">
                <a:solidFill>
                  <a:srgbClr val="3C78D8"/>
                </a:solidFill>
                <a:latin typeface="Calibri"/>
                <a:ea typeface="Calibri"/>
                <a:cs typeface="Calibri"/>
                <a:sym typeface="Calibri"/>
              </a:rPr>
              <a:t>relationnel + mémoire LT</a:t>
            </a:r>
            <a:endParaRPr sz="600">
              <a:solidFill>
                <a:srgbClr val="3C78D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2" name="Google Shape;1472;p73"/>
          <p:cNvSpPr/>
          <p:nvPr/>
        </p:nvSpPr>
        <p:spPr>
          <a:xfrm>
            <a:off x="562125" y="3492525"/>
            <a:ext cx="1578000" cy="303000"/>
          </a:xfrm>
          <a:prstGeom prst="roundRect">
            <a:avLst>
              <a:gd fmla="val 16667" name="adj"/>
            </a:avLst>
          </a:prstGeom>
          <a:solidFill>
            <a:srgbClr val="0000FF">
              <a:alpha val="3999"/>
            </a:srgbClr>
          </a:solidFill>
          <a:ln cap="flat" cmpd="sng" w="9525">
            <a:solidFill>
              <a:srgbClr val="00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800">
                <a:solidFill>
                  <a:srgbClr val="3C78D8"/>
                </a:solidFill>
                <a:latin typeface="Calibri"/>
                <a:ea typeface="Calibri"/>
                <a:cs typeface="Calibri"/>
                <a:sym typeface="Calibri"/>
              </a:rPr>
              <a:t>Object storage</a:t>
            </a:r>
            <a:r>
              <a:rPr lang="fr" sz="800">
                <a:solidFill>
                  <a:srgbClr val="3C78D8"/>
                </a:solidFill>
                <a:latin typeface="Calibri"/>
                <a:ea typeface="Calibri"/>
                <a:cs typeface="Calibri"/>
                <a:sym typeface="Calibri"/>
              </a:rPr>
              <a:t> S3</a:t>
            </a:r>
            <a:endParaRPr sz="800">
              <a:solidFill>
                <a:srgbClr val="3C78D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3" name="Google Shape;1473;p73"/>
          <p:cNvSpPr/>
          <p:nvPr/>
        </p:nvSpPr>
        <p:spPr>
          <a:xfrm>
            <a:off x="3234300" y="1858100"/>
            <a:ext cx="2675400" cy="2257800"/>
          </a:xfrm>
          <a:prstGeom prst="roundRect">
            <a:avLst>
              <a:gd fmla="val 16667" name="adj"/>
            </a:avLst>
          </a:prstGeom>
          <a:solidFill>
            <a:srgbClr val="0E9C8A">
              <a:alpha val="7999"/>
            </a:srgbClr>
          </a:solidFill>
          <a:ln cap="flat" cmpd="sng" w="9525">
            <a:solidFill>
              <a:srgbClr val="0E9C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4" name="Google Shape;1474;p73"/>
          <p:cNvSpPr/>
          <p:nvPr/>
        </p:nvSpPr>
        <p:spPr>
          <a:xfrm>
            <a:off x="3431358" y="2172800"/>
            <a:ext cx="2270400" cy="521400"/>
          </a:xfrm>
          <a:prstGeom prst="roundRect">
            <a:avLst>
              <a:gd fmla="val 16667" name="adj"/>
            </a:avLst>
          </a:prstGeom>
          <a:solidFill>
            <a:srgbClr val="0E9C8A">
              <a:alpha val="23999"/>
            </a:srgbClr>
          </a:solidFill>
          <a:ln cap="flat" cmpd="sng" w="9525">
            <a:solidFill>
              <a:srgbClr val="0E9C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800">
                <a:solidFill>
                  <a:srgbClr val="0E9C8A"/>
                </a:solidFill>
                <a:latin typeface="Calibri"/>
                <a:ea typeface="Calibri"/>
                <a:cs typeface="Calibri"/>
                <a:sym typeface="Calibri"/>
              </a:rPr>
              <a:t>Agents smolagents</a:t>
            </a:r>
            <a:endParaRPr b="1" sz="800">
              <a:solidFill>
                <a:srgbClr val="0E9C8A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 sz="600">
                <a:solidFill>
                  <a:srgbClr val="0E9C8A"/>
                </a:solidFill>
                <a:latin typeface="Calibri"/>
                <a:ea typeface="Calibri"/>
                <a:cs typeface="Calibri"/>
                <a:sym typeface="Calibri"/>
              </a:rPr>
              <a:t>(orchestration des outils)</a:t>
            </a:r>
            <a:endParaRPr sz="600">
              <a:solidFill>
                <a:srgbClr val="0E9C8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5" name="Google Shape;1475;p73"/>
          <p:cNvSpPr txBox="1"/>
          <p:nvPr/>
        </p:nvSpPr>
        <p:spPr>
          <a:xfrm>
            <a:off x="3560475" y="1932625"/>
            <a:ext cx="19485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800">
                <a:solidFill>
                  <a:srgbClr val="0E9C8A"/>
                </a:solidFill>
                <a:latin typeface="Calibri"/>
                <a:ea typeface="Calibri"/>
                <a:cs typeface="Calibri"/>
                <a:sym typeface="Calibri"/>
              </a:rPr>
              <a:t>Serverless Containers - API FastAPI (SSE)</a:t>
            </a:r>
            <a:endParaRPr b="1" sz="800">
              <a:solidFill>
                <a:srgbClr val="0E9C8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6" name="Google Shape;1476;p73"/>
          <p:cNvSpPr/>
          <p:nvPr/>
        </p:nvSpPr>
        <p:spPr>
          <a:xfrm>
            <a:off x="4704742" y="3246350"/>
            <a:ext cx="1012500" cy="340800"/>
          </a:xfrm>
          <a:prstGeom prst="roundRect">
            <a:avLst>
              <a:gd fmla="val 16667" name="adj"/>
            </a:avLst>
          </a:prstGeom>
          <a:solidFill>
            <a:srgbClr val="0E9C8A">
              <a:alpha val="15999"/>
            </a:srgbClr>
          </a:solidFill>
          <a:ln cap="flat" cmpd="sng" w="9525">
            <a:solidFill>
              <a:srgbClr val="0E9C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800">
                <a:solidFill>
                  <a:srgbClr val="0E9C8A"/>
                </a:solidFill>
                <a:latin typeface="Calibri"/>
                <a:ea typeface="Calibri"/>
                <a:cs typeface="Calibri"/>
                <a:sym typeface="Calibri"/>
              </a:rPr>
              <a:t>outil mémoire</a:t>
            </a:r>
            <a:endParaRPr b="1" sz="800">
              <a:solidFill>
                <a:srgbClr val="0E9C8A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 sz="600">
                <a:solidFill>
                  <a:srgbClr val="0E9C8A"/>
                </a:solidFill>
                <a:latin typeface="Calibri"/>
                <a:ea typeface="Calibri"/>
                <a:cs typeface="Calibri"/>
                <a:sym typeface="Calibri"/>
              </a:rPr>
              <a:t>(Redis + PG)</a:t>
            </a:r>
            <a:endParaRPr sz="600">
              <a:solidFill>
                <a:srgbClr val="0E9C8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7" name="Google Shape;1477;p73"/>
          <p:cNvSpPr/>
          <p:nvPr/>
        </p:nvSpPr>
        <p:spPr>
          <a:xfrm>
            <a:off x="2967450" y="4523300"/>
            <a:ext cx="3209100" cy="329700"/>
          </a:xfrm>
          <a:prstGeom prst="roundRect">
            <a:avLst>
              <a:gd fmla="val 16667" name="adj"/>
            </a:avLst>
          </a:prstGeom>
          <a:solidFill>
            <a:srgbClr val="F4F4F5"/>
          </a:solidFill>
          <a:ln cap="flat" cmpd="sng" w="9525">
            <a:solidFill>
              <a:srgbClr val="222A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800">
                <a:solidFill>
                  <a:srgbClr val="222A3A"/>
                </a:solidFill>
                <a:latin typeface="Calibri"/>
                <a:ea typeface="Calibri"/>
                <a:cs typeface="Calibri"/>
                <a:sym typeface="Calibri"/>
              </a:rPr>
              <a:t>frontend web / Utilisateurs</a:t>
            </a:r>
            <a:endParaRPr b="1" sz="800">
              <a:solidFill>
                <a:srgbClr val="222A3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8" name="Google Shape;1478;p73"/>
          <p:cNvSpPr txBox="1"/>
          <p:nvPr/>
        </p:nvSpPr>
        <p:spPr>
          <a:xfrm>
            <a:off x="4586100" y="4275550"/>
            <a:ext cx="1090200" cy="20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 sz="600">
                <a:solidFill>
                  <a:srgbClr val="F4F4F5"/>
                </a:solidFill>
                <a:latin typeface="Calibri"/>
                <a:ea typeface="Calibri"/>
                <a:cs typeface="Calibri"/>
                <a:sym typeface="Calibri"/>
              </a:rPr>
              <a:t>question ⇒ / réponse SSE ⇐</a:t>
            </a:r>
            <a:endParaRPr sz="600">
              <a:solidFill>
                <a:srgbClr val="F4F4F5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 sz="600">
                <a:solidFill>
                  <a:srgbClr val="F4F4F5"/>
                </a:solidFill>
                <a:latin typeface="Calibri"/>
                <a:ea typeface="Calibri"/>
                <a:cs typeface="Calibri"/>
                <a:sym typeface="Calibri"/>
              </a:rPr>
              <a:t>(HTTPS/SSE)</a:t>
            </a:r>
            <a:endParaRPr sz="600">
              <a:solidFill>
                <a:srgbClr val="F4F4F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479" name="Google Shape;1479;p73"/>
          <p:cNvCxnSpPr>
            <a:endCxn id="1470" idx="0"/>
          </p:cNvCxnSpPr>
          <p:nvPr/>
        </p:nvCxnSpPr>
        <p:spPr>
          <a:xfrm flipH="1">
            <a:off x="1365219" y="1511925"/>
            <a:ext cx="2100" cy="319200"/>
          </a:xfrm>
          <a:prstGeom prst="straightConnector1">
            <a:avLst/>
          </a:prstGeom>
          <a:noFill/>
          <a:ln cap="flat" cmpd="sng" w="9525">
            <a:solidFill>
              <a:srgbClr val="923E2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480" name="Google Shape;1480;p73"/>
          <p:cNvCxnSpPr>
            <a:stCxn id="1470" idx="3"/>
            <a:endCxn id="1469" idx="1"/>
          </p:cNvCxnSpPr>
          <p:nvPr/>
        </p:nvCxnSpPr>
        <p:spPr>
          <a:xfrm flipH="1" rot="10800000">
            <a:off x="2154219" y="1240275"/>
            <a:ext cx="1274700" cy="770700"/>
          </a:xfrm>
          <a:prstGeom prst="curvedConnector3">
            <a:avLst>
              <a:gd fmla="val 50003" name="adj1"/>
            </a:avLst>
          </a:prstGeom>
          <a:noFill/>
          <a:ln cap="flat" cmpd="sng" w="9525">
            <a:solidFill>
              <a:srgbClr val="923E22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1481" name="Google Shape;1481;p73"/>
          <p:cNvCxnSpPr>
            <a:stCxn id="1470" idx="2"/>
            <a:endCxn id="1471" idx="0"/>
          </p:cNvCxnSpPr>
          <p:nvPr/>
        </p:nvCxnSpPr>
        <p:spPr>
          <a:xfrm flipH="1">
            <a:off x="1351119" y="2190825"/>
            <a:ext cx="14100" cy="159600"/>
          </a:xfrm>
          <a:prstGeom prst="straightConnector1">
            <a:avLst/>
          </a:prstGeom>
          <a:noFill/>
          <a:ln cap="flat" cmpd="sng" w="9525">
            <a:solidFill>
              <a:srgbClr val="923E2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482" name="Google Shape;1482;p73"/>
          <p:cNvCxnSpPr>
            <a:stCxn id="1470" idx="1"/>
            <a:endCxn id="1472" idx="1"/>
          </p:cNvCxnSpPr>
          <p:nvPr/>
        </p:nvCxnSpPr>
        <p:spPr>
          <a:xfrm flipH="1">
            <a:off x="562119" y="2010975"/>
            <a:ext cx="14100" cy="1633200"/>
          </a:xfrm>
          <a:prstGeom prst="curvedConnector3">
            <a:avLst>
              <a:gd fmla="val 1788788" name="adj1"/>
            </a:avLst>
          </a:prstGeom>
          <a:noFill/>
          <a:ln cap="flat" cmpd="sng" w="9525">
            <a:solidFill>
              <a:srgbClr val="923E2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483" name="Google Shape;1483;p73"/>
          <p:cNvSpPr txBox="1"/>
          <p:nvPr/>
        </p:nvSpPr>
        <p:spPr>
          <a:xfrm>
            <a:off x="21775" y="2444838"/>
            <a:ext cx="399300" cy="12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 sz="600">
                <a:solidFill>
                  <a:srgbClr val="923E22"/>
                </a:solidFill>
                <a:latin typeface="Calibri"/>
                <a:ea typeface="Calibri"/>
                <a:cs typeface="Calibri"/>
                <a:sym typeface="Calibri"/>
              </a:rPr>
              <a:t>dump</a:t>
            </a:r>
            <a:endParaRPr sz="600">
              <a:solidFill>
                <a:srgbClr val="923E2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4" name="Google Shape;1484;p73"/>
          <p:cNvSpPr txBox="1"/>
          <p:nvPr/>
        </p:nvSpPr>
        <p:spPr>
          <a:xfrm>
            <a:off x="1310800" y="2206363"/>
            <a:ext cx="399300" cy="12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 sz="600">
                <a:solidFill>
                  <a:srgbClr val="923E22"/>
                </a:solidFill>
                <a:latin typeface="Calibri"/>
                <a:ea typeface="Calibri"/>
                <a:cs typeface="Calibri"/>
                <a:sym typeface="Calibri"/>
              </a:rPr>
              <a:t>upsert</a:t>
            </a:r>
            <a:endParaRPr sz="600">
              <a:solidFill>
                <a:srgbClr val="923E2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5" name="Google Shape;1485;p73"/>
          <p:cNvSpPr txBox="1"/>
          <p:nvPr/>
        </p:nvSpPr>
        <p:spPr>
          <a:xfrm>
            <a:off x="1290360" y="1518088"/>
            <a:ext cx="582600" cy="12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 sz="600">
                <a:solidFill>
                  <a:srgbClr val="923E22"/>
                </a:solidFill>
                <a:latin typeface="Calibri"/>
                <a:ea typeface="Calibri"/>
                <a:cs typeface="Calibri"/>
                <a:sym typeface="Calibri"/>
              </a:rPr>
              <a:t>événements</a:t>
            </a:r>
            <a:endParaRPr sz="600">
              <a:solidFill>
                <a:srgbClr val="923E2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6" name="Google Shape;1486;p73"/>
          <p:cNvSpPr txBox="1"/>
          <p:nvPr/>
        </p:nvSpPr>
        <p:spPr>
          <a:xfrm>
            <a:off x="2517323" y="1775063"/>
            <a:ext cx="582600" cy="12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 sz="600">
                <a:solidFill>
                  <a:srgbClr val="923E22"/>
                </a:solidFill>
                <a:latin typeface="Calibri"/>
                <a:ea typeface="Calibri"/>
                <a:cs typeface="Calibri"/>
                <a:sym typeface="Calibri"/>
              </a:rPr>
              <a:t>embeddings</a:t>
            </a:r>
            <a:endParaRPr sz="600">
              <a:solidFill>
                <a:srgbClr val="923E2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7" name="Google Shape;1487;p73"/>
          <p:cNvSpPr txBox="1"/>
          <p:nvPr/>
        </p:nvSpPr>
        <p:spPr>
          <a:xfrm>
            <a:off x="283150" y="3953488"/>
            <a:ext cx="2454600" cy="23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1000">
                <a:solidFill>
                  <a:srgbClr val="B07BC2"/>
                </a:solidFill>
                <a:latin typeface="Calibri"/>
                <a:ea typeface="Calibri"/>
                <a:cs typeface="Calibri"/>
                <a:sym typeface="Calibri"/>
              </a:rPr>
              <a:t>SCALEWAY</a:t>
            </a:r>
            <a:r>
              <a:rPr lang="fr" sz="800">
                <a:solidFill>
                  <a:srgbClr val="B07BC2"/>
                </a:solidFill>
                <a:latin typeface="Calibri"/>
                <a:ea typeface="Calibri"/>
                <a:cs typeface="Calibri"/>
                <a:sym typeface="Calibri"/>
              </a:rPr>
              <a:t> - cloud souverain (UE, hors CLOUD Act) </a:t>
            </a:r>
            <a:endParaRPr sz="800">
              <a:solidFill>
                <a:srgbClr val="B07BC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8" name="Google Shape;1488;p73"/>
          <p:cNvSpPr/>
          <p:nvPr/>
        </p:nvSpPr>
        <p:spPr>
          <a:xfrm>
            <a:off x="7068700" y="4409050"/>
            <a:ext cx="144600" cy="72900"/>
          </a:xfrm>
          <a:prstGeom prst="roundRect">
            <a:avLst>
              <a:gd fmla="val 16667" name="adj"/>
            </a:avLst>
          </a:prstGeom>
          <a:solidFill>
            <a:srgbClr val="9CA3AF">
              <a:alpha val="6960"/>
            </a:srgbClr>
          </a:solidFill>
          <a:ln cap="flat" cmpd="sng" w="9525">
            <a:solidFill>
              <a:srgbClr val="9CA3A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9" name="Google Shape;1489;p73"/>
          <p:cNvSpPr/>
          <p:nvPr/>
        </p:nvSpPr>
        <p:spPr>
          <a:xfrm>
            <a:off x="7068700" y="4550067"/>
            <a:ext cx="144600" cy="72900"/>
          </a:xfrm>
          <a:prstGeom prst="roundRect">
            <a:avLst>
              <a:gd fmla="val 16667" name="adj"/>
            </a:avLst>
          </a:prstGeom>
          <a:solidFill>
            <a:srgbClr val="923E22">
              <a:alpha val="7999"/>
            </a:srgbClr>
          </a:solidFill>
          <a:ln cap="flat" cmpd="sng" w="9525">
            <a:solidFill>
              <a:srgbClr val="923E2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0" name="Google Shape;1490;p73"/>
          <p:cNvSpPr/>
          <p:nvPr/>
        </p:nvSpPr>
        <p:spPr>
          <a:xfrm>
            <a:off x="7068700" y="4962200"/>
            <a:ext cx="144600" cy="72900"/>
          </a:xfrm>
          <a:prstGeom prst="roundRect">
            <a:avLst>
              <a:gd fmla="val 16667" name="adj"/>
            </a:avLst>
          </a:prstGeom>
          <a:solidFill>
            <a:srgbClr val="674EA7">
              <a:alpha val="7999"/>
            </a:srgbClr>
          </a:solidFill>
          <a:ln cap="flat" cmpd="sng" w="9525">
            <a:solidFill>
              <a:srgbClr val="674EA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1" name="Google Shape;1491;p73"/>
          <p:cNvSpPr/>
          <p:nvPr/>
        </p:nvSpPr>
        <p:spPr>
          <a:xfrm>
            <a:off x="7068700" y="4691085"/>
            <a:ext cx="144600" cy="72900"/>
          </a:xfrm>
          <a:prstGeom prst="roundRect">
            <a:avLst>
              <a:gd fmla="val 16667" name="adj"/>
            </a:avLst>
          </a:prstGeom>
          <a:solidFill>
            <a:srgbClr val="0000FF">
              <a:alpha val="14000"/>
            </a:srgbClr>
          </a:solidFill>
          <a:ln cap="flat" cmpd="sng" w="9525">
            <a:solidFill>
              <a:srgbClr val="00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2" name="Google Shape;1492;p73"/>
          <p:cNvSpPr/>
          <p:nvPr/>
        </p:nvSpPr>
        <p:spPr>
          <a:xfrm>
            <a:off x="7068700" y="4825177"/>
            <a:ext cx="144600" cy="72900"/>
          </a:xfrm>
          <a:prstGeom prst="roundRect">
            <a:avLst>
              <a:gd fmla="val 16667" name="adj"/>
            </a:avLst>
          </a:prstGeom>
          <a:solidFill>
            <a:srgbClr val="0E9C8A">
              <a:alpha val="15999"/>
            </a:srgbClr>
          </a:solidFill>
          <a:ln cap="flat" cmpd="sng" w="9525">
            <a:solidFill>
              <a:srgbClr val="0E9C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493" name="Google Shape;1493;p73"/>
          <p:cNvCxnSpPr>
            <a:endCxn id="1473" idx="2"/>
          </p:cNvCxnSpPr>
          <p:nvPr/>
        </p:nvCxnSpPr>
        <p:spPr>
          <a:xfrm rot="10800000">
            <a:off x="4572000" y="4115900"/>
            <a:ext cx="14100" cy="410100"/>
          </a:xfrm>
          <a:prstGeom prst="straightConnector1">
            <a:avLst/>
          </a:prstGeom>
          <a:noFill/>
          <a:ln cap="flat" cmpd="sng" w="9525">
            <a:solidFill>
              <a:srgbClr val="F4F4F5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94" name="Google Shape;1494;p73"/>
          <p:cNvCxnSpPr>
            <a:stCxn id="1476" idx="2"/>
            <a:endCxn id="1471" idx="3"/>
          </p:cNvCxnSpPr>
          <p:nvPr/>
        </p:nvCxnSpPr>
        <p:spPr>
          <a:xfrm flipH="1" rot="5400000">
            <a:off x="3187642" y="1563800"/>
            <a:ext cx="975900" cy="3070800"/>
          </a:xfrm>
          <a:prstGeom prst="curvedConnector4">
            <a:avLst>
              <a:gd fmla="val -24401" name="adj1"/>
              <a:gd fmla="val 77150" name="adj2"/>
            </a:avLst>
          </a:prstGeom>
          <a:noFill/>
          <a:ln cap="flat" cmpd="sng" w="9525">
            <a:solidFill>
              <a:srgbClr val="0E9C8A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495" name="Google Shape;1495;p73"/>
          <p:cNvSpPr txBox="1"/>
          <p:nvPr/>
        </p:nvSpPr>
        <p:spPr>
          <a:xfrm>
            <a:off x="3979391" y="3716668"/>
            <a:ext cx="582600" cy="12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 sz="600">
                <a:solidFill>
                  <a:srgbClr val="0E9C8A"/>
                </a:solidFill>
                <a:latin typeface="Calibri"/>
                <a:ea typeface="Calibri"/>
                <a:cs typeface="Calibri"/>
                <a:sym typeface="Calibri"/>
              </a:rPr>
              <a:t>mémoire LT</a:t>
            </a:r>
            <a:endParaRPr sz="600">
              <a:solidFill>
                <a:srgbClr val="0E9C8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6" name="Google Shape;1496;p73"/>
          <p:cNvSpPr txBox="1"/>
          <p:nvPr/>
        </p:nvSpPr>
        <p:spPr>
          <a:xfrm>
            <a:off x="7232825" y="4367250"/>
            <a:ext cx="1755600" cy="68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600">
                <a:solidFill>
                  <a:srgbClr val="8A93A6"/>
                </a:solidFill>
                <a:latin typeface="Calibri"/>
                <a:ea typeface="Calibri"/>
                <a:cs typeface="Calibri"/>
                <a:sym typeface="Calibri"/>
              </a:rPr>
              <a:t>Sources externes</a:t>
            </a:r>
            <a:endParaRPr sz="600">
              <a:solidFill>
                <a:srgbClr val="8A93A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600">
                <a:solidFill>
                  <a:srgbClr val="8A93A6"/>
                </a:solidFill>
                <a:latin typeface="Calibri"/>
                <a:ea typeface="Calibri"/>
                <a:cs typeface="Calibri"/>
                <a:sym typeface="Calibri"/>
              </a:rPr>
              <a:t>Ingestion (Kestra)</a:t>
            </a:r>
            <a:endParaRPr sz="600">
              <a:solidFill>
                <a:srgbClr val="8A93A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600">
                <a:solidFill>
                  <a:srgbClr val="8A93A6"/>
                </a:solidFill>
                <a:latin typeface="Calibri"/>
                <a:ea typeface="Calibri"/>
                <a:cs typeface="Calibri"/>
                <a:sym typeface="Calibri"/>
              </a:rPr>
              <a:t>Stockage (PostgreSQL / Redis / Object storage)</a:t>
            </a:r>
            <a:endParaRPr sz="600">
              <a:solidFill>
                <a:srgbClr val="8A93A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600">
                <a:solidFill>
                  <a:srgbClr val="8A93A6"/>
                </a:solidFill>
                <a:latin typeface="Calibri"/>
                <a:ea typeface="Calibri"/>
                <a:cs typeface="Calibri"/>
                <a:sym typeface="Calibri"/>
              </a:rPr>
              <a:t>Applications (API + agent)</a:t>
            </a:r>
            <a:endParaRPr sz="600">
              <a:solidFill>
                <a:srgbClr val="8A93A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600">
                <a:solidFill>
                  <a:srgbClr val="8A93A6"/>
                </a:solidFill>
                <a:latin typeface="Calibri"/>
                <a:ea typeface="Calibri"/>
                <a:cs typeface="Calibri"/>
                <a:sym typeface="Calibri"/>
              </a:rPr>
              <a:t>Observabilité</a:t>
            </a:r>
            <a:endParaRPr sz="600">
              <a:solidFill>
                <a:srgbClr val="8A93A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7" name="Google Shape;1497;p73"/>
          <p:cNvSpPr txBox="1"/>
          <p:nvPr/>
        </p:nvSpPr>
        <p:spPr>
          <a:xfrm>
            <a:off x="377200" y="233175"/>
            <a:ext cx="2286900" cy="45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9050" lIns="0" spcFirstLastPara="1" rIns="0" wrap="square" tIns="190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1800">
                <a:solidFill>
                  <a:srgbClr val="0E9C8A"/>
                </a:solidFill>
                <a:latin typeface="Calibri"/>
                <a:ea typeface="Calibri"/>
                <a:cs typeface="Calibri"/>
                <a:sym typeface="Calibri"/>
              </a:rPr>
              <a:t>L’architecture du MVP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2" name="Shape 15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3" name="Google Shape;1503;p74"/>
          <p:cNvSpPr txBox="1"/>
          <p:nvPr/>
        </p:nvSpPr>
        <p:spPr>
          <a:xfrm>
            <a:off x="377200" y="675550"/>
            <a:ext cx="26754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9050" lIns="0" spcFirstLastPara="1" rIns="0" wrap="square" tIns="190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1100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Architecture MVP - chatbot RAG Puls-EVents</a:t>
            </a:r>
            <a:endParaRPr b="1" sz="1100">
              <a:solidFill>
                <a:srgbClr val="9CA3A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4" name="Google Shape;1504;p74"/>
          <p:cNvSpPr txBox="1"/>
          <p:nvPr/>
        </p:nvSpPr>
        <p:spPr>
          <a:xfrm>
            <a:off x="377200" y="4945850"/>
            <a:ext cx="999000" cy="166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700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MVP RAG Puls-Events</a:t>
            </a:r>
            <a:endParaRPr sz="700">
              <a:solidFill>
                <a:srgbClr val="9CA3A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5" name="Google Shape;1505;p74"/>
          <p:cNvSpPr/>
          <p:nvPr/>
        </p:nvSpPr>
        <p:spPr>
          <a:xfrm>
            <a:off x="64125" y="1631700"/>
            <a:ext cx="8941200" cy="2605500"/>
          </a:xfrm>
          <a:prstGeom prst="roundRect">
            <a:avLst>
              <a:gd fmla="val 6000" name="adj"/>
            </a:avLst>
          </a:prstGeom>
          <a:noFill/>
          <a:ln cap="flat" cmpd="sng" w="9525">
            <a:solidFill>
              <a:srgbClr val="B07BC2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6" name="Google Shape;1506;p74"/>
          <p:cNvSpPr/>
          <p:nvPr/>
        </p:nvSpPr>
        <p:spPr>
          <a:xfrm>
            <a:off x="499800" y="980277"/>
            <a:ext cx="2286000" cy="521400"/>
          </a:xfrm>
          <a:prstGeom prst="roundRect">
            <a:avLst>
              <a:gd fmla="val 16667" name="adj"/>
            </a:avLst>
          </a:prstGeom>
          <a:solidFill>
            <a:srgbClr val="9CA3AF">
              <a:alpha val="6960"/>
            </a:srgbClr>
          </a:solidFill>
          <a:ln cap="flat" cmpd="sng" w="12700">
            <a:solidFill>
              <a:srgbClr val="9CA3A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6575" lIns="91425" spcFirstLastPara="1" rIns="73150" wrap="square" tIns="365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800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Opendatasoft API</a:t>
            </a:r>
            <a:endParaRPr b="1" sz="800">
              <a:solidFill>
                <a:srgbClr val="9CA3A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600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events Open Agenda</a:t>
            </a:r>
            <a:endParaRPr b="1" sz="600">
              <a:solidFill>
                <a:srgbClr val="9CA3A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7" name="Google Shape;1507;p74"/>
          <p:cNvSpPr/>
          <p:nvPr/>
        </p:nvSpPr>
        <p:spPr>
          <a:xfrm>
            <a:off x="3429000" y="979502"/>
            <a:ext cx="2286000" cy="521400"/>
          </a:xfrm>
          <a:prstGeom prst="roundRect">
            <a:avLst>
              <a:gd fmla="val 16667" name="adj"/>
            </a:avLst>
          </a:prstGeom>
          <a:solidFill>
            <a:srgbClr val="9CA3AF">
              <a:alpha val="6960"/>
            </a:srgbClr>
          </a:solidFill>
          <a:ln cap="flat" cmpd="sng" w="12700">
            <a:solidFill>
              <a:srgbClr val="9CA3A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6575" lIns="91425" spcFirstLastPara="1" rIns="73150" wrap="square" tIns="365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800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Mistral API (UE)</a:t>
            </a:r>
            <a:endParaRPr b="1" sz="800">
              <a:solidFill>
                <a:srgbClr val="9CA3A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600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embeddings + LLM</a:t>
            </a:r>
            <a:endParaRPr b="1" sz="600">
              <a:solidFill>
                <a:srgbClr val="9CA3A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8" name="Google Shape;1508;p74"/>
          <p:cNvSpPr/>
          <p:nvPr/>
        </p:nvSpPr>
        <p:spPr>
          <a:xfrm>
            <a:off x="576219" y="1831125"/>
            <a:ext cx="1578000" cy="359700"/>
          </a:xfrm>
          <a:prstGeom prst="roundRect">
            <a:avLst>
              <a:gd fmla="val 16667" name="adj"/>
            </a:avLst>
          </a:prstGeom>
          <a:solidFill>
            <a:srgbClr val="923E22">
              <a:alpha val="7999"/>
            </a:srgbClr>
          </a:solidFill>
          <a:ln cap="flat" cmpd="sng" w="9525">
            <a:solidFill>
              <a:srgbClr val="923E2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800">
                <a:solidFill>
                  <a:srgbClr val="923E22"/>
                </a:solidFill>
                <a:latin typeface="Calibri"/>
                <a:ea typeface="Calibri"/>
                <a:cs typeface="Calibri"/>
                <a:sym typeface="Calibri"/>
              </a:rPr>
              <a:t>Kestra</a:t>
            </a:r>
            <a:r>
              <a:rPr lang="fr" sz="600">
                <a:solidFill>
                  <a:srgbClr val="923E22"/>
                </a:solidFill>
                <a:latin typeface="Calibri"/>
                <a:ea typeface="Calibri"/>
                <a:cs typeface="Calibri"/>
                <a:sym typeface="Calibri"/>
              </a:rPr>
              <a:t> - ingestion planifiée</a:t>
            </a:r>
            <a:endParaRPr sz="600">
              <a:solidFill>
                <a:srgbClr val="923E2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 sz="600">
                <a:solidFill>
                  <a:srgbClr val="923E22"/>
                </a:solidFill>
                <a:latin typeface="Calibri"/>
                <a:ea typeface="Calibri"/>
                <a:cs typeface="Calibri"/>
                <a:sym typeface="Calibri"/>
              </a:rPr>
              <a:t>fetch ⇒ clean ⇒ embed ⇒ upsert</a:t>
            </a:r>
            <a:endParaRPr sz="600">
              <a:solidFill>
                <a:srgbClr val="923E2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9" name="Google Shape;1509;p74"/>
          <p:cNvSpPr/>
          <p:nvPr/>
        </p:nvSpPr>
        <p:spPr>
          <a:xfrm>
            <a:off x="562125" y="2350491"/>
            <a:ext cx="1578000" cy="521400"/>
          </a:xfrm>
          <a:prstGeom prst="roundRect">
            <a:avLst>
              <a:gd fmla="val 16667" name="adj"/>
            </a:avLst>
          </a:prstGeom>
          <a:solidFill>
            <a:srgbClr val="0000FF">
              <a:alpha val="14000"/>
            </a:srgbClr>
          </a:solidFill>
          <a:ln cap="flat" cmpd="sng" w="9525">
            <a:solidFill>
              <a:srgbClr val="00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800">
                <a:solidFill>
                  <a:srgbClr val="3C78D8"/>
                </a:solidFill>
                <a:latin typeface="Calibri"/>
                <a:ea typeface="Calibri"/>
                <a:cs typeface="Calibri"/>
                <a:sym typeface="Calibri"/>
              </a:rPr>
              <a:t>Managed PostgreSQL</a:t>
            </a:r>
            <a:endParaRPr b="1" sz="800">
              <a:solidFill>
                <a:srgbClr val="3C78D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66700" lvl="0" marL="457200" rtl="0" algn="l">
              <a:spcBef>
                <a:spcPts val="0"/>
              </a:spcBef>
              <a:spcAft>
                <a:spcPts val="0"/>
              </a:spcAft>
              <a:buClr>
                <a:srgbClr val="3C78D8"/>
              </a:buClr>
              <a:buSzPts val="600"/>
              <a:buFont typeface="Calibri"/>
              <a:buChar char="●"/>
            </a:pPr>
            <a:r>
              <a:rPr lang="fr" sz="600">
                <a:solidFill>
                  <a:srgbClr val="3C78D8"/>
                </a:solidFill>
                <a:latin typeface="Calibri"/>
                <a:ea typeface="Calibri"/>
                <a:cs typeface="Calibri"/>
                <a:sym typeface="Calibri"/>
              </a:rPr>
              <a:t>pgvector (embeddings)</a:t>
            </a:r>
            <a:endParaRPr sz="600">
              <a:solidFill>
                <a:srgbClr val="3C78D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66700" lvl="0" marL="457200" rtl="0" algn="l">
              <a:spcBef>
                <a:spcPts val="0"/>
              </a:spcBef>
              <a:spcAft>
                <a:spcPts val="0"/>
              </a:spcAft>
              <a:buClr>
                <a:srgbClr val="3C78D8"/>
              </a:buClr>
              <a:buSzPts val="600"/>
              <a:buFont typeface="Calibri"/>
              <a:buChar char="●"/>
            </a:pPr>
            <a:r>
              <a:t/>
            </a:r>
            <a:endParaRPr sz="600">
              <a:solidFill>
                <a:srgbClr val="3C78D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66700" lvl="0" marL="457200" rtl="0" algn="l">
              <a:spcBef>
                <a:spcPts val="0"/>
              </a:spcBef>
              <a:spcAft>
                <a:spcPts val="0"/>
              </a:spcAft>
              <a:buClr>
                <a:srgbClr val="3C78D8"/>
              </a:buClr>
              <a:buSzPts val="600"/>
              <a:buFont typeface="Calibri"/>
              <a:buChar char="●"/>
            </a:pPr>
            <a:r>
              <a:rPr lang="fr" sz="600">
                <a:solidFill>
                  <a:srgbClr val="3C78D8"/>
                </a:solidFill>
                <a:latin typeface="Calibri"/>
                <a:ea typeface="Calibri"/>
                <a:cs typeface="Calibri"/>
                <a:sym typeface="Calibri"/>
              </a:rPr>
              <a:t>relationnel + mémoire LT</a:t>
            </a:r>
            <a:endParaRPr sz="600">
              <a:solidFill>
                <a:srgbClr val="3C78D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0" name="Google Shape;1510;p74"/>
          <p:cNvSpPr/>
          <p:nvPr/>
        </p:nvSpPr>
        <p:spPr>
          <a:xfrm>
            <a:off x="562125" y="3030722"/>
            <a:ext cx="1578000" cy="303000"/>
          </a:xfrm>
          <a:prstGeom prst="roundRect">
            <a:avLst>
              <a:gd fmla="val 16667" name="adj"/>
            </a:avLst>
          </a:prstGeom>
          <a:solidFill>
            <a:srgbClr val="0000FF">
              <a:alpha val="7999"/>
            </a:srgbClr>
          </a:solidFill>
          <a:ln cap="flat" cmpd="sng" w="9525">
            <a:solidFill>
              <a:srgbClr val="00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800">
                <a:solidFill>
                  <a:srgbClr val="3C78D8"/>
                </a:solidFill>
                <a:latin typeface="Calibri"/>
                <a:ea typeface="Calibri"/>
                <a:cs typeface="Calibri"/>
                <a:sym typeface="Calibri"/>
              </a:rPr>
              <a:t>Managed Redis</a:t>
            </a:r>
            <a:endParaRPr b="1" sz="800">
              <a:solidFill>
                <a:srgbClr val="3C78D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 sz="600">
                <a:solidFill>
                  <a:srgbClr val="3C78D8"/>
                </a:solidFill>
                <a:latin typeface="Calibri"/>
                <a:ea typeface="Calibri"/>
                <a:cs typeface="Calibri"/>
                <a:sym typeface="Calibri"/>
              </a:rPr>
              <a:t>mémoire court terme / session</a:t>
            </a:r>
            <a:endParaRPr sz="600">
              <a:solidFill>
                <a:srgbClr val="3C78D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1" name="Google Shape;1511;p74"/>
          <p:cNvSpPr/>
          <p:nvPr/>
        </p:nvSpPr>
        <p:spPr>
          <a:xfrm>
            <a:off x="562125" y="3492525"/>
            <a:ext cx="1578000" cy="303000"/>
          </a:xfrm>
          <a:prstGeom prst="roundRect">
            <a:avLst>
              <a:gd fmla="val 16667" name="adj"/>
            </a:avLst>
          </a:prstGeom>
          <a:solidFill>
            <a:srgbClr val="0000FF">
              <a:alpha val="3999"/>
            </a:srgbClr>
          </a:solidFill>
          <a:ln cap="flat" cmpd="sng" w="9525">
            <a:solidFill>
              <a:srgbClr val="00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800">
                <a:solidFill>
                  <a:srgbClr val="3C78D8"/>
                </a:solidFill>
                <a:latin typeface="Calibri"/>
                <a:ea typeface="Calibri"/>
                <a:cs typeface="Calibri"/>
                <a:sym typeface="Calibri"/>
              </a:rPr>
              <a:t>Object storage</a:t>
            </a:r>
            <a:r>
              <a:rPr lang="fr" sz="800">
                <a:solidFill>
                  <a:srgbClr val="3C78D8"/>
                </a:solidFill>
                <a:latin typeface="Calibri"/>
                <a:ea typeface="Calibri"/>
                <a:cs typeface="Calibri"/>
                <a:sym typeface="Calibri"/>
              </a:rPr>
              <a:t> S3</a:t>
            </a:r>
            <a:endParaRPr sz="800">
              <a:solidFill>
                <a:srgbClr val="3C78D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2" name="Google Shape;1512;p74"/>
          <p:cNvSpPr/>
          <p:nvPr/>
        </p:nvSpPr>
        <p:spPr>
          <a:xfrm>
            <a:off x="3234300" y="1858100"/>
            <a:ext cx="2675400" cy="2257800"/>
          </a:xfrm>
          <a:prstGeom prst="roundRect">
            <a:avLst>
              <a:gd fmla="val 16667" name="adj"/>
            </a:avLst>
          </a:prstGeom>
          <a:solidFill>
            <a:srgbClr val="0E9C8A">
              <a:alpha val="7999"/>
            </a:srgbClr>
          </a:solidFill>
          <a:ln cap="flat" cmpd="sng" w="9525">
            <a:solidFill>
              <a:srgbClr val="0E9C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3" name="Google Shape;1513;p74"/>
          <p:cNvSpPr/>
          <p:nvPr/>
        </p:nvSpPr>
        <p:spPr>
          <a:xfrm>
            <a:off x="3431358" y="2172800"/>
            <a:ext cx="2270400" cy="521400"/>
          </a:xfrm>
          <a:prstGeom prst="roundRect">
            <a:avLst>
              <a:gd fmla="val 16667" name="adj"/>
            </a:avLst>
          </a:prstGeom>
          <a:solidFill>
            <a:srgbClr val="0E9C8A">
              <a:alpha val="23999"/>
            </a:srgbClr>
          </a:solidFill>
          <a:ln cap="flat" cmpd="sng" w="9525">
            <a:solidFill>
              <a:srgbClr val="0E9C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800">
                <a:solidFill>
                  <a:srgbClr val="0E9C8A"/>
                </a:solidFill>
                <a:latin typeface="Calibri"/>
                <a:ea typeface="Calibri"/>
                <a:cs typeface="Calibri"/>
                <a:sym typeface="Calibri"/>
              </a:rPr>
              <a:t>Agents smolagents</a:t>
            </a:r>
            <a:endParaRPr b="1" sz="800">
              <a:solidFill>
                <a:srgbClr val="0E9C8A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 sz="600">
                <a:solidFill>
                  <a:srgbClr val="0E9C8A"/>
                </a:solidFill>
                <a:latin typeface="Calibri"/>
                <a:ea typeface="Calibri"/>
                <a:cs typeface="Calibri"/>
                <a:sym typeface="Calibri"/>
              </a:rPr>
              <a:t>(orchestration des outils)</a:t>
            </a:r>
            <a:endParaRPr sz="600">
              <a:solidFill>
                <a:srgbClr val="0E9C8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4" name="Google Shape;1514;p74"/>
          <p:cNvSpPr txBox="1"/>
          <p:nvPr/>
        </p:nvSpPr>
        <p:spPr>
          <a:xfrm>
            <a:off x="3560475" y="1932625"/>
            <a:ext cx="19485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800">
                <a:solidFill>
                  <a:srgbClr val="0E9C8A"/>
                </a:solidFill>
                <a:latin typeface="Calibri"/>
                <a:ea typeface="Calibri"/>
                <a:cs typeface="Calibri"/>
                <a:sym typeface="Calibri"/>
              </a:rPr>
              <a:t>Serverless Containers - API FastAPI (SSE)</a:t>
            </a:r>
            <a:endParaRPr b="1" sz="800">
              <a:solidFill>
                <a:srgbClr val="0E9C8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5" name="Google Shape;1515;p74"/>
          <p:cNvSpPr/>
          <p:nvPr/>
        </p:nvSpPr>
        <p:spPr>
          <a:xfrm>
            <a:off x="4704742" y="3246350"/>
            <a:ext cx="1012500" cy="340800"/>
          </a:xfrm>
          <a:prstGeom prst="roundRect">
            <a:avLst>
              <a:gd fmla="val 16667" name="adj"/>
            </a:avLst>
          </a:prstGeom>
          <a:solidFill>
            <a:srgbClr val="0E9C8A">
              <a:alpha val="15999"/>
            </a:srgbClr>
          </a:solidFill>
          <a:ln cap="flat" cmpd="sng" w="9525">
            <a:solidFill>
              <a:srgbClr val="0E9C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800">
                <a:solidFill>
                  <a:srgbClr val="0E9C8A"/>
                </a:solidFill>
                <a:latin typeface="Calibri"/>
                <a:ea typeface="Calibri"/>
                <a:cs typeface="Calibri"/>
                <a:sym typeface="Calibri"/>
              </a:rPr>
              <a:t>outil mémoire</a:t>
            </a:r>
            <a:endParaRPr b="1" sz="800">
              <a:solidFill>
                <a:srgbClr val="0E9C8A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 sz="600">
                <a:solidFill>
                  <a:srgbClr val="0E9C8A"/>
                </a:solidFill>
                <a:latin typeface="Calibri"/>
                <a:ea typeface="Calibri"/>
                <a:cs typeface="Calibri"/>
                <a:sym typeface="Calibri"/>
              </a:rPr>
              <a:t>(Redis + PG)</a:t>
            </a:r>
            <a:endParaRPr sz="600">
              <a:solidFill>
                <a:srgbClr val="0E9C8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6" name="Google Shape;1516;p74"/>
          <p:cNvSpPr/>
          <p:nvPr/>
        </p:nvSpPr>
        <p:spPr>
          <a:xfrm>
            <a:off x="2967450" y="4523300"/>
            <a:ext cx="3209100" cy="329700"/>
          </a:xfrm>
          <a:prstGeom prst="roundRect">
            <a:avLst>
              <a:gd fmla="val 16667" name="adj"/>
            </a:avLst>
          </a:prstGeom>
          <a:solidFill>
            <a:srgbClr val="F4F4F5"/>
          </a:solidFill>
          <a:ln cap="flat" cmpd="sng" w="9525">
            <a:solidFill>
              <a:srgbClr val="222A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800">
                <a:solidFill>
                  <a:srgbClr val="222A3A"/>
                </a:solidFill>
                <a:latin typeface="Calibri"/>
                <a:ea typeface="Calibri"/>
                <a:cs typeface="Calibri"/>
                <a:sym typeface="Calibri"/>
              </a:rPr>
              <a:t>frontend web / Utilisateurs</a:t>
            </a:r>
            <a:endParaRPr b="1" sz="800">
              <a:solidFill>
                <a:srgbClr val="222A3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7" name="Google Shape;1517;p74"/>
          <p:cNvSpPr txBox="1"/>
          <p:nvPr/>
        </p:nvSpPr>
        <p:spPr>
          <a:xfrm>
            <a:off x="4586100" y="4275550"/>
            <a:ext cx="1090200" cy="20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 sz="600">
                <a:solidFill>
                  <a:srgbClr val="F4F4F5"/>
                </a:solidFill>
                <a:latin typeface="Calibri"/>
                <a:ea typeface="Calibri"/>
                <a:cs typeface="Calibri"/>
                <a:sym typeface="Calibri"/>
              </a:rPr>
              <a:t>question ⇒ / réponse SSE ⇐</a:t>
            </a:r>
            <a:endParaRPr sz="600">
              <a:solidFill>
                <a:srgbClr val="F4F4F5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 sz="600">
                <a:solidFill>
                  <a:srgbClr val="F4F4F5"/>
                </a:solidFill>
                <a:latin typeface="Calibri"/>
                <a:ea typeface="Calibri"/>
                <a:cs typeface="Calibri"/>
                <a:sym typeface="Calibri"/>
              </a:rPr>
              <a:t>(HTTPS/SSE)</a:t>
            </a:r>
            <a:endParaRPr sz="600">
              <a:solidFill>
                <a:srgbClr val="F4F4F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518" name="Google Shape;1518;p74"/>
          <p:cNvCxnSpPr>
            <a:endCxn id="1508" idx="0"/>
          </p:cNvCxnSpPr>
          <p:nvPr/>
        </p:nvCxnSpPr>
        <p:spPr>
          <a:xfrm flipH="1">
            <a:off x="1365219" y="1511925"/>
            <a:ext cx="2100" cy="319200"/>
          </a:xfrm>
          <a:prstGeom prst="straightConnector1">
            <a:avLst/>
          </a:prstGeom>
          <a:noFill/>
          <a:ln cap="flat" cmpd="sng" w="9525">
            <a:solidFill>
              <a:srgbClr val="923E2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519" name="Google Shape;1519;p74"/>
          <p:cNvCxnSpPr>
            <a:stCxn id="1508" idx="3"/>
            <a:endCxn id="1507" idx="1"/>
          </p:cNvCxnSpPr>
          <p:nvPr/>
        </p:nvCxnSpPr>
        <p:spPr>
          <a:xfrm flipH="1" rot="10800000">
            <a:off x="2154219" y="1240275"/>
            <a:ext cx="1274700" cy="770700"/>
          </a:xfrm>
          <a:prstGeom prst="curvedConnector3">
            <a:avLst>
              <a:gd fmla="val 50003" name="adj1"/>
            </a:avLst>
          </a:prstGeom>
          <a:noFill/>
          <a:ln cap="flat" cmpd="sng" w="9525">
            <a:solidFill>
              <a:srgbClr val="923E22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1520" name="Google Shape;1520;p74"/>
          <p:cNvCxnSpPr>
            <a:stCxn id="1508" idx="2"/>
            <a:endCxn id="1509" idx="0"/>
          </p:cNvCxnSpPr>
          <p:nvPr/>
        </p:nvCxnSpPr>
        <p:spPr>
          <a:xfrm flipH="1">
            <a:off x="1351119" y="2190825"/>
            <a:ext cx="14100" cy="159600"/>
          </a:xfrm>
          <a:prstGeom prst="straightConnector1">
            <a:avLst/>
          </a:prstGeom>
          <a:noFill/>
          <a:ln cap="flat" cmpd="sng" w="9525">
            <a:solidFill>
              <a:srgbClr val="923E2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521" name="Google Shape;1521;p74"/>
          <p:cNvCxnSpPr>
            <a:stCxn id="1515" idx="3"/>
            <a:endCxn id="1510" idx="3"/>
          </p:cNvCxnSpPr>
          <p:nvPr/>
        </p:nvCxnSpPr>
        <p:spPr>
          <a:xfrm rot="10800000">
            <a:off x="2140042" y="3182150"/>
            <a:ext cx="3577200" cy="234600"/>
          </a:xfrm>
          <a:prstGeom prst="curvedConnector5">
            <a:avLst>
              <a:gd fmla="val -1538" name="adj1"/>
              <a:gd fmla="val -227526" name="adj2"/>
              <a:gd fmla="val 77179" name="adj3"/>
            </a:avLst>
          </a:prstGeom>
          <a:noFill/>
          <a:ln cap="flat" cmpd="sng" w="9525">
            <a:solidFill>
              <a:srgbClr val="0E9C8A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522" name="Google Shape;1522;p74"/>
          <p:cNvCxnSpPr>
            <a:stCxn id="1508" idx="1"/>
            <a:endCxn id="1511" idx="1"/>
          </p:cNvCxnSpPr>
          <p:nvPr/>
        </p:nvCxnSpPr>
        <p:spPr>
          <a:xfrm flipH="1">
            <a:off x="562119" y="2010975"/>
            <a:ext cx="14100" cy="1633200"/>
          </a:xfrm>
          <a:prstGeom prst="curvedConnector3">
            <a:avLst>
              <a:gd fmla="val 1788788" name="adj1"/>
            </a:avLst>
          </a:prstGeom>
          <a:noFill/>
          <a:ln cap="flat" cmpd="sng" w="9525">
            <a:solidFill>
              <a:srgbClr val="923E2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523" name="Google Shape;1523;p74"/>
          <p:cNvSpPr txBox="1"/>
          <p:nvPr/>
        </p:nvSpPr>
        <p:spPr>
          <a:xfrm>
            <a:off x="21775" y="2444838"/>
            <a:ext cx="399300" cy="12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 sz="600">
                <a:solidFill>
                  <a:srgbClr val="923E22"/>
                </a:solidFill>
                <a:latin typeface="Calibri"/>
                <a:ea typeface="Calibri"/>
                <a:cs typeface="Calibri"/>
                <a:sym typeface="Calibri"/>
              </a:rPr>
              <a:t>dump</a:t>
            </a:r>
            <a:endParaRPr sz="600">
              <a:solidFill>
                <a:srgbClr val="923E2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4" name="Google Shape;1524;p74"/>
          <p:cNvSpPr txBox="1"/>
          <p:nvPr/>
        </p:nvSpPr>
        <p:spPr>
          <a:xfrm>
            <a:off x="1310800" y="2206363"/>
            <a:ext cx="399300" cy="12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 sz="600">
                <a:solidFill>
                  <a:srgbClr val="923E22"/>
                </a:solidFill>
                <a:latin typeface="Calibri"/>
                <a:ea typeface="Calibri"/>
                <a:cs typeface="Calibri"/>
                <a:sym typeface="Calibri"/>
              </a:rPr>
              <a:t>upsert</a:t>
            </a:r>
            <a:endParaRPr sz="600">
              <a:solidFill>
                <a:srgbClr val="923E2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5" name="Google Shape;1525;p74"/>
          <p:cNvSpPr txBox="1"/>
          <p:nvPr/>
        </p:nvSpPr>
        <p:spPr>
          <a:xfrm>
            <a:off x="1290360" y="1518088"/>
            <a:ext cx="582600" cy="12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 sz="600">
                <a:solidFill>
                  <a:srgbClr val="923E22"/>
                </a:solidFill>
                <a:latin typeface="Calibri"/>
                <a:ea typeface="Calibri"/>
                <a:cs typeface="Calibri"/>
                <a:sym typeface="Calibri"/>
              </a:rPr>
              <a:t>événements</a:t>
            </a:r>
            <a:endParaRPr sz="600">
              <a:solidFill>
                <a:srgbClr val="923E2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6" name="Google Shape;1526;p74"/>
          <p:cNvSpPr txBox="1"/>
          <p:nvPr/>
        </p:nvSpPr>
        <p:spPr>
          <a:xfrm>
            <a:off x="2517323" y="1775063"/>
            <a:ext cx="582600" cy="12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 sz="600">
                <a:solidFill>
                  <a:srgbClr val="923E22"/>
                </a:solidFill>
                <a:latin typeface="Calibri"/>
                <a:ea typeface="Calibri"/>
                <a:cs typeface="Calibri"/>
                <a:sym typeface="Calibri"/>
              </a:rPr>
              <a:t>embeddings</a:t>
            </a:r>
            <a:endParaRPr sz="600">
              <a:solidFill>
                <a:srgbClr val="923E2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7" name="Google Shape;1527;p74"/>
          <p:cNvSpPr txBox="1"/>
          <p:nvPr/>
        </p:nvSpPr>
        <p:spPr>
          <a:xfrm>
            <a:off x="283150" y="3953488"/>
            <a:ext cx="2454600" cy="23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1000">
                <a:solidFill>
                  <a:srgbClr val="B07BC2"/>
                </a:solidFill>
                <a:latin typeface="Calibri"/>
                <a:ea typeface="Calibri"/>
                <a:cs typeface="Calibri"/>
                <a:sym typeface="Calibri"/>
              </a:rPr>
              <a:t>SCALEWAY</a:t>
            </a:r>
            <a:r>
              <a:rPr lang="fr" sz="800">
                <a:solidFill>
                  <a:srgbClr val="B07BC2"/>
                </a:solidFill>
                <a:latin typeface="Calibri"/>
                <a:ea typeface="Calibri"/>
                <a:cs typeface="Calibri"/>
                <a:sym typeface="Calibri"/>
              </a:rPr>
              <a:t> - cloud souverain (UE, hors CLOUD Act) </a:t>
            </a:r>
            <a:endParaRPr sz="800">
              <a:solidFill>
                <a:srgbClr val="B07BC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8" name="Google Shape;1528;p74"/>
          <p:cNvSpPr/>
          <p:nvPr/>
        </p:nvSpPr>
        <p:spPr>
          <a:xfrm>
            <a:off x="7068700" y="4409050"/>
            <a:ext cx="144600" cy="72900"/>
          </a:xfrm>
          <a:prstGeom prst="roundRect">
            <a:avLst>
              <a:gd fmla="val 16667" name="adj"/>
            </a:avLst>
          </a:prstGeom>
          <a:solidFill>
            <a:srgbClr val="9CA3AF">
              <a:alpha val="6960"/>
            </a:srgbClr>
          </a:solidFill>
          <a:ln cap="flat" cmpd="sng" w="9525">
            <a:solidFill>
              <a:srgbClr val="9CA3A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9" name="Google Shape;1529;p74"/>
          <p:cNvSpPr/>
          <p:nvPr/>
        </p:nvSpPr>
        <p:spPr>
          <a:xfrm>
            <a:off x="7068700" y="4550067"/>
            <a:ext cx="144600" cy="72900"/>
          </a:xfrm>
          <a:prstGeom prst="roundRect">
            <a:avLst>
              <a:gd fmla="val 16667" name="adj"/>
            </a:avLst>
          </a:prstGeom>
          <a:solidFill>
            <a:srgbClr val="923E22">
              <a:alpha val="7999"/>
            </a:srgbClr>
          </a:solidFill>
          <a:ln cap="flat" cmpd="sng" w="9525">
            <a:solidFill>
              <a:srgbClr val="923E2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0" name="Google Shape;1530;p74"/>
          <p:cNvSpPr/>
          <p:nvPr/>
        </p:nvSpPr>
        <p:spPr>
          <a:xfrm>
            <a:off x="7068700" y="4962200"/>
            <a:ext cx="144600" cy="72900"/>
          </a:xfrm>
          <a:prstGeom prst="roundRect">
            <a:avLst>
              <a:gd fmla="val 16667" name="adj"/>
            </a:avLst>
          </a:prstGeom>
          <a:solidFill>
            <a:srgbClr val="674EA7">
              <a:alpha val="7999"/>
            </a:srgbClr>
          </a:solidFill>
          <a:ln cap="flat" cmpd="sng" w="9525">
            <a:solidFill>
              <a:srgbClr val="674EA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1" name="Google Shape;1531;p74"/>
          <p:cNvSpPr/>
          <p:nvPr/>
        </p:nvSpPr>
        <p:spPr>
          <a:xfrm>
            <a:off x="7068700" y="4691085"/>
            <a:ext cx="144600" cy="72900"/>
          </a:xfrm>
          <a:prstGeom prst="roundRect">
            <a:avLst>
              <a:gd fmla="val 16667" name="adj"/>
            </a:avLst>
          </a:prstGeom>
          <a:solidFill>
            <a:srgbClr val="0000FF">
              <a:alpha val="14000"/>
            </a:srgbClr>
          </a:solidFill>
          <a:ln cap="flat" cmpd="sng" w="9525">
            <a:solidFill>
              <a:srgbClr val="00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2" name="Google Shape;1532;p74"/>
          <p:cNvSpPr/>
          <p:nvPr/>
        </p:nvSpPr>
        <p:spPr>
          <a:xfrm>
            <a:off x="7068700" y="4825177"/>
            <a:ext cx="144600" cy="72900"/>
          </a:xfrm>
          <a:prstGeom prst="roundRect">
            <a:avLst>
              <a:gd fmla="val 16667" name="adj"/>
            </a:avLst>
          </a:prstGeom>
          <a:solidFill>
            <a:srgbClr val="0E9C8A">
              <a:alpha val="15999"/>
            </a:srgbClr>
          </a:solidFill>
          <a:ln cap="flat" cmpd="sng" w="9525">
            <a:solidFill>
              <a:srgbClr val="0E9C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533" name="Google Shape;1533;p74"/>
          <p:cNvCxnSpPr>
            <a:endCxn id="1512" idx="2"/>
          </p:cNvCxnSpPr>
          <p:nvPr/>
        </p:nvCxnSpPr>
        <p:spPr>
          <a:xfrm rot="10800000">
            <a:off x="4572000" y="4115900"/>
            <a:ext cx="14100" cy="410100"/>
          </a:xfrm>
          <a:prstGeom prst="straightConnector1">
            <a:avLst/>
          </a:prstGeom>
          <a:noFill/>
          <a:ln cap="flat" cmpd="sng" w="9525">
            <a:solidFill>
              <a:srgbClr val="F4F4F5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534" name="Google Shape;1534;p74"/>
          <p:cNvCxnSpPr>
            <a:stCxn id="1515" idx="2"/>
            <a:endCxn id="1509" idx="3"/>
          </p:cNvCxnSpPr>
          <p:nvPr/>
        </p:nvCxnSpPr>
        <p:spPr>
          <a:xfrm flipH="1" rot="5400000">
            <a:off x="3187642" y="1563800"/>
            <a:ext cx="975900" cy="3070800"/>
          </a:xfrm>
          <a:prstGeom prst="curvedConnector4">
            <a:avLst>
              <a:gd fmla="val -24401" name="adj1"/>
              <a:gd fmla="val 77150" name="adj2"/>
            </a:avLst>
          </a:prstGeom>
          <a:noFill/>
          <a:ln cap="flat" cmpd="sng" w="9525">
            <a:solidFill>
              <a:srgbClr val="0E9C8A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535" name="Google Shape;1535;p74"/>
          <p:cNvSpPr txBox="1"/>
          <p:nvPr/>
        </p:nvSpPr>
        <p:spPr>
          <a:xfrm>
            <a:off x="3979391" y="3716668"/>
            <a:ext cx="582600" cy="12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 sz="600">
                <a:solidFill>
                  <a:srgbClr val="0E9C8A"/>
                </a:solidFill>
                <a:latin typeface="Calibri"/>
                <a:ea typeface="Calibri"/>
                <a:cs typeface="Calibri"/>
                <a:sym typeface="Calibri"/>
              </a:rPr>
              <a:t>mémoire LT</a:t>
            </a:r>
            <a:endParaRPr sz="600">
              <a:solidFill>
                <a:srgbClr val="0E9C8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6" name="Google Shape;1536;p74"/>
          <p:cNvSpPr txBox="1"/>
          <p:nvPr/>
        </p:nvSpPr>
        <p:spPr>
          <a:xfrm>
            <a:off x="4008429" y="3932876"/>
            <a:ext cx="569700" cy="12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 sz="600">
                <a:solidFill>
                  <a:srgbClr val="0E9C8A"/>
                </a:solidFill>
                <a:latin typeface="Calibri"/>
                <a:ea typeface="Calibri"/>
                <a:cs typeface="Calibri"/>
                <a:sym typeface="Calibri"/>
              </a:rPr>
              <a:t>mémoire CT</a:t>
            </a:r>
            <a:endParaRPr sz="600">
              <a:solidFill>
                <a:srgbClr val="0E9C8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7" name="Google Shape;1537;p74"/>
          <p:cNvSpPr txBox="1"/>
          <p:nvPr/>
        </p:nvSpPr>
        <p:spPr>
          <a:xfrm>
            <a:off x="7232825" y="4367250"/>
            <a:ext cx="1755600" cy="68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600">
                <a:solidFill>
                  <a:srgbClr val="8A93A6"/>
                </a:solidFill>
                <a:latin typeface="Calibri"/>
                <a:ea typeface="Calibri"/>
                <a:cs typeface="Calibri"/>
                <a:sym typeface="Calibri"/>
              </a:rPr>
              <a:t>Sources externes</a:t>
            </a:r>
            <a:endParaRPr sz="600">
              <a:solidFill>
                <a:srgbClr val="8A93A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600">
                <a:solidFill>
                  <a:srgbClr val="8A93A6"/>
                </a:solidFill>
                <a:latin typeface="Calibri"/>
                <a:ea typeface="Calibri"/>
                <a:cs typeface="Calibri"/>
                <a:sym typeface="Calibri"/>
              </a:rPr>
              <a:t>Ingestion (Kestra)</a:t>
            </a:r>
            <a:endParaRPr sz="600">
              <a:solidFill>
                <a:srgbClr val="8A93A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600">
                <a:solidFill>
                  <a:srgbClr val="8A93A6"/>
                </a:solidFill>
                <a:latin typeface="Calibri"/>
                <a:ea typeface="Calibri"/>
                <a:cs typeface="Calibri"/>
                <a:sym typeface="Calibri"/>
              </a:rPr>
              <a:t>Stockage (PostgreSQL / Redis / Object storage)</a:t>
            </a:r>
            <a:endParaRPr sz="600">
              <a:solidFill>
                <a:srgbClr val="8A93A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600">
                <a:solidFill>
                  <a:srgbClr val="8A93A6"/>
                </a:solidFill>
                <a:latin typeface="Calibri"/>
                <a:ea typeface="Calibri"/>
                <a:cs typeface="Calibri"/>
                <a:sym typeface="Calibri"/>
              </a:rPr>
              <a:t>Applications (API + agent)</a:t>
            </a:r>
            <a:endParaRPr sz="600">
              <a:solidFill>
                <a:srgbClr val="8A93A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600">
                <a:solidFill>
                  <a:srgbClr val="8A93A6"/>
                </a:solidFill>
                <a:latin typeface="Calibri"/>
                <a:ea typeface="Calibri"/>
                <a:cs typeface="Calibri"/>
                <a:sym typeface="Calibri"/>
              </a:rPr>
              <a:t>Observabilité</a:t>
            </a:r>
            <a:endParaRPr sz="600">
              <a:solidFill>
                <a:srgbClr val="8A93A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8" name="Google Shape;1538;p74"/>
          <p:cNvSpPr txBox="1"/>
          <p:nvPr/>
        </p:nvSpPr>
        <p:spPr>
          <a:xfrm>
            <a:off x="377200" y="233175"/>
            <a:ext cx="2286900" cy="45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9050" lIns="0" spcFirstLastPara="1" rIns="0" wrap="square" tIns="190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1800">
                <a:solidFill>
                  <a:srgbClr val="0E9C8A"/>
                </a:solidFill>
                <a:latin typeface="Calibri"/>
                <a:ea typeface="Calibri"/>
                <a:cs typeface="Calibri"/>
                <a:sym typeface="Calibri"/>
              </a:rPr>
              <a:t>L’architecture du MVP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3" name="Shape 15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4" name="Google Shape;1544;p75"/>
          <p:cNvSpPr txBox="1"/>
          <p:nvPr/>
        </p:nvSpPr>
        <p:spPr>
          <a:xfrm>
            <a:off x="377200" y="675550"/>
            <a:ext cx="26754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9050" lIns="0" spcFirstLastPara="1" rIns="0" wrap="square" tIns="190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1100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Architecture MVP - chatbot RAG Puls-EVents</a:t>
            </a:r>
            <a:endParaRPr b="1" sz="1100">
              <a:solidFill>
                <a:srgbClr val="9CA3A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5" name="Google Shape;1545;p75"/>
          <p:cNvSpPr txBox="1"/>
          <p:nvPr/>
        </p:nvSpPr>
        <p:spPr>
          <a:xfrm>
            <a:off x="377200" y="4945850"/>
            <a:ext cx="999000" cy="166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700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MVP RAG Puls-Events</a:t>
            </a:r>
            <a:endParaRPr sz="700">
              <a:solidFill>
                <a:srgbClr val="9CA3A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6" name="Google Shape;1546;p75"/>
          <p:cNvSpPr/>
          <p:nvPr/>
        </p:nvSpPr>
        <p:spPr>
          <a:xfrm>
            <a:off x="64125" y="1631700"/>
            <a:ext cx="8941200" cy="2605500"/>
          </a:xfrm>
          <a:prstGeom prst="roundRect">
            <a:avLst>
              <a:gd fmla="val 6000" name="adj"/>
            </a:avLst>
          </a:prstGeom>
          <a:noFill/>
          <a:ln cap="flat" cmpd="sng" w="9525">
            <a:solidFill>
              <a:srgbClr val="B07BC2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7" name="Google Shape;1547;p75"/>
          <p:cNvSpPr/>
          <p:nvPr/>
        </p:nvSpPr>
        <p:spPr>
          <a:xfrm>
            <a:off x="499800" y="980277"/>
            <a:ext cx="2286000" cy="521400"/>
          </a:xfrm>
          <a:prstGeom prst="roundRect">
            <a:avLst>
              <a:gd fmla="val 16667" name="adj"/>
            </a:avLst>
          </a:prstGeom>
          <a:solidFill>
            <a:srgbClr val="9CA3AF">
              <a:alpha val="6960"/>
            </a:srgbClr>
          </a:solidFill>
          <a:ln cap="flat" cmpd="sng" w="12700">
            <a:solidFill>
              <a:srgbClr val="9CA3A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6575" lIns="91425" spcFirstLastPara="1" rIns="73150" wrap="square" tIns="365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800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Opendatasoft API</a:t>
            </a:r>
            <a:endParaRPr b="1" sz="800">
              <a:solidFill>
                <a:srgbClr val="9CA3A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600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events Open Agenda</a:t>
            </a:r>
            <a:endParaRPr b="1" sz="600">
              <a:solidFill>
                <a:srgbClr val="9CA3A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8" name="Google Shape;1548;p75"/>
          <p:cNvSpPr/>
          <p:nvPr/>
        </p:nvSpPr>
        <p:spPr>
          <a:xfrm>
            <a:off x="3429000" y="979502"/>
            <a:ext cx="2286000" cy="521400"/>
          </a:xfrm>
          <a:prstGeom prst="roundRect">
            <a:avLst>
              <a:gd fmla="val 16667" name="adj"/>
            </a:avLst>
          </a:prstGeom>
          <a:solidFill>
            <a:srgbClr val="9CA3AF">
              <a:alpha val="6960"/>
            </a:srgbClr>
          </a:solidFill>
          <a:ln cap="flat" cmpd="sng" w="12700">
            <a:solidFill>
              <a:srgbClr val="9CA3A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6575" lIns="91425" spcFirstLastPara="1" rIns="73150" wrap="square" tIns="365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800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Mistral API (UE)</a:t>
            </a:r>
            <a:endParaRPr b="1" sz="800">
              <a:solidFill>
                <a:srgbClr val="9CA3A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600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embeddings + LLM</a:t>
            </a:r>
            <a:endParaRPr b="1" sz="600">
              <a:solidFill>
                <a:srgbClr val="9CA3A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9" name="Google Shape;1549;p75"/>
          <p:cNvSpPr/>
          <p:nvPr/>
        </p:nvSpPr>
        <p:spPr>
          <a:xfrm>
            <a:off x="576219" y="1831125"/>
            <a:ext cx="1578000" cy="359700"/>
          </a:xfrm>
          <a:prstGeom prst="roundRect">
            <a:avLst>
              <a:gd fmla="val 16667" name="adj"/>
            </a:avLst>
          </a:prstGeom>
          <a:solidFill>
            <a:srgbClr val="923E22">
              <a:alpha val="7999"/>
            </a:srgbClr>
          </a:solidFill>
          <a:ln cap="flat" cmpd="sng" w="9525">
            <a:solidFill>
              <a:srgbClr val="923E2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800">
                <a:solidFill>
                  <a:srgbClr val="923E22"/>
                </a:solidFill>
                <a:latin typeface="Calibri"/>
                <a:ea typeface="Calibri"/>
                <a:cs typeface="Calibri"/>
                <a:sym typeface="Calibri"/>
              </a:rPr>
              <a:t>Kestra</a:t>
            </a:r>
            <a:r>
              <a:rPr lang="fr" sz="600">
                <a:solidFill>
                  <a:srgbClr val="923E22"/>
                </a:solidFill>
                <a:latin typeface="Calibri"/>
                <a:ea typeface="Calibri"/>
                <a:cs typeface="Calibri"/>
                <a:sym typeface="Calibri"/>
              </a:rPr>
              <a:t> - ingestion planifiée</a:t>
            </a:r>
            <a:endParaRPr sz="600">
              <a:solidFill>
                <a:srgbClr val="923E2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 sz="600">
                <a:solidFill>
                  <a:srgbClr val="923E22"/>
                </a:solidFill>
                <a:latin typeface="Calibri"/>
                <a:ea typeface="Calibri"/>
                <a:cs typeface="Calibri"/>
                <a:sym typeface="Calibri"/>
              </a:rPr>
              <a:t>fetch ⇒ clean ⇒ embed ⇒ upsert</a:t>
            </a:r>
            <a:endParaRPr sz="600">
              <a:solidFill>
                <a:srgbClr val="923E2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0" name="Google Shape;1550;p75"/>
          <p:cNvSpPr/>
          <p:nvPr/>
        </p:nvSpPr>
        <p:spPr>
          <a:xfrm>
            <a:off x="562125" y="2350491"/>
            <a:ext cx="1578000" cy="521400"/>
          </a:xfrm>
          <a:prstGeom prst="roundRect">
            <a:avLst>
              <a:gd fmla="val 16667" name="adj"/>
            </a:avLst>
          </a:prstGeom>
          <a:solidFill>
            <a:srgbClr val="0000FF">
              <a:alpha val="14000"/>
            </a:srgbClr>
          </a:solidFill>
          <a:ln cap="flat" cmpd="sng" w="9525">
            <a:solidFill>
              <a:srgbClr val="00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800">
                <a:solidFill>
                  <a:srgbClr val="3C78D8"/>
                </a:solidFill>
                <a:latin typeface="Calibri"/>
                <a:ea typeface="Calibri"/>
                <a:cs typeface="Calibri"/>
                <a:sym typeface="Calibri"/>
              </a:rPr>
              <a:t>Managed PostgreSQL</a:t>
            </a:r>
            <a:endParaRPr b="1" sz="800">
              <a:solidFill>
                <a:srgbClr val="3C78D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66700" lvl="0" marL="457200" rtl="0" algn="l">
              <a:spcBef>
                <a:spcPts val="0"/>
              </a:spcBef>
              <a:spcAft>
                <a:spcPts val="0"/>
              </a:spcAft>
              <a:buClr>
                <a:srgbClr val="3C78D8"/>
              </a:buClr>
              <a:buSzPts val="600"/>
              <a:buFont typeface="Calibri"/>
              <a:buChar char="●"/>
            </a:pPr>
            <a:r>
              <a:rPr lang="fr" sz="600">
                <a:solidFill>
                  <a:srgbClr val="3C78D8"/>
                </a:solidFill>
                <a:latin typeface="Calibri"/>
                <a:ea typeface="Calibri"/>
                <a:cs typeface="Calibri"/>
                <a:sym typeface="Calibri"/>
              </a:rPr>
              <a:t>pgvector (embeddings)</a:t>
            </a:r>
            <a:endParaRPr sz="600">
              <a:solidFill>
                <a:srgbClr val="3C78D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66700" lvl="0" marL="457200" rtl="0" algn="l">
              <a:spcBef>
                <a:spcPts val="0"/>
              </a:spcBef>
              <a:spcAft>
                <a:spcPts val="0"/>
              </a:spcAft>
              <a:buClr>
                <a:srgbClr val="3C78D8"/>
              </a:buClr>
              <a:buSzPts val="600"/>
              <a:buFont typeface="Calibri"/>
              <a:buChar char="●"/>
            </a:pPr>
            <a:r>
              <a:t/>
            </a:r>
            <a:endParaRPr sz="600">
              <a:solidFill>
                <a:srgbClr val="3C78D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66700" lvl="0" marL="457200" rtl="0" algn="l">
              <a:spcBef>
                <a:spcPts val="0"/>
              </a:spcBef>
              <a:spcAft>
                <a:spcPts val="0"/>
              </a:spcAft>
              <a:buClr>
                <a:srgbClr val="3C78D8"/>
              </a:buClr>
              <a:buSzPts val="600"/>
              <a:buFont typeface="Calibri"/>
              <a:buChar char="●"/>
            </a:pPr>
            <a:r>
              <a:rPr lang="fr" sz="600">
                <a:solidFill>
                  <a:srgbClr val="3C78D8"/>
                </a:solidFill>
                <a:latin typeface="Calibri"/>
                <a:ea typeface="Calibri"/>
                <a:cs typeface="Calibri"/>
                <a:sym typeface="Calibri"/>
              </a:rPr>
              <a:t>relationnel + mémoire LT</a:t>
            </a:r>
            <a:endParaRPr sz="600">
              <a:solidFill>
                <a:srgbClr val="3C78D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1" name="Google Shape;1551;p75"/>
          <p:cNvSpPr/>
          <p:nvPr/>
        </p:nvSpPr>
        <p:spPr>
          <a:xfrm>
            <a:off x="562125" y="3030722"/>
            <a:ext cx="1578000" cy="303000"/>
          </a:xfrm>
          <a:prstGeom prst="roundRect">
            <a:avLst>
              <a:gd fmla="val 16667" name="adj"/>
            </a:avLst>
          </a:prstGeom>
          <a:solidFill>
            <a:srgbClr val="0000FF">
              <a:alpha val="7999"/>
            </a:srgbClr>
          </a:solidFill>
          <a:ln cap="flat" cmpd="sng" w="9525">
            <a:solidFill>
              <a:srgbClr val="00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800">
                <a:solidFill>
                  <a:srgbClr val="3C78D8"/>
                </a:solidFill>
                <a:latin typeface="Calibri"/>
                <a:ea typeface="Calibri"/>
                <a:cs typeface="Calibri"/>
                <a:sym typeface="Calibri"/>
              </a:rPr>
              <a:t>Managed Redis</a:t>
            </a:r>
            <a:endParaRPr b="1" sz="800">
              <a:solidFill>
                <a:srgbClr val="3C78D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 sz="600">
                <a:solidFill>
                  <a:srgbClr val="3C78D8"/>
                </a:solidFill>
                <a:latin typeface="Calibri"/>
                <a:ea typeface="Calibri"/>
                <a:cs typeface="Calibri"/>
                <a:sym typeface="Calibri"/>
              </a:rPr>
              <a:t>mémoire court terme / session</a:t>
            </a:r>
            <a:endParaRPr sz="600">
              <a:solidFill>
                <a:srgbClr val="3C78D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2" name="Google Shape;1552;p75"/>
          <p:cNvSpPr/>
          <p:nvPr/>
        </p:nvSpPr>
        <p:spPr>
          <a:xfrm>
            <a:off x="562125" y="3492525"/>
            <a:ext cx="1578000" cy="303000"/>
          </a:xfrm>
          <a:prstGeom prst="roundRect">
            <a:avLst>
              <a:gd fmla="val 16667" name="adj"/>
            </a:avLst>
          </a:prstGeom>
          <a:solidFill>
            <a:srgbClr val="0000FF">
              <a:alpha val="3999"/>
            </a:srgbClr>
          </a:solidFill>
          <a:ln cap="flat" cmpd="sng" w="9525">
            <a:solidFill>
              <a:srgbClr val="00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800">
                <a:solidFill>
                  <a:srgbClr val="3C78D8"/>
                </a:solidFill>
                <a:latin typeface="Calibri"/>
                <a:ea typeface="Calibri"/>
                <a:cs typeface="Calibri"/>
                <a:sym typeface="Calibri"/>
              </a:rPr>
              <a:t>Object storage</a:t>
            </a:r>
            <a:r>
              <a:rPr lang="fr" sz="800">
                <a:solidFill>
                  <a:srgbClr val="3C78D8"/>
                </a:solidFill>
                <a:latin typeface="Calibri"/>
                <a:ea typeface="Calibri"/>
                <a:cs typeface="Calibri"/>
                <a:sym typeface="Calibri"/>
              </a:rPr>
              <a:t> S3</a:t>
            </a:r>
            <a:endParaRPr sz="800">
              <a:solidFill>
                <a:srgbClr val="3C78D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3" name="Google Shape;1553;p75"/>
          <p:cNvSpPr/>
          <p:nvPr/>
        </p:nvSpPr>
        <p:spPr>
          <a:xfrm>
            <a:off x="3234300" y="1858100"/>
            <a:ext cx="2675400" cy="2257800"/>
          </a:xfrm>
          <a:prstGeom prst="roundRect">
            <a:avLst>
              <a:gd fmla="val 16667" name="adj"/>
            </a:avLst>
          </a:prstGeom>
          <a:solidFill>
            <a:srgbClr val="0E9C8A">
              <a:alpha val="7999"/>
            </a:srgbClr>
          </a:solidFill>
          <a:ln cap="flat" cmpd="sng" w="9525">
            <a:solidFill>
              <a:srgbClr val="0E9C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4" name="Google Shape;1554;p75"/>
          <p:cNvSpPr/>
          <p:nvPr/>
        </p:nvSpPr>
        <p:spPr>
          <a:xfrm>
            <a:off x="3431358" y="2172800"/>
            <a:ext cx="2270400" cy="521400"/>
          </a:xfrm>
          <a:prstGeom prst="roundRect">
            <a:avLst>
              <a:gd fmla="val 16667" name="adj"/>
            </a:avLst>
          </a:prstGeom>
          <a:solidFill>
            <a:srgbClr val="0E9C8A">
              <a:alpha val="23999"/>
            </a:srgbClr>
          </a:solidFill>
          <a:ln cap="flat" cmpd="sng" w="9525">
            <a:solidFill>
              <a:srgbClr val="0E9C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800">
                <a:solidFill>
                  <a:srgbClr val="0E9C8A"/>
                </a:solidFill>
                <a:latin typeface="Calibri"/>
                <a:ea typeface="Calibri"/>
                <a:cs typeface="Calibri"/>
                <a:sym typeface="Calibri"/>
              </a:rPr>
              <a:t>Agents smolagents</a:t>
            </a:r>
            <a:endParaRPr b="1" sz="800">
              <a:solidFill>
                <a:srgbClr val="0E9C8A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 sz="600">
                <a:solidFill>
                  <a:srgbClr val="0E9C8A"/>
                </a:solidFill>
                <a:latin typeface="Calibri"/>
                <a:ea typeface="Calibri"/>
                <a:cs typeface="Calibri"/>
                <a:sym typeface="Calibri"/>
              </a:rPr>
              <a:t>(orchestration des outils)</a:t>
            </a:r>
            <a:endParaRPr sz="600">
              <a:solidFill>
                <a:srgbClr val="0E9C8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5" name="Google Shape;1555;p75"/>
          <p:cNvSpPr txBox="1"/>
          <p:nvPr/>
        </p:nvSpPr>
        <p:spPr>
          <a:xfrm>
            <a:off x="3560475" y="1932625"/>
            <a:ext cx="19485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800">
                <a:solidFill>
                  <a:srgbClr val="0E9C8A"/>
                </a:solidFill>
                <a:latin typeface="Calibri"/>
                <a:ea typeface="Calibri"/>
                <a:cs typeface="Calibri"/>
                <a:sym typeface="Calibri"/>
              </a:rPr>
              <a:t>Serverless Containers - API FastAPI (SSE)</a:t>
            </a:r>
            <a:endParaRPr b="1" sz="800">
              <a:solidFill>
                <a:srgbClr val="0E9C8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6" name="Google Shape;1556;p75"/>
          <p:cNvSpPr/>
          <p:nvPr/>
        </p:nvSpPr>
        <p:spPr>
          <a:xfrm>
            <a:off x="4704742" y="3246350"/>
            <a:ext cx="1012500" cy="340800"/>
          </a:xfrm>
          <a:prstGeom prst="roundRect">
            <a:avLst>
              <a:gd fmla="val 16667" name="adj"/>
            </a:avLst>
          </a:prstGeom>
          <a:solidFill>
            <a:srgbClr val="0E9C8A">
              <a:alpha val="15999"/>
            </a:srgbClr>
          </a:solidFill>
          <a:ln cap="flat" cmpd="sng" w="9525">
            <a:solidFill>
              <a:srgbClr val="0E9C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800">
                <a:solidFill>
                  <a:srgbClr val="0E9C8A"/>
                </a:solidFill>
                <a:latin typeface="Calibri"/>
                <a:ea typeface="Calibri"/>
                <a:cs typeface="Calibri"/>
                <a:sym typeface="Calibri"/>
              </a:rPr>
              <a:t>outil mémoire</a:t>
            </a:r>
            <a:endParaRPr b="1" sz="800">
              <a:solidFill>
                <a:srgbClr val="0E9C8A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 sz="600">
                <a:solidFill>
                  <a:srgbClr val="0E9C8A"/>
                </a:solidFill>
                <a:latin typeface="Calibri"/>
                <a:ea typeface="Calibri"/>
                <a:cs typeface="Calibri"/>
                <a:sym typeface="Calibri"/>
              </a:rPr>
              <a:t>(Redis + PG)</a:t>
            </a:r>
            <a:endParaRPr sz="600">
              <a:solidFill>
                <a:srgbClr val="0E9C8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7" name="Google Shape;1557;p75"/>
          <p:cNvSpPr/>
          <p:nvPr/>
        </p:nvSpPr>
        <p:spPr>
          <a:xfrm>
            <a:off x="3426758" y="3246355"/>
            <a:ext cx="1041900" cy="340800"/>
          </a:xfrm>
          <a:prstGeom prst="roundRect">
            <a:avLst>
              <a:gd fmla="val 16667" name="adj"/>
            </a:avLst>
          </a:prstGeom>
          <a:solidFill>
            <a:srgbClr val="0E9C8A">
              <a:alpha val="15999"/>
            </a:srgbClr>
          </a:solidFill>
          <a:ln cap="flat" cmpd="sng" w="9525">
            <a:solidFill>
              <a:srgbClr val="0E9C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fr" sz="800">
                <a:solidFill>
                  <a:srgbClr val="0E9C8A"/>
                </a:solidFill>
                <a:latin typeface="Calibri"/>
                <a:ea typeface="Calibri"/>
                <a:cs typeface="Calibri"/>
                <a:sym typeface="Calibri"/>
              </a:rPr>
              <a:t>outil géo</a:t>
            </a:r>
            <a:endParaRPr b="1" sz="800">
              <a:solidFill>
                <a:srgbClr val="0E9C8A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fr" sz="600">
                <a:solidFill>
                  <a:srgbClr val="0E9C8A"/>
                </a:solidFill>
                <a:latin typeface="Calibri"/>
                <a:ea typeface="Calibri"/>
                <a:cs typeface="Calibri"/>
                <a:sym typeface="Calibri"/>
              </a:rPr>
              <a:t>(PostGIS)</a:t>
            </a:r>
            <a:endParaRPr/>
          </a:p>
        </p:txBody>
      </p:sp>
      <p:sp>
        <p:nvSpPr>
          <p:cNvPr id="1558" name="Google Shape;1558;p75"/>
          <p:cNvSpPr/>
          <p:nvPr/>
        </p:nvSpPr>
        <p:spPr>
          <a:xfrm>
            <a:off x="2967450" y="4523300"/>
            <a:ext cx="3209100" cy="329700"/>
          </a:xfrm>
          <a:prstGeom prst="roundRect">
            <a:avLst>
              <a:gd fmla="val 16667" name="adj"/>
            </a:avLst>
          </a:prstGeom>
          <a:solidFill>
            <a:srgbClr val="F4F4F5"/>
          </a:solidFill>
          <a:ln cap="flat" cmpd="sng" w="9525">
            <a:solidFill>
              <a:srgbClr val="222A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800">
                <a:solidFill>
                  <a:srgbClr val="222A3A"/>
                </a:solidFill>
                <a:latin typeface="Calibri"/>
                <a:ea typeface="Calibri"/>
                <a:cs typeface="Calibri"/>
                <a:sym typeface="Calibri"/>
              </a:rPr>
              <a:t>frontend web / Utilisateurs</a:t>
            </a:r>
            <a:endParaRPr b="1" sz="800">
              <a:solidFill>
                <a:srgbClr val="222A3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9" name="Google Shape;1559;p75"/>
          <p:cNvSpPr txBox="1"/>
          <p:nvPr/>
        </p:nvSpPr>
        <p:spPr>
          <a:xfrm>
            <a:off x="4586100" y="4275550"/>
            <a:ext cx="1090200" cy="20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 sz="600">
                <a:solidFill>
                  <a:srgbClr val="F4F4F5"/>
                </a:solidFill>
                <a:latin typeface="Calibri"/>
                <a:ea typeface="Calibri"/>
                <a:cs typeface="Calibri"/>
                <a:sym typeface="Calibri"/>
              </a:rPr>
              <a:t>question ⇒ / réponse SSE ⇐</a:t>
            </a:r>
            <a:endParaRPr sz="600">
              <a:solidFill>
                <a:srgbClr val="F4F4F5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 sz="600">
                <a:solidFill>
                  <a:srgbClr val="F4F4F5"/>
                </a:solidFill>
                <a:latin typeface="Calibri"/>
                <a:ea typeface="Calibri"/>
                <a:cs typeface="Calibri"/>
                <a:sym typeface="Calibri"/>
              </a:rPr>
              <a:t>(HTTPS/SSE)</a:t>
            </a:r>
            <a:endParaRPr sz="600">
              <a:solidFill>
                <a:srgbClr val="F4F4F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560" name="Google Shape;1560;p75"/>
          <p:cNvCxnSpPr>
            <a:endCxn id="1549" idx="0"/>
          </p:cNvCxnSpPr>
          <p:nvPr/>
        </p:nvCxnSpPr>
        <p:spPr>
          <a:xfrm flipH="1">
            <a:off x="1365219" y="1511925"/>
            <a:ext cx="2100" cy="319200"/>
          </a:xfrm>
          <a:prstGeom prst="straightConnector1">
            <a:avLst/>
          </a:prstGeom>
          <a:noFill/>
          <a:ln cap="flat" cmpd="sng" w="9525">
            <a:solidFill>
              <a:srgbClr val="923E2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561" name="Google Shape;1561;p75"/>
          <p:cNvCxnSpPr>
            <a:stCxn id="1549" idx="3"/>
            <a:endCxn id="1548" idx="1"/>
          </p:cNvCxnSpPr>
          <p:nvPr/>
        </p:nvCxnSpPr>
        <p:spPr>
          <a:xfrm flipH="1" rot="10800000">
            <a:off x="2154219" y="1240275"/>
            <a:ext cx="1274700" cy="770700"/>
          </a:xfrm>
          <a:prstGeom prst="curvedConnector3">
            <a:avLst>
              <a:gd fmla="val 50003" name="adj1"/>
            </a:avLst>
          </a:prstGeom>
          <a:noFill/>
          <a:ln cap="flat" cmpd="sng" w="9525">
            <a:solidFill>
              <a:srgbClr val="923E22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1562" name="Google Shape;1562;p75"/>
          <p:cNvCxnSpPr>
            <a:stCxn id="1549" idx="2"/>
            <a:endCxn id="1550" idx="0"/>
          </p:cNvCxnSpPr>
          <p:nvPr/>
        </p:nvCxnSpPr>
        <p:spPr>
          <a:xfrm flipH="1">
            <a:off x="1351119" y="2190825"/>
            <a:ext cx="14100" cy="159600"/>
          </a:xfrm>
          <a:prstGeom prst="straightConnector1">
            <a:avLst/>
          </a:prstGeom>
          <a:noFill/>
          <a:ln cap="flat" cmpd="sng" w="9525">
            <a:solidFill>
              <a:srgbClr val="923E2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563" name="Google Shape;1563;p75"/>
          <p:cNvCxnSpPr>
            <a:stCxn id="1556" idx="3"/>
            <a:endCxn id="1551" idx="3"/>
          </p:cNvCxnSpPr>
          <p:nvPr/>
        </p:nvCxnSpPr>
        <p:spPr>
          <a:xfrm rot="10800000">
            <a:off x="2140042" y="3182150"/>
            <a:ext cx="3577200" cy="234600"/>
          </a:xfrm>
          <a:prstGeom prst="curvedConnector5">
            <a:avLst>
              <a:gd fmla="val -1538" name="adj1"/>
              <a:gd fmla="val -227526" name="adj2"/>
              <a:gd fmla="val 77179" name="adj3"/>
            </a:avLst>
          </a:prstGeom>
          <a:noFill/>
          <a:ln cap="flat" cmpd="sng" w="9525">
            <a:solidFill>
              <a:srgbClr val="0E9C8A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564" name="Google Shape;1564;p75"/>
          <p:cNvCxnSpPr>
            <a:stCxn id="1549" idx="1"/>
            <a:endCxn id="1552" idx="1"/>
          </p:cNvCxnSpPr>
          <p:nvPr/>
        </p:nvCxnSpPr>
        <p:spPr>
          <a:xfrm flipH="1">
            <a:off x="562119" y="2010975"/>
            <a:ext cx="14100" cy="1633200"/>
          </a:xfrm>
          <a:prstGeom prst="curvedConnector3">
            <a:avLst>
              <a:gd fmla="val 1788788" name="adj1"/>
            </a:avLst>
          </a:prstGeom>
          <a:noFill/>
          <a:ln cap="flat" cmpd="sng" w="9525">
            <a:solidFill>
              <a:srgbClr val="923E2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565" name="Google Shape;1565;p75"/>
          <p:cNvSpPr txBox="1"/>
          <p:nvPr/>
        </p:nvSpPr>
        <p:spPr>
          <a:xfrm>
            <a:off x="21775" y="2444838"/>
            <a:ext cx="399300" cy="12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 sz="600">
                <a:solidFill>
                  <a:srgbClr val="923E22"/>
                </a:solidFill>
                <a:latin typeface="Calibri"/>
                <a:ea typeface="Calibri"/>
                <a:cs typeface="Calibri"/>
                <a:sym typeface="Calibri"/>
              </a:rPr>
              <a:t>dump</a:t>
            </a:r>
            <a:endParaRPr sz="600">
              <a:solidFill>
                <a:srgbClr val="923E2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6" name="Google Shape;1566;p75"/>
          <p:cNvSpPr txBox="1"/>
          <p:nvPr/>
        </p:nvSpPr>
        <p:spPr>
          <a:xfrm>
            <a:off x="1310800" y="2206363"/>
            <a:ext cx="399300" cy="12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 sz="600">
                <a:solidFill>
                  <a:srgbClr val="923E22"/>
                </a:solidFill>
                <a:latin typeface="Calibri"/>
                <a:ea typeface="Calibri"/>
                <a:cs typeface="Calibri"/>
                <a:sym typeface="Calibri"/>
              </a:rPr>
              <a:t>upsert</a:t>
            </a:r>
            <a:endParaRPr sz="600">
              <a:solidFill>
                <a:srgbClr val="923E2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7" name="Google Shape;1567;p75"/>
          <p:cNvSpPr txBox="1"/>
          <p:nvPr/>
        </p:nvSpPr>
        <p:spPr>
          <a:xfrm>
            <a:off x="1290360" y="1518088"/>
            <a:ext cx="582600" cy="12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 sz="600">
                <a:solidFill>
                  <a:srgbClr val="923E22"/>
                </a:solidFill>
                <a:latin typeface="Calibri"/>
                <a:ea typeface="Calibri"/>
                <a:cs typeface="Calibri"/>
                <a:sym typeface="Calibri"/>
              </a:rPr>
              <a:t>événements</a:t>
            </a:r>
            <a:endParaRPr sz="600">
              <a:solidFill>
                <a:srgbClr val="923E2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8" name="Google Shape;1568;p75"/>
          <p:cNvSpPr txBox="1"/>
          <p:nvPr/>
        </p:nvSpPr>
        <p:spPr>
          <a:xfrm>
            <a:off x="2517323" y="1775063"/>
            <a:ext cx="582600" cy="12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 sz="600">
                <a:solidFill>
                  <a:srgbClr val="923E22"/>
                </a:solidFill>
                <a:latin typeface="Calibri"/>
                <a:ea typeface="Calibri"/>
                <a:cs typeface="Calibri"/>
                <a:sym typeface="Calibri"/>
              </a:rPr>
              <a:t>embeddings</a:t>
            </a:r>
            <a:endParaRPr sz="600">
              <a:solidFill>
                <a:srgbClr val="923E2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9" name="Google Shape;1569;p75"/>
          <p:cNvSpPr txBox="1"/>
          <p:nvPr/>
        </p:nvSpPr>
        <p:spPr>
          <a:xfrm>
            <a:off x="283150" y="3953488"/>
            <a:ext cx="2454600" cy="23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1000">
                <a:solidFill>
                  <a:srgbClr val="B07BC2"/>
                </a:solidFill>
                <a:latin typeface="Calibri"/>
                <a:ea typeface="Calibri"/>
                <a:cs typeface="Calibri"/>
                <a:sym typeface="Calibri"/>
              </a:rPr>
              <a:t>SCALEWAY</a:t>
            </a:r>
            <a:r>
              <a:rPr lang="fr" sz="800">
                <a:solidFill>
                  <a:srgbClr val="B07BC2"/>
                </a:solidFill>
                <a:latin typeface="Calibri"/>
                <a:ea typeface="Calibri"/>
                <a:cs typeface="Calibri"/>
                <a:sym typeface="Calibri"/>
              </a:rPr>
              <a:t> - cloud souverain (UE, hors CLOUD Act) </a:t>
            </a:r>
            <a:endParaRPr sz="800">
              <a:solidFill>
                <a:srgbClr val="B07BC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0" name="Google Shape;1570;p75"/>
          <p:cNvSpPr/>
          <p:nvPr/>
        </p:nvSpPr>
        <p:spPr>
          <a:xfrm>
            <a:off x="7068700" y="4409050"/>
            <a:ext cx="144600" cy="72900"/>
          </a:xfrm>
          <a:prstGeom prst="roundRect">
            <a:avLst>
              <a:gd fmla="val 16667" name="adj"/>
            </a:avLst>
          </a:prstGeom>
          <a:solidFill>
            <a:srgbClr val="9CA3AF">
              <a:alpha val="6960"/>
            </a:srgbClr>
          </a:solidFill>
          <a:ln cap="flat" cmpd="sng" w="9525">
            <a:solidFill>
              <a:srgbClr val="9CA3A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1" name="Google Shape;1571;p75"/>
          <p:cNvSpPr/>
          <p:nvPr/>
        </p:nvSpPr>
        <p:spPr>
          <a:xfrm>
            <a:off x="7068700" y="4550067"/>
            <a:ext cx="144600" cy="72900"/>
          </a:xfrm>
          <a:prstGeom prst="roundRect">
            <a:avLst>
              <a:gd fmla="val 16667" name="adj"/>
            </a:avLst>
          </a:prstGeom>
          <a:solidFill>
            <a:srgbClr val="923E22">
              <a:alpha val="7999"/>
            </a:srgbClr>
          </a:solidFill>
          <a:ln cap="flat" cmpd="sng" w="9525">
            <a:solidFill>
              <a:srgbClr val="923E2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2" name="Google Shape;1572;p75"/>
          <p:cNvSpPr/>
          <p:nvPr/>
        </p:nvSpPr>
        <p:spPr>
          <a:xfrm>
            <a:off x="7068700" y="4962200"/>
            <a:ext cx="144600" cy="72900"/>
          </a:xfrm>
          <a:prstGeom prst="roundRect">
            <a:avLst>
              <a:gd fmla="val 16667" name="adj"/>
            </a:avLst>
          </a:prstGeom>
          <a:solidFill>
            <a:srgbClr val="674EA7">
              <a:alpha val="7999"/>
            </a:srgbClr>
          </a:solidFill>
          <a:ln cap="flat" cmpd="sng" w="9525">
            <a:solidFill>
              <a:srgbClr val="674EA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3" name="Google Shape;1573;p75"/>
          <p:cNvSpPr/>
          <p:nvPr/>
        </p:nvSpPr>
        <p:spPr>
          <a:xfrm>
            <a:off x="7068700" y="4691085"/>
            <a:ext cx="144600" cy="72900"/>
          </a:xfrm>
          <a:prstGeom prst="roundRect">
            <a:avLst>
              <a:gd fmla="val 16667" name="adj"/>
            </a:avLst>
          </a:prstGeom>
          <a:solidFill>
            <a:srgbClr val="0000FF">
              <a:alpha val="14000"/>
            </a:srgbClr>
          </a:solidFill>
          <a:ln cap="flat" cmpd="sng" w="9525">
            <a:solidFill>
              <a:srgbClr val="00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4" name="Google Shape;1574;p75"/>
          <p:cNvSpPr/>
          <p:nvPr/>
        </p:nvSpPr>
        <p:spPr>
          <a:xfrm>
            <a:off x="7068700" y="4825177"/>
            <a:ext cx="144600" cy="72900"/>
          </a:xfrm>
          <a:prstGeom prst="roundRect">
            <a:avLst>
              <a:gd fmla="val 16667" name="adj"/>
            </a:avLst>
          </a:prstGeom>
          <a:solidFill>
            <a:srgbClr val="0E9C8A">
              <a:alpha val="15999"/>
            </a:srgbClr>
          </a:solidFill>
          <a:ln cap="flat" cmpd="sng" w="9525">
            <a:solidFill>
              <a:srgbClr val="0E9C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575" name="Google Shape;1575;p75"/>
          <p:cNvCxnSpPr>
            <a:endCxn id="1553" idx="2"/>
          </p:cNvCxnSpPr>
          <p:nvPr/>
        </p:nvCxnSpPr>
        <p:spPr>
          <a:xfrm rot="10800000">
            <a:off x="4572000" y="4115900"/>
            <a:ext cx="14100" cy="410100"/>
          </a:xfrm>
          <a:prstGeom prst="straightConnector1">
            <a:avLst/>
          </a:prstGeom>
          <a:noFill/>
          <a:ln cap="flat" cmpd="sng" w="9525">
            <a:solidFill>
              <a:srgbClr val="F4F4F5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576" name="Google Shape;1576;p75"/>
          <p:cNvCxnSpPr>
            <a:stCxn id="1556" idx="2"/>
            <a:endCxn id="1550" idx="3"/>
          </p:cNvCxnSpPr>
          <p:nvPr/>
        </p:nvCxnSpPr>
        <p:spPr>
          <a:xfrm flipH="1" rot="5400000">
            <a:off x="3187642" y="1563800"/>
            <a:ext cx="975900" cy="3070800"/>
          </a:xfrm>
          <a:prstGeom prst="curvedConnector4">
            <a:avLst>
              <a:gd fmla="val -24401" name="adj1"/>
              <a:gd fmla="val 77150" name="adj2"/>
            </a:avLst>
          </a:prstGeom>
          <a:noFill/>
          <a:ln cap="flat" cmpd="sng" w="9525">
            <a:solidFill>
              <a:srgbClr val="0E9C8A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577" name="Google Shape;1577;p75"/>
          <p:cNvSpPr txBox="1"/>
          <p:nvPr/>
        </p:nvSpPr>
        <p:spPr>
          <a:xfrm>
            <a:off x="3979391" y="3716668"/>
            <a:ext cx="582600" cy="12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 sz="600">
                <a:solidFill>
                  <a:srgbClr val="0E9C8A"/>
                </a:solidFill>
                <a:latin typeface="Calibri"/>
                <a:ea typeface="Calibri"/>
                <a:cs typeface="Calibri"/>
                <a:sym typeface="Calibri"/>
              </a:rPr>
              <a:t>mémoire LT</a:t>
            </a:r>
            <a:endParaRPr sz="600">
              <a:solidFill>
                <a:srgbClr val="0E9C8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8" name="Google Shape;1578;p75"/>
          <p:cNvSpPr txBox="1"/>
          <p:nvPr/>
        </p:nvSpPr>
        <p:spPr>
          <a:xfrm>
            <a:off x="4008429" y="3932876"/>
            <a:ext cx="569700" cy="12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 sz="600">
                <a:solidFill>
                  <a:srgbClr val="0E9C8A"/>
                </a:solidFill>
                <a:latin typeface="Calibri"/>
                <a:ea typeface="Calibri"/>
                <a:cs typeface="Calibri"/>
                <a:sym typeface="Calibri"/>
              </a:rPr>
              <a:t>mémoire CT</a:t>
            </a:r>
            <a:endParaRPr sz="600">
              <a:solidFill>
                <a:srgbClr val="0E9C8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9" name="Google Shape;1579;p75"/>
          <p:cNvSpPr txBox="1"/>
          <p:nvPr/>
        </p:nvSpPr>
        <p:spPr>
          <a:xfrm>
            <a:off x="7232825" y="4367250"/>
            <a:ext cx="1755600" cy="68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600">
                <a:solidFill>
                  <a:srgbClr val="8A93A6"/>
                </a:solidFill>
                <a:latin typeface="Calibri"/>
                <a:ea typeface="Calibri"/>
                <a:cs typeface="Calibri"/>
                <a:sym typeface="Calibri"/>
              </a:rPr>
              <a:t>Sources externes</a:t>
            </a:r>
            <a:endParaRPr sz="600">
              <a:solidFill>
                <a:srgbClr val="8A93A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600">
                <a:solidFill>
                  <a:srgbClr val="8A93A6"/>
                </a:solidFill>
                <a:latin typeface="Calibri"/>
                <a:ea typeface="Calibri"/>
                <a:cs typeface="Calibri"/>
                <a:sym typeface="Calibri"/>
              </a:rPr>
              <a:t>Ingestion (Kestra)</a:t>
            </a:r>
            <a:endParaRPr sz="600">
              <a:solidFill>
                <a:srgbClr val="8A93A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600">
                <a:solidFill>
                  <a:srgbClr val="8A93A6"/>
                </a:solidFill>
                <a:latin typeface="Calibri"/>
                <a:ea typeface="Calibri"/>
                <a:cs typeface="Calibri"/>
                <a:sym typeface="Calibri"/>
              </a:rPr>
              <a:t>Stockage (PostgreSQL / Redis / Object storage)</a:t>
            </a:r>
            <a:endParaRPr sz="600">
              <a:solidFill>
                <a:srgbClr val="8A93A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600">
                <a:solidFill>
                  <a:srgbClr val="8A93A6"/>
                </a:solidFill>
                <a:latin typeface="Calibri"/>
                <a:ea typeface="Calibri"/>
                <a:cs typeface="Calibri"/>
                <a:sym typeface="Calibri"/>
              </a:rPr>
              <a:t>Applications (API + agent)</a:t>
            </a:r>
            <a:endParaRPr sz="600">
              <a:solidFill>
                <a:srgbClr val="8A93A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600">
                <a:solidFill>
                  <a:srgbClr val="8A93A6"/>
                </a:solidFill>
                <a:latin typeface="Calibri"/>
                <a:ea typeface="Calibri"/>
                <a:cs typeface="Calibri"/>
                <a:sym typeface="Calibri"/>
              </a:rPr>
              <a:t>Observabilité</a:t>
            </a:r>
            <a:endParaRPr sz="600">
              <a:solidFill>
                <a:srgbClr val="8A93A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0" name="Google Shape;1580;p75"/>
          <p:cNvSpPr txBox="1"/>
          <p:nvPr/>
        </p:nvSpPr>
        <p:spPr>
          <a:xfrm>
            <a:off x="377200" y="233175"/>
            <a:ext cx="2286900" cy="45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9050" lIns="0" spcFirstLastPara="1" rIns="0" wrap="square" tIns="190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1800">
                <a:solidFill>
                  <a:srgbClr val="0E9C8A"/>
                </a:solidFill>
                <a:latin typeface="Calibri"/>
                <a:ea typeface="Calibri"/>
                <a:cs typeface="Calibri"/>
                <a:sym typeface="Calibri"/>
              </a:rPr>
              <a:t>L’architecture du MVP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5" name="Shape 15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6" name="Google Shape;1586;p76"/>
          <p:cNvSpPr txBox="1"/>
          <p:nvPr/>
        </p:nvSpPr>
        <p:spPr>
          <a:xfrm>
            <a:off x="377200" y="675550"/>
            <a:ext cx="26754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9050" lIns="0" spcFirstLastPara="1" rIns="0" wrap="square" tIns="190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1100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Architecture MVP - chatbot RAG Puls-EVents</a:t>
            </a:r>
            <a:endParaRPr b="1" sz="1100">
              <a:solidFill>
                <a:srgbClr val="9CA3A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7" name="Google Shape;1587;p76"/>
          <p:cNvSpPr txBox="1"/>
          <p:nvPr/>
        </p:nvSpPr>
        <p:spPr>
          <a:xfrm>
            <a:off x="377200" y="4945850"/>
            <a:ext cx="999000" cy="166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700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MVP RAG Puls-Events</a:t>
            </a:r>
            <a:endParaRPr sz="700">
              <a:solidFill>
                <a:srgbClr val="9CA3A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8" name="Google Shape;1588;p76"/>
          <p:cNvSpPr/>
          <p:nvPr/>
        </p:nvSpPr>
        <p:spPr>
          <a:xfrm>
            <a:off x="64125" y="1631700"/>
            <a:ext cx="8941200" cy="2605500"/>
          </a:xfrm>
          <a:prstGeom prst="roundRect">
            <a:avLst>
              <a:gd fmla="val 6000" name="adj"/>
            </a:avLst>
          </a:prstGeom>
          <a:noFill/>
          <a:ln cap="flat" cmpd="sng" w="9525">
            <a:solidFill>
              <a:srgbClr val="B07BC2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9" name="Google Shape;1589;p76"/>
          <p:cNvSpPr/>
          <p:nvPr/>
        </p:nvSpPr>
        <p:spPr>
          <a:xfrm>
            <a:off x="499800" y="980277"/>
            <a:ext cx="2286000" cy="521400"/>
          </a:xfrm>
          <a:prstGeom prst="roundRect">
            <a:avLst>
              <a:gd fmla="val 16667" name="adj"/>
            </a:avLst>
          </a:prstGeom>
          <a:solidFill>
            <a:srgbClr val="9CA3AF">
              <a:alpha val="6960"/>
            </a:srgbClr>
          </a:solidFill>
          <a:ln cap="flat" cmpd="sng" w="12700">
            <a:solidFill>
              <a:srgbClr val="9CA3A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6575" lIns="91425" spcFirstLastPara="1" rIns="73150" wrap="square" tIns="365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800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Opendatasoft API</a:t>
            </a:r>
            <a:endParaRPr b="1" sz="800">
              <a:solidFill>
                <a:srgbClr val="9CA3A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600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events Open Agenda</a:t>
            </a:r>
            <a:endParaRPr b="1" sz="600">
              <a:solidFill>
                <a:srgbClr val="9CA3A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0" name="Google Shape;1590;p76"/>
          <p:cNvSpPr/>
          <p:nvPr/>
        </p:nvSpPr>
        <p:spPr>
          <a:xfrm>
            <a:off x="3429000" y="979502"/>
            <a:ext cx="2286000" cy="521400"/>
          </a:xfrm>
          <a:prstGeom prst="roundRect">
            <a:avLst>
              <a:gd fmla="val 16667" name="adj"/>
            </a:avLst>
          </a:prstGeom>
          <a:solidFill>
            <a:srgbClr val="9CA3AF">
              <a:alpha val="6960"/>
            </a:srgbClr>
          </a:solidFill>
          <a:ln cap="flat" cmpd="sng" w="12700">
            <a:solidFill>
              <a:srgbClr val="9CA3A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6575" lIns="91425" spcFirstLastPara="1" rIns="73150" wrap="square" tIns="365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800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Mistral API (UE)</a:t>
            </a:r>
            <a:endParaRPr b="1" sz="800">
              <a:solidFill>
                <a:srgbClr val="9CA3A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600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embeddings + LLM</a:t>
            </a:r>
            <a:endParaRPr b="1" sz="600">
              <a:solidFill>
                <a:srgbClr val="9CA3A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1" name="Google Shape;1591;p76"/>
          <p:cNvSpPr/>
          <p:nvPr/>
        </p:nvSpPr>
        <p:spPr>
          <a:xfrm>
            <a:off x="576219" y="1831125"/>
            <a:ext cx="1578000" cy="359700"/>
          </a:xfrm>
          <a:prstGeom prst="roundRect">
            <a:avLst>
              <a:gd fmla="val 16667" name="adj"/>
            </a:avLst>
          </a:prstGeom>
          <a:solidFill>
            <a:srgbClr val="923E22">
              <a:alpha val="7999"/>
            </a:srgbClr>
          </a:solidFill>
          <a:ln cap="flat" cmpd="sng" w="9525">
            <a:solidFill>
              <a:srgbClr val="923E2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800">
                <a:solidFill>
                  <a:srgbClr val="923E22"/>
                </a:solidFill>
                <a:latin typeface="Calibri"/>
                <a:ea typeface="Calibri"/>
                <a:cs typeface="Calibri"/>
                <a:sym typeface="Calibri"/>
              </a:rPr>
              <a:t>Kestra</a:t>
            </a:r>
            <a:r>
              <a:rPr lang="fr" sz="600">
                <a:solidFill>
                  <a:srgbClr val="923E22"/>
                </a:solidFill>
                <a:latin typeface="Calibri"/>
                <a:ea typeface="Calibri"/>
                <a:cs typeface="Calibri"/>
                <a:sym typeface="Calibri"/>
              </a:rPr>
              <a:t> - ingestion planifiée</a:t>
            </a:r>
            <a:endParaRPr sz="600">
              <a:solidFill>
                <a:srgbClr val="923E2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 sz="600">
                <a:solidFill>
                  <a:srgbClr val="923E22"/>
                </a:solidFill>
                <a:latin typeface="Calibri"/>
                <a:ea typeface="Calibri"/>
                <a:cs typeface="Calibri"/>
                <a:sym typeface="Calibri"/>
              </a:rPr>
              <a:t>fetch ⇒ clean ⇒ embed ⇒ upsert</a:t>
            </a:r>
            <a:endParaRPr sz="600">
              <a:solidFill>
                <a:srgbClr val="923E2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2" name="Google Shape;1592;p76"/>
          <p:cNvSpPr/>
          <p:nvPr/>
        </p:nvSpPr>
        <p:spPr>
          <a:xfrm>
            <a:off x="562125" y="2350491"/>
            <a:ext cx="1578000" cy="521400"/>
          </a:xfrm>
          <a:prstGeom prst="roundRect">
            <a:avLst>
              <a:gd fmla="val 16667" name="adj"/>
            </a:avLst>
          </a:prstGeom>
          <a:solidFill>
            <a:srgbClr val="0000FF">
              <a:alpha val="14000"/>
            </a:srgbClr>
          </a:solidFill>
          <a:ln cap="flat" cmpd="sng" w="9525">
            <a:solidFill>
              <a:srgbClr val="00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800">
                <a:solidFill>
                  <a:srgbClr val="3C78D8"/>
                </a:solidFill>
                <a:latin typeface="Calibri"/>
                <a:ea typeface="Calibri"/>
                <a:cs typeface="Calibri"/>
                <a:sym typeface="Calibri"/>
              </a:rPr>
              <a:t>Managed PostgreSQL</a:t>
            </a:r>
            <a:endParaRPr b="1" sz="800">
              <a:solidFill>
                <a:srgbClr val="3C78D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66700" lvl="0" marL="457200" rtl="0" algn="l">
              <a:spcBef>
                <a:spcPts val="0"/>
              </a:spcBef>
              <a:spcAft>
                <a:spcPts val="0"/>
              </a:spcAft>
              <a:buClr>
                <a:srgbClr val="3C78D8"/>
              </a:buClr>
              <a:buSzPts val="600"/>
              <a:buFont typeface="Calibri"/>
              <a:buChar char="●"/>
            </a:pPr>
            <a:r>
              <a:rPr lang="fr" sz="600">
                <a:solidFill>
                  <a:srgbClr val="3C78D8"/>
                </a:solidFill>
                <a:latin typeface="Calibri"/>
                <a:ea typeface="Calibri"/>
                <a:cs typeface="Calibri"/>
                <a:sym typeface="Calibri"/>
              </a:rPr>
              <a:t>pgvector (embeddings)</a:t>
            </a:r>
            <a:endParaRPr sz="600">
              <a:solidFill>
                <a:srgbClr val="3C78D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66700" lvl="0" marL="457200" rtl="0" algn="l">
              <a:spcBef>
                <a:spcPts val="0"/>
              </a:spcBef>
              <a:spcAft>
                <a:spcPts val="0"/>
              </a:spcAft>
              <a:buClr>
                <a:srgbClr val="3C78D8"/>
              </a:buClr>
              <a:buSzPts val="600"/>
              <a:buFont typeface="Calibri"/>
              <a:buChar char="●"/>
            </a:pPr>
            <a:r>
              <a:rPr lang="fr" sz="600">
                <a:solidFill>
                  <a:srgbClr val="3C78D8"/>
                </a:solidFill>
                <a:latin typeface="Calibri"/>
                <a:ea typeface="Calibri"/>
                <a:cs typeface="Calibri"/>
                <a:sym typeface="Calibri"/>
              </a:rPr>
              <a:t>PostGIS (géo)</a:t>
            </a:r>
            <a:endParaRPr sz="600">
              <a:solidFill>
                <a:srgbClr val="3C78D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66700" lvl="0" marL="457200" rtl="0" algn="l">
              <a:spcBef>
                <a:spcPts val="0"/>
              </a:spcBef>
              <a:spcAft>
                <a:spcPts val="0"/>
              </a:spcAft>
              <a:buClr>
                <a:srgbClr val="3C78D8"/>
              </a:buClr>
              <a:buSzPts val="600"/>
              <a:buFont typeface="Calibri"/>
              <a:buChar char="●"/>
            </a:pPr>
            <a:r>
              <a:rPr lang="fr" sz="600">
                <a:solidFill>
                  <a:srgbClr val="3C78D8"/>
                </a:solidFill>
                <a:latin typeface="Calibri"/>
                <a:ea typeface="Calibri"/>
                <a:cs typeface="Calibri"/>
                <a:sym typeface="Calibri"/>
              </a:rPr>
              <a:t>relationnel + mémoire LT</a:t>
            </a:r>
            <a:endParaRPr sz="600">
              <a:solidFill>
                <a:srgbClr val="3C78D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3" name="Google Shape;1593;p76"/>
          <p:cNvSpPr/>
          <p:nvPr/>
        </p:nvSpPr>
        <p:spPr>
          <a:xfrm>
            <a:off x="562125" y="3030722"/>
            <a:ext cx="1578000" cy="303000"/>
          </a:xfrm>
          <a:prstGeom prst="roundRect">
            <a:avLst>
              <a:gd fmla="val 16667" name="adj"/>
            </a:avLst>
          </a:prstGeom>
          <a:solidFill>
            <a:srgbClr val="0000FF">
              <a:alpha val="7999"/>
            </a:srgbClr>
          </a:solidFill>
          <a:ln cap="flat" cmpd="sng" w="9525">
            <a:solidFill>
              <a:srgbClr val="00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800">
                <a:solidFill>
                  <a:srgbClr val="3C78D8"/>
                </a:solidFill>
                <a:latin typeface="Calibri"/>
                <a:ea typeface="Calibri"/>
                <a:cs typeface="Calibri"/>
                <a:sym typeface="Calibri"/>
              </a:rPr>
              <a:t>Managed Redis</a:t>
            </a:r>
            <a:endParaRPr b="1" sz="800">
              <a:solidFill>
                <a:srgbClr val="3C78D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 sz="600">
                <a:solidFill>
                  <a:srgbClr val="3C78D8"/>
                </a:solidFill>
                <a:latin typeface="Calibri"/>
                <a:ea typeface="Calibri"/>
                <a:cs typeface="Calibri"/>
                <a:sym typeface="Calibri"/>
              </a:rPr>
              <a:t>mémoire court terme / session</a:t>
            </a:r>
            <a:endParaRPr sz="600">
              <a:solidFill>
                <a:srgbClr val="3C78D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4" name="Google Shape;1594;p76"/>
          <p:cNvSpPr/>
          <p:nvPr/>
        </p:nvSpPr>
        <p:spPr>
          <a:xfrm>
            <a:off x="562125" y="3492525"/>
            <a:ext cx="1578000" cy="303000"/>
          </a:xfrm>
          <a:prstGeom prst="roundRect">
            <a:avLst>
              <a:gd fmla="val 16667" name="adj"/>
            </a:avLst>
          </a:prstGeom>
          <a:solidFill>
            <a:srgbClr val="0000FF">
              <a:alpha val="3999"/>
            </a:srgbClr>
          </a:solidFill>
          <a:ln cap="flat" cmpd="sng" w="9525">
            <a:solidFill>
              <a:srgbClr val="00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800">
                <a:solidFill>
                  <a:srgbClr val="3C78D8"/>
                </a:solidFill>
                <a:latin typeface="Calibri"/>
                <a:ea typeface="Calibri"/>
                <a:cs typeface="Calibri"/>
                <a:sym typeface="Calibri"/>
              </a:rPr>
              <a:t>Object storage</a:t>
            </a:r>
            <a:r>
              <a:rPr lang="fr" sz="800">
                <a:solidFill>
                  <a:srgbClr val="3C78D8"/>
                </a:solidFill>
                <a:latin typeface="Calibri"/>
                <a:ea typeface="Calibri"/>
                <a:cs typeface="Calibri"/>
                <a:sym typeface="Calibri"/>
              </a:rPr>
              <a:t> S3</a:t>
            </a:r>
            <a:endParaRPr sz="800">
              <a:solidFill>
                <a:srgbClr val="3C78D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5" name="Google Shape;1595;p76"/>
          <p:cNvSpPr/>
          <p:nvPr/>
        </p:nvSpPr>
        <p:spPr>
          <a:xfrm>
            <a:off x="3234300" y="1858100"/>
            <a:ext cx="2675400" cy="2257800"/>
          </a:xfrm>
          <a:prstGeom prst="roundRect">
            <a:avLst>
              <a:gd fmla="val 16667" name="adj"/>
            </a:avLst>
          </a:prstGeom>
          <a:solidFill>
            <a:srgbClr val="0E9C8A">
              <a:alpha val="7999"/>
            </a:srgbClr>
          </a:solidFill>
          <a:ln cap="flat" cmpd="sng" w="9525">
            <a:solidFill>
              <a:srgbClr val="0E9C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6" name="Google Shape;1596;p76"/>
          <p:cNvSpPr/>
          <p:nvPr/>
        </p:nvSpPr>
        <p:spPr>
          <a:xfrm>
            <a:off x="3431358" y="2172800"/>
            <a:ext cx="2270400" cy="521400"/>
          </a:xfrm>
          <a:prstGeom prst="roundRect">
            <a:avLst>
              <a:gd fmla="val 16667" name="adj"/>
            </a:avLst>
          </a:prstGeom>
          <a:solidFill>
            <a:srgbClr val="0E9C8A">
              <a:alpha val="23999"/>
            </a:srgbClr>
          </a:solidFill>
          <a:ln cap="flat" cmpd="sng" w="9525">
            <a:solidFill>
              <a:srgbClr val="0E9C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800">
                <a:solidFill>
                  <a:srgbClr val="0E9C8A"/>
                </a:solidFill>
                <a:latin typeface="Calibri"/>
                <a:ea typeface="Calibri"/>
                <a:cs typeface="Calibri"/>
                <a:sym typeface="Calibri"/>
              </a:rPr>
              <a:t>Agents smolagents</a:t>
            </a:r>
            <a:endParaRPr b="1" sz="800">
              <a:solidFill>
                <a:srgbClr val="0E9C8A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 sz="600">
                <a:solidFill>
                  <a:srgbClr val="0E9C8A"/>
                </a:solidFill>
                <a:latin typeface="Calibri"/>
                <a:ea typeface="Calibri"/>
                <a:cs typeface="Calibri"/>
                <a:sym typeface="Calibri"/>
              </a:rPr>
              <a:t>(orchestration des outils)</a:t>
            </a:r>
            <a:endParaRPr sz="600">
              <a:solidFill>
                <a:srgbClr val="0E9C8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7" name="Google Shape;1597;p76"/>
          <p:cNvSpPr txBox="1"/>
          <p:nvPr/>
        </p:nvSpPr>
        <p:spPr>
          <a:xfrm>
            <a:off x="3560475" y="1932625"/>
            <a:ext cx="19485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800">
                <a:solidFill>
                  <a:srgbClr val="0E9C8A"/>
                </a:solidFill>
                <a:latin typeface="Calibri"/>
                <a:ea typeface="Calibri"/>
                <a:cs typeface="Calibri"/>
                <a:sym typeface="Calibri"/>
              </a:rPr>
              <a:t>Serverless Containers - API FastAPI (SSE)</a:t>
            </a:r>
            <a:endParaRPr b="1" sz="800">
              <a:solidFill>
                <a:srgbClr val="0E9C8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8" name="Google Shape;1598;p76"/>
          <p:cNvSpPr/>
          <p:nvPr/>
        </p:nvSpPr>
        <p:spPr>
          <a:xfrm>
            <a:off x="4704742" y="3246350"/>
            <a:ext cx="1012500" cy="340800"/>
          </a:xfrm>
          <a:prstGeom prst="roundRect">
            <a:avLst>
              <a:gd fmla="val 16667" name="adj"/>
            </a:avLst>
          </a:prstGeom>
          <a:solidFill>
            <a:srgbClr val="0E9C8A">
              <a:alpha val="15999"/>
            </a:srgbClr>
          </a:solidFill>
          <a:ln cap="flat" cmpd="sng" w="9525">
            <a:solidFill>
              <a:srgbClr val="0E9C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800">
                <a:solidFill>
                  <a:srgbClr val="0E9C8A"/>
                </a:solidFill>
                <a:latin typeface="Calibri"/>
                <a:ea typeface="Calibri"/>
                <a:cs typeface="Calibri"/>
                <a:sym typeface="Calibri"/>
              </a:rPr>
              <a:t>outil mémoire</a:t>
            </a:r>
            <a:endParaRPr b="1" sz="800">
              <a:solidFill>
                <a:srgbClr val="0E9C8A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 sz="600">
                <a:solidFill>
                  <a:srgbClr val="0E9C8A"/>
                </a:solidFill>
                <a:latin typeface="Calibri"/>
                <a:ea typeface="Calibri"/>
                <a:cs typeface="Calibri"/>
                <a:sym typeface="Calibri"/>
              </a:rPr>
              <a:t>(Redis + PG)</a:t>
            </a:r>
            <a:endParaRPr sz="600">
              <a:solidFill>
                <a:srgbClr val="0E9C8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9" name="Google Shape;1599;p76"/>
          <p:cNvSpPr/>
          <p:nvPr/>
        </p:nvSpPr>
        <p:spPr>
          <a:xfrm>
            <a:off x="3426758" y="3246355"/>
            <a:ext cx="1041900" cy="340800"/>
          </a:xfrm>
          <a:prstGeom prst="roundRect">
            <a:avLst>
              <a:gd fmla="val 16667" name="adj"/>
            </a:avLst>
          </a:prstGeom>
          <a:solidFill>
            <a:srgbClr val="0E9C8A">
              <a:alpha val="15999"/>
            </a:srgbClr>
          </a:solidFill>
          <a:ln cap="flat" cmpd="sng" w="9525">
            <a:solidFill>
              <a:srgbClr val="0E9C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fr" sz="800">
                <a:solidFill>
                  <a:srgbClr val="0E9C8A"/>
                </a:solidFill>
                <a:latin typeface="Calibri"/>
                <a:ea typeface="Calibri"/>
                <a:cs typeface="Calibri"/>
                <a:sym typeface="Calibri"/>
              </a:rPr>
              <a:t>outil géo</a:t>
            </a:r>
            <a:endParaRPr b="1" sz="800">
              <a:solidFill>
                <a:srgbClr val="0E9C8A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fr" sz="600">
                <a:solidFill>
                  <a:srgbClr val="0E9C8A"/>
                </a:solidFill>
                <a:latin typeface="Calibri"/>
                <a:ea typeface="Calibri"/>
                <a:cs typeface="Calibri"/>
                <a:sym typeface="Calibri"/>
              </a:rPr>
              <a:t>(PostGIS)</a:t>
            </a:r>
            <a:endParaRPr/>
          </a:p>
        </p:txBody>
      </p:sp>
      <p:sp>
        <p:nvSpPr>
          <p:cNvPr id="1600" name="Google Shape;1600;p76"/>
          <p:cNvSpPr/>
          <p:nvPr/>
        </p:nvSpPr>
        <p:spPr>
          <a:xfrm>
            <a:off x="2967450" y="4523300"/>
            <a:ext cx="3209100" cy="329700"/>
          </a:xfrm>
          <a:prstGeom prst="roundRect">
            <a:avLst>
              <a:gd fmla="val 16667" name="adj"/>
            </a:avLst>
          </a:prstGeom>
          <a:solidFill>
            <a:srgbClr val="F4F4F5"/>
          </a:solidFill>
          <a:ln cap="flat" cmpd="sng" w="9525">
            <a:solidFill>
              <a:srgbClr val="222A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800">
                <a:solidFill>
                  <a:srgbClr val="222A3A"/>
                </a:solidFill>
                <a:latin typeface="Calibri"/>
                <a:ea typeface="Calibri"/>
                <a:cs typeface="Calibri"/>
                <a:sym typeface="Calibri"/>
              </a:rPr>
              <a:t>frontend web / Utilisateurs</a:t>
            </a:r>
            <a:endParaRPr b="1" sz="800">
              <a:solidFill>
                <a:srgbClr val="222A3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1" name="Google Shape;1601;p76"/>
          <p:cNvSpPr txBox="1"/>
          <p:nvPr/>
        </p:nvSpPr>
        <p:spPr>
          <a:xfrm>
            <a:off x="4586100" y="4275550"/>
            <a:ext cx="1090200" cy="20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 sz="600">
                <a:solidFill>
                  <a:srgbClr val="F4F4F5"/>
                </a:solidFill>
                <a:latin typeface="Calibri"/>
                <a:ea typeface="Calibri"/>
                <a:cs typeface="Calibri"/>
                <a:sym typeface="Calibri"/>
              </a:rPr>
              <a:t>question ⇒ / réponse SSE ⇐</a:t>
            </a:r>
            <a:endParaRPr sz="600">
              <a:solidFill>
                <a:srgbClr val="F4F4F5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 sz="600">
                <a:solidFill>
                  <a:srgbClr val="F4F4F5"/>
                </a:solidFill>
                <a:latin typeface="Calibri"/>
                <a:ea typeface="Calibri"/>
                <a:cs typeface="Calibri"/>
                <a:sym typeface="Calibri"/>
              </a:rPr>
              <a:t>(HTTPS/SSE)</a:t>
            </a:r>
            <a:endParaRPr sz="600">
              <a:solidFill>
                <a:srgbClr val="F4F4F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602" name="Google Shape;1602;p76"/>
          <p:cNvCxnSpPr>
            <a:endCxn id="1591" idx="0"/>
          </p:cNvCxnSpPr>
          <p:nvPr/>
        </p:nvCxnSpPr>
        <p:spPr>
          <a:xfrm flipH="1">
            <a:off x="1365219" y="1511925"/>
            <a:ext cx="2100" cy="319200"/>
          </a:xfrm>
          <a:prstGeom prst="straightConnector1">
            <a:avLst/>
          </a:prstGeom>
          <a:noFill/>
          <a:ln cap="flat" cmpd="sng" w="9525">
            <a:solidFill>
              <a:srgbClr val="923E2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603" name="Google Shape;1603;p76"/>
          <p:cNvCxnSpPr>
            <a:stCxn id="1591" idx="3"/>
            <a:endCxn id="1590" idx="1"/>
          </p:cNvCxnSpPr>
          <p:nvPr/>
        </p:nvCxnSpPr>
        <p:spPr>
          <a:xfrm flipH="1" rot="10800000">
            <a:off x="2154219" y="1240275"/>
            <a:ext cx="1274700" cy="770700"/>
          </a:xfrm>
          <a:prstGeom prst="curvedConnector3">
            <a:avLst>
              <a:gd fmla="val 50003" name="adj1"/>
            </a:avLst>
          </a:prstGeom>
          <a:noFill/>
          <a:ln cap="flat" cmpd="sng" w="9525">
            <a:solidFill>
              <a:srgbClr val="923E22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1604" name="Google Shape;1604;p76"/>
          <p:cNvCxnSpPr>
            <a:stCxn id="1591" idx="2"/>
            <a:endCxn id="1592" idx="0"/>
          </p:cNvCxnSpPr>
          <p:nvPr/>
        </p:nvCxnSpPr>
        <p:spPr>
          <a:xfrm flipH="1">
            <a:off x="1351119" y="2190825"/>
            <a:ext cx="14100" cy="159600"/>
          </a:xfrm>
          <a:prstGeom prst="straightConnector1">
            <a:avLst/>
          </a:prstGeom>
          <a:noFill/>
          <a:ln cap="flat" cmpd="sng" w="9525">
            <a:solidFill>
              <a:srgbClr val="923E2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605" name="Google Shape;1605;p76"/>
          <p:cNvCxnSpPr>
            <a:stCxn id="1598" idx="3"/>
            <a:endCxn id="1593" idx="3"/>
          </p:cNvCxnSpPr>
          <p:nvPr/>
        </p:nvCxnSpPr>
        <p:spPr>
          <a:xfrm rot="10800000">
            <a:off x="2140042" y="3182150"/>
            <a:ext cx="3577200" cy="234600"/>
          </a:xfrm>
          <a:prstGeom prst="curvedConnector5">
            <a:avLst>
              <a:gd fmla="val -1538" name="adj1"/>
              <a:gd fmla="val -227526" name="adj2"/>
              <a:gd fmla="val 77179" name="adj3"/>
            </a:avLst>
          </a:prstGeom>
          <a:noFill/>
          <a:ln cap="flat" cmpd="sng" w="9525">
            <a:solidFill>
              <a:srgbClr val="0E9C8A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06" name="Google Shape;1606;p76"/>
          <p:cNvCxnSpPr>
            <a:stCxn id="1591" idx="1"/>
            <a:endCxn id="1594" idx="1"/>
          </p:cNvCxnSpPr>
          <p:nvPr/>
        </p:nvCxnSpPr>
        <p:spPr>
          <a:xfrm flipH="1">
            <a:off x="562119" y="2010975"/>
            <a:ext cx="14100" cy="1633200"/>
          </a:xfrm>
          <a:prstGeom prst="curvedConnector3">
            <a:avLst>
              <a:gd fmla="val 1788788" name="adj1"/>
            </a:avLst>
          </a:prstGeom>
          <a:noFill/>
          <a:ln cap="flat" cmpd="sng" w="9525">
            <a:solidFill>
              <a:srgbClr val="923E2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607" name="Google Shape;1607;p76"/>
          <p:cNvSpPr txBox="1"/>
          <p:nvPr/>
        </p:nvSpPr>
        <p:spPr>
          <a:xfrm>
            <a:off x="21775" y="2444838"/>
            <a:ext cx="399300" cy="12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 sz="600">
                <a:solidFill>
                  <a:srgbClr val="923E22"/>
                </a:solidFill>
                <a:latin typeface="Calibri"/>
                <a:ea typeface="Calibri"/>
                <a:cs typeface="Calibri"/>
                <a:sym typeface="Calibri"/>
              </a:rPr>
              <a:t>dump</a:t>
            </a:r>
            <a:endParaRPr sz="600">
              <a:solidFill>
                <a:srgbClr val="923E2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8" name="Google Shape;1608;p76"/>
          <p:cNvSpPr txBox="1"/>
          <p:nvPr/>
        </p:nvSpPr>
        <p:spPr>
          <a:xfrm>
            <a:off x="1310800" y="2206363"/>
            <a:ext cx="399300" cy="12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 sz="600">
                <a:solidFill>
                  <a:srgbClr val="923E22"/>
                </a:solidFill>
                <a:latin typeface="Calibri"/>
                <a:ea typeface="Calibri"/>
                <a:cs typeface="Calibri"/>
                <a:sym typeface="Calibri"/>
              </a:rPr>
              <a:t>upsert</a:t>
            </a:r>
            <a:endParaRPr sz="600">
              <a:solidFill>
                <a:srgbClr val="923E2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9" name="Google Shape;1609;p76"/>
          <p:cNvSpPr txBox="1"/>
          <p:nvPr/>
        </p:nvSpPr>
        <p:spPr>
          <a:xfrm>
            <a:off x="1290360" y="1518088"/>
            <a:ext cx="582600" cy="12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 sz="600">
                <a:solidFill>
                  <a:srgbClr val="923E22"/>
                </a:solidFill>
                <a:latin typeface="Calibri"/>
                <a:ea typeface="Calibri"/>
                <a:cs typeface="Calibri"/>
                <a:sym typeface="Calibri"/>
              </a:rPr>
              <a:t>événements</a:t>
            </a:r>
            <a:endParaRPr sz="600">
              <a:solidFill>
                <a:srgbClr val="923E2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0" name="Google Shape;1610;p76"/>
          <p:cNvSpPr txBox="1"/>
          <p:nvPr/>
        </p:nvSpPr>
        <p:spPr>
          <a:xfrm>
            <a:off x="2517323" y="1775063"/>
            <a:ext cx="582600" cy="12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 sz="600">
                <a:solidFill>
                  <a:srgbClr val="923E22"/>
                </a:solidFill>
                <a:latin typeface="Calibri"/>
                <a:ea typeface="Calibri"/>
                <a:cs typeface="Calibri"/>
                <a:sym typeface="Calibri"/>
              </a:rPr>
              <a:t>embeddings</a:t>
            </a:r>
            <a:endParaRPr sz="600">
              <a:solidFill>
                <a:srgbClr val="923E2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1" name="Google Shape;1611;p76"/>
          <p:cNvSpPr txBox="1"/>
          <p:nvPr/>
        </p:nvSpPr>
        <p:spPr>
          <a:xfrm>
            <a:off x="283150" y="3953488"/>
            <a:ext cx="2454600" cy="23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1000">
                <a:solidFill>
                  <a:srgbClr val="B07BC2"/>
                </a:solidFill>
                <a:latin typeface="Calibri"/>
                <a:ea typeface="Calibri"/>
                <a:cs typeface="Calibri"/>
                <a:sym typeface="Calibri"/>
              </a:rPr>
              <a:t>SCALEWAY</a:t>
            </a:r>
            <a:r>
              <a:rPr lang="fr" sz="800">
                <a:solidFill>
                  <a:srgbClr val="B07BC2"/>
                </a:solidFill>
                <a:latin typeface="Calibri"/>
                <a:ea typeface="Calibri"/>
                <a:cs typeface="Calibri"/>
                <a:sym typeface="Calibri"/>
              </a:rPr>
              <a:t> - cloud souverain (UE, hors CLOUD Act) </a:t>
            </a:r>
            <a:endParaRPr sz="800">
              <a:solidFill>
                <a:srgbClr val="B07BC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2" name="Google Shape;1612;p76"/>
          <p:cNvSpPr/>
          <p:nvPr/>
        </p:nvSpPr>
        <p:spPr>
          <a:xfrm>
            <a:off x="7068700" y="4409050"/>
            <a:ext cx="144600" cy="72900"/>
          </a:xfrm>
          <a:prstGeom prst="roundRect">
            <a:avLst>
              <a:gd fmla="val 16667" name="adj"/>
            </a:avLst>
          </a:prstGeom>
          <a:solidFill>
            <a:srgbClr val="9CA3AF">
              <a:alpha val="6960"/>
            </a:srgbClr>
          </a:solidFill>
          <a:ln cap="flat" cmpd="sng" w="9525">
            <a:solidFill>
              <a:srgbClr val="9CA3A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3" name="Google Shape;1613;p76"/>
          <p:cNvSpPr/>
          <p:nvPr/>
        </p:nvSpPr>
        <p:spPr>
          <a:xfrm>
            <a:off x="7068700" y="4550067"/>
            <a:ext cx="144600" cy="72900"/>
          </a:xfrm>
          <a:prstGeom prst="roundRect">
            <a:avLst>
              <a:gd fmla="val 16667" name="adj"/>
            </a:avLst>
          </a:prstGeom>
          <a:solidFill>
            <a:srgbClr val="923E22">
              <a:alpha val="7999"/>
            </a:srgbClr>
          </a:solidFill>
          <a:ln cap="flat" cmpd="sng" w="9525">
            <a:solidFill>
              <a:srgbClr val="923E2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4" name="Google Shape;1614;p76"/>
          <p:cNvSpPr/>
          <p:nvPr/>
        </p:nvSpPr>
        <p:spPr>
          <a:xfrm>
            <a:off x="7068700" y="4962200"/>
            <a:ext cx="144600" cy="72900"/>
          </a:xfrm>
          <a:prstGeom prst="roundRect">
            <a:avLst>
              <a:gd fmla="val 16667" name="adj"/>
            </a:avLst>
          </a:prstGeom>
          <a:solidFill>
            <a:srgbClr val="674EA7">
              <a:alpha val="7999"/>
            </a:srgbClr>
          </a:solidFill>
          <a:ln cap="flat" cmpd="sng" w="9525">
            <a:solidFill>
              <a:srgbClr val="674EA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5" name="Google Shape;1615;p76"/>
          <p:cNvSpPr/>
          <p:nvPr/>
        </p:nvSpPr>
        <p:spPr>
          <a:xfrm>
            <a:off x="7068700" y="4691085"/>
            <a:ext cx="144600" cy="72900"/>
          </a:xfrm>
          <a:prstGeom prst="roundRect">
            <a:avLst>
              <a:gd fmla="val 16667" name="adj"/>
            </a:avLst>
          </a:prstGeom>
          <a:solidFill>
            <a:srgbClr val="0000FF">
              <a:alpha val="14000"/>
            </a:srgbClr>
          </a:solidFill>
          <a:ln cap="flat" cmpd="sng" w="9525">
            <a:solidFill>
              <a:srgbClr val="00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6" name="Google Shape;1616;p76"/>
          <p:cNvSpPr/>
          <p:nvPr/>
        </p:nvSpPr>
        <p:spPr>
          <a:xfrm>
            <a:off x="7068700" y="4825177"/>
            <a:ext cx="144600" cy="72900"/>
          </a:xfrm>
          <a:prstGeom prst="roundRect">
            <a:avLst>
              <a:gd fmla="val 16667" name="adj"/>
            </a:avLst>
          </a:prstGeom>
          <a:solidFill>
            <a:srgbClr val="0E9C8A">
              <a:alpha val="15999"/>
            </a:srgbClr>
          </a:solidFill>
          <a:ln cap="flat" cmpd="sng" w="9525">
            <a:solidFill>
              <a:srgbClr val="0E9C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617" name="Google Shape;1617;p76"/>
          <p:cNvCxnSpPr>
            <a:endCxn id="1595" idx="2"/>
          </p:cNvCxnSpPr>
          <p:nvPr/>
        </p:nvCxnSpPr>
        <p:spPr>
          <a:xfrm rot="10800000">
            <a:off x="4572000" y="4115900"/>
            <a:ext cx="14100" cy="410100"/>
          </a:xfrm>
          <a:prstGeom prst="straightConnector1">
            <a:avLst/>
          </a:prstGeom>
          <a:noFill/>
          <a:ln cap="flat" cmpd="sng" w="9525">
            <a:solidFill>
              <a:srgbClr val="F4F4F5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18" name="Google Shape;1618;p76"/>
          <p:cNvCxnSpPr>
            <a:stCxn id="1599" idx="1"/>
            <a:endCxn id="1592" idx="3"/>
          </p:cNvCxnSpPr>
          <p:nvPr/>
        </p:nvCxnSpPr>
        <p:spPr>
          <a:xfrm rot="10800000">
            <a:off x="2140058" y="2611255"/>
            <a:ext cx="1286700" cy="805500"/>
          </a:xfrm>
          <a:prstGeom prst="curvedConnector3">
            <a:avLst>
              <a:gd fmla="val 44646" name="adj1"/>
            </a:avLst>
          </a:prstGeom>
          <a:noFill/>
          <a:ln cap="flat" cmpd="sng" w="9525">
            <a:solidFill>
              <a:srgbClr val="0E9C8A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19" name="Google Shape;1619;p76"/>
          <p:cNvCxnSpPr>
            <a:stCxn id="1598" idx="2"/>
            <a:endCxn id="1592" idx="3"/>
          </p:cNvCxnSpPr>
          <p:nvPr/>
        </p:nvCxnSpPr>
        <p:spPr>
          <a:xfrm flipH="1" rot="5400000">
            <a:off x="3187642" y="1563800"/>
            <a:ext cx="975900" cy="3070800"/>
          </a:xfrm>
          <a:prstGeom prst="curvedConnector4">
            <a:avLst>
              <a:gd fmla="val -24401" name="adj1"/>
              <a:gd fmla="val 77150" name="adj2"/>
            </a:avLst>
          </a:prstGeom>
          <a:noFill/>
          <a:ln cap="flat" cmpd="sng" w="9525">
            <a:solidFill>
              <a:srgbClr val="0E9C8A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620" name="Google Shape;1620;p76"/>
          <p:cNvSpPr txBox="1"/>
          <p:nvPr/>
        </p:nvSpPr>
        <p:spPr>
          <a:xfrm>
            <a:off x="3979391" y="3716668"/>
            <a:ext cx="582600" cy="12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 sz="600">
                <a:solidFill>
                  <a:srgbClr val="0E9C8A"/>
                </a:solidFill>
                <a:latin typeface="Calibri"/>
                <a:ea typeface="Calibri"/>
                <a:cs typeface="Calibri"/>
                <a:sym typeface="Calibri"/>
              </a:rPr>
              <a:t>mémoire LT</a:t>
            </a:r>
            <a:endParaRPr sz="600">
              <a:solidFill>
                <a:srgbClr val="0E9C8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1" name="Google Shape;1621;p76"/>
          <p:cNvSpPr txBox="1"/>
          <p:nvPr/>
        </p:nvSpPr>
        <p:spPr>
          <a:xfrm>
            <a:off x="4008429" y="3932876"/>
            <a:ext cx="569700" cy="12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 sz="600">
                <a:solidFill>
                  <a:srgbClr val="0E9C8A"/>
                </a:solidFill>
                <a:latin typeface="Calibri"/>
                <a:ea typeface="Calibri"/>
                <a:cs typeface="Calibri"/>
                <a:sym typeface="Calibri"/>
              </a:rPr>
              <a:t>mémoire CT</a:t>
            </a:r>
            <a:endParaRPr sz="600">
              <a:solidFill>
                <a:srgbClr val="0E9C8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2" name="Google Shape;1622;p76"/>
          <p:cNvSpPr txBox="1"/>
          <p:nvPr/>
        </p:nvSpPr>
        <p:spPr>
          <a:xfrm>
            <a:off x="2780476" y="2950552"/>
            <a:ext cx="358500" cy="12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 sz="600">
                <a:solidFill>
                  <a:srgbClr val="0E9C8A"/>
                </a:solidFill>
                <a:latin typeface="Calibri"/>
                <a:ea typeface="Calibri"/>
                <a:cs typeface="Calibri"/>
                <a:sym typeface="Calibri"/>
              </a:rPr>
              <a:t>géo</a:t>
            </a:r>
            <a:endParaRPr sz="600">
              <a:solidFill>
                <a:srgbClr val="0E9C8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3" name="Google Shape;1623;p76"/>
          <p:cNvSpPr txBox="1"/>
          <p:nvPr/>
        </p:nvSpPr>
        <p:spPr>
          <a:xfrm>
            <a:off x="7232825" y="4367250"/>
            <a:ext cx="1755600" cy="68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600">
                <a:solidFill>
                  <a:srgbClr val="8A93A6"/>
                </a:solidFill>
                <a:latin typeface="Calibri"/>
                <a:ea typeface="Calibri"/>
                <a:cs typeface="Calibri"/>
                <a:sym typeface="Calibri"/>
              </a:rPr>
              <a:t>Sources externes</a:t>
            </a:r>
            <a:endParaRPr sz="600">
              <a:solidFill>
                <a:srgbClr val="8A93A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600">
                <a:solidFill>
                  <a:srgbClr val="8A93A6"/>
                </a:solidFill>
                <a:latin typeface="Calibri"/>
                <a:ea typeface="Calibri"/>
                <a:cs typeface="Calibri"/>
                <a:sym typeface="Calibri"/>
              </a:rPr>
              <a:t>Ingestion (Kestra)</a:t>
            </a:r>
            <a:endParaRPr sz="600">
              <a:solidFill>
                <a:srgbClr val="8A93A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600">
                <a:solidFill>
                  <a:srgbClr val="8A93A6"/>
                </a:solidFill>
                <a:latin typeface="Calibri"/>
                <a:ea typeface="Calibri"/>
                <a:cs typeface="Calibri"/>
                <a:sym typeface="Calibri"/>
              </a:rPr>
              <a:t>Stockage (PostgreSQL / Redis / Object storage)</a:t>
            </a:r>
            <a:endParaRPr sz="600">
              <a:solidFill>
                <a:srgbClr val="8A93A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600">
                <a:solidFill>
                  <a:srgbClr val="8A93A6"/>
                </a:solidFill>
                <a:latin typeface="Calibri"/>
                <a:ea typeface="Calibri"/>
                <a:cs typeface="Calibri"/>
                <a:sym typeface="Calibri"/>
              </a:rPr>
              <a:t>Applications (API + agent)</a:t>
            </a:r>
            <a:endParaRPr sz="600">
              <a:solidFill>
                <a:srgbClr val="8A93A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600">
                <a:solidFill>
                  <a:srgbClr val="8A93A6"/>
                </a:solidFill>
                <a:latin typeface="Calibri"/>
                <a:ea typeface="Calibri"/>
                <a:cs typeface="Calibri"/>
                <a:sym typeface="Calibri"/>
              </a:rPr>
              <a:t>Observabilité</a:t>
            </a:r>
            <a:endParaRPr sz="600">
              <a:solidFill>
                <a:srgbClr val="8A93A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4" name="Google Shape;1624;p76"/>
          <p:cNvSpPr txBox="1"/>
          <p:nvPr/>
        </p:nvSpPr>
        <p:spPr>
          <a:xfrm>
            <a:off x="377200" y="233175"/>
            <a:ext cx="2286900" cy="45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9050" lIns="0" spcFirstLastPara="1" rIns="0" wrap="square" tIns="190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1800">
                <a:solidFill>
                  <a:srgbClr val="0E9C8A"/>
                </a:solidFill>
                <a:latin typeface="Calibri"/>
                <a:ea typeface="Calibri"/>
                <a:cs typeface="Calibri"/>
                <a:sym typeface="Calibri"/>
              </a:rPr>
              <a:t>L’architecture du MVP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9" name="Shape 16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0" name="Google Shape;1630;p77"/>
          <p:cNvSpPr txBox="1"/>
          <p:nvPr/>
        </p:nvSpPr>
        <p:spPr>
          <a:xfrm>
            <a:off x="377200" y="675550"/>
            <a:ext cx="26754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9050" lIns="0" spcFirstLastPara="1" rIns="0" wrap="square" tIns="190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1100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Architecture MVP - chatbot RAG Puls-EVents</a:t>
            </a:r>
            <a:endParaRPr b="1" sz="1100">
              <a:solidFill>
                <a:srgbClr val="9CA3A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1" name="Google Shape;1631;p77"/>
          <p:cNvSpPr txBox="1"/>
          <p:nvPr/>
        </p:nvSpPr>
        <p:spPr>
          <a:xfrm>
            <a:off x="377200" y="4945850"/>
            <a:ext cx="999000" cy="166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700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MVP RAG Puls-Events</a:t>
            </a:r>
            <a:endParaRPr sz="700">
              <a:solidFill>
                <a:srgbClr val="9CA3A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2" name="Google Shape;1632;p77"/>
          <p:cNvSpPr/>
          <p:nvPr/>
        </p:nvSpPr>
        <p:spPr>
          <a:xfrm>
            <a:off x="64125" y="1631700"/>
            <a:ext cx="8941200" cy="2605500"/>
          </a:xfrm>
          <a:prstGeom prst="roundRect">
            <a:avLst>
              <a:gd fmla="val 6000" name="adj"/>
            </a:avLst>
          </a:prstGeom>
          <a:noFill/>
          <a:ln cap="flat" cmpd="sng" w="9525">
            <a:solidFill>
              <a:srgbClr val="B07BC2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3" name="Google Shape;1633;p77"/>
          <p:cNvSpPr/>
          <p:nvPr/>
        </p:nvSpPr>
        <p:spPr>
          <a:xfrm>
            <a:off x="499800" y="980277"/>
            <a:ext cx="2286000" cy="521400"/>
          </a:xfrm>
          <a:prstGeom prst="roundRect">
            <a:avLst>
              <a:gd fmla="val 16667" name="adj"/>
            </a:avLst>
          </a:prstGeom>
          <a:solidFill>
            <a:srgbClr val="9CA3AF">
              <a:alpha val="6960"/>
            </a:srgbClr>
          </a:solidFill>
          <a:ln cap="flat" cmpd="sng" w="12700">
            <a:solidFill>
              <a:srgbClr val="9CA3A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6575" lIns="91425" spcFirstLastPara="1" rIns="73150" wrap="square" tIns="365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800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Opendatasoft API</a:t>
            </a:r>
            <a:endParaRPr b="1" sz="800">
              <a:solidFill>
                <a:srgbClr val="9CA3A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600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events Open Agenda</a:t>
            </a:r>
            <a:endParaRPr b="1" sz="600">
              <a:solidFill>
                <a:srgbClr val="9CA3A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4" name="Google Shape;1634;p77"/>
          <p:cNvSpPr/>
          <p:nvPr/>
        </p:nvSpPr>
        <p:spPr>
          <a:xfrm>
            <a:off x="3429000" y="979502"/>
            <a:ext cx="2286000" cy="521400"/>
          </a:xfrm>
          <a:prstGeom prst="roundRect">
            <a:avLst>
              <a:gd fmla="val 16667" name="adj"/>
            </a:avLst>
          </a:prstGeom>
          <a:solidFill>
            <a:srgbClr val="9CA3AF">
              <a:alpha val="6960"/>
            </a:srgbClr>
          </a:solidFill>
          <a:ln cap="flat" cmpd="sng" w="12700">
            <a:solidFill>
              <a:srgbClr val="9CA3A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6575" lIns="91425" spcFirstLastPara="1" rIns="73150" wrap="square" tIns="365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800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Mistral API (UE)</a:t>
            </a:r>
            <a:endParaRPr b="1" sz="800">
              <a:solidFill>
                <a:srgbClr val="9CA3A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600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embeddings + LLM</a:t>
            </a:r>
            <a:endParaRPr b="1" sz="600">
              <a:solidFill>
                <a:srgbClr val="9CA3A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5" name="Google Shape;1635;p77"/>
          <p:cNvSpPr/>
          <p:nvPr/>
        </p:nvSpPr>
        <p:spPr>
          <a:xfrm>
            <a:off x="576219" y="1831125"/>
            <a:ext cx="1578000" cy="359700"/>
          </a:xfrm>
          <a:prstGeom prst="roundRect">
            <a:avLst>
              <a:gd fmla="val 16667" name="adj"/>
            </a:avLst>
          </a:prstGeom>
          <a:solidFill>
            <a:srgbClr val="923E22">
              <a:alpha val="7999"/>
            </a:srgbClr>
          </a:solidFill>
          <a:ln cap="flat" cmpd="sng" w="9525">
            <a:solidFill>
              <a:srgbClr val="923E2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800">
                <a:solidFill>
                  <a:srgbClr val="923E22"/>
                </a:solidFill>
                <a:latin typeface="Calibri"/>
                <a:ea typeface="Calibri"/>
                <a:cs typeface="Calibri"/>
                <a:sym typeface="Calibri"/>
              </a:rPr>
              <a:t>Kestra</a:t>
            </a:r>
            <a:r>
              <a:rPr lang="fr" sz="600">
                <a:solidFill>
                  <a:srgbClr val="923E22"/>
                </a:solidFill>
                <a:latin typeface="Calibri"/>
                <a:ea typeface="Calibri"/>
                <a:cs typeface="Calibri"/>
                <a:sym typeface="Calibri"/>
              </a:rPr>
              <a:t> - ingestion planifiée</a:t>
            </a:r>
            <a:endParaRPr sz="600">
              <a:solidFill>
                <a:srgbClr val="923E2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 sz="600">
                <a:solidFill>
                  <a:srgbClr val="923E22"/>
                </a:solidFill>
                <a:latin typeface="Calibri"/>
                <a:ea typeface="Calibri"/>
                <a:cs typeface="Calibri"/>
                <a:sym typeface="Calibri"/>
              </a:rPr>
              <a:t>fetch ⇒ clean ⇒ embed ⇒ upsert</a:t>
            </a:r>
            <a:endParaRPr sz="600">
              <a:solidFill>
                <a:srgbClr val="923E2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6" name="Google Shape;1636;p77"/>
          <p:cNvSpPr/>
          <p:nvPr/>
        </p:nvSpPr>
        <p:spPr>
          <a:xfrm>
            <a:off x="562125" y="2350491"/>
            <a:ext cx="1578000" cy="521400"/>
          </a:xfrm>
          <a:prstGeom prst="roundRect">
            <a:avLst>
              <a:gd fmla="val 16667" name="adj"/>
            </a:avLst>
          </a:prstGeom>
          <a:solidFill>
            <a:srgbClr val="0000FF">
              <a:alpha val="14000"/>
            </a:srgbClr>
          </a:solidFill>
          <a:ln cap="flat" cmpd="sng" w="9525">
            <a:solidFill>
              <a:srgbClr val="00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800">
                <a:solidFill>
                  <a:srgbClr val="3C78D8"/>
                </a:solidFill>
                <a:latin typeface="Calibri"/>
                <a:ea typeface="Calibri"/>
                <a:cs typeface="Calibri"/>
                <a:sym typeface="Calibri"/>
              </a:rPr>
              <a:t>Managed PostgreSQL</a:t>
            </a:r>
            <a:endParaRPr b="1" sz="800">
              <a:solidFill>
                <a:srgbClr val="3C78D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66700" lvl="0" marL="457200" rtl="0" algn="l">
              <a:spcBef>
                <a:spcPts val="0"/>
              </a:spcBef>
              <a:spcAft>
                <a:spcPts val="0"/>
              </a:spcAft>
              <a:buClr>
                <a:srgbClr val="3C78D8"/>
              </a:buClr>
              <a:buSzPts val="600"/>
              <a:buFont typeface="Calibri"/>
              <a:buChar char="●"/>
            </a:pPr>
            <a:r>
              <a:rPr lang="fr" sz="600">
                <a:solidFill>
                  <a:srgbClr val="3C78D8"/>
                </a:solidFill>
                <a:latin typeface="Calibri"/>
                <a:ea typeface="Calibri"/>
                <a:cs typeface="Calibri"/>
                <a:sym typeface="Calibri"/>
              </a:rPr>
              <a:t>pgvector (embeddings)</a:t>
            </a:r>
            <a:endParaRPr sz="600">
              <a:solidFill>
                <a:srgbClr val="3C78D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66700" lvl="0" marL="457200" rtl="0" algn="l">
              <a:spcBef>
                <a:spcPts val="0"/>
              </a:spcBef>
              <a:spcAft>
                <a:spcPts val="0"/>
              </a:spcAft>
              <a:buClr>
                <a:srgbClr val="3C78D8"/>
              </a:buClr>
              <a:buSzPts val="600"/>
              <a:buFont typeface="Calibri"/>
              <a:buChar char="●"/>
            </a:pPr>
            <a:r>
              <a:rPr lang="fr" sz="600">
                <a:solidFill>
                  <a:srgbClr val="3C78D8"/>
                </a:solidFill>
                <a:latin typeface="Calibri"/>
                <a:ea typeface="Calibri"/>
                <a:cs typeface="Calibri"/>
                <a:sym typeface="Calibri"/>
              </a:rPr>
              <a:t>PostGIS (géo)</a:t>
            </a:r>
            <a:endParaRPr sz="600">
              <a:solidFill>
                <a:srgbClr val="3C78D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66700" lvl="0" marL="457200" rtl="0" algn="l">
              <a:spcBef>
                <a:spcPts val="0"/>
              </a:spcBef>
              <a:spcAft>
                <a:spcPts val="0"/>
              </a:spcAft>
              <a:buClr>
                <a:srgbClr val="3C78D8"/>
              </a:buClr>
              <a:buSzPts val="600"/>
              <a:buFont typeface="Calibri"/>
              <a:buChar char="●"/>
            </a:pPr>
            <a:r>
              <a:rPr lang="fr" sz="600">
                <a:solidFill>
                  <a:srgbClr val="3C78D8"/>
                </a:solidFill>
                <a:latin typeface="Calibri"/>
                <a:ea typeface="Calibri"/>
                <a:cs typeface="Calibri"/>
                <a:sym typeface="Calibri"/>
              </a:rPr>
              <a:t>relationnel + mémoire LT</a:t>
            </a:r>
            <a:endParaRPr sz="600">
              <a:solidFill>
                <a:srgbClr val="3C78D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7" name="Google Shape;1637;p77"/>
          <p:cNvSpPr/>
          <p:nvPr/>
        </p:nvSpPr>
        <p:spPr>
          <a:xfrm>
            <a:off x="562125" y="3030722"/>
            <a:ext cx="1578000" cy="303000"/>
          </a:xfrm>
          <a:prstGeom prst="roundRect">
            <a:avLst>
              <a:gd fmla="val 16667" name="adj"/>
            </a:avLst>
          </a:prstGeom>
          <a:solidFill>
            <a:srgbClr val="0000FF">
              <a:alpha val="7999"/>
            </a:srgbClr>
          </a:solidFill>
          <a:ln cap="flat" cmpd="sng" w="9525">
            <a:solidFill>
              <a:srgbClr val="00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800">
                <a:solidFill>
                  <a:srgbClr val="3C78D8"/>
                </a:solidFill>
                <a:latin typeface="Calibri"/>
                <a:ea typeface="Calibri"/>
                <a:cs typeface="Calibri"/>
                <a:sym typeface="Calibri"/>
              </a:rPr>
              <a:t>Managed Redis</a:t>
            </a:r>
            <a:endParaRPr b="1" sz="800">
              <a:solidFill>
                <a:srgbClr val="3C78D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 sz="600">
                <a:solidFill>
                  <a:srgbClr val="3C78D8"/>
                </a:solidFill>
                <a:latin typeface="Calibri"/>
                <a:ea typeface="Calibri"/>
                <a:cs typeface="Calibri"/>
                <a:sym typeface="Calibri"/>
              </a:rPr>
              <a:t>mémoire court terme / session</a:t>
            </a:r>
            <a:endParaRPr sz="600">
              <a:solidFill>
                <a:srgbClr val="3C78D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8" name="Google Shape;1638;p77"/>
          <p:cNvSpPr/>
          <p:nvPr/>
        </p:nvSpPr>
        <p:spPr>
          <a:xfrm>
            <a:off x="562125" y="3492525"/>
            <a:ext cx="1578000" cy="303000"/>
          </a:xfrm>
          <a:prstGeom prst="roundRect">
            <a:avLst>
              <a:gd fmla="val 16667" name="adj"/>
            </a:avLst>
          </a:prstGeom>
          <a:solidFill>
            <a:srgbClr val="0000FF">
              <a:alpha val="3999"/>
            </a:srgbClr>
          </a:solidFill>
          <a:ln cap="flat" cmpd="sng" w="9525">
            <a:solidFill>
              <a:srgbClr val="00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800">
                <a:solidFill>
                  <a:srgbClr val="3C78D8"/>
                </a:solidFill>
                <a:latin typeface="Calibri"/>
                <a:ea typeface="Calibri"/>
                <a:cs typeface="Calibri"/>
                <a:sym typeface="Calibri"/>
              </a:rPr>
              <a:t>Object storage</a:t>
            </a:r>
            <a:r>
              <a:rPr lang="fr" sz="800">
                <a:solidFill>
                  <a:srgbClr val="3C78D8"/>
                </a:solidFill>
                <a:latin typeface="Calibri"/>
                <a:ea typeface="Calibri"/>
                <a:cs typeface="Calibri"/>
                <a:sym typeface="Calibri"/>
              </a:rPr>
              <a:t> S3</a:t>
            </a:r>
            <a:endParaRPr sz="800">
              <a:solidFill>
                <a:srgbClr val="3C78D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9" name="Google Shape;1639;p77"/>
          <p:cNvSpPr/>
          <p:nvPr/>
        </p:nvSpPr>
        <p:spPr>
          <a:xfrm>
            <a:off x="3234300" y="1858100"/>
            <a:ext cx="2675400" cy="2257800"/>
          </a:xfrm>
          <a:prstGeom prst="roundRect">
            <a:avLst>
              <a:gd fmla="val 16667" name="adj"/>
            </a:avLst>
          </a:prstGeom>
          <a:solidFill>
            <a:srgbClr val="0E9C8A">
              <a:alpha val="7999"/>
            </a:srgbClr>
          </a:solidFill>
          <a:ln cap="flat" cmpd="sng" w="9525">
            <a:solidFill>
              <a:srgbClr val="0E9C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0" name="Google Shape;1640;p77"/>
          <p:cNvSpPr/>
          <p:nvPr/>
        </p:nvSpPr>
        <p:spPr>
          <a:xfrm>
            <a:off x="3431358" y="2172800"/>
            <a:ext cx="2270400" cy="521400"/>
          </a:xfrm>
          <a:prstGeom prst="roundRect">
            <a:avLst>
              <a:gd fmla="val 16667" name="adj"/>
            </a:avLst>
          </a:prstGeom>
          <a:solidFill>
            <a:srgbClr val="0E9C8A">
              <a:alpha val="23999"/>
            </a:srgbClr>
          </a:solidFill>
          <a:ln cap="flat" cmpd="sng" w="9525">
            <a:solidFill>
              <a:srgbClr val="0E9C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800">
                <a:solidFill>
                  <a:srgbClr val="0E9C8A"/>
                </a:solidFill>
                <a:latin typeface="Calibri"/>
                <a:ea typeface="Calibri"/>
                <a:cs typeface="Calibri"/>
                <a:sym typeface="Calibri"/>
              </a:rPr>
              <a:t>Agents smolagents</a:t>
            </a:r>
            <a:endParaRPr b="1" sz="800">
              <a:solidFill>
                <a:srgbClr val="0E9C8A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 sz="600">
                <a:solidFill>
                  <a:srgbClr val="0E9C8A"/>
                </a:solidFill>
                <a:latin typeface="Calibri"/>
                <a:ea typeface="Calibri"/>
                <a:cs typeface="Calibri"/>
                <a:sym typeface="Calibri"/>
              </a:rPr>
              <a:t>(orchestration des outils)</a:t>
            </a:r>
            <a:endParaRPr sz="600">
              <a:solidFill>
                <a:srgbClr val="0E9C8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1" name="Google Shape;1641;p77"/>
          <p:cNvSpPr/>
          <p:nvPr/>
        </p:nvSpPr>
        <p:spPr>
          <a:xfrm>
            <a:off x="3431458" y="2799875"/>
            <a:ext cx="1041900" cy="340800"/>
          </a:xfrm>
          <a:prstGeom prst="roundRect">
            <a:avLst>
              <a:gd fmla="val 16667" name="adj"/>
            </a:avLst>
          </a:prstGeom>
          <a:solidFill>
            <a:srgbClr val="0E9C8A">
              <a:alpha val="15999"/>
            </a:srgbClr>
          </a:solidFill>
          <a:ln cap="flat" cmpd="sng" w="9525">
            <a:solidFill>
              <a:srgbClr val="0E9C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800">
                <a:solidFill>
                  <a:srgbClr val="0E9C8A"/>
                </a:solidFill>
                <a:latin typeface="Calibri"/>
                <a:ea typeface="Calibri"/>
                <a:cs typeface="Calibri"/>
                <a:sym typeface="Calibri"/>
              </a:rPr>
              <a:t>outil RAG</a:t>
            </a:r>
            <a:endParaRPr b="1" sz="800">
              <a:solidFill>
                <a:srgbClr val="0E9C8A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 sz="600">
                <a:solidFill>
                  <a:srgbClr val="0E9C8A"/>
                </a:solidFill>
                <a:latin typeface="Calibri"/>
                <a:ea typeface="Calibri"/>
                <a:cs typeface="Calibri"/>
                <a:sym typeface="Calibri"/>
              </a:rPr>
              <a:t>(LangChain hybride)</a:t>
            </a:r>
            <a:endParaRPr sz="600">
              <a:solidFill>
                <a:srgbClr val="0E9C8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2" name="Google Shape;1642;p77"/>
          <p:cNvSpPr txBox="1"/>
          <p:nvPr/>
        </p:nvSpPr>
        <p:spPr>
          <a:xfrm>
            <a:off x="3560475" y="1932625"/>
            <a:ext cx="19485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800">
                <a:solidFill>
                  <a:srgbClr val="0E9C8A"/>
                </a:solidFill>
                <a:latin typeface="Calibri"/>
                <a:ea typeface="Calibri"/>
                <a:cs typeface="Calibri"/>
                <a:sym typeface="Calibri"/>
              </a:rPr>
              <a:t>Serverless Containers - API FastAPI (SSE)</a:t>
            </a:r>
            <a:endParaRPr b="1" sz="800">
              <a:solidFill>
                <a:srgbClr val="0E9C8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3" name="Google Shape;1643;p77"/>
          <p:cNvSpPr/>
          <p:nvPr/>
        </p:nvSpPr>
        <p:spPr>
          <a:xfrm>
            <a:off x="4704742" y="3246350"/>
            <a:ext cx="1012500" cy="340800"/>
          </a:xfrm>
          <a:prstGeom prst="roundRect">
            <a:avLst>
              <a:gd fmla="val 16667" name="adj"/>
            </a:avLst>
          </a:prstGeom>
          <a:solidFill>
            <a:srgbClr val="0E9C8A">
              <a:alpha val="15999"/>
            </a:srgbClr>
          </a:solidFill>
          <a:ln cap="flat" cmpd="sng" w="9525">
            <a:solidFill>
              <a:srgbClr val="0E9C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800">
                <a:solidFill>
                  <a:srgbClr val="0E9C8A"/>
                </a:solidFill>
                <a:latin typeface="Calibri"/>
                <a:ea typeface="Calibri"/>
                <a:cs typeface="Calibri"/>
                <a:sym typeface="Calibri"/>
              </a:rPr>
              <a:t>outil mémoire</a:t>
            </a:r>
            <a:endParaRPr b="1" sz="800">
              <a:solidFill>
                <a:srgbClr val="0E9C8A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 sz="600">
                <a:solidFill>
                  <a:srgbClr val="0E9C8A"/>
                </a:solidFill>
                <a:latin typeface="Calibri"/>
                <a:ea typeface="Calibri"/>
                <a:cs typeface="Calibri"/>
                <a:sym typeface="Calibri"/>
              </a:rPr>
              <a:t>(Redis + PG)</a:t>
            </a:r>
            <a:endParaRPr sz="600">
              <a:solidFill>
                <a:srgbClr val="0E9C8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4" name="Google Shape;1644;p77"/>
          <p:cNvSpPr/>
          <p:nvPr/>
        </p:nvSpPr>
        <p:spPr>
          <a:xfrm>
            <a:off x="3426758" y="3246355"/>
            <a:ext cx="1041900" cy="340800"/>
          </a:xfrm>
          <a:prstGeom prst="roundRect">
            <a:avLst>
              <a:gd fmla="val 16667" name="adj"/>
            </a:avLst>
          </a:prstGeom>
          <a:solidFill>
            <a:srgbClr val="0E9C8A">
              <a:alpha val="15999"/>
            </a:srgbClr>
          </a:solidFill>
          <a:ln cap="flat" cmpd="sng" w="9525">
            <a:solidFill>
              <a:srgbClr val="0E9C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fr" sz="800">
                <a:solidFill>
                  <a:srgbClr val="0E9C8A"/>
                </a:solidFill>
                <a:latin typeface="Calibri"/>
                <a:ea typeface="Calibri"/>
                <a:cs typeface="Calibri"/>
                <a:sym typeface="Calibri"/>
              </a:rPr>
              <a:t>outil géo</a:t>
            </a:r>
            <a:endParaRPr b="1" sz="800">
              <a:solidFill>
                <a:srgbClr val="0E9C8A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fr" sz="600">
                <a:solidFill>
                  <a:srgbClr val="0E9C8A"/>
                </a:solidFill>
                <a:latin typeface="Calibri"/>
                <a:ea typeface="Calibri"/>
                <a:cs typeface="Calibri"/>
                <a:sym typeface="Calibri"/>
              </a:rPr>
              <a:t>(PostGIS)</a:t>
            </a:r>
            <a:endParaRPr/>
          </a:p>
        </p:txBody>
      </p:sp>
      <p:sp>
        <p:nvSpPr>
          <p:cNvPr id="1645" name="Google Shape;1645;p77"/>
          <p:cNvSpPr/>
          <p:nvPr/>
        </p:nvSpPr>
        <p:spPr>
          <a:xfrm>
            <a:off x="2967450" y="4523300"/>
            <a:ext cx="3209100" cy="329700"/>
          </a:xfrm>
          <a:prstGeom prst="roundRect">
            <a:avLst>
              <a:gd fmla="val 16667" name="adj"/>
            </a:avLst>
          </a:prstGeom>
          <a:solidFill>
            <a:srgbClr val="F4F4F5"/>
          </a:solidFill>
          <a:ln cap="flat" cmpd="sng" w="9525">
            <a:solidFill>
              <a:srgbClr val="222A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800">
                <a:solidFill>
                  <a:srgbClr val="222A3A"/>
                </a:solidFill>
                <a:latin typeface="Calibri"/>
                <a:ea typeface="Calibri"/>
                <a:cs typeface="Calibri"/>
                <a:sym typeface="Calibri"/>
              </a:rPr>
              <a:t>frontend web / Utilisateurs</a:t>
            </a:r>
            <a:endParaRPr b="1" sz="800">
              <a:solidFill>
                <a:srgbClr val="222A3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6" name="Google Shape;1646;p77"/>
          <p:cNvSpPr txBox="1"/>
          <p:nvPr/>
        </p:nvSpPr>
        <p:spPr>
          <a:xfrm>
            <a:off x="4586100" y="4275550"/>
            <a:ext cx="1090200" cy="20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 sz="600">
                <a:solidFill>
                  <a:srgbClr val="F4F4F5"/>
                </a:solidFill>
                <a:latin typeface="Calibri"/>
                <a:ea typeface="Calibri"/>
                <a:cs typeface="Calibri"/>
                <a:sym typeface="Calibri"/>
              </a:rPr>
              <a:t>question ⇒ / réponse SSE ⇐</a:t>
            </a:r>
            <a:endParaRPr sz="600">
              <a:solidFill>
                <a:srgbClr val="F4F4F5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 sz="600">
                <a:solidFill>
                  <a:srgbClr val="F4F4F5"/>
                </a:solidFill>
                <a:latin typeface="Calibri"/>
                <a:ea typeface="Calibri"/>
                <a:cs typeface="Calibri"/>
                <a:sym typeface="Calibri"/>
              </a:rPr>
              <a:t>(HTTPS/SSE)</a:t>
            </a:r>
            <a:endParaRPr sz="600">
              <a:solidFill>
                <a:srgbClr val="F4F4F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647" name="Google Shape;1647;p77"/>
          <p:cNvCxnSpPr>
            <a:endCxn id="1635" idx="0"/>
          </p:cNvCxnSpPr>
          <p:nvPr/>
        </p:nvCxnSpPr>
        <p:spPr>
          <a:xfrm flipH="1">
            <a:off x="1365219" y="1511925"/>
            <a:ext cx="2100" cy="319200"/>
          </a:xfrm>
          <a:prstGeom prst="straightConnector1">
            <a:avLst/>
          </a:prstGeom>
          <a:noFill/>
          <a:ln cap="flat" cmpd="sng" w="9525">
            <a:solidFill>
              <a:srgbClr val="923E2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648" name="Google Shape;1648;p77"/>
          <p:cNvCxnSpPr>
            <a:stCxn id="1635" idx="3"/>
            <a:endCxn id="1634" idx="1"/>
          </p:cNvCxnSpPr>
          <p:nvPr/>
        </p:nvCxnSpPr>
        <p:spPr>
          <a:xfrm flipH="1" rot="10800000">
            <a:off x="2154219" y="1240275"/>
            <a:ext cx="1274700" cy="770700"/>
          </a:xfrm>
          <a:prstGeom prst="curvedConnector3">
            <a:avLst>
              <a:gd fmla="val 50003" name="adj1"/>
            </a:avLst>
          </a:prstGeom>
          <a:noFill/>
          <a:ln cap="flat" cmpd="sng" w="9525">
            <a:solidFill>
              <a:srgbClr val="923E22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1649" name="Google Shape;1649;p77"/>
          <p:cNvCxnSpPr>
            <a:stCxn id="1635" idx="2"/>
            <a:endCxn id="1636" idx="0"/>
          </p:cNvCxnSpPr>
          <p:nvPr/>
        </p:nvCxnSpPr>
        <p:spPr>
          <a:xfrm flipH="1">
            <a:off x="1351119" y="2190825"/>
            <a:ext cx="14100" cy="159600"/>
          </a:xfrm>
          <a:prstGeom prst="straightConnector1">
            <a:avLst/>
          </a:prstGeom>
          <a:noFill/>
          <a:ln cap="flat" cmpd="sng" w="9525">
            <a:solidFill>
              <a:srgbClr val="923E2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650" name="Google Shape;1650;p77"/>
          <p:cNvCxnSpPr>
            <a:stCxn id="1643" idx="3"/>
            <a:endCxn id="1637" idx="3"/>
          </p:cNvCxnSpPr>
          <p:nvPr/>
        </p:nvCxnSpPr>
        <p:spPr>
          <a:xfrm rot="10800000">
            <a:off x="2140042" y="3182150"/>
            <a:ext cx="3577200" cy="234600"/>
          </a:xfrm>
          <a:prstGeom prst="curvedConnector5">
            <a:avLst>
              <a:gd fmla="val -1538" name="adj1"/>
              <a:gd fmla="val -227526" name="adj2"/>
              <a:gd fmla="val 77179" name="adj3"/>
            </a:avLst>
          </a:prstGeom>
          <a:noFill/>
          <a:ln cap="flat" cmpd="sng" w="9525">
            <a:solidFill>
              <a:srgbClr val="0E9C8A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51" name="Google Shape;1651;p77"/>
          <p:cNvCxnSpPr>
            <a:stCxn id="1635" idx="1"/>
            <a:endCxn id="1638" idx="1"/>
          </p:cNvCxnSpPr>
          <p:nvPr/>
        </p:nvCxnSpPr>
        <p:spPr>
          <a:xfrm flipH="1">
            <a:off x="562119" y="2010975"/>
            <a:ext cx="14100" cy="1633200"/>
          </a:xfrm>
          <a:prstGeom prst="curvedConnector3">
            <a:avLst>
              <a:gd fmla="val 1788788" name="adj1"/>
            </a:avLst>
          </a:prstGeom>
          <a:noFill/>
          <a:ln cap="flat" cmpd="sng" w="9525">
            <a:solidFill>
              <a:srgbClr val="923E2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652" name="Google Shape;1652;p77"/>
          <p:cNvSpPr txBox="1"/>
          <p:nvPr/>
        </p:nvSpPr>
        <p:spPr>
          <a:xfrm>
            <a:off x="21775" y="2444838"/>
            <a:ext cx="399300" cy="12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 sz="600">
                <a:solidFill>
                  <a:srgbClr val="923E22"/>
                </a:solidFill>
                <a:latin typeface="Calibri"/>
                <a:ea typeface="Calibri"/>
                <a:cs typeface="Calibri"/>
                <a:sym typeface="Calibri"/>
              </a:rPr>
              <a:t>dump</a:t>
            </a:r>
            <a:endParaRPr sz="600">
              <a:solidFill>
                <a:srgbClr val="923E2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3" name="Google Shape;1653;p77"/>
          <p:cNvSpPr txBox="1"/>
          <p:nvPr/>
        </p:nvSpPr>
        <p:spPr>
          <a:xfrm>
            <a:off x="1310800" y="2206363"/>
            <a:ext cx="399300" cy="12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 sz="600">
                <a:solidFill>
                  <a:srgbClr val="923E22"/>
                </a:solidFill>
                <a:latin typeface="Calibri"/>
                <a:ea typeface="Calibri"/>
                <a:cs typeface="Calibri"/>
                <a:sym typeface="Calibri"/>
              </a:rPr>
              <a:t>upsert</a:t>
            </a:r>
            <a:endParaRPr sz="600">
              <a:solidFill>
                <a:srgbClr val="923E2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4" name="Google Shape;1654;p77"/>
          <p:cNvSpPr txBox="1"/>
          <p:nvPr/>
        </p:nvSpPr>
        <p:spPr>
          <a:xfrm>
            <a:off x="1290360" y="1518088"/>
            <a:ext cx="582600" cy="12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 sz="600">
                <a:solidFill>
                  <a:srgbClr val="923E22"/>
                </a:solidFill>
                <a:latin typeface="Calibri"/>
                <a:ea typeface="Calibri"/>
                <a:cs typeface="Calibri"/>
                <a:sym typeface="Calibri"/>
              </a:rPr>
              <a:t>événements</a:t>
            </a:r>
            <a:endParaRPr sz="600">
              <a:solidFill>
                <a:srgbClr val="923E2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5" name="Google Shape;1655;p77"/>
          <p:cNvSpPr txBox="1"/>
          <p:nvPr/>
        </p:nvSpPr>
        <p:spPr>
          <a:xfrm>
            <a:off x="2517323" y="1775063"/>
            <a:ext cx="582600" cy="12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 sz="600">
                <a:solidFill>
                  <a:srgbClr val="923E22"/>
                </a:solidFill>
                <a:latin typeface="Calibri"/>
                <a:ea typeface="Calibri"/>
                <a:cs typeface="Calibri"/>
                <a:sym typeface="Calibri"/>
              </a:rPr>
              <a:t>embeddings</a:t>
            </a:r>
            <a:endParaRPr sz="600">
              <a:solidFill>
                <a:srgbClr val="923E2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6" name="Google Shape;1656;p77"/>
          <p:cNvSpPr txBox="1"/>
          <p:nvPr/>
        </p:nvSpPr>
        <p:spPr>
          <a:xfrm>
            <a:off x="283150" y="3953488"/>
            <a:ext cx="2454600" cy="23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1000">
                <a:solidFill>
                  <a:srgbClr val="B07BC2"/>
                </a:solidFill>
                <a:latin typeface="Calibri"/>
                <a:ea typeface="Calibri"/>
                <a:cs typeface="Calibri"/>
                <a:sym typeface="Calibri"/>
              </a:rPr>
              <a:t>SCALEWAY</a:t>
            </a:r>
            <a:r>
              <a:rPr lang="fr" sz="800">
                <a:solidFill>
                  <a:srgbClr val="B07BC2"/>
                </a:solidFill>
                <a:latin typeface="Calibri"/>
                <a:ea typeface="Calibri"/>
                <a:cs typeface="Calibri"/>
                <a:sym typeface="Calibri"/>
              </a:rPr>
              <a:t> - cloud souverain (UE, hors CLOUD Act) </a:t>
            </a:r>
            <a:endParaRPr sz="800">
              <a:solidFill>
                <a:srgbClr val="B07BC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7" name="Google Shape;1657;p77"/>
          <p:cNvSpPr/>
          <p:nvPr/>
        </p:nvSpPr>
        <p:spPr>
          <a:xfrm>
            <a:off x="7068700" y="4409050"/>
            <a:ext cx="144600" cy="72900"/>
          </a:xfrm>
          <a:prstGeom prst="roundRect">
            <a:avLst>
              <a:gd fmla="val 16667" name="adj"/>
            </a:avLst>
          </a:prstGeom>
          <a:solidFill>
            <a:srgbClr val="9CA3AF">
              <a:alpha val="6960"/>
            </a:srgbClr>
          </a:solidFill>
          <a:ln cap="flat" cmpd="sng" w="9525">
            <a:solidFill>
              <a:srgbClr val="9CA3A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8" name="Google Shape;1658;p77"/>
          <p:cNvSpPr/>
          <p:nvPr/>
        </p:nvSpPr>
        <p:spPr>
          <a:xfrm>
            <a:off x="7068700" y="4550067"/>
            <a:ext cx="144600" cy="72900"/>
          </a:xfrm>
          <a:prstGeom prst="roundRect">
            <a:avLst>
              <a:gd fmla="val 16667" name="adj"/>
            </a:avLst>
          </a:prstGeom>
          <a:solidFill>
            <a:srgbClr val="923E22">
              <a:alpha val="7999"/>
            </a:srgbClr>
          </a:solidFill>
          <a:ln cap="flat" cmpd="sng" w="9525">
            <a:solidFill>
              <a:srgbClr val="923E2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9" name="Google Shape;1659;p77"/>
          <p:cNvSpPr/>
          <p:nvPr/>
        </p:nvSpPr>
        <p:spPr>
          <a:xfrm>
            <a:off x="7068700" y="4962200"/>
            <a:ext cx="144600" cy="72900"/>
          </a:xfrm>
          <a:prstGeom prst="roundRect">
            <a:avLst>
              <a:gd fmla="val 16667" name="adj"/>
            </a:avLst>
          </a:prstGeom>
          <a:solidFill>
            <a:srgbClr val="674EA7">
              <a:alpha val="7999"/>
            </a:srgbClr>
          </a:solidFill>
          <a:ln cap="flat" cmpd="sng" w="9525">
            <a:solidFill>
              <a:srgbClr val="674EA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0" name="Google Shape;1660;p77"/>
          <p:cNvSpPr/>
          <p:nvPr/>
        </p:nvSpPr>
        <p:spPr>
          <a:xfrm>
            <a:off x="7068700" y="4691085"/>
            <a:ext cx="144600" cy="72900"/>
          </a:xfrm>
          <a:prstGeom prst="roundRect">
            <a:avLst>
              <a:gd fmla="val 16667" name="adj"/>
            </a:avLst>
          </a:prstGeom>
          <a:solidFill>
            <a:srgbClr val="0000FF">
              <a:alpha val="14000"/>
            </a:srgbClr>
          </a:solidFill>
          <a:ln cap="flat" cmpd="sng" w="9525">
            <a:solidFill>
              <a:srgbClr val="00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1" name="Google Shape;1661;p77"/>
          <p:cNvSpPr/>
          <p:nvPr/>
        </p:nvSpPr>
        <p:spPr>
          <a:xfrm>
            <a:off x="7068700" y="4825177"/>
            <a:ext cx="144600" cy="72900"/>
          </a:xfrm>
          <a:prstGeom prst="roundRect">
            <a:avLst>
              <a:gd fmla="val 16667" name="adj"/>
            </a:avLst>
          </a:prstGeom>
          <a:solidFill>
            <a:srgbClr val="0E9C8A">
              <a:alpha val="15999"/>
            </a:srgbClr>
          </a:solidFill>
          <a:ln cap="flat" cmpd="sng" w="9525">
            <a:solidFill>
              <a:srgbClr val="0E9C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662" name="Google Shape;1662;p77"/>
          <p:cNvCxnSpPr>
            <a:endCxn id="1639" idx="2"/>
          </p:cNvCxnSpPr>
          <p:nvPr/>
        </p:nvCxnSpPr>
        <p:spPr>
          <a:xfrm rot="10800000">
            <a:off x="4572000" y="4115900"/>
            <a:ext cx="14100" cy="410100"/>
          </a:xfrm>
          <a:prstGeom prst="straightConnector1">
            <a:avLst/>
          </a:prstGeom>
          <a:noFill/>
          <a:ln cap="flat" cmpd="sng" w="9525">
            <a:solidFill>
              <a:srgbClr val="F4F4F5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63" name="Google Shape;1663;p77"/>
          <p:cNvCxnSpPr>
            <a:stCxn id="1644" idx="1"/>
            <a:endCxn id="1636" idx="3"/>
          </p:cNvCxnSpPr>
          <p:nvPr/>
        </p:nvCxnSpPr>
        <p:spPr>
          <a:xfrm rot="10800000">
            <a:off x="2140058" y="2611255"/>
            <a:ext cx="1286700" cy="805500"/>
          </a:xfrm>
          <a:prstGeom prst="curvedConnector3">
            <a:avLst>
              <a:gd fmla="val 44646" name="adj1"/>
            </a:avLst>
          </a:prstGeom>
          <a:noFill/>
          <a:ln cap="flat" cmpd="sng" w="9525">
            <a:solidFill>
              <a:srgbClr val="0E9C8A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64" name="Google Shape;1664;p77"/>
          <p:cNvCxnSpPr>
            <a:stCxn id="1643" idx="2"/>
            <a:endCxn id="1636" idx="3"/>
          </p:cNvCxnSpPr>
          <p:nvPr/>
        </p:nvCxnSpPr>
        <p:spPr>
          <a:xfrm flipH="1" rot="5400000">
            <a:off x="3187642" y="1563800"/>
            <a:ext cx="975900" cy="3070800"/>
          </a:xfrm>
          <a:prstGeom prst="curvedConnector4">
            <a:avLst>
              <a:gd fmla="val -24401" name="adj1"/>
              <a:gd fmla="val 77150" name="adj2"/>
            </a:avLst>
          </a:prstGeom>
          <a:noFill/>
          <a:ln cap="flat" cmpd="sng" w="9525">
            <a:solidFill>
              <a:srgbClr val="0E9C8A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665" name="Google Shape;1665;p77"/>
          <p:cNvSpPr txBox="1"/>
          <p:nvPr/>
        </p:nvSpPr>
        <p:spPr>
          <a:xfrm>
            <a:off x="3979391" y="3716668"/>
            <a:ext cx="582600" cy="12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 sz="600">
                <a:solidFill>
                  <a:srgbClr val="0E9C8A"/>
                </a:solidFill>
                <a:latin typeface="Calibri"/>
                <a:ea typeface="Calibri"/>
                <a:cs typeface="Calibri"/>
                <a:sym typeface="Calibri"/>
              </a:rPr>
              <a:t>mémoire LT</a:t>
            </a:r>
            <a:endParaRPr sz="600">
              <a:solidFill>
                <a:srgbClr val="0E9C8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6" name="Google Shape;1666;p77"/>
          <p:cNvSpPr txBox="1"/>
          <p:nvPr/>
        </p:nvSpPr>
        <p:spPr>
          <a:xfrm>
            <a:off x="4008429" y="3932876"/>
            <a:ext cx="569700" cy="12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 sz="600">
                <a:solidFill>
                  <a:srgbClr val="0E9C8A"/>
                </a:solidFill>
                <a:latin typeface="Calibri"/>
                <a:ea typeface="Calibri"/>
                <a:cs typeface="Calibri"/>
                <a:sym typeface="Calibri"/>
              </a:rPr>
              <a:t>mémoire CT</a:t>
            </a:r>
            <a:endParaRPr sz="600">
              <a:solidFill>
                <a:srgbClr val="0E9C8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7" name="Google Shape;1667;p77"/>
          <p:cNvSpPr txBox="1"/>
          <p:nvPr/>
        </p:nvSpPr>
        <p:spPr>
          <a:xfrm>
            <a:off x="2780476" y="2950552"/>
            <a:ext cx="358500" cy="12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 sz="600">
                <a:solidFill>
                  <a:srgbClr val="0E9C8A"/>
                </a:solidFill>
                <a:latin typeface="Calibri"/>
                <a:ea typeface="Calibri"/>
                <a:cs typeface="Calibri"/>
                <a:sym typeface="Calibri"/>
              </a:rPr>
              <a:t>géo</a:t>
            </a:r>
            <a:endParaRPr sz="600">
              <a:solidFill>
                <a:srgbClr val="0E9C8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8" name="Google Shape;1668;p77"/>
          <p:cNvSpPr txBox="1"/>
          <p:nvPr/>
        </p:nvSpPr>
        <p:spPr>
          <a:xfrm>
            <a:off x="7232825" y="4367250"/>
            <a:ext cx="1755600" cy="68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600">
                <a:solidFill>
                  <a:srgbClr val="8A93A6"/>
                </a:solidFill>
                <a:latin typeface="Calibri"/>
                <a:ea typeface="Calibri"/>
                <a:cs typeface="Calibri"/>
                <a:sym typeface="Calibri"/>
              </a:rPr>
              <a:t>Sources externes</a:t>
            </a:r>
            <a:endParaRPr sz="600">
              <a:solidFill>
                <a:srgbClr val="8A93A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600">
                <a:solidFill>
                  <a:srgbClr val="8A93A6"/>
                </a:solidFill>
                <a:latin typeface="Calibri"/>
                <a:ea typeface="Calibri"/>
                <a:cs typeface="Calibri"/>
                <a:sym typeface="Calibri"/>
              </a:rPr>
              <a:t>Ingestion (Kestra)</a:t>
            </a:r>
            <a:endParaRPr sz="600">
              <a:solidFill>
                <a:srgbClr val="8A93A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600">
                <a:solidFill>
                  <a:srgbClr val="8A93A6"/>
                </a:solidFill>
                <a:latin typeface="Calibri"/>
                <a:ea typeface="Calibri"/>
                <a:cs typeface="Calibri"/>
                <a:sym typeface="Calibri"/>
              </a:rPr>
              <a:t>Stockage (PostgreSQL / Redis / Object storage)</a:t>
            </a:r>
            <a:endParaRPr sz="600">
              <a:solidFill>
                <a:srgbClr val="8A93A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600">
                <a:solidFill>
                  <a:srgbClr val="8A93A6"/>
                </a:solidFill>
                <a:latin typeface="Calibri"/>
                <a:ea typeface="Calibri"/>
                <a:cs typeface="Calibri"/>
                <a:sym typeface="Calibri"/>
              </a:rPr>
              <a:t>Applications (API + agent)</a:t>
            </a:r>
            <a:endParaRPr sz="600">
              <a:solidFill>
                <a:srgbClr val="8A93A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600">
                <a:solidFill>
                  <a:srgbClr val="8A93A6"/>
                </a:solidFill>
                <a:latin typeface="Calibri"/>
                <a:ea typeface="Calibri"/>
                <a:cs typeface="Calibri"/>
                <a:sym typeface="Calibri"/>
              </a:rPr>
              <a:t>Observabilité</a:t>
            </a:r>
            <a:endParaRPr sz="600">
              <a:solidFill>
                <a:srgbClr val="8A93A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9" name="Google Shape;1669;p77"/>
          <p:cNvSpPr txBox="1"/>
          <p:nvPr/>
        </p:nvSpPr>
        <p:spPr>
          <a:xfrm>
            <a:off x="377200" y="233175"/>
            <a:ext cx="2286900" cy="45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9050" lIns="0" spcFirstLastPara="1" rIns="0" wrap="square" tIns="190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1800">
                <a:solidFill>
                  <a:srgbClr val="0E9C8A"/>
                </a:solidFill>
                <a:latin typeface="Calibri"/>
                <a:ea typeface="Calibri"/>
                <a:cs typeface="Calibri"/>
                <a:sym typeface="Calibri"/>
              </a:rPr>
              <a:t>L’architecture du MVP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4" name="Shape 16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5" name="Google Shape;1675;p78"/>
          <p:cNvSpPr txBox="1"/>
          <p:nvPr/>
        </p:nvSpPr>
        <p:spPr>
          <a:xfrm>
            <a:off x="377200" y="675550"/>
            <a:ext cx="26754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9050" lIns="0" spcFirstLastPara="1" rIns="0" wrap="square" tIns="190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1100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Architecture MVP - chatbot RAG Puls-EVents</a:t>
            </a:r>
            <a:endParaRPr b="1" sz="1100">
              <a:solidFill>
                <a:srgbClr val="9CA3A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6" name="Google Shape;1676;p78"/>
          <p:cNvSpPr txBox="1"/>
          <p:nvPr/>
        </p:nvSpPr>
        <p:spPr>
          <a:xfrm>
            <a:off x="377200" y="4945850"/>
            <a:ext cx="999000" cy="166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700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MVP RAG Puls-Events</a:t>
            </a:r>
            <a:endParaRPr sz="700">
              <a:solidFill>
                <a:srgbClr val="9CA3A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7" name="Google Shape;1677;p78"/>
          <p:cNvSpPr/>
          <p:nvPr/>
        </p:nvSpPr>
        <p:spPr>
          <a:xfrm>
            <a:off x="64125" y="1631700"/>
            <a:ext cx="8941200" cy="2605500"/>
          </a:xfrm>
          <a:prstGeom prst="roundRect">
            <a:avLst>
              <a:gd fmla="val 6000" name="adj"/>
            </a:avLst>
          </a:prstGeom>
          <a:noFill/>
          <a:ln cap="flat" cmpd="sng" w="9525">
            <a:solidFill>
              <a:srgbClr val="B07BC2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8" name="Google Shape;1678;p78"/>
          <p:cNvSpPr/>
          <p:nvPr/>
        </p:nvSpPr>
        <p:spPr>
          <a:xfrm>
            <a:off x="499800" y="980277"/>
            <a:ext cx="2286000" cy="521400"/>
          </a:xfrm>
          <a:prstGeom prst="roundRect">
            <a:avLst>
              <a:gd fmla="val 16667" name="adj"/>
            </a:avLst>
          </a:prstGeom>
          <a:solidFill>
            <a:srgbClr val="9CA3AF">
              <a:alpha val="6960"/>
            </a:srgbClr>
          </a:solidFill>
          <a:ln cap="flat" cmpd="sng" w="12700">
            <a:solidFill>
              <a:srgbClr val="9CA3A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6575" lIns="91425" spcFirstLastPara="1" rIns="73150" wrap="square" tIns="365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800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Opendatasoft API</a:t>
            </a:r>
            <a:endParaRPr b="1" sz="800">
              <a:solidFill>
                <a:srgbClr val="9CA3A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600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events Open Agenda</a:t>
            </a:r>
            <a:endParaRPr b="1" sz="600">
              <a:solidFill>
                <a:srgbClr val="9CA3A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9" name="Google Shape;1679;p78"/>
          <p:cNvSpPr/>
          <p:nvPr/>
        </p:nvSpPr>
        <p:spPr>
          <a:xfrm>
            <a:off x="3429000" y="979502"/>
            <a:ext cx="2286000" cy="521400"/>
          </a:xfrm>
          <a:prstGeom prst="roundRect">
            <a:avLst>
              <a:gd fmla="val 16667" name="adj"/>
            </a:avLst>
          </a:prstGeom>
          <a:solidFill>
            <a:srgbClr val="9CA3AF">
              <a:alpha val="6960"/>
            </a:srgbClr>
          </a:solidFill>
          <a:ln cap="flat" cmpd="sng" w="12700">
            <a:solidFill>
              <a:srgbClr val="9CA3A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6575" lIns="91425" spcFirstLastPara="1" rIns="73150" wrap="square" tIns="365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800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Mistral API (UE)</a:t>
            </a:r>
            <a:endParaRPr b="1" sz="800">
              <a:solidFill>
                <a:srgbClr val="9CA3A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600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embeddings + LLM</a:t>
            </a:r>
            <a:endParaRPr b="1" sz="600">
              <a:solidFill>
                <a:srgbClr val="9CA3A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0" name="Google Shape;1680;p78"/>
          <p:cNvSpPr/>
          <p:nvPr/>
        </p:nvSpPr>
        <p:spPr>
          <a:xfrm>
            <a:off x="576219" y="1831125"/>
            <a:ext cx="1578000" cy="359700"/>
          </a:xfrm>
          <a:prstGeom prst="roundRect">
            <a:avLst>
              <a:gd fmla="val 16667" name="adj"/>
            </a:avLst>
          </a:prstGeom>
          <a:solidFill>
            <a:srgbClr val="923E22">
              <a:alpha val="7999"/>
            </a:srgbClr>
          </a:solidFill>
          <a:ln cap="flat" cmpd="sng" w="9525">
            <a:solidFill>
              <a:srgbClr val="923E2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800">
                <a:solidFill>
                  <a:srgbClr val="923E22"/>
                </a:solidFill>
                <a:latin typeface="Calibri"/>
                <a:ea typeface="Calibri"/>
                <a:cs typeface="Calibri"/>
                <a:sym typeface="Calibri"/>
              </a:rPr>
              <a:t>Kestra</a:t>
            </a:r>
            <a:r>
              <a:rPr lang="fr" sz="600">
                <a:solidFill>
                  <a:srgbClr val="923E22"/>
                </a:solidFill>
                <a:latin typeface="Calibri"/>
                <a:ea typeface="Calibri"/>
                <a:cs typeface="Calibri"/>
                <a:sym typeface="Calibri"/>
              </a:rPr>
              <a:t> - ingestion planifiée</a:t>
            </a:r>
            <a:endParaRPr sz="600">
              <a:solidFill>
                <a:srgbClr val="923E2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 sz="600">
                <a:solidFill>
                  <a:srgbClr val="923E22"/>
                </a:solidFill>
                <a:latin typeface="Calibri"/>
                <a:ea typeface="Calibri"/>
                <a:cs typeface="Calibri"/>
                <a:sym typeface="Calibri"/>
              </a:rPr>
              <a:t>fetch ⇒ clean ⇒ embed ⇒ upsert</a:t>
            </a:r>
            <a:endParaRPr sz="600">
              <a:solidFill>
                <a:srgbClr val="923E2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1" name="Google Shape;1681;p78"/>
          <p:cNvSpPr/>
          <p:nvPr/>
        </p:nvSpPr>
        <p:spPr>
          <a:xfrm>
            <a:off x="562125" y="2350491"/>
            <a:ext cx="1578000" cy="521400"/>
          </a:xfrm>
          <a:prstGeom prst="roundRect">
            <a:avLst>
              <a:gd fmla="val 16667" name="adj"/>
            </a:avLst>
          </a:prstGeom>
          <a:solidFill>
            <a:srgbClr val="0000FF">
              <a:alpha val="14000"/>
            </a:srgbClr>
          </a:solidFill>
          <a:ln cap="flat" cmpd="sng" w="9525">
            <a:solidFill>
              <a:srgbClr val="00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800">
                <a:solidFill>
                  <a:srgbClr val="3C78D8"/>
                </a:solidFill>
                <a:latin typeface="Calibri"/>
                <a:ea typeface="Calibri"/>
                <a:cs typeface="Calibri"/>
                <a:sym typeface="Calibri"/>
              </a:rPr>
              <a:t>Managed PostgreSQL</a:t>
            </a:r>
            <a:endParaRPr b="1" sz="800">
              <a:solidFill>
                <a:srgbClr val="3C78D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66700" lvl="0" marL="457200" rtl="0" algn="l">
              <a:spcBef>
                <a:spcPts val="0"/>
              </a:spcBef>
              <a:spcAft>
                <a:spcPts val="0"/>
              </a:spcAft>
              <a:buClr>
                <a:srgbClr val="3C78D8"/>
              </a:buClr>
              <a:buSzPts val="600"/>
              <a:buFont typeface="Calibri"/>
              <a:buChar char="●"/>
            </a:pPr>
            <a:r>
              <a:rPr lang="fr" sz="600">
                <a:solidFill>
                  <a:srgbClr val="3C78D8"/>
                </a:solidFill>
                <a:latin typeface="Calibri"/>
                <a:ea typeface="Calibri"/>
                <a:cs typeface="Calibri"/>
                <a:sym typeface="Calibri"/>
              </a:rPr>
              <a:t>pgvector (embeddings)</a:t>
            </a:r>
            <a:endParaRPr sz="600">
              <a:solidFill>
                <a:srgbClr val="3C78D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66700" lvl="0" marL="457200" rtl="0" algn="l">
              <a:spcBef>
                <a:spcPts val="0"/>
              </a:spcBef>
              <a:spcAft>
                <a:spcPts val="0"/>
              </a:spcAft>
              <a:buClr>
                <a:srgbClr val="3C78D8"/>
              </a:buClr>
              <a:buSzPts val="600"/>
              <a:buFont typeface="Calibri"/>
              <a:buChar char="●"/>
            </a:pPr>
            <a:r>
              <a:rPr lang="fr" sz="600">
                <a:solidFill>
                  <a:srgbClr val="3C78D8"/>
                </a:solidFill>
                <a:latin typeface="Calibri"/>
                <a:ea typeface="Calibri"/>
                <a:cs typeface="Calibri"/>
                <a:sym typeface="Calibri"/>
              </a:rPr>
              <a:t>PostGIS (géo)</a:t>
            </a:r>
            <a:endParaRPr sz="600">
              <a:solidFill>
                <a:srgbClr val="3C78D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66700" lvl="0" marL="457200" rtl="0" algn="l">
              <a:spcBef>
                <a:spcPts val="0"/>
              </a:spcBef>
              <a:spcAft>
                <a:spcPts val="0"/>
              </a:spcAft>
              <a:buClr>
                <a:srgbClr val="3C78D8"/>
              </a:buClr>
              <a:buSzPts val="600"/>
              <a:buFont typeface="Calibri"/>
              <a:buChar char="●"/>
            </a:pPr>
            <a:r>
              <a:rPr lang="fr" sz="600">
                <a:solidFill>
                  <a:srgbClr val="3C78D8"/>
                </a:solidFill>
                <a:latin typeface="Calibri"/>
                <a:ea typeface="Calibri"/>
                <a:cs typeface="Calibri"/>
                <a:sym typeface="Calibri"/>
              </a:rPr>
              <a:t>relationnel + mémoire LT</a:t>
            </a:r>
            <a:endParaRPr sz="600">
              <a:solidFill>
                <a:srgbClr val="3C78D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2" name="Google Shape;1682;p78"/>
          <p:cNvSpPr/>
          <p:nvPr/>
        </p:nvSpPr>
        <p:spPr>
          <a:xfrm>
            <a:off x="562125" y="3030722"/>
            <a:ext cx="1578000" cy="303000"/>
          </a:xfrm>
          <a:prstGeom prst="roundRect">
            <a:avLst>
              <a:gd fmla="val 16667" name="adj"/>
            </a:avLst>
          </a:prstGeom>
          <a:solidFill>
            <a:srgbClr val="0000FF">
              <a:alpha val="7999"/>
            </a:srgbClr>
          </a:solidFill>
          <a:ln cap="flat" cmpd="sng" w="9525">
            <a:solidFill>
              <a:srgbClr val="00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800">
                <a:solidFill>
                  <a:srgbClr val="3C78D8"/>
                </a:solidFill>
                <a:latin typeface="Calibri"/>
                <a:ea typeface="Calibri"/>
                <a:cs typeface="Calibri"/>
                <a:sym typeface="Calibri"/>
              </a:rPr>
              <a:t>Managed Redis</a:t>
            </a:r>
            <a:endParaRPr b="1" sz="800">
              <a:solidFill>
                <a:srgbClr val="3C78D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 sz="600">
                <a:solidFill>
                  <a:srgbClr val="3C78D8"/>
                </a:solidFill>
                <a:latin typeface="Calibri"/>
                <a:ea typeface="Calibri"/>
                <a:cs typeface="Calibri"/>
                <a:sym typeface="Calibri"/>
              </a:rPr>
              <a:t>mémoire court terme / session</a:t>
            </a:r>
            <a:endParaRPr sz="600">
              <a:solidFill>
                <a:srgbClr val="3C78D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3" name="Google Shape;1683;p78"/>
          <p:cNvSpPr/>
          <p:nvPr/>
        </p:nvSpPr>
        <p:spPr>
          <a:xfrm>
            <a:off x="562125" y="3492525"/>
            <a:ext cx="1578000" cy="303000"/>
          </a:xfrm>
          <a:prstGeom prst="roundRect">
            <a:avLst>
              <a:gd fmla="val 16667" name="adj"/>
            </a:avLst>
          </a:prstGeom>
          <a:solidFill>
            <a:srgbClr val="0000FF">
              <a:alpha val="3999"/>
            </a:srgbClr>
          </a:solidFill>
          <a:ln cap="flat" cmpd="sng" w="9525">
            <a:solidFill>
              <a:srgbClr val="00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800">
                <a:solidFill>
                  <a:srgbClr val="3C78D8"/>
                </a:solidFill>
                <a:latin typeface="Calibri"/>
                <a:ea typeface="Calibri"/>
                <a:cs typeface="Calibri"/>
                <a:sym typeface="Calibri"/>
              </a:rPr>
              <a:t>Object storage</a:t>
            </a:r>
            <a:r>
              <a:rPr lang="fr" sz="800">
                <a:solidFill>
                  <a:srgbClr val="3C78D8"/>
                </a:solidFill>
                <a:latin typeface="Calibri"/>
                <a:ea typeface="Calibri"/>
                <a:cs typeface="Calibri"/>
                <a:sym typeface="Calibri"/>
              </a:rPr>
              <a:t> S3</a:t>
            </a:r>
            <a:endParaRPr sz="800">
              <a:solidFill>
                <a:srgbClr val="3C78D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4" name="Google Shape;1684;p78"/>
          <p:cNvSpPr/>
          <p:nvPr/>
        </p:nvSpPr>
        <p:spPr>
          <a:xfrm>
            <a:off x="3234300" y="1858100"/>
            <a:ext cx="2675400" cy="2257800"/>
          </a:xfrm>
          <a:prstGeom prst="roundRect">
            <a:avLst>
              <a:gd fmla="val 16667" name="adj"/>
            </a:avLst>
          </a:prstGeom>
          <a:solidFill>
            <a:srgbClr val="0E9C8A">
              <a:alpha val="7999"/>
            </a:srgbClr>
          </a:solidFill>
          <a:ln cap="flat" cmpd="sng" w="9525">
            <a:solidFill>
              <a:srgbClr val="0E9C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5" name="Google Shape;1685;p78"/>
          <p:cNvSpPr/>
          <p:nvPr/>
        </p:nvSpPr>
        <p:spPr>
          <a:xfrm>
            <a:off x="3431358" y="2172800"/>
            <a:ext cx="2270400" cy="521400"/>
          </a:xfrm>
          <a:prstGeom prst="roundRect">
            <a:avLst>
              <a:gd fmla="val 16667" name="adj"/>
            </a:avLst>
          </a:prstGeom>
          <a:solidFill>
            <a:srgbClr val="0E9C8A">
              <a:alpha val="23999"/>
            </a:srgbClr>
          </a:solidFill>
          <a:ln cap="flat" cmpd="sng" w="9525">
            <a:solidFill>
              <a:srgbClr val="0E9C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800">
                <a:solidFill>
                  <a:srgbClr val="0E9C8A"/>
                </a:solidFill>
                <a:latin typeface="Calibri"/>
                <a:ea typeface="Calibri"/>
                <a:cs typeface="Calibri"/>
                <a:sym typeface="Calibri"/>
              </a:rPr>
              <a:t>Agents smolagents</a:t>
            </a:r>
            <a:endParaRPr b="1" sz="800">
              <a:solidFill>
                <a:srgbClr val="0E9C8A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 sz="600">
                <a:solidFill>
                  <a:srgbClr val="0E9C8A"/>
                </a:solidFill>
                <a:latin typeface="Calibri"/>
                <a:ea typeface="Calibri"/>
                <a:cs typeface="Calibri"/>
                <a:sym typeface="Calibri"/>
              </a:rPr>
              <a:t>(orchestration des outils)</a:t>
            </a:r>
            <a:endParaRPr sz="600">
              <a:solidFill>
                <a:srgbClr val="0E9C8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6" name="Google Shape;1686;p78"/>
          <p:cNvSpPr/>
          <p:nvPr/>
        </p:nvSpPr>
        <p:spPr>
          <a:xfrm>
            <a:off x="3431458" y="2799875"/>
            <a:ext cx="1041900" cy="340800"/>
          </a:xfrm>
          <a:prstGeom prst="roundRect">
            <a:avLst>
              <a:gd fmla="val 16667" name="adj"/>
            </a:avLst>
          </a:prstGeom>
          <a:solidFill>
            <a:srgbClr val="0E9C8A">
              <a:alpha val="15999"/>
            </a:srgbClr>
          </a:solidFill>
          <a:ln cap="flat" cmpd="sng" w="9525">
            <a:solidFill>
              <a:srgbClr val="0E9C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800">
                <a:solidFill>
                  <a:srgbClr val="0E9C8A"/>
                </a:solidFill>
                <a:latin typeface="Calibri"/>
                <a:ea typeface="Calibri"/>
                <a:cs typeface="Calibri"/>
                <a:sym typeface="Calibri"/>
              </a:rPr>
              <a:t>outil RAG</a:t>
            </a:r>
            <a:endParaRPr b="1" sz="800">
              <a:solidFill>
                <a:srgbClr val="0E9C8A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 sz="600">
                <a:solidFill>
                  <a:srgbClr val="0E9C8A"/>
                </a:solidFill>
                <a:latin typeface="Calibri"/>
                <a:ea typeface="Calibri"/>
                <a:cs typeface="Calibri"/>
                <a:sym typeface="Calibri"/>
              </a:rPr>
              <a:t>(LangChain hybride)</a:t>
            </a:r>
            <a:endParaRPr sz="600">
              <a:solidFill>
                <a:srgbClr val="0E9C8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7" name="Google Shape;1687;p78"/>
          <p:cNvSpPr txBox="1"/>
          <p:nvPr/>
        </p:nvSpPr>
        <p:spPr>
          <a:xfrm>
            <a:off x="3560475" y="1932625"/>
            <a:ext cx="19485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800">
                <a:solidFill>
                  <a:srgbClr val="0E9C8A"/>
                </a:solidFill>
                <a:latin typeface="Calibri"/>
                <a:ea typeface="Calibri"/>
                <a:cs typeface="Calibri"/>
                <a:sym typeface="Calibri"/>
              </a:rPr>
              <a:t>Serverless Containers - API FastAPI (SSE)</a:t>
            </a:r>
            <a:endParaRPr b="1" sz="800">
              <a:solidFill>
                <a:srgbClr val="0E9C8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8" name="Google Shape;1688;p78"/>
          <p:cNvSpPr/>
          <p:nvPr/>
        </p:nvSpPr>
        <p:spPr>
          <a:xfrm>
            <a:off x="4704742" y="3246350"/>
            <a:ext cx="1012500" cy="340800"/>
          </a:xfrm>
          <a:prstGeom prst="roundRect">
            <a:avLst>
              <a:gd fmla="val 16667" name="adj"/>
            </a:avLst>
          </a:prstGeom>
          <a:solidFill>
            <a:srgbClr val="0E9C8A">
              <a:alpha val="15999"/>
            </a:srgbClr>
          </a:solidFill>
          <a:ln cap="flat" cmpd="sng" w="9525">
            <a:solidFill>
              <a:srgbClr val="0E9C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800">
                <a:solidFill>
                  <a:srgbClr val="0E9C8A"/>
                </a:solidFill>
                <a:latin typeface="Calibri"/>
                <a:ea typeface="Calibri"/>
                <a:cs typeface="Calibri"/>
                <a:sym typeface="Calibri"/>
              </a:rPr>
              <a:t>outil mémoire</a:t>
            </a:r>
            <a:endParaRPr b="1" sz="800">
              <a:solidFill>
                <a:srgbClr val="0E9C8A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 sz="600">
                <a:solidFill>
                  <a:srgbClr val="0E9C8A"/>
                </a:solidFill>
                <a:latin typeface="Calibri"/>
                <a:ea typeface="Calibri"/>
                <a:cs typeface="Calibri"/>
                <a:sym typeface="Calibri"/>
              </a:rPr>
              <a:t>(Redis + PG)</a:t>
            </a:r>
            <a:endParaRPr sz="600">
              <a:solidFill>
                <a:srgbClr val="0E9C8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9" name="Google Shape;1689;p78"/>
          <p:cNvSpPr/>
          <p:nvPr/>
        </p:nvSpPr>
        <p:spPr>
          <a:xfrm>
            <a:off x="3426758" y="3246355"/>
            <a:ext cx="1041900" cy="340800"/>
          </a:xfrm>
          <a:prstGeom prst="roundRect">
            <a:avLst>
              <a:gd fmla="val 16667" name="adj"/>
            </a:avLst>
          </a:prstGeom>
          <a:solidFill>
            <a:srgbClr val="0E9C8A">
              <a:alpha val="15999"/>
            </a:srgbClr>
          </a:solidFill>
          <a:ln cap="flat" cmpd="sng" w="9525">
            <a:solidFill>
              <a:srgbClr val="0E9C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fr" sz="800">
                <a:solidFill>
                  <a:srgbClr val="0E9C8A"/>
                </a:solidFill>
                <a:latin typeface="Calibri"/>
                <a:ea typeface="Calibri"/>
                <a:cs typeface="Calibri"/>
                <a:sym typeface="Calibri"/>
              </a:rPr>
              <a:t>outil géo</a:t>
            </a:r>
            <a:endParaRPr b="1" sz="800">
              <a:solidFill>
                <a:srgbClr val="0E9C8A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fr" sz="600">
                <a:solidFill>
                  <a:srgbClr val="0E9C8A"/>
                </a:solidFill>
                <a:latin typeface="Calibri"/>
                <a:ea typeface="Calibri"/>
                <a:cs typeface="Calibri"/>
                <a:sym typeface="Calibri"/>
              </a:rPr>
              <a:t>(PostGIS)</a:t>
            </a:r>
            <a:endParaRPr/>
          </a:p>
        </p:txBody>
      </p:sp>
      <p:sp>
        <p:nvSpPr>
          <p:cNvPr id="1690" name="Google Shape;1690;p78"/>
          <p:cNvSpPr/>
          <p:nvPr/>
        </p:nvSpPr>
        <p:spPr>
          <a:xfrm>
            <a:off x="2967450" y="4523300"/>
            <a:ext cx="3209100" cy="329700"/>
          </a:xfrm>
          <a:prstGeom prst="roundRect">
            <a:avLst>
              <a:gd fmla="val 16667" name="adj"/>
            </a:avLst>
          </a:prstGeom>
          <a:solidFill>
            <a:srgbClr val="F4F4F5"/>
          </a:solidFill>
          <a:ln cap="flat" cmpd="sng" w="9525">
            <a:solidFill>
              <a:srgbClr val="222A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800">
                <a:solidFill>
                  <a:srgbClr val="222A3A"/>
                </a:solidFill>
                <a:latin typeface="Calibri"/>
                <a:ea typeface="Calibri"/>
                <a:cs typeface="Calibri"/>
                <a:sym typeface="Calibri"/>
              </a:rPr>
              <a:t>frontend web / Utilisateurs</a:t>
            </a:r>
            <a:endParaRPr b="1" sz="800">
              <a:solidFill>
                <a:srgbClr val="222A3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1" name="Google Shape;1691;p78"/>
          <p:cNvSpPr txBox="1"/>
          <p:nvPr/>
        </p:nvSpPr>
        <p:spPr>
          <a:xfrm>
            <a:off x="4586100" y="4275550"/>
            <a:ext cx="1090200" cy="20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 sz="600">
                <a:solidFill>
                  <a:srgbClr val="F4F4F5"/>
                </a:solidFill>
                <a:latin typeface="Calibri"/>
                <a:ea typeface="Calibri"/>
                <a:cs typeface="Calibri"/>
                <a:sym typeface="Calibri"/>
              </a:rPr>
              <a:t>question ⇒ / réponse SSE ⇐</a:t>
            </a:r>
            <a:endParaRPr sz="600">
              <a:solidFill>
                <a:srgbClr val="F4F4F5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 sz="600">
                <a:solidFill>
                  <a:srgbClr val="F4F4F5"/>
                </a:solidFill>
                <a:latin typeface="Calibri"/>
                <a:ea typeface="Calibri"/>
                <a:cs typeface="Calibri"/>
                <a:sym typeface="Calibri"/>
              </a:rPr>
              <a:t>(HTTPS/SSE)</a:t>
            </a:r>
            <a:endParaRPr sz="600">
              <a:solidFill>
                <a:srgbClr val="F4F4F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692" name="Google Shape;1692;p78"/>
          <p:cNvCxnSpPr>
            <a:endCxn id="1680" idx="0"/>
          </p:cNvCxnSpPr>
          <p:nvPr/>
        </p:nvCxnSpPr>
        <p:spPr>
          <a:xfrm flipH="1">
            <a:off x="1365219" y="1511925"/>
            <a:ext cx="2100" cy="319200"/>
          </a:xfrm>
          <a:prstGeom prst="straightConnector1">
            <a:avLst/>
          </a:prstGeom>
          <a:noFill/>
          <a:ln cap="flat" cmpd="sng" w="9525">
            <a:solidFill>
              <a:srgbClr val="923E2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693" name="Google Shape;1693;p78"/>
          <p:cNvCxnSpPr>
            <a:stCxn id="1680" idx="3"/>
            <a:endCxn id="1679" idx="1"/>
          </p:cNvCxnSpPr>
          <p:nvPr/>
        </p:nvCxnSpPr>
        <p:spPr>
          <a:xfrm flipH="1" rot="10800000">
            <a:off x="2154219" y="1240275"/>
            <a:ext cx="1274700" cy="770700"/>
          </a:xfrm>
          <a:prstGeom prst="curvedConnector3">
            <a:avLst>
              <a:gd fmla="val 50003" name="adj1"/>
            </a:avLst>
          </a:prstGeom>
          <a:noFill/>
          <a:ln cap="flat" cmpd="sng" w="9525">
            <a:solidFill>
              <a:srgbClr val="923E22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1694" name="Google Shape;1694;p78"/>
          <p:cNvCxnSpPr>
            <a:stCxn id="1680" idx="2"/>
            <a:endCxn id="1681" idx="0"/>
          </p:cNvCxnSpPr>
          <p:nvPr/>
        </p:nvCxnSpPr>
        <p:spPr>
          <a:xfrm flipH="1">
            <a:off x="1351119" y="2190825"/>
            <a:ext cx="14100" cy="159600"/>
          </a:xfrm>
          <a:prstGeom prst="straightConnector1">
            <a:avLst/>
          </a:prstGeom>
          <a:noFill/>
          <a:ln cap="flat" cmpd="sng" w="9525">
            <a:solidFill>
              <a:srgbClr val="923E2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695" name="Google Shape;1695;p78"/>
          <p:cNvCxnSpPr>
            <a:stCxn id="1686" idx="1"/>
            <a:endCxn id="1681" idx="3"/>
          </p:cNvCxnSpPr>
          <p:nvPr/>
        </p:nvCxnSpPr>
        <p:spPr>
          <a:xfrm rot="10800000">
            <a:off x="2140258" y="2611175"/>
            <a:ext cx="1291200" cy="359100"/>
          </a:xfrm>
          <a:prstGeom prst="curvedConnector3">
            <a:avLst>
              <a:gd fmla="val 50005" name="adj1"/>
            </a:avLst>
          </a:prstGeom>
          <a:noFill/>
          <a:ln cap="flat" cmpd="sng" w="9525">
            <a:solidFill>
              <a:srgbClr val="0E9C8A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96" name="Google Shape;1696;p78"/>
          <p:cNvCxnSpPr>
            <a:stCxn id="1688" idx="3"/>
            <a:endCxn id="1682" idx="3"/>
          </p:cNvCxnSpPr>
          <p:nvPr/>
        </p:nvCxnSpPr>
        <p:spPr>
          <a:xfrm rot="10800000">
            <a:off x="2140042" y="3182150"/>
            <a:ext cx="3577200" cy="234600"/>
          </a:xfrm>
          <a:prstGeom prst="curvedConnector5">
            <a:avLst>
              <a:gd fmla="val -1538" name="adj1"/>
              <a:gd fmla="val -227526" name="adj2"/>
              <a:gd fmla="val 77179" name="adj3"/>
            </a:avLst>
          </a:prstGeom>
          <a:noFill/>
          <a:ln cap="flat" cmpd="sng" w="9525">
            <a:solidFill>
              <a:srgbClr val="0E9C8A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97" name="Google Shape;1697;p78"/>
          <p:cNvCxnSpPr>
            <a:stCxn id="1680" idx="1"/>
            <a:endCxn id="1683" idx="1"/>
          </p:cNvCxnSpPr>
          <p:nvPr/>
        </p:nvCxnSpPr>
        <p:spPr>
          <a:xfrm flipH="1">
            <a:off x="562119" y="2010975"/>
            <a:ext cx="14100" cy="1633200"/>
          </a:xfrm>
          <a:prstGeom prst="curvedConnector3">
            <a:avLst>
              <a:gd fmla="val 1788788" name="adj1"/>
            </a:avLst>
          </a:prstGeom>
          <a:noFill/>
          <a:ln cap="flat" cmpd="sng" w="9525">
            <a:solidFill>
              <a:srgbClr val="923E2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698" name="Google Shape;1698;p78"/>
          <p:cNvSpPr txBox="1"/>
          <p:nvPr/>
        </p:nvSpPr>
        <p:spPr>
          <a:xfrm>
            <a:off x="21775" y="2444838"/>
            <a:ext cx="399300" cy="12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 sz="600">
                <a:solidFill>
                  <a:srgbClr val="923E22"/>
                </a:solidFill>
                <a:latin typeface="Calibri"/>
                <a:ea typeface="Calibri"/>
                <a:cs typeface="Calibri"/>
                <a:sym typeface="Calibri"/>
              </a:rPr>
              <a:t>dump</a:t>
            </a:r>
            <a:endParaRPr sz="600">
              <a:solidFill>
                <a:srgbClr val="923E2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9" name="Google Shape;1699;p78"/>
          <p:cNvSpPr txBox="1"/>
          <p:nvPr/>
        </p:nvSpPr>
        <p:spPr>
          <a:xfrm>
            <a:off x="1310800" y="2206363"/>
            <a:ext cx="399300" cy="12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 sz="600">
                <a:solidFill>
                  <a:srgbClr val="923E22"/>
                </a:solidFill>
                <a:latin typeface="Calibri"/>
                <a:ea typeface="Calibri"/>
                <a:cs typeface="Calibri"/>
                <a:sym typeface="Calibri"/>
              </a:rPr>
              <a:t>upsert</a:t>
            </a:r>
            <a:endParaRPr sz="600">
              <a:solidFill>
                <a:srgbClr val="923E2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0" name="Google Shape;1700;p78"/>
          <p:cNvSpPr txBox="1"/>
          <p:nvPr/>
        </p:nvSpPr>
        <p:spPr>
          <a:xfrm>
            <a:off x="1290360" y="1518088"/>
            <a:ext cx="582600" cy="12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 sz="600">
                <a:solidFill>
                  <a:srgbClr val="923E22"/>
                </a:solidFill>
                <a:latin typeface="Calibri"/>
                <a:ea typeface="Calibri"/>
                <a:cs typeface="Calibri"/>
                <a:sym typeface="Calibri"/>
              </a:rPr>
              <a:t>événements</a:t>
            </a:r>
            <a:endParaRPr sz="600">
              <a:solidFill>
                <a:srgbClr val="923E2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1" name="Google Shape;1701;p78"/>
          <p:cNvSpPr txBox="1"/>
          <p:nvPr/>
        </p:nvSpPr>
        <p:spPr>
          <a:xfrm>
            <a:off x="2517323" y="1775063"/>
            <a:ext cx="582600" cy="12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 sz="600">
                <a:solidFill>
                  <a:srgbClr val="923E22"/>
                </a:solidFill>
                <a:latin typeface="Calibri"/>
                <a:ea typeface="Calibri"/>
                <a:cs typeface="Calibri"/>
                <a:sym typeface="Calibri"/>
              </a:rPr>
              <a:t>embeddings</a:t>
            </a:r>
            <a:endParaRPr sz="600">
              <a:solidFill>
                <a:srgbClr val="923E2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2" name="Google Shape;1702;p78"/>
          <p:cNvSpPr txBox="1"/>
          <p:nvPr/>
        </p:nvSpPr>
        <p:spPr>
          <a:xfrm>
            <a:off x="2619046" y="2657541"/>
            <a:ext cx="486300" cy="12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 sz="600">
                <a:solidFill>
                  <a:srgbClr val="0E9C8A"/>
                </a:solidFill>
                <a:latin typeface="Calibri"/>
                <a:ea typeface="Calibri"/>
                <a:cs typeface="Calibri"/>
                <a:sym typeface="Calibri"/>
              </a:rPr>
              <a:t>retrieval</a:t>
            </a:r>
            <a:endParaRPr sz="600">
              <a:solidFill>
                <a:srgbClr val="0E9C8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3" name="Google Shape;1703;p78"/>
          <p:cNvSpPr txBox="1"/>
          <p:nvPr/>
        </p:nvSpPr>
        <p:spPr>
          <a:xfrm>
            <a:off x="283150" y="3953488"/>
            <a:ext cx="2454600" cy="23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1000">
                <a:solidFill>
                  <a:srgbClr val="B07BC2"/>
                </a:solidFill>
                <a:latin typeface="Calibri"/>
                <a:ea typeface="Calibri"/>
                <a:cs typeface="Calibri"/>
                <a:sym typeface="Calibri"/>
              </a:rPr>
              <a:t>SCALEWAY</a:t>
            </a:r>
            <a:r>
              <a:rPr lang="fr" sz="800">
                <a:solidFill>
                  <a:srgbClr val="B07BC2"/>
                </a:solidFill>
                <a:latin typeface="Calibri"/>
                <a:ea typeface="Calibri"/>
                <a:cs typeface="Calibri"/>
                <a:sym typeface="Calibri"/>
              </a:rPr>
              <a:t> - cloud souverain (UE, hors CLOUD Act) </a:t>
            </a:r>
            <a:endParaRPr sz="800">
              <a:solidFill>
                <a:srgbClr val="B07BC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4" name="Google Shape;1704;p78"/>
          <p:cNvSpPr/>
          <p:nvPr/>
        </p:nvSpPr>
        <p:spPr>
          <a:xfrm>
            <a:off x="7068700" y="4409050"/>
            <a:ext cx="144600" cy="72900"/>
          </a:xfrm>
          <a:prstGeom prst="roundRect">
            <a:avLst>
              <a:gd fmla="val 16667" name="adj"/>
            </a:avLst>
          </a:prstGeom>
          <a:solidFill>
            <a:srgbClr val="9CA3AF">
              <a:alpha val="6960"/>
            </a:srgbClr>
          </a:solidFill>
          <a:ln cap="flat" cmpd="sng" w="9525">
            <a:solidFill>
              <a:srgbClr val="9CA3A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5" name="Google Shape;1705;p78"/>
          <p:cNvSpPr/>
          <p:nvPr/>
        </p:nvSpPr>
        <p:spPr>
          <a:xfrm>
            <a:off x="7068700" y="4550067"/>
            <a:ext cx="144600" cy="72900"/>
          </a:xfrm>
          <a:prstGeom prst="roundRect">
            <a:avLst>
              <a:gd fmla="val 16667" name="adj"/>
            </a:avLst>
          </a:prstGeom>
          <a:solidFill>
            <a:srgbClr val="923E22">
              <a:alpha val="7999"/>
            </a:srgbClr>
          </a:solidFill>
          <a:ln cap="flat" cmpd="sng" w="9525">
            <a:solidFill>
              <a:srgbClr val="923E2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6" name="Google Shape;1706;p78"/>
          <p:cNvSpPr/>
          <p:nvPr/>
        </p:nvSpPr>
        <p:spPr>
          <a:xfrm>
            <a:off x="7068700" y="4962200"/>
            <a:ext cx="144600" cy="72900"/>
          </a:xfrm>
          <a:prstGeom prst="roundRect">
            <a:avLst>
              <a:gd fmla="val 16667" name="adj"/>
            </a:avLst>
          </a:prstGeom>
          <a:solidFill>
            <a:srgbClr val="674EA7">
              <a:alpha val="7999"/>
            </a:srgbClr>
          </a:solidFill>
          <a:ln cap="flat" cmpd="sng" w="9525">
            <a:solidFill>
              <a:srgbClr val="674EA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7" name="Google Shape;1707;p78"/>
          <p:cNvSpPr/>
          <p:nvPr/>
        </p:nvSpPr>
        <p:spPr>
          <a:xfrm>
            <a:off x="7068700" y="4691085"/>
            <a:ext cx="144600" cy="72900"/>
          </a:xfrm>
          <a:prstGeom prst="roundRect">
            <a:avLst>
              <a:gd fmla="val 16667" name="adj"/>
            </a:avLst>
          </a:prstGeom>
          <a:solidFill>
            <a:srgbClr val="0000FF">
              <a:alpha val="14000"/>
            </a:srgbClr>
          </a:solidFill>
          <a:ln cap="flat" cmpd="sng" w="9525">
            <a:solidFill>
              <a:srgbClr val="00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8" name="Google Shape;1708;p78"/>
          <p:cNvSpPr/>
          <p:nvPr/>
        </p:nvSpPr>
        <p:spPr>
          <a:xfrm>
            <a:off x="7068700" y="4825177"/>
            <a:ext cx="144600" cy="72900"/>
          </a:xfrm>
          <a:prstGeom prst="roundRect">
            <a:avLst>
              <a:gd fmla="val 16667" name="adj"/>
            </a:avLst>
          </a:prstGeom>
          <a:solidFill>
            <a:srgbClr val="0E9C8A">
              <a:alpha val="15999"/>
            </a:srgbClr>
          </a:solidFill>
          <a:ln cap="flat" cmpd="sng" w="9525">
            <a:solidFill>
              <a:srgbClr val="0E9C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709" name="Google Shape;1709;p78"/>
          <p:cNvCxnSpPr>
            <a:endCxn id="1684" idx="2"/>
          </p:cNvCxnSpPr>
          <p:nvPr/>
        </p:nvCxnSpPr>
        <p:spPr>
          <a:xfrm rot="10800000">
            <a:off x="4572000" y="4115900"/>
            <a:ext cx="14100" cy="410100"/>
          </a:xfrm>
          <a:prstGeom prst="straightConnector1">
            <a:avLst/>
          </a:prstGeom>
          <a:noFill/>
          <a:ln cap="flat" cmpd="sng" w="9525">
            <a:solidFill>
              <a:srgbClr val="F4F4F5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10" name="Google Shape;1710;p78"/>
          <p:cNvCxnSpPr>
            <a:stCxn id="1689" idx="1"/>
            <a:endCxn id="1681" idx="3"/>
          </p:cNvCxnSpPr>
          <p:nvPr/>
        </p:nvCxnSpPr>
        <p:spPr>
          <a:xfrm rot="10800000">
            <a:off x="2140058" y="2611255"/>
            <a:ext cx="1286700" cy="805500"/>
          </a:xfrm>
          <a:prstGeom prst="curvedConnector3">
            <a:avLst>
              <a:gd fmla="val 44646" name="adj1"/>
            </a:avLst>
          </a:prstGeom>
          <a:noFill/>
          <a:ln cap="flat" cmpd="sng" w="9525">
            <a:solidFill>
              <a:srgbClr val="0E9C8A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11" name="Google Shape;1711;p78"/>
          <p:cNvCxnSpPr>
            <a:stCxn id="1688" idx="2"/>
            <a:endCxn id="1681" idx="3"/>
          </p:cNvCxnSpPr>
          <p:nvPr/>
        </p:nvCxnSpPr>
        <p:spPr>
          <a:xfrm flipH="1" rot="5400000">
            <a:off x="3187642" y="1563800"/>
            <a:ext cx="975900" cy="3070800"/>
          </a:xfrm>
          <a:prstGeom prst="curvedConnector4">
            <a:avLst>
              <a:gd fmla="val -24401" name="adj1"/>
              <a:gd fmla="val 77150" name="adj2"/>
            </a:avLst>
          </a:prstGeom>
          <a:noFill/>
          <a:ln cap="flat" cmpd="sng" w="9525">
            <a:solidFill>
              <a:srgbClr val="0E9C8A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712" name="Google Shape;1712;p78"/>
          <p:cNvSpPr txBox="1"/>
          <p:nvPr/>
        </p:nvSpPr>
        <p:spPr>
          <a:xfrm>
            <a:off x="3979391" y="3716668"/>
            <a:ext cx="582600" cy="12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 sz="600">
                <a:solidFill>
                  <a:srgbClr val="0E9C8A"/>
                </a:solidFill>
                <a:latin typeface="Calibri"/>
                <a:ea typeface="Calibri"/>
                <a:cs typeface="Calibri"/>
                <a:sym typeface="Calibri"/>
              </a:rPr>
              <a:t>mémoire LT</a:t>
            </a:r>
            <a:endParaRPr sz="600">
              <a:solidFill>
                <a:srgbClr val="0E9C8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3" name="Google Shape;1713;p78"/>
          <p:cNvSpPr txBox="1"/>
          <p:nvPr/>
        </p:nvSpPr>
        <p:spPr>
          <a:xfrm>
            <a:off x="4008429" y="3932876"/>
            <a:ext cx="569700" cy="12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 sz="600">
                <a:solidFill>
                  <a:srgbClr val="0E9C8A"/>
                </a:solidFill>
                <a:latin typeface="Calibri"/>
                <a:ea typeface="Calibri"/>
                <a:cs typeface="Calibri"/>
                <a:sym typeface="Calibri"/>
              </a:rPr>
              <a:t>mémoire CT</a:t>
            </a:r>
            <a:endParaRPr sz="600">
              <a:solidFill>
                <a:srgbClr val="0E9C8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4" name="Google Shape;1714;p78"/>
          <p:cNvSpPr txBox="1"/>
          <p:nvPr/>
        </p:nvSpPr>
        <p:spPr>
          <a:xfrm>
            <a:off x="2780476" y="2950552"/>
            <a:ext cx="358500" cy="12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 sz="600">
                <a:solidFill>
                  <a:srgbClr val="0E9C8A"/>
                </a:solidFill>
                <a:latin typeface="Calibri"/>
                <a:ea typeface="Calibri"/>
                <a:cs typeface="Calibri"/>
                <a:sym typeface="Calibri"/>
              </a:rPr>
              <a:t>géo</a:t>
            </a:r>
            <a:endParaRPr sz="600">
              <a:solidFill>
                <a:srgbClr val="0E9C8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5" name="Google Shape;1715;p78"/>
          <p:cNvSpPr txBox="1"/>
          <p:nvPr/>
        </p:nvSpPr>
        <p:spPr>
          <a:xfrm>
            <a:off x="7232825" y="4367250"/>
            <a:ext cx="1755600" cy="68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600">
                <a:solidFill>
                  <a:srgbClr val="8A93A6"/>
                </a:solidFill>
                <a:latin typeface="Calibri"/>
                <a:ea typeface="Calibri"/>
                <a:cs typeface="Calibri"/>
                <a:sym typeface="Calibri"/>
              </a:rPr>
              <a:t>Sources externes</a:t>
            </a:r>
            <a:endParaRPr sz="600">
              <a:solidFill>
                <a:srgbClr val="8A93A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600">
                <a:solidFill>
                  <a:srgbClr val="8A93A6"/>
                </a:solidFill>
                <a:latin typeface="Calibri"/>
                <a:ea typeface="Calibri"/>
                <a:cs typeface="Calibri"/>
                <a:sym typeface="Calibri"/>
              </a:rPr>
              <a:t>Ingestion (Kestra)</a:t>
            </a:r>
            <a:endParaRPr sz="600">
              <a:solidFill>
                <a:srgbClr val="8A93A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600">
                <a:solidFill>
                  <a:srgbClr val="8A93A6"/>
                </a:solidFill>
                <a:latin typeface="Calibri"/>
                <a:ea typeface="Calibri"/>
                <a:cs typeface="Calibri"/>
                <a:sym typeface="Calibri"/>
              </a:rPr>
              <a:t>Stockage (PostgreSQL / Redis / Object storage)</a:t>
            </a:r>
            <a:endParaRPr sz="600">
              <a:solidFill>
                <a:srgbClr val="8A93A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600">
                <a:solidFill>
                  <a:srgbClr val="8A93A6"/>
                </a:solidFill>
                <a:latin typeface="Calibri"/>
                <a:ea typeface="Calibri"/>
                <a:cs typeface="Calibri"/>
                <a:sym typeface="Calibri"/>
              </a:rPr>
              <a:t>Applications (API + agent)</a:t>
            </a:r>
            <a:endParaRPr sz="600">
              <a:solidFill>
                <a:srgbClr val="8A93A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600">
                <a:solidFill>
                  <a:srgbClr val="8A93A6"/>
                </a:solidFill>
                <a:latin typeface="Calibri"/>
                <a:ea typeface="Calibri"/>
                <a:cs typeface="Calibri"/>
                <a:sym typeface="Calibri"/>
              </a:rPr>
              <a:t>Observabilité</a:t>
            </a:r>
            <a:endParaRPr sz="600">
              <a:solidFill>
                <a:srgbClr val="8A93A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6" name="Google Shape;1716;p78"/>
          <p:cNvSpPr txBox="1"/>
          <p:nvPr/>
        </p:nvSpPr>
        <p:spPr>
          <a:xfrm>
            <a:off x="377200" y="233175"/>
            <a:ext cx="2286900" cy="45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9050" lIns="0" spcFirstLastPara="1" rIns="0" wrap="square" tIns="190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1800">
                <a:solidFill>
                  <a:srgbClr val="0E9C8A"/>
                </a:solidFill>
                <a:latin typeface="Calibri"/>
                <a:ea typeface="Calibri"/>
                <a:cs typeface="Calibri"/>
                <a:sym typeface="Calibri"/>
              </a:rPr>
              <a:t>L’architecture du MVP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21" name="Shape 17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2" name="Google Shape;1722;p79"/>
          <p:cNvSpPr txBox="1"/>
          <p:nvPr/>
        </p:nvSpPr>
        <p:spPr>
          <a:xfrm>
            <a:off x="377200" y="675550"/>
            <a:ext cx="26754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9050" lIns="0" spcFirstLastPara="1" rIns="0" wrap="square" tIns="190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1100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Architecture MVP - chatbot RAG Puls-EVents</a:t>
            </a:r>
            <a:endParaRPr b="1" sz="1100">
              <a:solidFill>
                <a:srgbClr val="9CA3A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3" name="Google Shape;1723;p79"/>
          <p:cNvSpPr txBox="1"/>
          <p:nvPr/>
        </p:nvSpPr>
        <p:spPr>
          <a:xfrm>
            <a:off x="377200" y="4945850"/>
            <a:ext cx="999000" cy="166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700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MVP RAG Puls-Events</a:t>
            </a:r>
            <a:endParaRPr sz="700">
              <a:solidFill>
                <a:srgbClr val="9CA3A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4" name="Google Shape;1724;p79"/>
          <p:cNvSpPr/>
          <p:nvPr/>
        </p:nvSpPr>
        <p:spPr>
          <a:xfrm>
            <a:off x="64125" y="1631700"/>
            <a:ext cx="8941200" cy="2605500"/>
          </a:xfrm>
          <a:prstGeom prst="roundRect">
            <a:avLst>
              <a:gd fmla="val 6000" name="adj"/>
            </a:avLst>
          </a:prstGeom>
          <a:noFill/>
          <a:ln cap="flat" cmpd="sng" w="9525">
            <a:solidFill>
              <a:srgbClr val="B07BC2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5" name="Google Shape;1725;p79"/>
          <p:cNvSpPr/>
          <p:nvPr/>
        </p:nvSpPr>
        <p:spPr>
          <a:xfrm>
            <a:off x="499800" y="980277"/>
            <a:ext cx="2286000" cy="521400"/>
          </a:xfrm>
          <a:prstGeom prst="roundRect">
            <a:avLst>
              <a:gd fmla="val 16667" name="adj"/>
            </a:avLst>
          </a:prstGeom>
          <a:solidFill>
            <a:srgbClr val="9CA3AF">
              <a:alpha val="6960"/>
            </a:srgbClr>
          </a:solidFill>
          <a:ln cap="flat" cmpd="sng" w="12700">
            <a:solidFill>
              <a:srgbClr val="9CA3A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6575" lIns="91425" spcFirstLastPara="1" rIns="73150" wrap="square" tIns="365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800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Opendatasoft API</a:t>
            </a:r>
            <a:endParaRPr b="1" sz="800">
              <a:solidFill>
                <a:srgbClr val="9CA3A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600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events Open Agenda</a:t>
            </a:r>
            <a:endParaRPr b="1" sz="600">
              <a:solidFill>
                <a:srgbClr val="9CA3A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6" name="Google Shape;1726;p79"/>
          <p:cNvSpPr/>
          <p:nvPr/>
        </p:nvSpPr>
        <p:spPr>
          <a:xfrm>
            <a:off x="3429000" y="979502"/>
            <a:ext cx="2286000" cy="521400"/>
          </a:xfrm>
          <a:prstGeom prst="roundRect">
            <a:avLst>
              <a:gd fmla="val 16667" name="adj"/>
            </a:avLst>
          </a:prstGeom>
          <a:solidFill>
            <a:srgbClr val="9CA3AF">
              <a:alpha val="6960"/>
            </a:srgbClr>
          </a:solidFill>
          <a:ln cap="flat" cmpd="sng" w="12700">
            <a:solidFill>
              <a:srgbClr val="9CA3A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6575" lIns="91425" spcFirstLastPara="1" rIns="73150" wrap="square" tIns="365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800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Mistral API (UE)</a:t>
            </a:r>
            <a:endParaRPr b="1" sz="800">
              <a:solidFill>
                <a:srgbClr val="9CA3A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600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embeddings + LLM</a:t>
            </a:r>
            <a:endParaRPr b="1" sz="600">
              <a:solidFill>
                <a:srgbClr val="9CA3A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7" name="Google Shape;1727;p79"/>
          <p:cNvSpPr/>
          <p:nvPr/>
        </p:nvSpPr>
        <p:spPr>
          <a:xfrm>
            <a:off x="576219" y="1831125"/>
            <a:ext cx="1578000" cy="359700"/>
          </a:xfrm>
          <a:prstGeom prst="roundRect">
            <a:avLst>
              <a:gd fmla="val 16667" name="adj"/>
            </a:avLst>
          </a:prstGeom>
          <a:solidFill>
            <a:srgbClr val="923E22">
              <a:alpha val="7999"/>
            </a:srgbClr>
          </a:solidFill>
          <a:ln cap="flat" cmpd="sng" w="9525">
            <a:solidFill>
              <a:srgbClr val="923E2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800">
                <a:solidFill>
                  <a:srgbClr val="923E22"/>
                </a:solidFill>
                <a:latin typeface="Calibri"/>
                <a:ea typeface="Calibri"/>
                <a:cs typeface="Calibri"/>
                <a:sym typeface="Calibri"/>
              </a:rPr>
              <a:t>Kestra</a:t>
            </a:r>
            <a:r>
              <a:rPr lang="fr" sz="600">
                <a:solidFill>
                  <a:srgbClr val="923E22"/>
                </a:solidFill>
                <a:latin typeface="Calibri"/>
                <a:ea typeface="Calibri"/>
                <a:cs typeface="Calibri"/>
                <a:sym typeface="Calibri"/>
              </a:rPr>
              <a:t> - ingestion planifiée</a:t>
            </a:r>
            <a:endParaRPr sz="600">
              <a:solidFill>
                <a:srgbClr val="923E2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 sz="600">
                <a:solidFill>
                  <a:srgbClr val="923E22"/>
                </a:solidFill>
                <a:latin typeface="Calibri"/>
                <a:ea typeface="Calibri"/>
                <a:cs typeface="Calibri"/>
                <a:sym typeface="Calibri"/>
              </a:rPr>
              <a:t>fetch ⇒ clean ⇒ embed ⇒ upsert</a:t>
            </a:r>
            <a:endParaRPr sz="600">
              <a:solidFill>
                <a:srgbClr val="923E2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8" name="Google Shape;1728;p79"/>
          <p:cNvSpPr/>
          <p:nvPr/>
        </p:nvSpPr>
        <p:spPr>
          <a:xfrm>
            <a:off x="562125" y="2350491"/>
            <a:ext cx="1578000" cy="521400"/>
          </a:xfrm>
          <a:prstGeom prst="roundRect">
            <a:avLst>
              <a:gd fmla="val 16667" name="adj"/>
            </a:avLst>
          </a:prstGeom>
          <a:solidFill>
            <a:srgbClr val="0000FF">
              <a:alpha val="14000"/>
            </a:srgbClr>
          </a:solidFill>
          <a:ln cap="flat" cmpd="sng" w="9525">
            <a:solidFill>
              <a:srgbClr val="00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800">
                <a:solidFill>
                  <a:srgbClr val="3C78D8"/>
                </a:solidFill>
                <a:latin typeface="Calibri"/>
                <a:ea typeface="Calibri"/>
                <a:cs typeface="Calibri"/>
                <a:sym typeface="Calibri"/>
              </a:rPr>
              <a:t>Managed PostgreSQL</a:t>
            </a:r>
            <a:endParaRPr b="1" sz="800">
              <a:solidFill>
                <a:srgbClr val="3C78D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66700" lvl="0" marL="457200" rtl="0" algn="l">
              <a:spcBef>
                <a:spcPts val="0"/>
              </a:spcBef>
              <a:spcAft>
                <a:spcPts val="0"/>
              </a:spcAft>
              <a:buClr>
                <a:srgbClr val="3C78D8"/>
              </a:buClr>
              <a:buSzPts val="600"/>
              <a:buFont typeface="Calibri"/>
              <a:buChar char="●"/>
            </a:pPr>
            <a:r>
              <a:rPr lang="fr" sz="600">
                <a:solidFill>
                  <a:srgbClr val="3C78D8"/>
                </a:solidFill>
                <a:latin typeface="Calibri"/>
                <a:ea typeface="Calibri"/>
                <a:cs typeface="Calibri"/>
                <a:sym typeface="Calibri"/>
              </a:rPr>
              <a:t>pgvector (embeddings)</a:t>
            </a:r>
            <a:endParaRPr sz="600">
              <a:solidFill>
                <a:srgbClr val="3C78D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66700" lvl="0" marL="457200" rtl="0" algn="l">
              <a:spcBef>
                <a:spcPts val="0"/>
              </a:spcBef>
              <a:spcAft>
                <a:spcPts val="0"/>
              </a:spcAft>
              <a:buClr>
                <a:srgbClr val="3C78D8"/>
              </a:buClr>
              <a:buSzPts val="600"/>
              <a:buFont typeface="Calibri"/>
              <a:buChar char="●"/>
            </a:pPr>
            <a:r>
              <a:rPr lang="fr" sz="600">
                <a:solidFill>
                  <a:srgbClr val="3C78D8"/>
                </a:solidFill>
                <a:latin typeface="Calibri"/>
                <a:ea typeface="Calibri"/>
                <a:cs typeface="Calibri"/>
                <a:sym typeface="Calibri"/>
              </a:rPr>
              <a:t>PostGIS (géo)</a:t>
            </a:r>
            <a:endParaRPr sz="600">
              <a:solidFill>
                <a:srgbClr val="3C78D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66700" lvl="0" marL="457200" rtl="0" algn="l">
              <a:spcBef>
                <a:spcPts val="0"/>
              </a:spcBef>
              <a:spcAft>
                <a:spcPts val="0"/>
              </a:spcAft>
              <a:buClr>
                <a:srgbClr val="3C78D8"/>
              </a:buClr>
              <a:buSzPts val="600"/>
              <a:buFont typeface="Calibri"/>
              <a:buChar char="●"/>
            </a:pPr>
            <a:r>
              <a:rPr lang="fr" sz="600">
                <a:solidFill>
                  <a:srgbClr val="3C78D8"/>
                </a:solidFill>
                <a:latin typeface="Calibri"/>
                <a:ea typeface="Calibri"/>
                <a:cs typeface="Calibri"/>
                <a:sym typeface="Calibri"/>
              </a:rPr>
              <a:t>relationnel + mémoire LT</a:t>
            </a:r>
            <a:endParaRPr sz="600">
              <a:solidFill>
                <a:srgbClr val="3C78D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9" name="Google Shape;1729;p79"/>
          <p:cNvSpPr/>
          <p:nvPr/>
        </p:nvSpPr>
        <p:spPr>
          <a:xfrm>
            <a:off x="562125" y="3030722"/>
            <a:ext cx="1578000" cy="303000"/>
          </a:xfrm>
          <a:prstGeom prst="roundRect">
            <a:avLst>
              <a:gd fmla="val 16667" name="adj"/>
            </a:avLst>
          </a:prstGeom>
          <a:solidFill>
            <a:srgbClr val="0000FF">
              <a:alpha val="7999"/>
            </a:srgbClr>
          </a:solidFill>
          <a:ln cap="flat" cmpd="sng" w="9525">
            <a:solidFill>
              <a:srgbClr val="00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800">
                <a:solidFill>
                  <a:srgbClr val="3C78D8"/>
                </a:solidFill>
                <a:latin typeface="Calibri"/>
                <a:ea typeface="Calibri"/>
                <a:cs typeface="Calibri"/>
                <a:sym typeface="Calibri"/>
              </a:rPr>
              <a:t>Managed Redis</a:t>
            </a:r>
            <a:endParaRPr b="1" sz="800">
              <a:solidFill>
                <a:srgbClr val="3C78D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 sz="600">
                <a:solidFill>
                  <a:srgbClr val="3C78D8"/>
                </a:solidFill>
                <a:latin typeface="Calibri"/>
                <a:ea typeface="Calibri"/>
                <a:cs typeface="Calibri"/>
                <a:sym typeface="Calibri"/>
              </a:rPr>
              <a:t>mémoire court terme / session</a:t>
            </a:r>
            <a:endParaRPr sz="600">
              <a:solidFill>
                <a:srgbClr val="3C78D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0" name="Google Shape;1730;p79"/>
          <p:cNvSpPr/>
          <p:nvPr/>
        </p:nvSpPr>
        <p:spPr>
          <a:xfrm>
            <a:off x="562125" y="3492525"/>
            <a:ext cx="1578000" cy="303000"/>
          </a:xfrm>
          <a:prstGeom prst="roundRect">
            <a:avLst>
              <a:gd fmla="val 16667" name="adj"/>
            </a:avLst>
          </a:prstGeom>
          <a:solidFill>
            <a:srgbClr val="0000FF">
              <a:alpha val="3999"/>
            </a:srgbClr>
          </a:solidFill>
          <a:ln cap="flat" cmpd="sng" w="9525">
            <a:solidFill>
              <a:srgbClr val="00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800">
                <a:solidFill>
                  <a:srgbClr val="3C78D8"/>
                </a:solidFill>
                <a:latin typeface="Calibri"/>
                <a:ea typeface="Calibri"/>
                <a:cs typeface="Calibri"/>
                <a:sym typeface="Calibri"/>
              </a:rPr>
              <a:t>Object storage</a:t>
            </a:r>
            <a:r>
              <a:rPr lang="fr" sz="800">
                <a:solidFill>
                  <a:srgbClr val="3C78D8"/>
                </a:solidFill>
                <a:latin typeface="Calibri"/>
                <a:ea typeface="Calibri"/>
                <a:cs typeface="Calibri"/>
                <a:sym typeface="Calibri"/>
              </a:rPr>
              <a:t> S3</a:t>
            </a:r>
            <a:endParaRPr sz="800">
              <a:solidFill>
                <a:srgbClr val="3C78D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1" name="Google Shape;1731;p79"/>
          <p:cNvSpPr/>
          <p:nvPr/>
        </p:nvSpPr>
        <p:spPr>
          <a:xfrm>
            <a:off x="3234300" y="1858100"/>
            <a:ext cx="2675400" cy="2257800"/>
          </a:xfrm>
          <a:prstGeom prst="roundRect">
            <a:avLst>
              <a:gd fmla="val 16667" name="adj"/>
            </a:avLst>
          </a:prstGeom>
          <a:solidFill>
            <a:srgbClr val="0E9C8A">
              <a:alpha val="7999"/>
            </a:srgbClr>
          </a:solidFill>
          <a:ln cap="flat" cmpd="sng" w="9525">
            <a:solidFill>
              <a:srgbClr val="0E9C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2" name="Google Shape;1732;p79"/>
          <p:cNvSpPr/>
          <p:nvPr/>
        </p:nvSpPr>
        <p:spPr>
          <a:xfrm>
            <a:off x="3431358" y="2172800"/>
            <a:ext cx="2270400" cy="521400"/>
          </a:xfrm>
          <a:prstGeom prst="roundRect">
            <a:avLst>
              <a:gd fmla="val 16667" name="adj"/>
            </a:avLst>
          </a:prstGeom>
          <a:solidFill>
            <a:srgbClr val="0E9C8A">
              <a:alpha val="23999"/>
            </a:srgbClr>
          </a:solidFill>
          <a:ln cap="flat" cmpd="sng" w="9525">
            <a:solidFill>
              <a:srgbClr val="0E9C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800">
                <a:solidFill>
                  <a:srgbClr val="0E9C8A"/>
                </a:solidFill>
                <a:latin typeface="Calibri"/>
                <a:ea typeface="Calibri"/>
                <a:cs typeface="Calibri"/>
                <a:sym typeface="Calibri"/>
              </a:rPr>
              <a:t>Agents smolagents</a:t>
            </a:r>
            <a:endParaRPr b="1" sz="800">
              <a:solidFill>
                <a:srgbClr val="0E9C8A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 sz="600">
                <a:solidFill>
                  <a:srgbClr val="0E9C8A"/>
                </a:solidFill>
                <a:latin typeface="Calibri"/>
                <a:ea typeface="Calibri"/>
                <a:cs typeface="Calibri"/>
                <a:sym typeface="Calibri"/>
              </a:rPr>
              <a:t>(orchestration des outils)</a:t>
            </a:r>
            <a:endParaRPr sz="600">
              <a:solidFill>
                <a:srgbClr val="0E9C8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3" name="Google Shape;1733;p79"/>
          <p:cNvSpPr/>
          <p:nvPr/>
        </p:nvSpPr>
        <p:spPr>
          <a:xfrm>
            <a:off x="3431458" y="2799875"/>
            <a:ext cx="1041900" cy="340800"/>
          </a:xfrm>
          <a:prstGeom prst="roundRect">
            <a:avLst>
              <a:gd fmla="val 16667" name="adj"/>
            </a:avLst>
          </a:prstGeom>
          <a:solidFill>
            <a:srgbClr val="0E9C8A">
              <a:alpha val="15999"/>
            </a:srgbClr>
          </a:solidFill>
          <a:ln cap="flat" cmpd="sng" w="9525">
            <a:solidFill>
              <a:srgbClr val="0E9C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800">
                <a:solidFill>
                  <a:srgbClr val="0E9C8A"/>
                </a:solidFill>
                <a:latin typeface="Calibri"/>
                <a:ea typeface="Calibri"/>
                <a:cs typeface="Calibri"/>
                <a:sym typeface="Calibri"/>
              </a:rPr>
              <a:t>outil RAG</a:t>
            </a:r>
            <a:endParaRPr b="1" sz="800">
              <a:solidFill>
                <a:srgbClr val="0E9C8A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 sz="600">
                <a:solidFill>
                  <a:srgbClr val="0E9C8A"/>
                </a:solidFill>
                <a:latin typeface="Calibri"/>
                <a:ea typeface="Calibri"/>
                <a:cs typeface="Calibri"/>
                <a:sym typeface="Calibri"/>
              </a:rPr>
              <a:t>(LangChain hybride)</a:t>
            </a:r>
            <a:endParaRPr sz="600">
              <a:solidFill>
                <a:srgbClr val="0E9C8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4" name="Google Shape;1734;p79"/>
          <p:cNvSpPr txBox="1"/>
          <p:nvPr/>
        </p:nvSpPr>
        <p:spPr>
          <a:xfrm>
            <a:off x="3560475" y="1932625"/>
            <a:ext cx="19485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800">
                <a:solidFill>
                  <a:srgbClr val="0E9C8A"/>
                </a:solidFill>
                <a:latin typeface="Calibri"/>
                <a:ea typeface="Calibri"/>
                <a:cs typeface="Calibri"/>
                <a:sym typeface="Calibri"/>
              </a:rPr>
              <a:t>Serverless Containers - API FastAPI (SSE)</a:t>
            </a:r>
            <a:endParaRPr b="1" sz="800">
              <a:solidFill>
                <a:srgbClr val="0E9C8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5" name="Google Shape;1735;p79"/>
          <p:cNvSpPr/>
          <p:nvPr/>
        </p:nvSpPr>
        <p:spPr>
          <a:xfrm>
            <a:off x="4704742" y="3246350"/>
            <a:ext cx="1012500" cy="340800"/>
          </a:xfrm>
          <a:prstGeom prst="roundRect">
            <a:avLst>
              <a:gd fmla="val 16667" name="adj"/>
            </a:avLst>
          </a:prstGeom>
          <a:solidFill>
            <a:srgbClr val="0E9C8A">
              <a:alpha val="15999"/>
            </a:srgbClr>
          </a:solidFill>
          <a:ln cap="flat" cmpd="sng" w="9525">
            <a:solidFill>
              <a:srgbClr val="0E9C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800">
                <a:solidFill>
                  <a:srgbClr val="0E9C8A"/>
                </a:solidFill>
                <a:latin typeface="Calibri"/>
                <a:ea typeface="Calibri"/>
                <a:cs typeface="Calibri"/>
                <a:sym typeface="Calibri"/>
              </a:rPr>
              <a:t>outil mémoire</a:t>
            </a:r>
            <a:endParaRPr b="1" sz="800">
              <a:solidFill>
                <a:srgbClr val="0E9C8A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 sz="600">
                <a:solidFill>
                  <a:srgbClr val="0E9C8A"/>
                </a:solidFill>
                <a:latin typeface="Calibri"/>
                <a:ea typeface="Calibri"/>
                <a:cs typeface="Calibri"/>
                <a:sym typeface="Calibri"/>
              </a:rPr>
              <a:t>(Redis + PG)</a:t>
            </a:r>
            <a:endParaRPr sz="600">
              <a:solidFill>
                <a:srgbClr val="0E9C8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6" name="Google Shape;1736;p79"/>
          <p:cNvSpPr/>
          <p:nvPr/>
        </p:nvSpPr>
        <p:spPr>
          <a:xfrm>
            <a:off x="4689144" y="2799874"/>
            <a:ext cx="1012500" cy="340800"/>
          </a:xfrm>
          <a:prstGeom prst="roundRect">
            <a:avLst>
              <a:gd fmla="val 16667" name="adj"/>
            </a:avLst>
          </a:prstGeom>
          <a:solidFill>
            <a:srgbClr val="0E9C8A">
              <a:alpha val="15999"/>
            </a:srgbClr>
          </a:solidFill>
          <a:ln cap="flat" cmpd="sng" w="9525">
            <a:solidFill>
              <a:srgbClr val="0E9C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800">
                <a:solidFill>
                  <a:srgbClr val="0E9C8A"/>
                </a:solidFill>
                <a:latin typeface="Calibri"/>
                <a:ea typeface="Calibri"/>
                <a:cs typeface="Calibri"/>
                <a:sym typeface="Calibri"/>
              </a:rPr>
              <a:t>outil web</a:t>
            </a:r>
            <a:endParaRPr b="1" sz="800">
              <a:solidFill>
                <a:srgbClr val="0E9C8A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fr" sz="600">
                <a:solidFill>
                  <a:srgbClr val="0E9C8A"/>
                </a:solidFill>
                <a:latin typeface="Calibri"/>
                <a:ea typeface="Calibri"/>
                <a:cs typeface="Calibri"/>
                <a:sym typeface="Calibri"/>
              </a:rPr>
              <a:t>(Tavily)</a:t>
            </a:r>
            <a:endParaRPr sz="600">
              <a:solidFill>
                <a:srgbClr val="0E9C8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7" name="Google Shape;1737;p79"/>
          <p:cNvSpPr/>
          <p:nvPr/>
        </p:nvSpPr>
        <p:spPr>
          <a:xfrm>
            <a:off x="3426758" y="3246355"/>
            <a:ext cx="1041900" cy="340800"/>
          </a:xfrm>
          <a:prstGeom prst="roundRect">
            <a:avLst>
              <a:gd fmla="val 16667" name="adj"/>
            </a:avLst>
          </a:prstGeom>
          <a:solidFill>
            <a:srgbClr val="0E9C8A">
              <a:alpha val="15999"/>
            </a:srgbClr>
          </a:solidFill>
          <a:ln cap="flat" cmpd="sng" w="9525">
            <a:solidFill>
              <a:srgbClr val="0E9C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fr" sz="800">
                <a:solidFill>
                  <a:srgbClr val="0E9C8A"/>
                </a:solidFill>
                <a:latin typeface="Calibri"/>
                <a:ea typeface="Calibri"/>
                <a:cs typeface="Calibri"/>
                <a:sym typeface="Calibri"/>
              </a:rPr>
              <a:t>outil géo</a:t>
            </a:r>
            <a:endParaRPr b="1" sz="800">
              <a:solidFill>
                <a:srgbClr val="0E9C8A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fr" sz="600">
                <a:solidFill>
                  <a:srgbClr val="0E9C8A"/>
                </a:solidFill>
                <a:latin typeface="Calibri"/>
                <a:ea typeface="Calibri"/>
                <a:cs typeface="Calibri"/>
                <a:sym typeface="Calibri"/>
              </a:rPr>
              <a:t>(PostGIS)</a:t>
            </a:r>
            <a:endParaRPr/>
          </a:p>
        </p:txBody>
      </p:sp>
      <p:sp>
        <p:nvSpPr>
          <p:cNvPr id="1738" name="Google Shape;1738;p79"/>
          <p:cNvSpPr/>
          <p:nvPr/>
        </p:nvSpPr>
        <p:spPr>
          <a:xfrm>
            <a:off x="2967450" y="4523300"/>
            <a:ext cx="3209100" cy="329700"/>
          </a:xfrm>
          <a:prstGeom prst="roundRect">
            <a:avLst>
              <a:gd fmla="val 16667" name="adj"/>
            </a:avLst>
          </a:prstGeom>
          <a:solidFill>
            <a:srgbClr val="F4F4F5"/>
          </a:solidFill>
          <a:ln cap="flat" cmpd="sng" w="9525">
            <a:solidFill>
              <a:srgbClr val="222A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800">
                <a:solidFill>
                  <a:srgbClr val="222A3A"/>
                </a:solidFill>
                <a:latin typeface="Calibri"/>
                <a:ea typeface="Calibri"/>
                <a:cs typeface="Calibri"/>
                <a:sym typeface="Calibri"/>
              </a:rPr>
              <a:t>frontend web / Utilisateurs</a:t>
            </a:r>
            <a:endParaRPr b="1" sz="800">
              <a:solidFill>
                <a:srgbClr val="222A3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9" name="Google Shape;1739;p79"/>
          <p:cNvSpPr txBox="1"/>
          <p:nvPr/>
        </p:nvSpPr>
        <p:spPr>
          <a:xfrm>
            <a:off x="4586100" y="4275550"/>
            <a:ext cx="1090200" cy="20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 sz="600">
                <a:solidFill>
                  <a:srgbClr val="F4F4F5"/>
                </a:solidFill>
                <a:latin typeface="Calibri"/>
                <a:ea typeface="Calibri"/>
                <a:cs typeface="Calibri"/>
                <a:sym typeface="Calibri"/>
              </a:rPr>
              <a:t>question ⇒ / réponse SSE ⇐</a:t>
            </a:r>
            <a:endParaRPr sz="600">
              <a:solidFill>
                <a:srgbClr val="F4F4F5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 sz="600">
                <a:solidFill>
                  <a:srgbClr val="F4F4F5"/>
                </a:solidFill>
                <a:latin typeface="Calibri"/>
                <a:ea typeface="Calibri"/>
                <a:cs typeface="Calibri"/>
                <a:sym typeface="Calibri"/>
              </a:rPr>
              <a:t>(HTTPS/SSE)</a:t>
            </a:r>
            <a:endParaRPr sz="600">
              <a:solidFill>
                <a:srgbClr val="F4F4F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740" name="Google Shape;1740;p79"/>
          <p:cNvCxnSpPr>
            <a:endCxn id="1727" idx="0"/>
          </p:cNvCxnSpPr>
          <p:nvPr/>
        </p:nvCxnSpPr>
        <p:spPr>
          <a:xfrm flipH="1">
            <a:off x="1365219" y="1511925"/>
            <a:ext cx="2100" cy="319200"/>
          </a:xfrm>
          <a:prstGeom prst="straightConnector1">
            <a:avLst/>
          </a:prstGeom>
          <a:noFill/>
          <a:ln cap="flat" cmpd="sng" w="9525">
            <a:solidFill>
              <a:srgbClr val="923E2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741" name="Google Shape;1741;p79"/>
          <p:cNvCxnSpPr>
            <a:stCxn id="1727" idx="3"/>
            <a:endCxn id="1726" idx="1"/>
          </p:cNvCxnSpPr>
          <p:nvPr/>
        </p:nvCxnSpPr>
        <p:spPr>
          <a:xfrm flipH="1" rot="10800000">
            <a:off x="2154219" y="1240275"/>
            <a:ext cx="1274700" cy="770700"/>
          </a:xfrm>
          <a:prstGeom prst="curvedConnector3">
            <a:avLst>
              <a:gd fmla="val 50003" name="adj1"/>
            </a:avLst>
          </a:prstGeom>
          <a:noFill/>
          <a:ln cap="flat" cmpd="sng" w="9525">
            <a:solidFill>
              <a:srgbClr val="923E22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1742" name="Google Shape;1742;p79"/>
          <p:cNvCxnSpPr>
            <a:stCxn id="1727" idx="2"/>
            <a:endCxn id="1728" idx="0"/>
          </p:cNvCxnSpPr>
          <p:nvPr/>
        </p:nvCxnSpPr>
        <p:spPr>
          <a:xfrm flipH="1">
            <a:off x="1351119" y="2190825"/>
            <a:ext cx="14100" cy="159600"/>
          </a:xfrm>
          <a:prstGeom prst="straightConnector1">
            <a:avLst/>
          </a:prstGeom>
          <a:noFill/>
          <a:ln cap="flat" cmpd="sng" w="9525">
            <a:solidFill>
              <a:srgbClr val="923E2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743" name="Google Shape;1743;p79"/>
          <p:cNvCxnSpPr>
            <a:stCxn id="1733" idx="1"/>
            <a:endCxn id="1728" idx="3"/>
          </p:cNvCxnSpPr>
          <p:nvPr/>
        </p:nvCxnSpPr>
        <p:spPr>
          <a:xfrm rot="10800000">
            <a:off x="2140258" y="2611175"/>
            <a:ext cx="1291200" cy="359100"/>
          </a:xfrm>
          <a:prstGeom prst="curvedConnector3">
            <a:avLst>
              <a:gd fmla="val 50005" name="adj1"/>
            </a:avLst>
          </a:prstGeom>
          <a:noFill/>
          <a:ln cap="flat" cmpd="sng" w="9525">
            <a:solidFill>
              <a:srgbClr val="0E9C8A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44" name="Google Shape;1744;p79"/>
          <p:cNvCxnSpPr>
            <a:stCxn id="1735" idx="3"/>
            <a:endCxn id="1729" idx="3"/>
          </p:cNvCxnSpPr>
          <p:nvPr/>
        </p:nvCxnSpPr>
        <p:spPr>
          <a:xfrm rot="10800000">
            <a:off x="2140042" y="3182150"/>
            <a:ext cx="3577200" cy="234600"/>
          </a:xfrm>
          <a:prstGeom prst="curvedConnector5">
            <a:avLst>
              <a:gd fmla="val -1538" name="adj1"/>
              <a:gd fmla="val -227526" name="adj2"/>
              <a:gd fmla="val 77179" name="adj3"/>
            </a:avLst>
          </a:prstGeom>
          <a:noFill/>
          <a:ln cap="flat" cmpd="sng" w="9525">
            <a:solidFill>
              <a:srgbClr val="0E9C8A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45" name="Google Shape;1745;p79"/>
          <p:cNvCxnSpPr>
            <a:stCxn id="1727" idx="1"/>
            <a:endCxn id="1730" idx="1"/>
          </p:cNvCxnSpPr>
          <p:nvPr/>
        </p:nvCxnSpPr>
        <p:spPr>
          <a:xfrm flipH="1">
            <a:off x="562119" y="2010975"/>
            <a:ext cx="14100" cy="1633200"/>
          </a:xfrm>
          <a:prstGeom prst="curvedConnector3">
            <a:avLst>
              <a:gd fmla="val 1788788" name="adj1"/>
            </a:avLst>
          </a:prstGeom>
          <a:noFill/>
          <a:ln cap="flat" cmpd="sng" w="9525">
            <a:solidFill>
              <a:srgbClr val="923E2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746" name="Google Shape;1746;p79"/>
          <p:cNvSpPr txBox="1"/>
          <p:nvPr/>
        </p:nvSpPr>
        <p:spPr>
          <a:xfrm>
            <a:off x="21775" y="2444838"/>
            <a:ext cx="399300" cy="12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 sz="600">
                <a:solidFill>
                  <a:srgbClr val="923E22"/>
                </a:solidFill>
                <a:latin typeface="Calibri"/>
                <a:ea typeface="Calibri"/>
                <a:cs typeface="Calibri"/>
                <a:sym typeface="Calibri"/>
              </a:rPr>
              <a:t>dump</a:t>
            </a:r>
            <a:endParaRPr sz="600">
              <a:solidFill>
                <a:srgbClr val="923E2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7" name="Google Shape;1747;p79"/>
          <p:cNvSpPr txBox="1"/>
          <p:nvPr/>
        </p:nvSpPr>
        <p:spPr>
          <a:xfrm>
            <a:off x="1310800" y="2206363"/>
            <a:ext cx="399300" cy="12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 sz="600">
                <a:solidFill>
                  <a:srgbClr val="923E22"/>
                </a:solidFill>
                <a:latin typeface="Calibri"/>
                <a:ea typeface="Calibri"/>
                <a:cs typeface="Calibri"/>
                <a:sym typeface="Calibri"/>
              </a:rPr>
              <a:t>upsert</a:t>
            </a:r>
            <a:endParaRPr sz="600">
              <a:solidFill>
                <a:srgbClr val="923E2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8" name="Google Shape;1748;p79"/>
          <p:cNvSpPr txBox="1"/>
          <p:nvPr/>
        </p:nvSpPr>
        <p:spPr>
          <a:xfrm>
            <a:off x="1290360" y="1518088"/>
            <a:ext cx="582600" cy="12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 sz="600">
                <a:solidFill>
                  <a:srgbClr val="923E22"/>
                </a:solidFill>
                <a:latin typeface="Calibri"/>
                <a:ea typeface="Calibri"/>
                <a:cs typeface="Calibri"/>
                <a:sym typeface="Calibri"/>
              </a:rPr>
              <a:t>événements</a:t>
            </a:r>
            <a:endParaRPr sz="600">
              <a:solidFill>
                <a:srgbClr val="923E2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9" name="Google Shape;1749;p79"/>
          <p:cNvSpPr txBox="1"/>
          <p:nvPr/>
        </p:nvSpPr>
        <p:spPr>
          <a:xfrm>
            <a:off x="2517323" y="1775063"/>
            <a:ext cx="582600" cy="12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 sz="600">
                <a:solidFill>
                  <a:srgbClr val="923E22"/>
                </a:solidFill>
                <a:latin typeface="Calibri"/>
                <a:ea typeface="Calibri"/>
                <a:cs typeface="Calibri"/>
                <a:sym typeface="Calibri"/>
              </a:rPr>
              <a:t>embeddings</a:t>
            </a:r>
            <a:endParaRPr sz="600">
              <a:solidFill>
                <a:srgbClr val="923E2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0" name="Google Shape;1750;p79"/>
          <p:cNvSpPr txBox="1"/>
          <p:nvPr/>
        </p:nvSpPr>
        <p:spPr>
          <a:xfrm>
            <a:off x="2619046" y="2657541"/>
            <a:ext cx="486300" cy="12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 sz="600">
                <a:solidFill>
                  <a:srgbClr val="0E9C8A"/>
                </a:solidFill>
                <a:latin typeface="Calibri"/>
                <a:ea typeface="Calibri"/>
                <a:cs typeface="Calibri"/>
                <a:sym typeface="Calibri"/>
              </a:rPr>
              <a:t>retrieval</a:t>
            </a:r>
            <a:endParaRPr sz="600">
              <a:solidFill>
                <a:srgbClr val="0E9C8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1" name="Google Shape;1751;p79"/>
          <p:cNvSpPr txBox="1"/>
          <p:nvPr/>
        </p:nvSpPr>
        <p:spPr>
          <a:xfrm>
            <a:off x="283150" y="3953488"/>
            <a:ext cx="2454600" cy="23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1000">
                <a:solidFill>
                  <a:srgbClr val="B07BC2"/>
                </a:solidFill>
                <a:latin typeface="Calibri"/>
                <a:ea typeface="Calibri"/>
                <a:cs typeface="Calibri"/>
                <a:sym typeface="Calibri"/>
              </a:rPr>
              <a:t>SCALEWAY</a:t>
            </a:r>
            <a:r>
              <a:rPr lang="fr" sz="800">
                <a:solidFill>
                  <a:srgbClr val="B07BC2"/>
                </a:solidFill>
                <a:latin typeface="Calibri"/>
                <a:ea typeface="Calibri"/>
                <a:cs typeface="Calibri"/>
                <a:sym typeface="Calibri"/>
              </a:rPr>
              <a:t> - cloud souverain (UE, hors CLOUD Act) </a:t>
            </a:r>
            <a:endParaRPr sz="800">
              <a:solidFill>
                <a:srgbClr val="B07BC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2" name="Google Shape;1752;p79"/>
          <p:cNvSpPr/>
          <p:nvPr/>
        </p:nvSpPr>
        <p:spPr>
          <a:xfrm>
            <a:off x="7068700" y="4409050"/>
            <a:ext cx="144600" cy="72900"/>
          </a:xfrm>
          <a:prstGeom prst="roundRect">
            <a:avLst>
              <a:gd fmla="val 16667" name="adj"/>
            </a:avLst>
          </a:prstGeom>
          <a:solidFill>
            <a:srgbClr val="9CA3AF">
              <a:alpha val="6960"/>
            </a:srgbClr>
          </a:solidFill>
          <a:ln cap="flat" cmpd="sng" w="9525">
            <a:solidFill>
              <a:srgbClr val="9CA3A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3" name="Google Shape;1753;p79"/>
          <p:cNvSpPr/>
          <p:nvPr/>
        </p:nvSpPr>
        <p:spPr>
          <a:xfrm>
            <a:off x="7068700" y="4550067"/>
            <a:ext cx="144600" cy="72900"/>
          </a:xfrm>
          <a:prstGeom prst="roundRect">
            <a:avLst>
              <a:gd fmla="val 16667" name="adj"/>
            </a:avLst>
          </a:prstGeom>
          <a:solidFill>
            <a:srgbClr val="923E22">
              <a:alpha val="7999"/>
            </a:srgbClr>
          </a:solidFill>
          <a:ln cap="flat" cmpd="sng" w="9525">
            <a:solidFill>
              <a:srgbClr val="923E2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4" name="Google Shape;1754;p79"/>
          <p:cNvSpPr/>
          <p:nvPr/>
        </p:nvSpPr>
        <p:spPr>
          <a:xfrm>
            <a:off x="7068700" y="4962200"/>
            <a:ext cx="144600" cy="72900"/>
          </a:xfrm>
          <a:prstGeom prst="roundRect">
            <a:avLst>
              <a:gd fmla="val 16667" name="adj"/>
            </a:avLst>
          </a:prstGeom>
          <a:solidFill>
            <a:srgbClr val="674EA7">
              <a:alpha val="7999"/>
            </a:srgbClr>
          </a:solidFill>
          <a:ln cap="flat" cmpd="sng" w="9525">
            <a:solidFill>
              <a:srgbClr val="674EA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5" name="Google Shape;1755;p79"/>
          <p:cNvSpPr/>
          <p:nvPr/>
        </p:nvSpPr>
        <p:spPr>
          <a:xfrm>
            <a:off x="7068700" y="4691085"/>
            <a:ext cx="144600" cy="72900"/>
          </a:xfrm>
          <a:prstGeom prst="roundRect">
            <a:avLst>
              <a:gd fmla="val 16667" name="adj"/>
            </a:avLst>
          </a:prstGeom>
          <a:solidFill>
            <a:srgbClr val="0000FF">
              <a:alpha val="14000"/>
            </a:srgbClr>
          </a:solidFill>
          <a:ln cap="flat" cmpd="sng" w="9525">
            <a:solidFill>
              <a:srgbClr val="00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6" name="Google Shape;1756;p79"/>
          <p:cNvSpPr/>
          <p:nvPr/>
        </p:nvSpPr>
        <p:spPr>
          <a:xfrm>
            <a:off x="7068700" y="4825177"/>
            <a:ext cx="144600" cy="72900"/>
          </a:xfrm>
          <a:prstGeom prst="roundRect">
            <a:avLst>
              <a:gd fmla="val 16667" name="adj"/>
            </a:avLst>
          </a:prstGeom>
          <a:solidFill>
            <a:srgbClr val="0E9C8A">
              <a:alpha val="15999"/>
            </a:srgbClr>
          </a:solidFill>
          <a:ln cap="flat" cmpd="sng" w="9525">
            <a:solidFill>
              <a:srgbClr val="0E9C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757" name="Google Shape;1757;p79"/>
          <p:cNvCxnSpPr>
            <a:endCxn id="1731" idx="2"/>
          </p:cNvCxnSpPr>
          <p:nvPr/>
        </p:nvCxnSpPr>
        <p:spPr>
          <a:xfrm rot="10800000">
            <a:off x="4572000" y="4115900"/>
            <a:ext cx="14100" cy="410100"/>
          </a:xfrm>
          <a:prstGeom prst="straightConnector1">
            <a:avLst/>
          </a:prstGeom>
          <a:noFill/>
          <a:ln cap="flat" cmpd="sng" w="9525">
            <a:solidFill>
              <a:srgbClr val="F4F4F5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58" name="Google Shape;1758;p79"/>
          <p:cNvCxnSpPr>
            <a:stCxn id="1737" idx="1"/>
            <a:endCxn id="1728" idx="3"/>
          </p:cNvCxnSpPr>
          <p:nvPr/>
        </p:nvCxnSpPr>
        <p:spPr>
          <a:xfrm rot="10800000">
            <a:off x="2140058" y="2611255"/>
            <a:ext cx="1286700" cy="805500"/>
          </a:xfrm>
          <a:prstGeom prst="curvedConnector3">
            <a:avLst>
              <a:gd fmla="val 44646" name="adj1"/>
            </a:avLst>
          </a:prstGeom>
          <a:noFill/>
          <a:ln cap="flat" cmpd="sng" w="9525">
            <a:solidFill>
              <a:srgbClr val="0E9C8A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59" name="Google Shape;1759;p79"/>
          <p:cNvCxnSpPr>
            <a:stCxn id="1735" idx="2"/>
            <a:endCxn id="1728" idx="3"/>
          </p:cNvCxnSpPr>
          <p:nvPr/>
        </p:nvCxnSpPr>
        <p:spPr>
          <a:xfrm flipH="1" rot="5400000">
            <a:off x="3187642" y="1563800"/>
            <a:ext cx="975900" cy="3070800"/>
          </a:xfrm>
          <a:prstGeom prst="curvedConnector4">
            <a:avLst>
              <a:gd fmla="val -24401" name="adj1"/>
              <a:gd fmla="val 77150" name="adj2"/>
            </a:avLst>
          </a:prstGeom>
          <a:noFill/>
          <a:ln cap="flat" cmpd="sng" w="9525">
            <a:solidFill>
              <a:srgbClr val="0E9C8A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760" name="Google Shape;1760;p79"/>
          <p:cNvSpPr txBox="1"/>
          <p:nvPr/>
        </p:nvSpPr>
        <p:spPr>
          <a:xfrm>
            <a:off x="3979391" y="3716668"/>
            <a:ext cx="582600" cy="12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 sz="600">
                <a:solidFill>
                  <a:srgbClr val="0E9C8A"/>
                </a:solidFill>
                <a:latin typeface="Calibri"/>
                <a:ea typeface="Calibri"/>
                <a:cs typeface="Calibri"/>
                <a:sym typeface="Calibri"/>
              </a:rPr>
              <a:t>mémoire LT</a:t>
            </a:r>
            <a:endParaRPr sz="600">
              <a:solidFill>
                <a:srgbClr val="0E9C8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1" name="Google Shape;1761;p79"/>
          <p:cNvSpPr txBox="1"/>
          <p:nvPr/>
        </p:nvSpPr>
        <p:spPr>
          <a:xfrm>
            <a:off x="4008429" y="3932876"/>
            <a:ext cx="569700" cy="12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 sz="600">
                <a:solidFill>
                  <a:srgbClr val="0E9C8A"/>
                </a:solidFill>
                <a:latin typeface="Calibri"/>
                <a:ea typeface="Calibri"/>
                <a:cs typeface="Calibri"/>
                <a:sym typeface="Calibri"/>
              </a:rPr>
              <a:t>mémoire CT</a:t>
            </a:r>
            <a:endParaRPr sz="600">
              <a:solidFill>
                <a:srgbClr val="0E9C8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2" name="Google Shape;1762;p79"/>
          <p:cNvSpPr txBox="1"/>
          <p:nvPr/>
        </p:nvSpPr>
        <p:spPr>
          <a:xfrm>
            <a:off x="2780476" y="2950552"/>
            <a:ext cx="358500" cy="12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 sz="600">
                <a:solidFill>
                  <a:srgbClr val="0E9C8A"/>
                </a:solidFill>
                <a:latin typeface="Calibri"/>
                <a:ea typeface="Calibri"/>
                <a:cs typeface="Calibri"/>
                <a:sym typeface="Calibri"/>
              </a:rPr>
              <a:t>géo</a:t>
            </a:r>
            <a:endParaRPr sz="600">
              <a:solidFill>
                <a:srgbClr val="0E9C8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3" name="Google Shape;1763;p79"/>
          <p:cNvSpPr txBox="1"/>
          <p:nvPr/>
        </p:nvSpPr>
        <p:spPr>
          <a:xfrm>
            <a:off x="7232825" y="4367250"/>
            <a:ext cx="1755600" cy="68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600">
                <a:solidFill>
                  <a:srgbClr val="8A93A6"/>
                </a:solidFill>
                <a:latin typeface="Calibri"/>
                <a:ea typeface="Calibri"/>
                <a:cs typeface="Calibri"/>
                <a:sym typeface="Calibri"/>
              </a:rPr>
              <a:t>Sources externes</a:t>
            </a:r>
            <a:endParaRPr sz="600">
              <a:solidFill>
                <a:srgbClr val="8A93A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600">
                <a:solidFill>
                  <a:srgbClr val="8A93A6"/>
                </a:solidFill>
                <a:latin typeface="Calibri"/>
                <a:ea typeface="Calibri"/>
                <a:cs typeface="Calibri"/>
                <a:sym typeface="Calibri"/>
              </a:rPr>
              <a:t>Ingestion (Kestra)</a:t>
            </a:r>
            <a:endParaRPr sz="600">
              <a:solidFill>
                <a:srgbClr val="8A93A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600">
                <a:solidFill>
                  <a:srgbClr val="8A93A6"/>
                </a:solidFill>
                <a:latin typeface="Calibri"/>
                <a:ea typeface="Calibri"/>
                <a:cs typeface="Calibri"/>
                <a:sym typeface="Calibri"/>
              </a:rPr>
              <a:t>Stockage (PostgreSQL / Redis / Object storage)</a:t>
            </a:r>
            <a:endParaRPr sz="600">
              <a:solidFill>
                <a:srgbClr val="8A93A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600">
                <a:solidFill>
                  <a:srgbClr val="8A93A6"/>
                </a:solidFill>
                <a:latin typeface="Calibri"/>
                <a:ea typeface="Calibri"/>
                <a:cs typeface="Calibri"/>
                <a:sym typeface="Calibri"/>
              </a:rPr>
              <a:t>Applications (API + agent)</a:t>
            </a:r>
            <a:endParaRPr sz="600">
              <a:solidFill>
                <a:srgbClr val="8A93A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600">
                <a:solidFill>
                  <a:srgbClr val="8A93A6"/>
                </a:solidFill>
                <a:latin typeface="Calibri"/>
                <a:ea typeface="Calibri"/>
                <a:cs typeface="Calibri"/>
                <a:sym typeface="Calibri"/>
              </a:rPr>
              <a:t>Observabilité</a:t>
            </a:r>
            <a:endParaRPr sz="600">
              <a:solidFill>
                <a:srgbClr val="8A93A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4" name="Google Shape;1764;p79"/>
          <p:cNvSpPr txBox="1"/>
          <p:nvPr/>
        </p:nvSpPr>
        <p:spPr>
          <a:xfrm>
            <a:off x="377200" y="233175"/>
            <a:ext cx="2286900" cy="45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9050" lIns="0" spcFirstLastPara="1" rIns="0" wrap="square" tIns="190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1800">
                <a:solidFill>
                  <a:srgbClr val="0E9C8A"/>
                </a:solidFill>
                <a:latin typeface="Calibri"/>
                <a:ea typeface="Calibri"/>
                <a:cs typeface="Calibri"/>
                <a:sym typeface="Calibri"/>
              </a:rPr>
              <a:t>L’architecture du MVP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69" name="Shape 17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0" name="Google Shape;1770;p80"/>
          <p:cNvSpPr txBox="1"/>
          <p:nvPr/>
        </p:nvSpPr>
        <p:spPr>
          <a:xfrm>
            <a:off x="377200" y="675550"/>
            <a:ext cx="26754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9050" lIns="0" spcFirstLastPara="1" rIns="0" wrap="square" tIns="190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1100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Architecture MVP - chatbot RAG Puls-EVents</a:t>
            </a:r>
            <a:endParaRPr b="1" sz="1100">
              <a:solidFill>
                <a:srgbClr val="9CA3A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1" name="Google Shape;1771;p80"/>
          <p:cNvSpPr txBox="1"/>
          <p:nvPr/>
        </p:nvSpPr>
        <p:spPr>
          <a:xfrm>
            <a:off x="377200" y="4945850"/>
            <a:ext cx="999000" cy="166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700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MVP RAG Puls-Events</a:t>
            </a:r>
            <a:endParaRPr sz="700">
              <a:solidFill>
                <a:srgbClr val="9CA3A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2" name="Google Shape;1772;p80"/>
          <p:cNvSpPr/>
          <p:nvPr/>
        </p:nvSpPr>
        <p:spPr>
          <a:xfrm>
            <a:off x="64125" y="1631700"/>
            <a:ext cx="8941200" cy="2605500"/>
          </a:xfrm>
          <a:prstGeom prst="roundRect">
            <a:avLst>
              <a:gd fmla="val 6000" name="adj"/>
            </a:avLst>
          </a:prstGeom>
          <a:noFill/>
          <a:ln cap="flat" cmpd="sng" w="9525">
            <a:solidFill>
              <a:srgbClr val="B07BC2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3" name="Google Shape;1773;p80"/>
          <p:cNvSpPr/>
          <p:nvPr/>
        </p:nvSpPr>
        <p:spPr>
          <a:xfrm>
            <a:off x="499800" y="980277"/>
            <a:ext cx="2286000" cy="521400"/>
          </a:xfrm>
          <a:prstGeom prst="roundRect">
            <a:avLst>
              <a:gd fmla="val 16667" name="adj"/>
            </a:avLst>
          </a:prstGeom>
          <a:solidFill>
            <a:srgbClr val="9CA3AF">
              <a:alpha val="6960"/>
            </a:srgbClr>
          </a:solidFill>
          <a:ln cap="flat" cmpd="sng" w="12700">
            <a:solidFill>
              <a:srgbClr val="9CA3A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6575" lIns="91425" spcFirstLastPara="1" rIns="73150" wrap="square" tIns="365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800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Opendatasoft API</a:t>
            </a:r>
            <a:endParaRPr b="1" sz="800">
              <a:solidFill>
                <a:srgbClr val="9CA3A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600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events Open Agenda</a:t>
            </a:r>
            <a:endParaRPr b="1" sz="600">
              <a:solidFill>
                <a:srgbClr val="9CA3A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4" name="Google Shape;1774;p80"/>
          <p:cNvSpPr/>
          <p:nvPr/>
        </p:nvSpPr>
        <p:spPr>
          <a:xfrm>
            <a:off x="3429000" y="979502"/>
            <a:ext cx="2286000" cy="521400"/>
          </a:xfrm>
          <a:prstGeom prst="roundRect">
            <a:avLst>
              <a:gd fmla="val 16667" name="adj"/>
            </a:avLst>
          </a:prstGeom>
          <a:solidFill>
            <a:srgbClr val="9CA3AF">
              <a:alpha val="6960"/>
            </a:srgbClr>
          </a:solidFill>
          <a:ln cap="flat" cmpd="sng" w="12700">
            <a:solidFill>
              <a:srgbClr val="9CA3A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6575" lIns="91425" spcFirstLastPara="1" rIns="73150" wrap="square" tIns="365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800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Mistral API (UE)</a:t>
            </a:r>
            <a:endParaRPr b="1" sz="800">
              <a:solidFill>
                <a:srgbClr val="9CA3A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600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embeddings + LLM</a:t>
            </a:r>
            <a:endParaRPr b="1" sz="600">
              <a:solidFill>
                <a:srgbClr val="9CA3A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5" name="Google Shape;1775;p80"/>
          <p:cNvSpPr/>
          <p:nvPr/>
        </p:nvSpPr>
        <p:spPr>
          <a:xfrm>
            <a:off x="6467100" y="980264"/>
            <a:ext cx="2286000" cy="521400"/>
          </a:xfrm>
          <a:prstGeom prst="roundRect">
            <a:avLst>
              <a:gd fmla="val 16667" name="adj"/>
            </a:avLst>
          </a:prstGeom>
          <a:solidFill>
            <a:srgbClr val="9CA3AF">
              <a:alpha val="6960"/>
            </a:srgbClr>
          </a:solidFill>
          <a:ln cap="flat" cmpd="sng" w="12700">
            <a:solidFill>
              <a:srgbClr val="9CA3A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6575" lIns="91425" spcFirstLastPara="1" rIns="73150" wrap="square" tIns="365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800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Recherche web</a:t>
            </a:r>
            <a:endParaRPr b="1" sz="800">
              <a:solidFill>
                <a:srgbClr val="9CA3A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600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(Tavily)</a:t>
            </a:r>
            <a:endParaRPr b="1" sz="600">
              <a:solidFill>
                <a:srgbClr val="9CA3A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6" name="Google Shape;1776;p80"/>
          <p:cNvSpPr/>
          <p:nvPr/>
        </p:nvSpPr>
        <p:spPr>
          <a:xfrm>
            <a:off x="576219" y="1831125"/>
            <a:ext cx="1578000" cy="359700"/>
          </a:xfrm>
          <a:prstGeom prst="roundRect">
            <a:avLst>
              <a:gd fmla="val 16667" name="adj"/>
            </a:avLst>
          </a:prstGeom>
          <a:solidFill>
            <a:srgbClr val="923E22">
              <a:alpha val="7999"/>
            </a:srgbClr>
          </a:solidFill>
          <a:ln cap="flat" cmpd="sng" w="9525">
            <a:solidFill>
              <a:srgbClr val="923E2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800">
                <a:solidFill>
                  <a:srgbClr val="923E22"/>
                </a:solidFill>
                <a:latin typeface="Calibri"/>
                <a:ea typeface="Calibri"/>
                <a:cs typeface="Calibri"/>
                <a:sym typeface="Calibri"/>
              </a:rPr>
              <a:t>Kestra</a:t>
            </a:r>
            <a:r>
              <a:rPr lang="fr" sz="600">
                <a:solidFill>
                  <a:srgbClr val="923E22"/>
                </a:solidFill>
                <a:latin typeface="Calibri"/>
                <a:ea typeface="Calibri"/>
                <a:cs typeface="Calibri"/>
                <a:sym typeface="Calibri"/>
              </a:rPr>
              <a:t> - ingestion planifiée</a:t>
            </a:r>
            <a:endParaRPr sz="600">
              <a:solidFill>
                <a:srgbClr val="923E2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 sz="600">
                <a:solidFill>
                  <a:srgbClr val="923E22"/>
                </a:solidFill>
                <a:latin typeface="Calibri"/>
                <a:ea typeface="Calibri"/>
                <a:cs typeface="Calibri"/>
                <a:sym typeface="Calibri"/>
              </a:rPr>
              <a:t>fetch ⇒ clean ⇒ embed ⇒ upsert</a:t>
            </a:r>
            <a:endParaRPr sz="600">
              <a:solidFill>
                <a:srgbClr val="923E2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7" name="Google Shape;1777;p80"/>
          <p:cNvSpPr/>
          <p:nvPr/>
        </p:nvSpPr>
        <p:spPr>
          <a:xfrm>
            <a:off x="562125" y="2350491"/>
            <a:ext cx="1578000" cy="521400"/>
          </a:xfrm>
          <a:prstGeom prst="roundRect">
            <a:avLst>
              <a:gd fmla="val 16667" name="adj"/>
            </a:avLst>
          </a:prstGeom>
          <a:solidFill>
            <a:srgbClr val="0000FF">
              <a:alpha val="14000"/>
            </a:srgbClr>
          </a:solidFill>
          <a:ln cap="flat" cmpd="sng" w="9525">
            <a:solidFill>
              <a:srgbClr val="00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800">
                <a:solidFill>
                  <a:srgbClr val="3C78D8"/>
                </a:solidFill>
                <a:latin typeface="Calibri"/>
                <a:ea typeface="Calibri"/>
                <a:cs typeface="Calibri"/>
                <a:sym typeface="Calibri"/>
              </a:rPr>
              <a:t>Managed PostgreSQL</a:t>
            </a:r>
            <a:endParaRPr b="1" sz="800">
              <a:solidFill>
                <a:srgbClr val="3C78D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66700" lvl="0" marL="457200" rtl="0" algn="l">
              <a:spcBef>
                <a:spcPts val="0"/>
              </a:spcBef>
              <a:spcAft>
                <a:spcPts val="0"/>
              </a:spcAft>
              <a:buClr>
                <a:srgbClr val="3C78D8"/>
              </a:buClr>
              <a:buSzPts val="600"/>
              <a:buFont typeface="Calibri"/>
              <a:buChar char="●"/>
            </a:pPr>
            <a:r>
              <a:rPr lang="fr" sz="600">
                <a:solidFill>
                  <a:srgbClr val="3C78D8"/>
                </a:solidFill>
                <a:latin typeface="Calibri"/>
                <a:ea typeface="Calibri"/>
                <a:cs typeface="Calibri"/>
                <a:sym typeface="Calibri"/>
              </a:rPr>
              <a:t>pgvector (embeddings)</a:t>
            </a:r>
            <a:endParaRPr sz="600">
              <a:solidFill>
                <a:srgbClr val="3C78D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66700" lvl="0" marL="457200" rtl="0" algn="l">
              <a:spcBef>
                <a:spcPts val="0"/>
              </a:spcBef>
              <a:spcAft>
                <a:spcPts val="0"/>
              </a:spcAft>
              <a:buClr>
                <a:srgbClr val="3C78D8"/>
              </a:buClr>
              <a:buSzPts val="600"/>
              <a:buFont typeface="Calibri"/>
              <a:buChar char="●"/>
            </a:pPr>
            <a:r>
              <a:rPr lang="fr" sz="600">
                <a:solidFill>
                  <a:srgbClr val="3C78D8"/>
                </a:solidFill>
                <a:latin typeface="Calibri"/>
                <a:ea typeface="Calibri"/>
                <a:cs typeface="Calibri"/>
                <a:sym typeface="Calibri"/>
              </a:rPr>
              <a:t>PostGIS (géo)</a:t>
            </a:r>
            <a:endParaRPr sz="600">
              <a:solidFill>
                <a:srgbClr val="3C78D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66700" lvl="0" marL="457200" rtl="0" algn="l">
              <a:spcBef>
                <a:spcPts val="0"/>
              </a:spcBef>
              <a:spcAft>
                <a:spcPts val="0"/>
              </a:spcAft>
              <a:buClr>
                <a:srgbClr val="3C78D8"/>
              </a:buClr>
              <a:buSzPts val="600"/>
              <a:buFont typeface="Calibri"/>
              <a:buChar char="●"/>
            </a:pPr>
            <a:r>
              <a:rPr lang="fr" sz="600">
                <a:solidFill>
                  <a:srgbClr val="3C78D8"/>
                </a:solidFill>
                <a:latin typeface="Calibri"/>
                <a:ea typeface="Calibri"/>
                <a:cs typeface="Calibri"/>
                <a:sym typeface="Calibri"/>
              </a:rPr>
              <a:t>relationnel + mémoire LT</a:t>
            </a:r>
            <a:endParaRPr sz="600">
              <a:solidFill>
                <a:srgbClr val="3C78D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8" name="Google Shape;1778;p80"/>
          <p:cNvSpPr/>
          <p:nvPr/>
        </p:nvSpPr>
        <p:spPr>
          <a:xfrm>
            <a:off x="562125" y="3030722"/>
            <a:ext cx="1578000" cy="303000"/>
          </a:xfrm>
          <a:prstGeom prst="roundRect">
            <a:avLst>
              <a:gd fmla="val 16667" name="adj"/>
            </a:avLst>
          </a:prstGeom>
          <a:solidFill>
            <a:srgbClr val="0000FF">
              <a:alpha val="7999"/>
            </a:srgbClr>
          </a:solidFill>
          <a:ln cap="flat" cmpd="sng" w="9525">
            <a:solidFill>
              <a:srgbClr val="00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800">
                <a:solidFill>
                  <a:srgbClr val="3C78D8"/>
                </a:solidFill>
                <a:latin typeface="Calibri"/>
                <a:ea typeface="Calibri"/>
                <a:cs typeface="Calibri"/>
                <a:sym typeface="Calibri"/>
              </a:rPr>
              <a:t>Managed Redis</a:t>
            </a:r>
            <a:endParaRPr b="1" sz="800">
              <a:solidFill>
                <a:srgbClr val="3C78D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 sz="600">
                <a:solidFill>
                  <a:srgbClr val="3C78D8"/>
                </a:solidFill>
                <a:latin typeface="Calibri"/>
                <a:ea typeface="Calibri"/>
                <a:cs typeface="Calibri"/>
                <a:sym typeface="Calibri"/>
              </a:rPr>
              <a:t>mémoire court terme / session</a:t>
            </a:r>
            <a:endParaRPr sz="600">
              <a:solidFill>
                <a:srgbClr val="3C78D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9" name="Google Shape;1779;p80"/>
          <p:cNvSpPr/>
          <p:nvPr/>
        </p:nvSpPr>
        <p:spPr>
          <a:xfrm>
            <a:off x="562125" y="3492525"/>
            <a:ext cx="1578000" cy="303000"/>
          </a:xfrm>
          <a:prstGeom prst="roundRect">
            <a:avLst>
              <a:gd fmla="val 16667" name="adj"/>
            </a:avLst>
          </a:prstGeom>
          <a:solidFill>
            <a:srgbClr val="0000FF">
              <a:alpha val="3999"/>
            </a:srgbClr>
          </a:solidFill>
          <a:ln cap="flat" cmpd="sng" w="9525">
            <a:solidFill>
              <a:srgbClr val="00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800">
                <a:solidFill>
                  <a:srgbClr val="3C78D8"/>
                </a:solidFill>
                <a:latin typeface="Calibri"/>
                <a:ea typeface="Calibri"/>
                <a:cs typeface="Calibri"/>
                <a:sym typeface="Calibri"/>
              </a:rPr>
              <a:t>Object storage</a:t>
            </a:r>
            <a:r>
              <a:rPr lang="fr" sz="800">
                <a:solidFill>
                  <a:srgbClr val="3C78D8"/>
                </a:solidFill>
                <a:latin typeface="Calibri"/>
                <a:ea typeface="Calibri"/>
                <a:cs typeface="Calibri"/>
                <a:sym typeface="Calibri"/>
              </a:rPr>
              <a:t> S3</a:t>
            </a:r>
            <a:endParaRPr sz="800">
              <a:solidFill>
                <a:srgbClr val="3C78D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0" name="Google Shape;1780;p80"/>
          <p:cNvSpPr/>
          <p:nvPr/>
        </p:nvSpPr>
        <p:spPr>
          <a:xfrm>
            <a:off x="3234300" y="1858100"/>
            <a:ext cx="2675400" cy="2257800"/>
          </a:xfrm>
          <a:prstGeom prst="roundRect">
            <a:avLst>
              <a:gd fmla="val 16667" name="adj"/>
            </a:avLst>
          </a:prstGeom>
          <a:solidFill>
            <a:srgbClr val="0E9C8A">
              <a:alpha val="7999"/>
            </a:srgbClr>
          </a:solidFill>
          <a:ln cap="flat" cmpd="sng" w="9525">
            <a:solidFill>
              <a:srgbClr val="0E9C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1" name="Google Shape;1781;p80"/>
          <p:cNvSpPr/>
          <p:nvPr/>
        </p:nvSpPr>
        <p:spPr>
          <a:xfrm>
            <a:off x="3431358" y="2172800"/>
            <a:ext cx="2270400" cy="521400"/>
          </a:xfrm>
          <a:prstGeom prst="roundRect">
            <a:avLst>
              <a:gd fmla="val 16667" name="adj"/>
            </a:avLst>
          </a:prstGeom>
          <a:solidFill>
            <a:srgbClr val="0E9C8A">
              <a:alpha val="23999"/>
            </a:srgbClr>
          </a:solidFill>
          <a:ln cap="flat" cmpd="sng" w="9525">
            <a:solidFill>
              <a:srgbClr val="0E9C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800">
                <a:solidFill>
                  <a:srgbClr val="0E9C8A"/>
                </a:solidFill>
                <a:latin typeface="Calibri"/>
                <a:ea typeface="Calibri"/>
                <a:cs typeface="Calibri"/>
                <a:sym typeface="Calibri"/>
              </a:rPr>
              <a:t>Agents smolagents</a:t>
            </a:r>
            <a:endParaRPr b="1" sz="800">
              <a:solidFill>
                <a:srgbClr val="0E9C8A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 sz="600">
                <a:solidFill>
                  <a:srgbClr val="0E9C8A"/>
                </a:solidFill>
                <a:latin typeface="Calibri"/>
                <a:ea typeface="Calibri"/>
                <a:cs typeface="Calibri"/>
                <a:sym typeface="Calibri"/>
              </a:rPr>
              <a:t>(orchestration des outils)</a:t>
            </a:r>
            <a:endParaRPr sz="600">
              <a:solidFill>
                <a:srgbClr val="0E9C8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2" name="Google Shape;1782;p80"/>
          <p:cNvSpPr/>
          <p:nvPr/>
        </p:nvSpPr>
        <p:spPr>
          <a:xfrm>
            <a:off x="3431458" y="2799875"/>
            <a:ext cx="1041900" cy="340800"/>
          </a:xfrm>
          <a:prstGeom prst="roundRect">
            <a:avLst>
              <a:gd fmla="val 16667" name="adj"/>
            </a:avLst>
          </a:prstGeom>
          <a:solidFill>
            <a:srgbClr val="0E9C8A">
              <a:alpha val="15999"/>
            </a:srgbClr>
          </a:solidFill>
          <a:ln cap="flat" cmpd="sng" w="9525">
            <a:solidFill>
              <a:srgbClr val="0E9C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800">
                <a:solidFill>
                  <a:srgbClr val="0E9C8A"/>
                </a:solidFill>
                <a:latin typeface="Calibri"/>
                <a:ea typeface="Calibri"/>
                <a:cs typeface="Calibri"/>
                <a:sym typeface="Calibri"/>
              </a:rPr>
              <a:t>outil RAG</a:t>
            </a:r>
            <a:endParaRPr b="1" sz="800">
              <a:solidFill>
                <a:srgbClr val="0E9C8A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 sz="600">
                <a:solidFill>
                  <a:srgbClr val="0E9C8A"/>
                </a:solidFill>
                <a:latin typeface="Calibri"/>
                <a:ea typeface="Calibri"/>
                <a:cs typeface="Calibri"/>
                <a:sym typeface="Calibri"/>
              </a:rPr>
              <a:t>(LangChain hybride)</a:t>
            </a:r>
            <a:endParaRPr sz="600">
              <a:solidFill>
                <a:srgbClr val="0E9C8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3" name="Google Shape;1783;p80"/>
          <p:cNvSpPr txBox="1"/>
          <p:nvPr/>
        </p:nvSpPr>
        <p:spPr>
          <a:xfrm>
            <a:off x="3560475" y="1932625"/>
            <a:ext cx="19485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800">
                <a:solidFill>
                  <a:srgbClr val="0E9C8A"/>
                </a:solidFill>
                <a:latin typeface="Calibri"/>
                <a:ea typeface="Calibri"/>
                <a:cs typeface="Calibri"/>
                <a:sym typeface="Calibri"/>
              </a:rPr>
              <a:t>Serverless Containers - API FastAPI (SSE)</a:t>
            </a:r>
            <a:endParaRPr b="1" sz="800">
              <a:solidFill>
                <a:srgbClr val="0E9C8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4" name="Google Shape;1784;p80"/>
          <p:cNvSpPr/>
          <p:nvPr/>
        </p:nvSpPr>
        <p:spPr>
          <a:xfrm>
            <a:off x="4704742" y="3246350"/>
            <a:ext cx="1012500" cy="340800"/>
          </a:xfrm>
          <a:prstGeom prst="roundRect">
            <a:avLst>
              <a:gd fmla="val 16667" name="adj"/>
            </a:avLst>
          </a:prstGeom>
          <a:solidFill>
            <a:srgbClr val="0E9C8A">
              <a:alpha val="15999"/>
            </a:srgbClr>
          </a:solidFill>
          <a:ln cap="flat" cmpd="sng" w="9525">
            <a:solidFill>
              <a:srgbClr val="0E9C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800">
                <a:solidFill>
                  <a:srgbClr val="0E9C8A"/>
                </a:solidFill>
                <a:latin typeface="Calibri"/>
                <a:ea typeface="Calibri"/>
                <a:cs typeface="Calibri"/>
                <a:sym typeface="Calibri"/>
              </a:rPr>
              <a:t>outil mémoire</a:t>
            </a:r>
            <a:endParaRPr b="1" sz="800">
              <a:solidFill>
                <a:srgbClr val="0E9C8A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 sz="600">
                <a:solidFill>
                  <a:srgbClr val="0E9C8A"/>
                </a:solidFill>
                <a:latin typeface="Calibri"/>
                <a:ea typeface="Calibri"/>
                <a:cs typeface="Calibri"/>
                <a:sym typeface="Calibri"/>
              </a:rPr>
              <a:t>(Redis + PG)</a:t>
            </a:r>
            <a:endParaRPr sz="600">
              <a:solidFill>
                <a:srgbClr val="0E9C8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5" name="Google Shape;1785;p80"/>
          <p:cNvSpPr/>
          <p:nvPr/>
        </p:nvSpPr>
        <p:spPr>
          <a:xfrm>
            <a:off x="4689144" y="2799874"/>
            <a:ext cx="1012500" cy="340800"/>
          </a:xfrm>
          <a:prstGeom prst="roundRect">
            <a:avLst>
              <a:gd fmla="val 16667" name="adj"/>
            </a:avLst>
          </a:prstGeom>
          <a:solidFill>
            <a:srgbClr val="0E9C8A">
              <a:alpha val="15999"/>
            </a:srgbClr>
          </a:solidFill>
          <a:ln cap="flat" cmpd="sng" w="9525">
            <a:solidFill>
              <a:srgbClr val="0E9C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800">
                <a:solidFill>
                  <a:srgbClr val="0E9C8A"/>
                </a:solidFill>
                <a:latin typeface="Calibri"/>
                <a:ea typeface="Calibri"/>
                <a:cs typeface="Calibri"/>
                <a:sym typeface="Calibri"/>
              </a:rPr>
              <a:t>outil web</a:t>
            </a:r>
            <a:endParaRPr b="1" sz="800">
              <a:solidFill>
                <a:srgbClr val="0E9C8A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fr" sz="600">
                <a:solidFill>
                  <a:srgbClr val="0E9C8A"/>
                </a:solidFill>
                <a:latin typeface="Calibri"/>
                <a:ea typeface="Calibri"/>
                <a:cs typeface="Calibri"/>
                <a:sym typeface="Calibri"/>
              </a:rPr>
              <a:t>(Tavily)</a:t>
            </a:r>
            <a:endParaRPr sz="600">
              <a:solidFill>
                <a:srgbClr val="0E9C8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6" name="Google Shape;1786;p80"/>
          <p:cNvSpPr/>
          <p:nvPr/>
        </p:nvSpPr>
        <p:spPr>
          <a:xfrm>
            <a:off x="3426758" y="3246355"/>
            <a:ext cx="1041900" cy="340800"/>
          </a:xfrm>
          <a:prstGeom prst="roundRect">
            <a:avLst>
              <a:gd fmla="val 16667" name="adj"/>
            </a:avLst>
          </a:prstGeom>
          <a:solidFill>
            <a:srgbClr val="0E9C8A">
              <a:alpha val="15999"/>
            </a:srgbClr>
          </a:solidFill>
          <a:ln cap="flat" cmpd="sng" w="9525">
            <a:solidFill>
              <a:srgbClr val="0E9C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fr" sz="800">
                <a:solidFill>
                  <a:srgbClr val="0E9C8A"/>
                </a:solidFill>
                <a:latin typeface="Calibri"/>
                <a:ea typeface="Calibri"/>
                <a:cs typeface="Calibri"/>
                <a:sym typeface="Calibri"/>
              </a:rPr>
              <a:t>outil géo</a:t>
            </a:r>
            <a:endParaRPr b="1" sz="800">
              <a:solidFill>
                <a:srgbClr val="0E9C8A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fr" sz="600">
                <a:solidFill>
                  <a:srgbClr val="0E9C8A"/>
                </a:solidFill>
                <a:latin typeface="Calibri"/>
                <a:ea typeface="Calibri"/>
                <a:cs typeface="Calibri"/>
                <a:sym typeface="Calibri"/>
              </a:rPr>
              <a:t>(PostGIS)</a:t>
            </a:r>
            <a:endParaRPr/>
          </a:p>
        </p:txBody>
      </p:sp>
      <p:sp>
        <p:nvSpPr>
          <p:cNvPr id="1787" name="Google Shape;1787;p80"/>
          <p:cNvSpPr/>
          <p:nvPr/>
        </p:nvSpPr>
        <p:spPr>
          <a:xfrm>
            <a:off x="2967450" y="4523300"/>
            <a:ext cx="3209100" cy="329700"/>
          </a:xfrm>
          <a:prstGeom prst="roundRect">
            <a:avLst>
              <a:gd fmla="val 16667" name="adj"/>
            </a:avLst>
          </a:prstGeom>
          <a:solidFill>
            <a:srgbClr val="F4F4F5"/>
          </a:solidFill>
          <a:ln cap="flat" cmpd="sng" w="9525">
            <a:solidFill>
              <a:srgbClr val="222A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800">
                <a:solidFill>
                  <a:srgbClr val="222A3A"/>
                </a:solidFill>
                <a:latin typeface="Calibri"/>
                <a:ea typeface="Calibri"/>
                <a:cs typeface="Calibri"/>
                <a:sym typeface="Calibri"/>
              </a:rPr>
              <a:t>frontend web / Utilisateurs</a:t>
            </a:r>
            <a:endParaRPr b="1" sz="800">
              <a:solidFill>
                <a:srgbClr val="222A3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8" name="Google Shape;1788;p80"/>
          <p:cNvSpPr txBox="1"/>
          <p:nvPr/>
        </p:nvSpPr>
        <p:spPr>
          <a:xfrm>
            <a:off x="4586100" y="4275550"/>
            <a:ext cx="1090200" cy="20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 sz="600">
                <a:solidFill>
                  <a:srgbClr val="F4F4F5"/>
                </a:solidFill>
                <a:latin typeface="Calibri"/>
                <a:ea typeface="Calibri"/>
                <a:cs typeface="Calibri"/>
                <a:sym typeface="Calibri"/>
              </a:rPr>
              <a:t>question ⇒ / réponse SSE ⇐</a:t>
            </a:r>
            <a:endParaRPr sz="600">
              <a:solidFill>
                <a:srgbClr val="F4F4F5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 sz="600">
                <a:solidFill>
                  <a:srgbClr val="F4F4F5"/>
                </a:solidFill>
                <a:latin typeface="Calibri"/>
                <a:ea typeface="Calibri"/>
                <a:cs typeface="Calibri"/>
                <a:sym typeface="Calibri"/>
              </a:rPr>
              <a:t>(HTTPS/SSE)</a:t>
            </a:r>
            <a:endParaRPr sz="600">
              <a:solidFill>
                <a:srgbClr val="F4F4F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789" name="Google Shape;1789;p80"/>
          <p:cNvCxnSpPr>
            <a:endCxn id="1776" idx="0"/>
          </p:cNvCxnSpPr>
          <p:nvPr/>
        </p:nvCxnSpPr>
        <p:spPr>
          <a:xfrm flipH="1">
            <a:off x="1365219" y="1511925"/>
            <a:ext cx="2100" cy="319200"/>
          </a:xfrm>
          <a:prstGeom prst="straightConnector1">
            <a:avLst/>
          </a:prstGeom>
          <a:noFill/>
          <a:ln cap="flat" cmpd="sng" w="9525">
            <a:solidFill>
              <a:srgbClr val="923E2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790" name="Google Shape;1790;p80"/>
          <p:cNvCxnSpPr>
            <a:stCxn id="1776" idx="3"/>
            <a:endCxn id="1774" idx="1"/>
          </p:cNvCxnSpPr>
          <p:nvPr/>
        </p:nvCxnSpPr>
        <p:spPr>
          <a:xfrm flipH="1" rot="10800000">
            <a:off x="2154219" y="1240275"/>
            <a:ext cx="1274700" cy="770700"/>
          </a:xfrm>
          <a:prstGeom prst="curvedConnector3">
            <a:avLst>
              <a:gd fmla="val 50003" name="adj1"/>
            </a:avLst>
          </a:prstGeom>
          <a:noFill/>
          <a:ln cap="flat" cmpd="sng" w="9525">
            <a:solidFill>
              <a:srgbClr val="923E22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1791" name="Google Shape;1791;p80"/>
          <p:cNvCxnSpPr>
            <a:stCxn id="1776" idx="2"/>
            <a:endCxn id="1777" idx="0"/>
          </p:cNvCxnSpPr>
          <p:nvPr/>
        </p:nvCxnSpPr>
        <p:spPr>
          <a:xfrm flipH="1">
            <a:off x="1351119" y="2190825"/>
            <a:ext cx="14100" cy="159600"/>
          </a:xfrm>
          <a:prstGeom prst="straightConnector1">
            <a:avLst/>
          </a:prstGeom>
          <a:noFill/>
          <a:ln cap="flat" cmpd="sng" w="9525">
            <a:solidFill>
              <a:srgbClr val="923E2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792" name="Google Shape;1792;p80"/>
          <p:cNvCxnSpPr>
            <a:stCxn id="1782" idx="1"/>
            <a:endCxn id="1777" idx="3"/>
          </p:cNvCxnSpPr>
          <p:nvPr/>
        </p:nvCxnSpPr>
        <p:spPr>
          <a:xfrm rot="10800000">
            <a:off x="2140258" y="2611175"/>
            <a:ext cx="1291200" cy="359100"/>
          </a:xfrm>
          <a:prstGeom prst="curvedConnector3">
            <a:avLst>
              <a:gd fmla="val 50005" name="adj1"/>
            </a:avLst>
          </a:prstGeom>
          <a:noFill/>
          <a:ln cap="flat" cmpd="sng" w="9525">
            <a:solidFill>
              <a:srgbClr val="0E9C8A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93" name="Google Shape;1793;p80"/>
          <p:cNvCxnSpPr>
            <a:stCxn id="1784" idx="3"/>
            <a:endCxn id="1778" idx="3"/>
          </p:cNvCxnSpPr>
          <p:nvPr/>
        </p:nvCxnSpPr>
        <p:spPr>
          <a:xfrm rot="10800000">
            <a:off x="2140042" y="3182150"/>
            <a:ext cx="3577200" cy="234600"/>
          </a:xfrm>
          <a:prstGeom prst="curvedConnector5">
            <a:avLst>
              <a:gd fmla="val -1538" name="adj1"/>
              <a:gd fmla="val -227526" name="adj2"/>
              <a:gd fmla="val 77179" name="adj3"/>
            </a:avLst>
          </a:prstGeom>
          <a:noFill/>
          <a:ln cap="flat" cmpd="sng" w="9525">
            <a:solidFill>
              <a:srgbClr val="0E9C8A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94" name="Google Shape;1794;p80"/>
          <p:cNvCxnSpPr>
            <a:stCxn id="1776" idx="1"/>
            <a:endCxn id="1779" idx="1"/>
          </p:cNvCxnSpPr>
          <p:nvPr/>
        </p:nvCxnSpPr>
        <p:spPr>
          <a:xfrm flipH="1">
            <a:off x="562119" y="2010975"/>
            <a:ext cx="14100" cy="1633200"/>
          </a:xfrm>
          <a:prstGeom prst="curvedConnector3">
            <a:avLst>
              <a:gd fmla="val 1788788" name="adj1"/>
            </a:avLst>
          </a:prstGeom>
          <a:noFill/>
          <a:ln cap="flat" cmpd="sng" w="9525">
            <a:solidFill>
              <a:srgbClr val="923E2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795" name="Google Shape;1795;p80"/>
          <p:cNvCxnSpPr>
            <a:stCxn id="1785" idx="3"/>
            <a:endCxn id="1775" idx="1"/>
          </p:cNvCxnSpPr>
          <p:nvPr/>
        </p:nvCxnSpPr>
        <p:spPr>
          <a:xfrm flipH="1" rot="10800000">
            <a:off x="5701644" y="1241074"/>
            <a:ext cx="765600" cy="1729200"/>
          </a:xfrm>
          <a:prstGeom prst="curvedConnector3">
            <a:avLst>
              <a:gd fmla="val 49991" name="adj1"/>
            </a:avLst>
          </a:prstGeom>
          <a:noFill/>
          <a:ln cap="flat" cmpd="sng" w="9525">
            <a:solidFill>
              <a:srgbClr val="0E9C8A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796" name="Google Shape;1796;p80"/>
          <p:cNvSpPr txBox="1"/>
          <p:nvPr/>
        </p:nvSpPr>
        <p:spPr>
          <a:xfrm>
            <a:off x="21775" y="2444838"/>
            <a:ext cx="399300" cy="12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 sz="600">
                <a:solidFill>
                  <a:srgbClr val="923E22"/>
                </a:solidFill>
                <a:latin typeface="Calibri"/>
                <a:ea typeface="Calibri"/>
                <a:cs typeface="Calibri"/>
                <a:sym typeface="Calibri"/>
              </a:rPr>
              <a:t>dump</a:t>
            </a:r>
            <a:endParaRPr sz="600">
              <a:solidFill>
                <a:srgbClr val="923E2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7" name="Google Shape;1797;p80"/>
          <p:cNvSpPr txBox="1"/>
          <p:nvPr/>
        </p:nvSpPr>
        <p:spPr>
          <a:xfrm>
            <a:off x="1310800" y="2206363"/>
            <a:ext cx="399300" cy="12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 sz="600">
                <a:solidFill>
                  <a:srgbClr val="923E22"/>
                </a:solidFill>
                <a:latin typeface="Calibri"/>
                <a:ea typeface="Calibri"/>
                <a:cs typeface="Calibri"/>
                <a:sym typeface="Calibri"/>
              </a:rPr>
              <a:t>upsert</a:t>
            </a:r>
            <a:endParaRPr sz="600">
              <a:solidFill>
                <a:srgbClr val="923E2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8" name="Google Shape;1798;p80"/>
          <p:cNvSpPr txBox="1"/>
          <p:nvPr/>
        </p:nvSpPr>
        <p:spPr>
          <a:xfrm>
            <a:off x="1290360" y="1518088"/>
            <a:ext cx="582600" cy="12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 sz="600">
                <a:solidFill>
                  <a:srgbClr val="923E22"/>
                </a:solidFill>
                <a:latin typeface="Calibri"/>
                <a:ea typeface="Calibri"/>
                <a:cs typeface="Calibri"/>
                <a:sym typeface="Calibri"/>
              </a:rPr>
              <a:t>événements</a:t>
            </a:r>
            <a:endParaRPr sz="600">
              <a:solidFill>
                <a:srgbClr val="923E2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9" name="Google Shape;1799;p80"/>
          <p:cNvSpPr txBox="1"/>
          <p:nvPr/>
        </p:nvSpPr>
        <p:spPr>
          <a:xfrm>
            <a:off x="2517323" y="1775063"/>
            <a:ext cx="582600" cy="12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 sz="600">
                <a:solidFill>
                  <a:srgbClr val="923E22"/>
                </a:solidFill>
                <a:latin typeface="Calibri"/>
                <a:ea typeface="Calibri"/>
                <a:cs typeface="Calibri"/>
                <a:sym typeface="Calibri"/>
              </a:rPr>
              <a:t>embeddings</a:t>
            </a:r>
            <a:endParaRPr sz="600">
              <a:solidFill>
                <a:srgbClr val="923E2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0" name="Google Shape;1800;p80"/>
          <p:cNvSpPr txBox="1"/>
          <p:nvPr/>
        </p:nvSpPr>
        <p:spPr>
          <a:xfrm>
            <a:off x="2619046" y="2657541"/>
            <a:ext cx="486300" cy="12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 sz="600">
                <a:solidFill>
                  <a:srgbClr val="0E9C8A"/>
                </a:solidFill>
                <a:latin typeface="Calibri"/>
                <a:ea typeface="Calibri"/>
                <a:cs typeface="Calibri"/>
                <a:sym typeface="Calibri"/>
              </a:rPr>
              <a:t>retrieval</a:t>
            </a:r>
            <a:endParaRPr sz="600">
              <a:solidFill>
                <a:srgbClr val="0E9C8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1" name="Google Shape;1801;p80"/>
          <p:cNvSpPr txBox="1"/>
          <p:nvPr/>
        </p:nvSpPr>
        <p:spPr>
          <a:xfrm>
            <a:off x="283150" y="3953488"/>
            <a:ext cx="2454600" cy="23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1000">
                <a:solidFill>
                  <a:srgbClr val="B07BC2"/>
                </a:solidFill>
                <a:latin typeface="Calibri"/>
                <a:ea typeface="Calibri"/>
                <a:cs typeface="Calibri"/>
                <a:sym typeface="Calibri"/>
              </a:rPr>
              <a:t>SCALEWAY</a:t>
            </a:r>
            <a:r>
              <a:rPr lang="fr" sz="800">
                <a:solidFill>
                  <a:srgbClr val="B07BC2"/>
                </a:solidFill>
                <a:latin typeface="Calibri"/>
                <a:ea typeface="Calibri"/>
                <a:cs typeface="Calibri"/>
                <a:sym typeface="Calibri"/>
              </a:rPr>
              <a:t> - cloud souverain (UE, hors CLOUD Act) </a:t>
            </a:r>
            <a:endParaRPr sz="800">
              <a:solidFill>
                <a:srgbClr val="B07BC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2" name="Google Shape;1802;p80"/>
          <p:cNvSpPr/>
          <p:nvPr/>
        </p:nvSpPr>
        <p:spPr>
          <a:xfrm>
            <a:off x="7068700" y="4409050"/>
            <a:ext cx="144600" cy="72900"/>
          </a:xfrm>
          <a:prstGeom prst="roundRect">
            <a:avLst>
              <a:gd fmla="val 16667" name="adj"/>
            </a:avLst>
          </a:prstGeom>
          <a:solidFill>
            <a:srgbClr val="9CA3AF">
              <a:alpha val="6960"/>
            </a:srgbClr>
          </a:solidFill>
          <a:ln cap="flat" cmpd="sng" w="9525">
            <a:solidFill>
              <a:srgbClr val="9CA3A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3" name="Google Shape;1803;p80"/>
          <p:cNvSpPr/>
          <p:nvPr/>
        </p:nvSpPr>
        <p:spPr>
          <a:xfrm>
            <a:off x="7068700" y="4550067"/>
            <a:ext cx="144600" cy="72900"/>
          </a:xfrm>
          <a:prstGeom prst="roundRect">
            <a:avLst>
              <a:gd fmla="val 16667" name="adj"/>
            </a:avLst>
          </a:prstGeom>
          <a:solidFill>
            <a:srgbClr val="923E22">
              <a:alpha val="7999"/>
            </a:srgbClr>
          </a:solidFill>
          <a:ln cap="flat" cmpd="sng" w="9525">
            <a:solidFill>
              <a:srgbClr val="923E2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4" name="Google Shape;1804;p80"/>
          <p:cNvSpPr/>
          <p:nvPr/>
        </p:nvSpPr>
        <p:spPr>
          <a:xfrm>
            <a:off x="7068700" y="4962200"/>
            <a:ext cx="144600" cy="72900"/>
          </a:xfrm>
          <a:prstGeom prst="roundRect">
            <a:avLst>
              <a:gd fmla="val 16667" name="adj"/>
            </a:avLst>
          </a:prstGeom>
          <a:solidFill>
            <a:srgbClr val="674EA7">
              <a:alpha val="7999"/>
            </a:srgbClr>
          </a:solidFill>
          <a:ln cap="flat" cmpd="sng" w="9525">
            <a:solidFill>
              <a:srgbClr val="674EA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5" name="Google Shape;1805;p80"/>
          <p:cNvSpPr/>
          <p:nvPr/>
        </p:nvSpPr>
        <p:spPr>
          <a:xfrm>
            <a:off x="7068700" y="4691085"/>
            <a:ext cx="144600" cy="72900"/>
          </a:xfrm>
          <a:prstGeom prst="roundRect">
            <a:avLst>
              <a:gd fmla="val 16667" name="adj"/>
            </a:avLst>
          </a:prstGeom>
          <a:solidFill>
            <a:srgbClr val="0000FF">
              <a:alpha val="14000"/>
            </a:srgbClr>
          </a:solidFill>
          <a:ln cap="flat" cmpd="sng" w="9525">
            <a:solidFill>
              <a:srgbClr val="00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6" name="Google Shape;1806;p80"/>
          <p:cNvSpPr/>
          <p:nvPr/>
        </p:nvSpPr>
        <p:spPr>
          <a:xfrm>
            <a:off x="7068700" y="4825177"/>
            <a:ext cx="144600" cy="72900"/>
          </a:xfrm>
          <a:prstGeom prst="roundRect">
            <a:avLst>
              <a:gd fmla="val 16667" name="adj"/>
            </a:avLst>
          </a:prstGeom>
          <a:solidFill>
            <a:srgbClr val="0E9C8A">
              <a:alpha val="15999"/>
            </a:srgbClr>
          </a:solidFill>
          <a:ln cap="flat" cmpd="sng" w="9525">
            <a:solidFill>
              <a:srgbClr val="0E9C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807" name="Google Shape;1807;p80"/>
          <p:cNvCxnSpPr>
            <a:endCxn id="1780" idx="2"/>
          </p:cNvCxnSpPr>
          <p:nvPr/>
        </p:nvCxnSpPr>
        <p:spPr>
          <a:xfrm rot="10800000">
            <a:off x="4572000" y="4115900"/>
            <a:ext cx="14100" cy="410100"/>
          </a:xfrm>
          <a:prstGeom prst="straightConnector1">
            <a:avLst/>
          </a:prstGeom>
          <a:noFill/>
          <a:ln cap="flat" cmpd="sng" w="9525">
            <a:solidFill>
              <a:srgbClr val="F4F4F5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808" name="Google Shape;1808;p80"/>
          <p:cNvCxnSpPr>
            <a:stCxn id="1786" idx="1"/>
            <a:endCxn id="1777" idx="3"/>
          </p:cNvCxnSpPr>
          <p:nvPr/>
        </p:nvCxnSpPr>
        <p:spPr>
          <a:xfrm rot="10800000">
            <a:off x="2140058" y="2611255"/>
            <a:ext cx="1286700" cy="805500"/>
          </a:xfrm>
          <a:prstGeom prst="curvedConnector3">
            <a:avLst>
              <a:gd fmla="val 44646" name="adj1"/>
            </a:avLst>
          </a:prstGeom>
          <a:noFill/>
          <a:ln cap="flat" cmpd="sng" w="9525">
            <a:solidFill>
              <a:srgbClr val="0E9C8A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809" name="Google Shape;1809;p80"/>
          <p:cNvCxnSpPr>
            <a:stCxn id="1784" idx="2"/>
            <a:endCxn id="1777" idx="3"/>
          </p:cNvCxnSpPr>
          <p:nvPr/>
        </p:nvCxnSpPr>
        <p:spPr>
          <a:xfrm flipH="1" rot="5400000">
            <a:off x="3187642" y="1563800"/>
            <a:ext cx="975900" cy="3070800"/>
          </a:xfrm>
          <a:prstGeom prst="curvedConnector4">
            <a:avLst>
              <a:gd fmla="val -24401" name="adj1"/>
              <a:gd fmla="val 77150" name="adj2"/>
            </a:avLst>
          </a:prstGeom>
          <a:noFill/>
          <a:ln cap="flat" cmpd="sng" w="9525">
            <a:solidFill>
              <a:srgbClr val="0E9C8A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810" name="Google Shape;1810;p80"/>
          <p:cNvSpPr txBox="1"/>
          <p:nvPr/>
        </p:nvSpPr>
        <p:spPr>
          <a:xfrm>
            <a:off x="3979391" y="3716668"/>
            <a:ext cx="582600" cy="12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 sz="600">
                <a:solidFill>
                  <a:srgbClr val="0E9C8A"/>
                </a:solidFill>
                <a:latin typeface="Calibri"/>
                <a:ea typeface="Calibri"/>
                <a:cs typeface="Calibri"/>
                <a:sym typeface="Calibri"/>
              </a:rPr>
              <a:t>mémoire LT</a:t>
            </a:r>
            <a:endParaRPr sz="600">
              <a:solidFill>
                <a:srgbClr val="0E9C8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1" name="Google Shape;1811;p80"/>
          <p:cNvSpPr txBox="1"/>
          <p:nvPr/>
        </p:nvSpPr>
        <p:spPr>
          <a:xfrm>
            <a:off x="4008429" y="3932876"/>
            <a:ext cx="569700" cy="12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 sz="600">
                <a:solidFill>
                  <a:srgbClr val="0E9C8A"/>
                </a:solidFill>
                <a:latin typeface="Calibri"/>
                <a:ea typeface="Calibri"/>
                <a:cs typeface="Calibri"/>
                <a:sym typeface="Calibri"/>
              </a:rPr>
              <a:t>mémoire CT</a:t>
            </a:r>
            <a:endParaRPr sz="600">
              <a:solidFill>
                <a:srgbClr val="0E9C8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2" name="Google Shape;1812;p80"/>
          <p:cNvSpPr txBox="1"/>
          <p:nvPr/>
        </p:nvSpPr>
        <p:spPr>
          <a:xfrm>
            <a:off x="2780476" y="2950552"/>
            <a:ext cx="358500" cy="12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 sz="600">
                <a:solidFill>
                  <a:srgbClr val="0E9C8A"/>
                </a:solidFill>
                <a:latin typeface="Calibri"/>
                <a:ea typeface="Calibri"/>
                <a:cs typeface="Calibri"/>
                <a:sym typeface="Calibri"/>
              </a:rPr>
              <a:t>géo</a:t>
            </a:r>
            <a:endParaRPr sz="600">
              <a:solidFill>
                <a:srgbClr val="0E9C8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3" name="Google Shape;1813;p80"/>
          <p:cNvSpPr txBox="1"/>
          <p:nvPr/>
        </p:nvSpPr>
        <p:spPr>
          <a:xfrm>
            <a:off x="7232825" y="4367250"/>
            <a:ext cx="1755600" cy="68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600">
                <a:solidFill>
                  <a:srgbClr val="8A93A6"/>
                </a:solidFill>
                <a:latin typeface="Calibri"/>
                <a:ea typeface="Calibri"/>
                <a:cs typeface="Calibri"/>
                <a:sym typeface="Calibri"/>
              </a:rPr>
              <a:t>Sources externes</a:t>
            </a:r>
            <a:endParaRPr sz="600">
              <a:solidFill>
                <a:srgbClr val="8A93A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600">
                <a:solidFill>
                  <a:srgbClr val="8A93A6"/>
                </a:solidFill>
                <a:latin typeface="Calibri"/>
                <a:ea typeface="Calibri"/>
                <a:cs typeface="Calibri"/>
                <a:sym typeface="Calibri"/>
              </a:rPr>
              <a:t>Ingestion (Kestra)</a:t>
            </a:r>
            <a:endParaRPr sz="600">
              <a:solidFill>
                <a:srgbClr val="8A93A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600">
                <a:solidFill>
                  <a:srgbClr val="8A93A6"/>
                </a:solidFill>
                <a:latin typeface="Calibri"/>
                <a:ea typeface="Calibri"/>
                <a:cs typeface="Calibri"/>
                <a:sym typeface="Calibri"/>
              </a:rPr>
              <a:t>Stockage (PostgreSQL / Redis / Object storage)</a:t>
            </a:r>
            <a:endParaRPr sz="600">
              <a:solidFill>
                <a:srgbClr val="8A93A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600">
                <a:solidFill>
                  <a:srgbClr val="8A93A6"/>
                </a:solidFill>
                <a:latin typeface="Calibri"/>
                <a:ea typeface="Calibri"/>
                <a:cs typeface="Calibri"/>
                <a:sym typeface="Calibri"/>
              </a:rPr>
              <a:t>Applications (API + agent)</a:t>
            </a:r>
            <a:endParaRPr sz="600">
              <a:solidFill>
                <a:srgbClr val="8A93A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600">
                <a:solidFill>
                  <a:srgbClr val="8A93A6"/>
                </a:solidFill>
                <a:latin typeface="Calibri"/>
                <a:ea typeface="Calibri"/>
                <a:cs typeface="Calibri"/>
                <a:sym typeface="Calibri"/>
              </a:rPr>
              <a:t>Observabilité</a:t>
            </a:r>
            <a:endParaRPr sz="600">
              <a:solidFill>
                <a:srgbClr val="8A93A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4" name="Google Shape;1814;p80"/>
          <p:cNvSpPr txBox="1"/>
          <p:nvPr/>
        </p:nvSpPr>
        <p:spPr>
          <a:xfrm>
            <a:off x="377200" y="233175"/>
            <a:ext cx="2286900" cy="45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9050" lIns="0" spcFirstLastPara="1" rIns="0" wrap="square" tIns="190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1800">
                <a:solidFill>
                  <a:srgbClr val="0E9C8A"/>
                </a:solidFill>
                <a:latin typeface="Calibri"/>
                <a:ea typeface="Calibri"/>
                <a:cs typeface="Calibri"/>
                <a:sym typeface="Calibri"/>
              </a:rPr>
              <a:t>L’architecture du MVP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19" name="Shape 18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0" name="Google Shape;1820;p81"/>
          <p:cNvSpPr txBox="1"/>
          <p:nvPr/>
        </p:nvSpPr>
        <p:spPr>
          <a:xfrm>
            <a:off x="377200" y="675550"/>
            <a:ext cx="26754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9050" lIns="0" spcFirstLastPara="1" rIns="0" wrap="square" tIns="190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1100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Architecture MVP - chatbot RAG Puls-EVents</a:t>
            </a:r>
            <a:endParaRPr b="1" sz="1100">
              <a:solidFill>
                <a:srgbClr val="9CA3A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1" name="Google Shape;1821;p81"/>
          <p:cNvSpPr txBox="1"/>
          <p:nvPr/>
        </p:nvSpPr>
        <p:spPr>
          <a:xfrm>
            <a:off x="377200" y="4945850"/>
            <a:ext cx="999000" cy="166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700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MVP RAG Puls-Events</a:t>
            </a:r>
            <a:endParaRPr sz="700">
              <a:solidFill>
                <a:srgbClr val="9CA3A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2" name="Google Shape;1822;p81"/>
          <p:cNvSpPr/>
          <p:nvPr/>
        </p:nvSpPr>
        <p:spPr>
          <a:xfrm>
            <a:off x="64125" y="1631700"/>
            <a:ext cx="8941200" cy="2605500"/>
          </a:xfrm>
          <a:prstGeom prst="roundRect">
            <a:avLst>
              <a:gd fmla="val 6000" name="adj"/>
            </a:avLst>
          </a:prstGeom>
          <a:noFill/>
          <a:ln cap="flat" cmpd="sng" w="9525">
            <a:solidFill>
              <a:srgbClr val="B07BC2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3" name="Google Shape;1823;p81"/>
          <p:cNvSpPr/>
          <p:nvPr/>
        </p:nvSpPr>
        <p:spPr>
          <a:xfrm>
            <a:off x="499800" y="980277"/>
            <a:ext cx="2286000" cy="521400"/>
          </a:xfrm>
          <a:prstGeom prst="roundRect">
            <a:avLst>
              <a:gd fmla="val 16667" name="adj"/>
            </a:avLst>
          </a:prstGeom>
          <a:solidFill>
            <a:srgbClr val="9CA3AF">
              <a:alpha val="6960"/>
            </a:srgbClr>
          </a:solidFill>
          <a:ln cap="flat" cmpd="sng" w="12700">
            <a:solidFill>
              <a:srgbClr val="9CA3A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6575" lIns="91425" spcFirstLastPara="1" rIns="73150" wrap="square" tIns="365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800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Opendatasoft API</a:t>
            </a:r>
            <a:endParaRPr b="1" sz="800">
              <a:solidFill>
                <a:srgbClr val="9CA3A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600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events Open Agenda</a:t>
            </a:r>
            <a:endParaRPr b="1" sz="600">
              <a:solidFill>
                <a:srgbClr val="9CA3A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4" name="Google Shape;1824;p81"/>
          <p:cNvSpPr/>
          <p:nvPr/>
        </p:nvSpPr>
        <p:spPr>
          <a:xfrm>
            <a:off x="3429000" y="979502"/>
            <a:ext cx="2286000" cy="521400"/>
          </a:xfrm>
          <a:prstGeom prst="roundRect">
            <a:avLst>
              <a:gd fmla="val 16667" name="adj"/>
            </a:avLst>
          </a:prstGeom>
          <a:solidFill>
            <a:srgbClr val="9CA3AF">
              <a:alpha val="6960"/>
            </a:srgbClr>
          </a:solidFill>
          <a:ln cap="flat" cmpd="sng" w="12700">
            <a:solidFill>
              <a:srgbClr val="9CA3A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6575" lIns="91425" spcFirstLastPara="1" rIns="73150" wrap="square" tIns="365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800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Mistral API (UE)</a:t>
            </a:r>
            <a:endParaRPr b="1" sz="800">
              <a:solidFill>
                <a:srgbClr val="9CA3A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600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embeddings + LLM</a:t>
            </a:r>
            <a:endParaRPr b="1" sz="600">
              <a:solidFill>
                <a:srgbClr val="9CA3A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5" name="Google Shape;1825;p81"/>
          <p:cNvSpPr/>
          <p:nvPr/>
        </p:nvSpPr>
        <p:spPr>
          <a:xfrm>
            <a:off x="6467100" y="980264"/>
            <a:ext cx="2286000" cy="521400"/>
          </a:xfrm>
          <a:prstGeom prst="roundRect">
            <a:avLst>
              <a:gd fmla="val 16667" name="adj"/>
            </a:avLst>
          </a:prstGeom>
          <a:solidFill>
            <a:srgbClr val="9CA3AF">
              <a:alpha val="6960"/>
            </a:srgbClr>
          </a:solidFill>
          <a:ln cap="flat" cmpd="sng" w="12700">
            <a:solidFill>
              <a:srgbClr val="9CA3A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6575" lIns="91425" spcFirstLastPara="1" rIns="73150" wrap="square" tIns="365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800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Recherche web</a:t>
            </a:r>
            <a:endParaRPr b="1" sz="800">
              <a:solidFill>
                <a:srgbClr val="9CA3A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600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(Tavily)</a:t>
            </a:r>
            <a:endParaRPr b="1" sz="600">
              <a:solidFill>
                <a:srgbClr val="9CA3A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6" name="Google Shape;1826;p81"/>
          <p:cNvSpPr/>
          <p:nvPr/>
        </p:nvSpPr>
        <p:spPr>
          <a:xfrm>
            <a:off x="576219" y="1831125"/>
            <a:ext cx="1578000" cy="359700"/>
          </a:xfrm>
          <a:prstGeom prst="roundRect">
            <a:avLst>
              <a:gd fmla="val 16667" name="adj"/>
            </a:avLst>
          </a:prstGeom>
          <a:solidFill>
            <a:srgbClr val="923E22">
              <a:alpha val="7999"/>
            </a:srgbClr>
          </a:solidFill>
          <a:ln cap="flat" cmpd="sng" w="9525">
            <a:solidFill>
              <a:srgbClr val="923E2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800">
                <a:solidFill>
                  <a:srgbClr val="923E22"/>
                </a:solidFill>
                <a:latin typeface="Calibri"/>
                <a:ea typeface="Calibri"/>
                <a:cs typeface="Calibri"/>
                <a:sym typeface="Calibri"/>
              </a:rPr>
              <a:t>Kestra</a:t>
            </a:r>
            <a:r>
              <a:rPr lang="fr" sz="600">
                <a:solidFill>
                  <a:srgbClr val="923E22"/>
                </a:solidFill>
                <a:latin typeface="Calibri"/>
                <a:ea typeface="Calibri"/>
                <a:cs typeface="Calibri"/>
                <a:sym typeface="Calibri"/>
              </a:rPr>
              <a:t> - ingestion planifiée</a:t>
            </a:r>
            <a:endParaRPr sz="600">
              <a:solidFill>
                <a:srgbClr val="923E2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 sz="600">
                <a:solidFill>
                  <a:srgbClr val="923E22"/>
                </a:solidFill>
                <a:latin typeface="Calibri"/>
                <a:ea typeface="Calibri"/>
                <a:cs typeface="Calibri"/>
                <a:sym typeface="Calibri"/>
              </a:rPr>
              <a:t>fetch ⇒ clean ⇒ embed ⇒ upsert</a:t>
            </a:r>
            <a:endParaRPr sz="600">
              <a:solidFill>
                <a:srgbClr val="923E2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7" name="Google Shape;1827;p81"/>
          <p:cNvSpPr/>
          <p:nvPr/>
        </p:nvSpPr>
        <p:spPr>
          <a:xfrm>
            <a:off x="562125" y="2350491"/>
            <a:ext cx="1578000" cy="521400"/>
          </a:xfrm>
          <a:prstGeom prst="roundRect">
            <a:avLst>
              <a:gd fmla="val 16667" name="adj"/>
            </a:avLst>
          </a:prstGeom>
          <a:solidFill>
            <a:srgbClr val="0000FF">
              <a:alpha val="14000"/>
            </a:srgbClr>
          </a:solidFill>
          <a:ln cap="flat" cmpd="sng" w="9525">
            <a:solidFill>
              <a:srgbClr val="00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800">
                <a:solidFill>
                  <a:srgbClr val="3C78D8"/>
                </a:solidFill>
                <a:latin typeface="Calibri"/>
                <a:ea typeface="Calibri"/>
                <a:cs typeface="Calibri"/>
                <a:sym typeface="Calibri"/>
              </a:rPr>
              <a:t>Managed PostgreSQL</a:t>
            </a:r>
            <a:endParaRPr b="1" sz="800">
              <a:solidFill>
                <a:srgbClr val="3C78D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66700" lvl="0" marL="457200" rtl="0" algn="l">
              <a:spcBef>
                <a:spcPts val="0"/>
              </a:spcBef>
              <a:spcAft>
                <a:spcPts val="0"/>
              </a:spcAft>
              <a:buClr>
                <a:srgbClr val="3C78D8"/>
              </a:buClr>
              <a:buSzPts val="600"/>
              <a:buFont typeface="Calibri"/>
              <a:buChar char="●"/>
            </a:pPr>
            <a:r>
              <a:rPr lang="fr" sz="600">
                <a:solidFill>
                  <a:srgbClr val="3C78D8"/>
                </a:solidFill>
                <a:latin typeface="Calibri"/>
                <a:ea typeface="Calibri"/>
                <a:cs typeface="Calibri"/>
                <a:sym typeface="Calibri"/>
              </a:rPr>
              <a:t>pgvector (embeddings)</a:t>
            </a:r>
            <a:endParaRPr sz="600">
              <a:solidFill>
                <a:srgbClr val="3C78D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66700" lvl="0" marL="457200" rtl="0" algn="l">
              <a:spcBef>
                <a:spcPts val="0"/>
              </a:spcBef>
              <a:spcAft>
                <a:spcPts val="0"/>
              </a:spcAft>
              <a:buClr>
                <a:srgbClr val="3C78D8"/>
              </a:buClr>
              <a:buSzPts val="600"/>
              <a:buFont typeface="Calibri"/>
              <a:buChar char="●"/>
            </a:pPr>
            <a:r>
              <a:rPr lang="fr" sz="600">
                <a:solidFill>
                  <a:srgbClr val="3C78D8"/>
                </a:solidFill>
                <a:latin typeface="Calibri"/>
                <a:ea typeface="Calibri"/>
                <a:cs typeface="Calibri"/>
                <a:sym typeface="Calibri"/>
              </a:rPr>
              <a:t>PostGIS (géo)</a:t>
            </a:r>
            <a:endParaRPr sz="600">
              <a:solidFill>
                <a:srgbClr val="3C78D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66700" lvl="0" marL="457200" rtl="0" algn="l">
              <a:spcBef>
                <a:spcPts val="0"/>
              </a:spcBef>
              <a:spcAft>
                <a:spcPts val="0"/>
              </a:spcAft>
              <a:buClr>
                <a:srgbClr val="3C78D8"/>
              </a:buClr>
              <a:buSzPts val="600"/>
              <a:buFont typeface="Calibri"/>
              <a:buChar char="●"/>
            </a:pPr>
            <a:r>
              <a:rPr lang="fr" sz="600">
                <a:solidFill>
                  <a:srgbClr val="3C78D8"/>
                </a:solidFill>
                <a:latin typeface="Calibri"/>
                <a:ea typeface="Calibri"/>
                <a:cs typeface="Calibri"/>
                <a:sym typeface="Calibri"/>
              </a:rPr>
              <a:t>relationnel + mémoire LT</a:t>
            </a:r>
            <a:endParaRPr sz="600">
              <a:solidFill>
                <a:srgbClr val="3C78D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8" name="Google Shape;1828;p81"/>
          <p:cNvSpPr/>
          <p:nvPr/>
        </p:nvSpPr>
        <p:spPr>
          <a:xfrm>
            <a:off x="562125" y="3030722"/>
            <a:ext cx="1578000" cy="303000"/>
          </a:xfrm>
          <a:prstGeom prst="roundRect">
            <a:avLst>
              <a:gd fmla="val 16667" name="adj"/>
            </a:avLst>
          </a:prstGeom>
          <a:solidFill>
            <a:srgbClr val="0000FF">
              <a:alpha val="7999"/>
            </a:srgbClr>
          </a:solidFill>
          <a:ln cap="flat" cmpd="sng" w="9525">
            <a:solidFill>
              <a:srgbClr val="00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800">
                <a:solidFill>
                  <a:srgbClr val="3C78D8"/>
                </a:solidFill>
                <a:latin typeface="Calibri"/>
                <a:ea typeface="Calibri"/>
                <a:cs typeface="Calibri"/>
                <a:sym typeface="Calibri"/>
              </a:rPr>
              <a:t>Managed Redis</a:t>
            </a:r>
            <a:endParaRPr b="1" sz="800">
              <a:solidFill>
                <a:srgbClr val="3C78D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 sz="600">
                <a:solidFill>
                  <a:srgbClr val="3C78D8"/>
                </a:solidFill>
                <a:latin typeface="Calibri"/>
                <a:ea typeface="Calibri"/>
                <a:cs typeface="Calibri"/>
                <a:sym typeface="Calibri"/>
              </a:rPr>
              <a:t>mémoire court terme / session</a:t>
            </a:r>
            <a:endParaRPr sz="600">
              <a:solidFill>
                <a:srgbClr val="3C78D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9" name="Google Shape;1829;p81"/>
          <p:cNvSpPr/>
          <p:nvPr/>
        </p:nvSpPr>
        <p:spPr>
          <a:xfrm>
            <a:off x="562125" y="3492525"/>
            <a:ext cx="1578000" cy="303000"/>
          </a:xfrm>
          <a:prstGeom prst="roundRect">
            <a:avLst>
              <a:gd fmla="val 16667" name="adj"/>
            </a:avLst>
          </a:prstGeom>
          <a:solidFill>
            <a:srgbClr val="0000FF">
              <a:alpha val="3999"/>
            </a:srgbClr>
          </a:solidFill>
          <a:ln cap="flat" cmpd="sng" w="9525">
            <a:solidFill>
              <a:srgbClr val="00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800">
                <a:solidFill>
                  <a:srgbClr val="3C78D8"/>
                </a:solidFill>
                <a:latin typeface="Calibri"/>
                <a:ea typeface="Calibri"/>
                <a:cs typeface="Calibri"/>
                <a:sym typeface="Calibri"/>
              </a:rPr>
              <a:t>Object storage</a:t>
            </a:r>
            <a:r>
              <a:rPr lang="fr" sz="800">
                <a:solidFill>
                  <a:srgbClr val="3C78D8"/>
                </a:solidFill>
                <a:latin typeface="Calibri"/>
                <a:ea typeface="Calibri"/>
                <a:cs typeface="Calibri"/>
                <a:sym typeface="Calibri"/>
              </a:rPr>
              <a:t> S3</a:t>
            </a:r>
            <a:endParaRPr sz="800">
              <a:solidFill>
                <a:srgbClr val="3C78D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0" name="Google Shape;1830;p81"/>
          <p:cNvSpPr/>
          <p:nvPr/>
        </p:nvSpPr>
        <p:spPr>
          <a:xfrm>
            <a:off x="3234300" y="1858100"/>
            <a:ext cx="2675400" cy="2257800"/>
          </a:xfrm>
          <a:prstGeom prst="roundRect">
            <a:avLst>
              <a:gd fmla="val 16667" name="adj"/>
            </a:avLst>
          </a:prstGeom>
          <a:solidFill>
            <a:srgbClr val="0E9C8A">
              <a:alpha val="7999"/>
            </a:srgbClr>
          </a:solidFill>
          <a:ln cap="flat" cmpd="sng" w="9525">
            <a:solidFill>
              <a:srgbClr val="0E9C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1" name="Google Shape;1831;p81"/>
          <p:cNvSpPr/>
          <p:nvPr/>
        </p:nvSpPr>
        <p:spPr>
          <a:xfrm>
            <a:off x="3431358" y="2172800"/>
            <a:ext cx="2270400" cy="521400"/>
          </a:xfrm>
          <a:prstGeom prst="roundRect">
            <a:avLst>
              <a:gd fmla="val 16667" name="adj"/>
            </a:avLst>
          </a:prstGeom>
          <a:solidFill>
            <a:srgbClr val="0E9C8A">
              <a:alpha val="23999"/>
            </a:srgbClr>
          </a:solidFill>
          <a:ln cap="flat" cmpd="sng" w="9525">
            <a:solidFill>
              <a:srgbClr val="0E9C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800">
                <a:solidFill>
                  <a:srgbClr val="0E9C8A"/>
                </a:solidFill>
                <a:latin typeface="Calibri"/>
                <a:ea typeface="Calibri"/>
                <a:cs typeface="Calibri"/>
                <a:sym typeface="Calibri"/>
              </a:rPr>
              <a:t>Agents smolagents</a:t>
            </a:r>
            <a:endParaRPr b="1" sz="800">
              <a:solidFill>
                <a:srgbClr val="0E9C8A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 sz="600">
                <a:solidFill>
                  <a:srgbClr val="0E9C8A"/>
                </a:solidFill>
                <a:latin typeface="Calibri"/>
                <a:ea typeface="Calibri"/>
                <a:cs typeface="Calibri"/>
                <a:sym typeface="Calibri"/>
              </a:rPr>
              <a:t>(orchestration des outils)</a:t>
            </a:r>
            <a:endParaRPr sz="600">
              <a:solidFill>
                <a:srgbClr val="0E9C8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2" name="Google Shape;1832;p81"/>
          <p:cNvSpPr/>
          <p:nvPr/>
        </p:nvSpPr>
        <p:spPr>
          <a:xfrm>
            <a:off x="3431458" y="2799875"/>
            <a:ext cx="1041900" cy="340800"/>
          </a:xfrm>
          <a:prstGeom prst="roundRect">
            <a:avLst>
              <a:gd fmla="val 16667" name="adj"/>
            </a:avLst>
          </a:prstGeom>
          <a:solidFill>
            <a:srgbClr val="0E9C8A">
              <a:alpha val="15999"/>
            </a:srgbClr>
          </a:solidFill>
          <a:ln cap="flat" cmpd="sng" w="9525">
            <a:solidFill>
              <a:srgbClr val="0E9C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800">
                <a:solidFill>
                  <a:srgbClr val="0E9C8A"/>
                </a:solidFill>
                <a:latin typeface="Calibri"/>
                <a:ea typeface="Calibri"/>
                <a:cs typeface="Calibri"/>
                <a:sym typeface="Calibri"/>
              </a:rPr>
              <a:t>outil RAG</a:t>
            </a:r>
            <a:endParaRPr b="1" sz="800">
              <a:solidFill>
                <a:srgbClr val="0E9C8A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 sz="600">
                <a:solidFill>
                  <a:srgbClr val="0E9C8A"/>
                </a:solidFill>
                <a:latin typeface="Calibri"/>
                <a:ea typeface="Calibri"/>
                <a:cs typeface="Calibri"/>
                <a:sym typeface="Calibri"/>
              </a:rPr>
              <a:t>(LangChain hybride)</a:t>
            </a:r>
            <a:endParaRPr sz="600">
              <a:solidFill>
                <a:srgbClr val="0E9C8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3" name="Google Shape;1833;p81"/>
          <p:cNvSpPr txBox="1"/>
          <p:nvPr/>
        </p:nvSpPr>
        <p:spPr>
          <a:xfrm>
            <a:off x="3560475" y="1932625"/>
            <a:ext cx="19485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800">
                <a:solidFill>
                  <a:srgbClr val="0E9C8A"/>
                </a:solidFill>
                <a:latin typeface="Calibri"/>
                <a:ea typeface="Calibri"/>
                <a:cs typeface="Calibri"/>
                <a:sym typeface="Calibri"/>
              </a:rPr>
              <a:t>Serverless Containers - API FastAPI (SSE)</a:t>
            </a:r>
            <a:endParaRPr b="1" sz="800">
              <a:solidFill>
                <a:srgbClr val="0E9C8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4" name="Google Shape;1834;p81"/>
          <p:cNvSpPr/>
          <p:nvPr/>
        </p:nvSpPr>
        <p:spPr>
          <a:xfrm>
            <a:off x="4704742" y="3246350"/>
            <a:ext cx="1012500" cy="340800"/>
          </a:xfrm>
          <a:prstGeom prst="roundRect">
            <a:avLst>
              <a:gd fmla="val 16667" name="adj"/>
            </a:avLst>
          </a:prstGeom>
          <a:solidFill>
            <a:srgbClr val="0E9C8A">
              <a:alpha val="15999"/>
            </a:srgbClr>
          </a:solidFill>
          <a:ln cap="flat" cmpd="sng" w="9525">
            <a:solidFill>
              <a:srgbClr val="0E9C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800">
                <a:solidFill>
                  <a:srgbClr val="0E9C8A"/>
                </a:solidFill>
                <a:latin typeface="Calibri"/>
                <a:ea typeface="Calibri"/>
                <a:cs typeface="Calibri"/>
                <a:sym typeface="Calibri"/>
              </a:rPr>
              <a:t>outil mémoire</a:t>
            </a:r>
            <a:endParaRPr b="1" sz="800">
              <a:solidFill>
                <a:srgbClr val="0E9C8A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 sz="600">
                <a:solidFill>
                  <a:srgbClr val="0E9C8A"/>
                </a:solidFill>
                <a:latin typeface="Calibri"/>
                <a:ea typeface="Calibri"/>
                <a:cs typeface="Calibri"/>
                <a:sym typeface="Calibri"/>
              </a:rPr>
              <a:t>(Redis + PG)</a:t>
            </a:r>
            <a:endParaRPr sz="600">
              <a:solidFill>
                <a:srgbClr val="0E9C8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5" name="Google Shape;1835;p81"/>
          <p:cNvSpPr/>
          <p:nvPr/>
        </p:nvSpPr>
        <p:spPr>
          <a:xfrm>
            <a:off x="4689144" y="2799874"/>
            <a:ext cx="1012500" cy="340800"/>
          </a:xfrm>
          <a:prstGeom prst="roundRect">
            <a:avLst>
              <a:gd fmla="val 16667" name="adj"/>
            </a:avLst>
          </a:prstGeom>
          <a:solidFill>
            <a:srgbClr val="0E9C8A">
              <a:alpha val="15999"/>
            </a:srgbClr>
          </a:solidFill>
          <a:ln cap="flat" cmpd="sng" w="9525">
            <a:solidFill>
              <a:srgbClr val="0E9C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800">
                <a:solidFill>
                  <a:srgbClr val="0E9C8A"/>
                </a:solidFill>
                <a:latin typeface="Calibri"/>
                <a:ea typeface="Calibri"/>
                <a:cs typeface="Calibri"/>
                <a:sym typeface="Calibri"/>
              </a:rPr>
              <a:t>outil web</a:t>
            </a:r>
            <a:endParaRPr b="1" sz="800">
              <a:solidFill>
                <a:srgbClr val="0E9C8A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fr" sz="600">
                <a:solidFill>
                  <a:srgbClr val="0E9C8A"/>
                </a:solidFill>
                <a:latin typeface="Calibri"/>
                <a:ea typeface="Calibri"/>
                <a:cs typeface="Calibri"/>
                <a:sym typeface="Calibri"/>
              </a:rPr>
              <a:t>(Tavily)</a:t>
            </a:r>
            <a:endParaRPr sz="600">
              <a:solidFill>
                <a:srgbClr val="0E9C8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6" name="Google Shape;1836;p81"/>
          <p:cNvSpPr/>
          <p:nvPr/>
        </p:nvSpPr>
        <p:spPr>
          <a:xfrm>
            <a:off x="3426758" y="3246355"/>
            <a:ext cx="1041900" cy="340800"/>
          </a:xfrm>
          <a:prstGeom prst="roundRect">
            <a:avLst>
              <a:gd fmla="val 16667" name="adj"/>
            </a:avLst>
          </a:prstGeom>
          <a:solidFill>
            <a:srgbClr val="0E9C8A">
              <a:alpha val="15999"/>
            </a:srgbClr>
          </a:solidFill>
          <a:ln cap="flat" cmpd="sng" w="9525">
            <a:solidFill>
              <a:srgbClr val="0E9C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fr" sz="800">
                <a:solidFill>
                  <a:srgbClr val="0E9C8A"/>
                </a:solidFill>
                <a:latin typeface="Calibri"/>
                <a:ea typeface="Calibri"/>
                <a:cs typeface="Calibri"/>
                <a:sym typeface="Calibri"/>
              </a:rPr>
              <a:t>outil géo</a:t>
            </a:r>
            <a:endParaRPr b="1" sz="800">
              <a:solidFill>
                <a:srgbClr val="0E9C8A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fr" sz="600">
                <a:solidFill>
                  <a:srgbClr val="0E9C8A"/>
                </a:solidFill>
                <a:latin typeface="Calibri"/>
                <a:ea typeface="Calibri"/>
                <a:cs typeface="Calibri"/>
                <a:sym typeface="Calibri"/>
              </a:rPr>
              <a:t>(PostGIS)</a:t>
            </a:r>
            <a:endParaRPr/>
          </a:p>
        </p:txBody>
      </p:sp>
      <p:sp>
        <p:nvSpPr>
          <p:cNvPr id="1837" name="Google Shape;1837;p81"/>
          <p:cNvSpPr/>
          <p:nvPr/>
        </p:nvSpPr>
        <p:spPr>
          <a:xfrm>
            <a:off x="2967450" y="4523300"/>
            <a:ext cx="3209100" cy="329700"/>
          </a:xfrm>
          <a:prstGeom prst="roundRect">
            <a:avLst>
              <a:gd fmla="val 16667" name="adj"/>
            </a:avLst>
          </a:prstGeom>
          <a:solidFill>
            <a:srgbClr val="F4F4F5"/>
          </a:solidFill>
          <a:ln cap="flat" cmpd="sng" w="9525">
            <a:solidFill>
              <a:srgbClr val="222A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800">
                <a:solidFill>
                  <a:srgbClr val="222A3A"/>
                </a:solidFill>
                <a:latin typeface="Calibri"/>
                <a:ea typeface="Calibri"/>
                <a:cs typeface="Calibri"/>
                <a:sym typeface="Calibri"/>
              </a:rPr>
              <a:t>frontend web / Utilisateurs</a:t>
            </a:r>
            <a:endParaRPr b="1" sz="800">
              <a:solidFill>
                <a:srgbClr val="222A3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8" name="Google Shape;1838;p81"/>
          <p:cNvSpPr txBox="1"/>
          <p:nvPr/>
        </p:nvSpPr>
        <p:spPr>
          <a:xfrm>
            <a:off x="4586100" y="4275550"/>
            <a:ext cx="1090200" cy="20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 sz="600">
                <a:solidFill>
                  <a:srgbClr val="F4F4F5"/>
                </a:solidFill>
                <a:latin typeface="Calibri"/>
                <a:ea typeface="Calibri"/>
                <a:cs typeface="Calibri"/>
                <a:sym typeface="Calibri"/>
              </a:rPr>
              <a:t>question ⇒ / réponse SSE ⇐</a:t>
            </a:r>
            <a:endParaRPr sz="600">
              <a:solidFill>
                <a:srgbClr val="F4F4F5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 sz="600">
                <a:solidFill>
                  <a:srgbClr val="F4F4F5"/>
                </a:solidFill>
                <a:latin typeface="Calibri"/>
                <a:ea typeface="Calibri"/>
                <a:cs typeface="Calibri"/>
                <a:sym typeface="Calibri"/>
              </a:rPr>
              <a:t>(HTTPS/SSE)</a:t>
            </a:r>
            <a:endParaRPr sz="600">
              <a:solidFill>
                <a:srgbClr val="F4F4F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839" name="Google Shape;1839;p81"/>
          <p:cNvCxnSpPr>
            <a:endCxn id="1826" idx="0"/>
          </p:cNvCxnSpPr>
          <p:nvPr/>
        </p:nvCxnSpPr>
        <p:spPr>
          <a:xfrm flipH="1">
            <a:off x="1365219" y="1511925"/>
            <a:ext cx="2100" cy="319200"/>
          </a:xfrm>
          <a:prstGeom prst="straightConnector1">
            <a:avLst/>
          </a:prstGeom>
          <a:noFill/>
          <a:ln cap="flat" cmpd="sng" w="9525">
            <a:solidFill>
              <a:srgbClr val="923E2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840" name="Google Shape;1840;p81"/>
          <p:cNvCxnSpPr>
            <a:stCxn id="1826" idx="3"/>
            <a:endCxn id="1824" idx="1"/>
          </p:cNvCxnSpPr>
          <p:nvPr/>
        </p:nvCxnSpPr>
        <p:spPr>
          <a:xfrm flipH="1" rot="10800000">
            <a:off x="2154219" y="1240275"/>
            <a:ext cx="1274700" cy="770700"/>
          </a:xfrm>
          <a:prstGeom prst="curvedConnector3">
            <a:avLst>
              <a:gd fmla="val 50003" name="adj1"/>
            </a:avLst>
          </a:prstGeom>
          <a:noFill/>
          <a:ln cap="flat" cmpd="sng" w="9525">
            <a:solidFill>
              <a:srgbClr val="923E22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1841" name="Google Shape;1841;p81"/>
          <p:cNvCxnSpPr>
            <a:stCxn id="1826" idx="2"/>
            <a:endCxn id="1827" idx="0"/>
          </p:cNvCxnSpPr>
          <p:nvPr/>
        </p:nvCxnSpPr>
        <p:spPr>
          <a:xfrm flipH="1">
            <a:off x="1351119" y="2190825"/>
            <a:ext cx="14100" cy="159600"/>
          </a:xfrm>
          <a:prstGeom prst="straightConnector1">
            <a:avLst/>
          </a:prstGeom>
          <a:noFill/>
          <a:ln cap="flat" cmpd="sng" w="9525">
            <a:solidFill>
              <a:srgbClr val="923E2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842" name="Google Shape;1842;p81"/>
          <p:cNvCxnSpPr>
            <a:stCxn id="1832" idx="1"/>
            <a:endCxn id="1827" idx="3"/>
          </p:cNvCxnSpPr>
          <p:nvPr/>
        </p:nvCxnSpPr>
        <p:spPr>
          <a:xfrm rot="10800000">
            <a:off x="2140258" y="2611175"/>
            <a:ext cx="1291200" cy="359100"/>
          </a:xfrm>
          <a:prstGeom prst="curvedConnector3">
            <a:avLst>
              <a:gd fmla="val 50005" name="adj1"/>
            </a:avLst>
          </a:prstGeom>
          <a:noFill/>
          <a:ln cap="flat" cmpd="sng" w="9525">
            <a:solidFill>
              <a:srgbClr val="0E9C8A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843" name="Google Shape;1843;p81"/>
          <p:cNvCxnSpPr>
            <a:stCxn id="1834" idx="3"/>
            <a:endCxn id="1828" idx="3"/>
          </p:cNvCxnSpPr>
          <p:nvPr/>
        </p:nvCxnSpPr>
        <p:spPr>
          <a:xfrm rot="10800000">
            <a:off x="2140042" y="3182150"/>
            <a:ext cx="3577200" cy="234600"/>
          </a:xfrm>
          <a:prstGeom prst="curvedConnector5">
            <a:avLst>
              <a:gd fmla="val -1538" name="adj1"/>
              <a:gd fmla="val -227526" name="adj2"/>
              <a:gd fmla="val 77179" name="adj3"/>
            </a:avLst>
          </a:prstGeom>
          <a:noFill/>
          <a:ln cap="flat" cmpd="sng" w="9525">
            <a:solidFill>
              <a:srgbClr val="0E9C8A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844" name="Google Shape;1844;p81"/>
          <p:cNvCxnSpPr>
            <a:stCxn id="1826" idx="1"/>
            <a:endCxn id="1829" idx="1"/>
          </p:cNvCxnSpPr>
          <p:nvPr/>
        </p:nvCxnSpPr>
        <p:spPr>
          <a:xfrm flipH="1">
            <a:off x="562119" y="2010975"/>
            <a:ext cx="14100" cy="1633200"/>
          </a:xfrm>
          <a:prstGeom prst="curvedConnector3">
            <a:avLst>
              <a:gd fmla="val 1788788" name="adj1"/>
            </a:avLst>
          </a:prstGeom>
          <a:noFill/>
          <a:ln cap="flat" cmpd="sng" w="9525">
            <a:solidFill>
              <a:srgbClr val="923E2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845" name="Google Shape;1845;p81"/>
          <p:cNvCxnSpPr>
            <a:stCxn id="1835" idx="3"/>
            <a:endCxn id="1825" idx="1"/>
          </p:cNvCxnSpPr>
          <p:nvPr/>
        </p:nvCxnSpPr>
        <p:spPr>
          <a:xfrm flipH="1" rot="10800000">
            <a:off x="5701644" y="1241074"/>
            <a:ext cx="765600" cy="1729200"/>
          </a:xfrm>
          <a:prstGeom prst="curvedConnector3">
            <a:avLst>
              <a:gd fmla="val 49991" name="adj1"/>
            </a:avLst>
          </a:prstGeom>
          <a:noFill/>
          <a:ln cap="flat" cmpd="sng" w="9525">
            <a:solidFill>
              <a:srgbClr val="0E9C8A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846" name="Google Shape;1846;p81"/>
          <p:cNvSpPr txBox="1"/>
          <p:nvPr/>
        </p:nvSpPr>
        <p:spPr>
          <a:xfrm>
            <a:off x="21775" y="2444838"/>
            <a:ext cx="399300" cy="12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 sz="600">
                <a:solidFill>
                  <a:srgbClr val="923E22"/>
                </a:solidFill>
                <a:latin typeface="Calibri"/>
                <a:ea typeface="Calibri"/>
                <a:cs typeface="Calibri"/>
                <a:sym typeface="Calibri"/>
              </a:rPr>
              <a:t>dump</a:t>
            </a:r>
            <a:endParaRPr sz="600">
              <a:solidFill>
                <a:srgbClr val="923E2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7" name="Google Shape;1847;p81"/>
          <p:cNvSpPr txBox="1"/>
          <p:nvPr/>
        </p:nvSpPr>
        <p:spPr>
          <a:xfrm>
            <a:off x="1310800" y="2206363"/>
            <a:ext cx="399300" cy="12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 sz="600">
                <a:solidFill>
                  <a:srgbClr val="923E22"/>
                </a:solidFill>
                <a:latin typeface="Calibri"/>
                <a:ea typeface="Calibri"/>
                <a:cs typeface="Calibri"/>
                <a:sym typeface="Calibri"/>
              </a:rPr>
              <a:t>upsert</a:t>
            </a:r>
            <a:endParaRPr sz="600">
              <a:solidFill>
                <a:srgbClr val="923E2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8" name="Google Shape;1848;p81"/>
          <p:cNvSpPr txBox="1"/>
          <p:nvPr/>
        </p:nvSpPr>
        <p:spPr>
          <a:xfrm>
            <a:off x="1290360" y="1518088"/>
            <a:ext cx="582600" cy="12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 sz="600">
                <a:solidFill>
                  <a:srgbClr val="923E22"/>
                </a:solidFill>
                <a:latin typeface="Calibri"/>
                <a:ea typeface="Calibri"/>
                <a:cs typeface="Calibri"/>
                <a:sym typeface="Calibri"/>
              </a:rPr>
              <a:t>événements</a:t>
            </a:r>
            <a:endParaRPr sz="600">
              <a:solidFill>
                <a:srgbClr val="923E2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9" name="Google Shape;1849;p81"/>
          <p:cNvSpPr txBox="1"/>
          <p:nvPr/>
        </p:nvSpPr>
        <p:spPr>
          <a:xfrm>
            <a:off x="2517323" y="1775063"/>
            <a:ext cx="582600" cy="12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 sz="600">
                <a:solidFill>
                  <a:srgbClr val="923E22"/>
                </a:solidFill>
                <a:latin typeface="Calibri"/>
                <a:ea typeface="Calibri"/>
                <a:cs typeface="Calibri"/>
                <a:sym typeface="Calibri"/>
              </a:rPr>
              <a:t>embeddings</a:t>
            </a:r>
            <a:endParaRPr sz="600">
              <a:solidFill>
                <a:srgbClr val="923E2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0" name="Google Shape;1850;p81"/>
          <p:cNvSpPr txBox="1"/>
          <p:nvPr/>
        </p:nvSpPr>
        <p:spPr>
          <a:xfrm>
            <a:off x="2619046" y="2657541"/>
            <a:ext cx="486300" cy="12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 sz="600">
                <a:solidFill>
                  <a:srgbClr val="0E9C8A"/>
                </a:solidFill>
                <a:latin typeface="Calibri"/>
                <a:ea typeface="Calibri"/>
                <a:cs typeface="Calibri"/>
                <a:sym typeface="Calibri"/>
              </a:rPr>
              <a:t>retrieval</a:t>
            </a:r>
            <a:endParaRPr sz="600">
              <a:solidFill>
                <a:srgbClr val="0E9C8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1" name="Google Shape;1851;p81"/>
          <p:cNvSpPr txBox="1"/>
          <p:nvPr/>
        </p:nvSpPr>
        <p:spPr>
          <a:xfrm>
            <a:off x="283150" y="3953488"/>
            <a:ext cx="2454600" cy="23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1000">
                <a:solidFill>
                  <a:srgbClr val="B07BC2"/>
                </a:solidFill>
                <a:latin typeface="Calibri"/>
                <a:ea typeface="Calibri"/>
                <a:cs typeface="Calibri"/>
                <a:sym typeface="Calibri"/>
              </a:rPr>
              <a:t>SCALEWAY</a:t>
            </a:r>
            <a:r>
              <a:rPr lang="fr" sz="800">
                <a:solidFill>
                  <a:srgbClr val="B07BC2"/>
                </a:solidFill>
                <a:latin typeface="Calibri"/>
                <a:ea typeface="Calibri"/>
                <a:cs typeface="Calibri"/>
                <a:sym typeface="Calibri"/>
              </a:rPr>
              <a:t> - cloud souverain (UE, hors CLOUD Act) </a:t>
            </a:r>
            <a:endParaRPr sz="800">
              <a:solidFill>
                <a:srgbClr val="B07BC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2" name="Google Shape;1852;p81"/>
          <p:cNvSpPr/>
          <p:nvPr/>
        </p:nvSpPr>
        <p:spPr>
          <a:xfrm>
            <a:off x="7068700" y="4409050"/>
            <a:ext cx="144600" cy="72900"/>
          </a:xfrm>
          <a:prstGeom prst="roundRect">
            <a:avLst>
              <a:gd fmla="val 16667" name="adj"/>
            </a:avLst>
          </a:prstGeom>
          <a:solidFill>
            <a:srgbClr val="9CA3AF">
              <a:alpha val="6960"/>
            </a:srgbClr>
          </a:solidFill>
          <a:ln cap="flat" cmpd="sng" w="9525">
            <a:solidFill>
              <a:srgbClr val="9CA3A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3" name="Google Shape;1853;p81"/>
          <p:cNvSpPr/>
          <p:nvPr/>
        </p:nvSpPr>
        <p:spPr>
          <a:xfrm>
            <a:off x="7068700" y="4550067"/>
            <a:ext cx="144600" cy="72900"/>
          </a:xfrm>
          <a:prstGeom prst="roundRect">
            <a:avLst>
              <a:gd fmla="val 16667" name="adj"/>
            </a:avLst>
          </a:prstGeom>
          <a:solidFill>
            <a:srgbClr val="923E22">
              <a:alpha val="7999"/>
            </a:srgbClr>
          </a:solidFill>
          <a:ln cap="flat" cmpd="sng" w="9525">
            <a:solidFill>
              <a:srgbClr val="923E2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4" name="Google Shape;1854;p81"/>
          <p:cNvSpPr/>
          <p:nvPr/>
        </p:nvSpPr>
        <p:spPr>
          <a:xfrm>
            <a:off x="7068700" y="4962200"/>
            <a:ext cx="144600" cy="72900"/>
          </a:xfrm>
          <a:prstGeom prst="roundRect">
            <a:avLst>
              <a:gd fmla="val 16667" name="adj"/>
            </a:avLst>
          </a:prstGeom>
          <a:solidFill>
            <a:srgbClr val="674EA7">
              <a:alpha val="7999"/>
            </a:srgbClr>
          </a:solidFill>
          <a:ln cap="flat" cmpd="sng" w="9525">
            <a:solidFill>
              <a:srgbClr val="674EA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5" name="Google Shape;1855;p81"/>
          <p:cNvSpPr/>
          <p:nvPr/>
        </p:nvSpPr>
        <p:spPr>
          <a:xfrm>
            <a:off x="7068700" y="4691085"/>
            <a:ext cx="144600" cy="72900"/>
          </a:xfrm>
          <a:prstGeom prst="roundRect">
            <a:avLst>
              <a:gd fmla="val 16667" name="adj"/>
            </a:avLst>
          </a:prstGeom>
          <a:solidFill>
            <a:srgbClr val="0000FF">
              <a:alpha val="14000"/>
            </a:srgbClr>
          </a:solidFill>
          <a:ln cap="flat" cmpd="sng" w="9525">
            <a:solidFill>
              <a:srgbClr val="00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6" name="Google Shape;1856;p81"/>
          <p:cNvSpPr/>
          <p:nvPr/>
        </p:nvSpPr>
        <p:spPr>
          <a:xfrm>
            <a:off x="7068700" y="4825177"/>
            <a:ext cx="144600" cy="72900"/>
          </a:xfrm>
          <a:prstGeom prst="roundRect">
            <a:avLst>
              <a:gd fmla="val 16667" name="adj"/>
            </a:avLst>
          </a:prstGeom>
          <a:solidFill>
            <a:srgbClr val="0E9C8A">
              <a:alpha val="15999"/>
            </a:srgbClr>
          </a:solidFill>
          <a:ln cap="flat" cmpd="sng" w="9525">
            <a:solidFill>
              <a:srgbClr val="0E9C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857" name="Google Shape;1857;p81"/>
          <p:cNvCxnSpPr>
            <a:endCxn id="1830" idx="2"/>
          </p:cNvCxnSpPr>
          <p:nvPr/>
        </p:nvCxnSpPr>
        <p:spPr>
          <a:xfrm rot="10800000">
            <a:off x="4572000" y="4115900"/>
            <a:ext cx="14100" cy="410100"/>
          </a:xfrm>
          <a:prstGeom prst="straightConnector1">
            <a:avLst/>
          </a:prstGeom>
          <a:noFill/>
          <a:ln cap="flat" cmpd="sng" w="9525">
            <a:solidFill>
              <a:srgbClr val="F4F4F5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858" name="Google Shape;1858;p81"/>
          <p:cNvCxnSpPr>
            <a:stCxn id="1836" idx="1"/>
            <a:endCxn id="1827" idx="3"/>
          </p:cNvCxnSpPr>
          <p:nvPr/>
        </p:nvCxnSpPr>
        <p:spPr>
          <a:xfrm rot="10800000">
            <a:off x="2140058" y="2611255"/>
            <a:ext cx="1286700" cy="805500"/>
          </a:xfrm>
          <a:prstGeom prst="curvedConnector3">
            <a:avLst>
              <a:gd fmla="val 44646" name="adj1"/>
            </a:avLst>
          </a:prstGeom>
          <a:noFill/>
          <a:ln cap="flat" cmpd="sng" w="9525">
            <a:solidFill>
              <a:srgbClr val="0E9C8A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859" name="Google Shape;1859;p81"/>
          <p:cNvCxnSpPr>
            <a:stCxn id="1834" idx="2"/>
            <a:endCxn id="1827" idx="3"/>
          </p:cNvCxnSpPr>
          <p:nvPr/>
        </p:nvCxnSpPr>
        <p:spPr>
          <a:xfrm flipH="1" rot="5400000">
            <a:off x="3187642" y="1563800"/>
            <a:ext cx="975900" cy="3070800"/>
          </a:xfrm>
          <a:prstGeom prst="curvedConnector4">
            <a:avLst>
              <a:gd fmla="val -24401" name="adj1"/>
              <a:gd fmla="val 77150" name="adj2"/>
            </a:avLst>
          </a:prstGeom>
          <a:noFill/>
          <a:ln cap="flat" cmpd="sng" w="9525">
            <a:solidFill>
              <a:srgbClr val="0E9C8A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860" name="Google Shape;1860;p81"/>
          <p:cNvSpPr txBox="1"/>
          <p:nvPr/>
        </p:nvSpPr>
        <p:spPr>
          <a:xfrm>
            <a:off x="3979391" y="3716668"/>
            <a:ext cx="582600" cy="12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 sz="600">
                <a:solidFill>
                  <a:srgbClr val="0E9C8A"/>
                </a:solidFill>
                <a:latin typeface="Calibri"/>
                <a:ea typeface="Calibri"/>
                <a:cs typeface="Calibri"/>
                <a:sym typeface="Calibri"/>
              </a:rPr>
              <a:t>mémoire LT</a:t>
            </a:r>
            <a:endParaRPr sz="600">
              <a:solidFill>
                <a:srgbClr val="0E9C8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1" name="Google Shape;1861;p81"/>
          <p:cNvSpPr txBox="1"/>
          <p:nvPr/>
        </p:nvSpPr>
        <p:spPr>
          <a:xfrm>
            <a:off x="4008429" y="3932876"/>
            <a:ext cx="569700" cy="12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 sz="600">
                <a:solidFill>
                  <a:srgbClr val="0E9C8A"/>
                </a:solidFill>
                <a:latin typeface="Calibri"/>
                <a:ea typeface="Calibri"/>
                <a:cs typeface="Calibri"/>
                <a:sym typeface="Calibri"/>
              </a:rPr>
              <a:t>mémoire CT</a:t>
            </a:r>
            <a:endParaRPr sz="600">
              <a:solidFill>
                <a:srgbClr val="0E9C8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2" name="Google Shape;1862;p81"/>
          <p:cNvSpPr txBox="1"/>
          <p:nvPr/>
        </p:nvSpPr>
        <p:spPr>
          <a:xfrm>
            <a:off x="2780476" y="2950552"/>
            <a:ext cx="358500" cy="12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 sz="600">
                <a:solidFill>
                  <a:srgbClr val="0E9C8A"/>
                </a:solidFill>
                <a:latin typeface="Calibri"/>
                <a:ea typeface="Calibri"/>
                <a:cs typeface="Calibri"/>
                <a:sym typeface="Calibri"/>
              </a:rPr>
              <a:t>géo</a:t>
            </a:r>
            <a:endParaRPr sz="600">
              <a:solidFill>
                <a:srgbClr val="0E9C8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863" name="Google Shape;1863;p81"/>
          <p:cNvCxnSpPr>
            <a:stCxn id="1831" idx="3"/>
            <a:endCxn id="1824" idx="3"/>
          </p:cNvCxnSpPr>
          <p:nvPr/>
        </p:nvCxnSpPr>
        <p:spPr>
          <a:xfrm flipH="1" rot="10800000">
            <a:off x="5701758" y="1240100"/>
            <a:ext cx="13200" cy="1193400"/>
          </a:xfrm>
          <a:prstGeom prst="curvedConnector3">
            <a:avLst>
              <a:gd fmla="val 1217172" name="adj1"/>
            </a:avLst>
          </a:prstGeom>
          <a:noFill/>
          <a:ln cap="flat" cmpd="sng" w="9525">
            <a:solidFill>
              <a:srgbClr val="0E9C8A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864" name="Google Shape;1864;p81"/>
          <p:cNvSpPr txBox="1"/>
          <p:nvPr/>
        </p:nvSpPr>
        <p:spPr>
          <a:xfrm>
            <a:off x="4955400" y="1502475"/>
            <a:ext cx="901500" cy="15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 sz="600">
                <a:solidFill>
                  <a:srgbClr val="0E9C8A"/>
                </a:solidFill>
                <a:latin typeface="Calibri"/>
                <a:ea typeface="Calibri"/>
                <a:cs typeface="Calibri"/>
                <a:sym typeface="Calibri"/>
              </a:rPr>
              <a:t>prompt ⇒ / réponse ⇐</a:t>
            </a:r>
            <a:endParaRPr sz="600">
              <a:solidFill>
                <a:srgbClr val="0E9C8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5" name="Google Shape;1865;p81"/>
          <p:cNvSpPr txBox="1"/>
          <p:nvPr/>
        </p:nvSpPr>
        <p:spPr>
          <a:xfrm>
            <a:off x="7232825" y="4367250"/>
            <a:ext cx="1755600" cy="68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600">
                <a:solidFill>
                  <a:srgbClr val="8A93A6"/>
                </a:solidFill>
                <a:latin typeface="Calibri"/>
                <a:ea typeface="Calibri"/>
                <a:cs typeface="Calibri"/>
                <a:sym typeface="Calibri"/>
              </a:rPr>
              <a:t>Sources externes</a:t>
            </a:r>
            <a:endParaRPr sz="600">
              <a:solidFill>
                <a:srgbClr val="8A93A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600">
                <a:solidFill>
                  <a:srgbClr val="8A93A6"/>
                </a:solidFill>
                <a:latin typeface="Calibri"/>
                <a:ea typeface="Calibri"/>
                <a:cs typeface="Calibri"/>
                <a:sym typeface="Calibri"/>
              </a:rPr>
              <a:t>Ingestion (Kestra)</a:t>
            </a:r>
            <a:endParaRPr sz="600">
              <a:solidFill>
                <a:srgbClr val="8A93A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600">
                <a:solidFill>
                  <a:srgbClr val="8A93A6"/>
                </a:solidFill>
                <a:latin typeface="Calibri"/>
                <a:ea typeface="Calibri"/>
                <a:cs typeface="Calibri"/>
                <a:sym typeface="Calibri"/>
              </a:rPr>
              <a:t>Stockage (PostgreSQL / Redis / Object storage)</a:t>
            </a:r>
            <a:endParaRPr sz="600">
              <a:solidFill>
                <a:srgbClr val="8A93A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600">
                <a:solidFill>
                  <a:srgbClr val="8A93A6"/>
                </a:solidFill>
                <a:latin typeface="Calibri"/>
                <a:ea typeface="Calibri"/>
                <a:cs typeface="Calibri"/>
                <a:sym typeface="Calibri"/>
              </a:rPr>
              <a:t>Applications (API + agent)</a:t>
            </a:r>
            <a:endParaRPr sz="600">
              <a:solidFill>
                <a:srgbClr val="8A93A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600">
                <a:solidFill>
                  <a:srgbClr val="8A93A6"/>
                </a:solidFill>
                <a:latin typeface="Calibri"/>
                <a:ea typeface="Calibri"/>
                <a:cs typeface="Calibri"/>
                <a:sym typeface="Calibri"/>
              </a:rPr>
              <a:t>Observabilité</a:t>
            </a:r>
            <a:endParaRPr sz="600">
              <a:solidFill>
                <a:srgbClr val="8A93A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6" name="Google Shape;1866;p81"/>
          <p:cNvSpPr txBox="1"/>
          <p:nvPr/>
        </p:nvSpPr>
        <p:spPr>
          <a:xfrm>
            <a:off x="377200" y="233175"/>
            <a:ext cx="2286900" cy="45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9050" lIns="0" spcFirstLastPara="1" rIns="0" wrap="square" tIns="190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1800">
                <a:solidFill>
                  <a:srgbClr val="0E9C8A"/>
                </a:solidFill>
                <a:latin typeface="Calibri"/>
                <a:ea typeface="Calibri"/>
                <a:cs typeface="Calibri"/>
                <a:sym typeface="Calibri"/>
              </a:rPr>
              <a:t>L’architecture du MVP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71" name="Shape 18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2" name="Google Shape;1872;p82"/>
          <p:cNvSpPr txBox="1"/>
          <p:nvPr/>
        </p:nvSpPr>
        <p:spPr>
          <a:xfrm>
            <a:off x="377200" y="675550"/>
            <a:ext cx="26754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9050" lIns="0" spcFirstLastPara="1" rIns="0" wrap="square" tIns="190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1100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Architecture MVP - chatbot RAG Puls-EVents</a:t>
            </a:r>
            <a:endParaRPr b="1" sz="1100">
              <a:solidFill>
                <a:srgbClr val="9CA3A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3" name="Google Shape;1873;p82"/>
          <p:cNvSpPr txBox="1"/>
          <p:nvPr/>
        </p:nvSpPr>
        <p:spPr>
          <a:xfrm>
            <a:off x="377200" y="4945850"/>
            <a:ext cx="999000" cy="166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700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MVP RAG Puls-Events</a:t>
            </a:r>
            <a:endParaRPr sz="700">
              <a:solidFill>
                <a:srgbClr val="9CA3A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4" name="Google Shape;1874;p82"/>
          <p:cNvSpPr/>
          <p:nvPr/>
        </p:nvSpPr>
        <p:spPr>
          <a:xfrm>
            <a:off x="64125" y="1631700"/>
            <a:ext cx="8941200" cy="2605500"/>
          </a:xfrm>
          <a:prstGeom prst="roundRect">
            <a:avLst>
              <a:gd fmla="val 6000" name="adj"/>
            </a:avLst>
          </a:prstGeom>
          <a:noFill/>
          <a:ln cap="flat" cmpd="sng" w="9525">
            <a:solidFill>
              <a:srgbClr val="B07BC2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5" name="Google Shape;1875;p82"/>
          <p:cNvSpPr/>
          <p:nvPr/>
        </p:nvSpPr>
        <p:spPr>
          <a:xfrm>
            <a:off x="499800" y="980277"/>
            <a:ext cx="2286000" cy="521400"/>
          </a:xfrm>
          <a:prstGeom prst="roundRect">
            <a:avLst>
              <a:gd fmla="val 16667" name="adj"/>
            </a:avLst>
          </a:prstGeom>
          <a:solidFill>
            <a:srgbClr val="9CA3AF">
              <a:alpha val="6960"/>
            </a:srgbClr>
          </a:solidFill>
          <a:ln cap="flat" cmpd="sng" w="12700">
            <a:solidFill>
              <a:srgbClr val="9CA3A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6575" lIns="91425" spcFirstLastPara="1" rIns="73150" wrap="square" tIns="365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800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Opendatasoft API</a:t>
            </a:r>
            <a:endParaRPr b="1" sz="800">
              <a:solidFill>
                <a:srgbClr val="9CA3A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600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events Open Agenda</a:t>
            </a:r>
            <a:endParaRPr b="1" sz="600">
              <a:solidFill>
                <a:srgbClr val="9CA3A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6" name="Google Shape;1876;p82"/>
          <p:cNvSpPr/>
          <p:nvPr/>
        </p:nvSpPr>
        <p:spPr>
          <a:xfrm>
            <a:off x="3429000" y="979502"/>
            <a:ext cx="2286000" cy="521400"/>
          </a:xfrm>
          <a:prstGeom prst="roundRect">
            <a:avLst>
              <a:gd fmla="val 16667" name="adj"/>
            </a:avLst>
          </a:prstGeom>
          <a:solidFill>
            <a:srgbClr val="9CA3AF">
              <a:alpha val="6960"/>
            </a:srgbClr>
          </a:solidFill>
          <a:ln cap="flat" cmpd="sng" w="12700">
            <a:solidFill>
              <a:srgbClr val="9CA3A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6575" lIns="91425" spcFirstLastPara="1" rIns="73150" wrap="square" tIns="365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800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Mistral API (UE)</a:t>
            </a:r>
            <a:endParaRPr b="1" sz="800">
              <a:solidFill>
                <a:srgbClr val="9CA3A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600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embeddings + LLM</a:t>
            </a:r>
            <a:endParaRPr b="1" sz="600">
              <a:solidFill>
                <a:srgbClr val="9CA3A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7" name="Google Shape;1877;p82"/>
          <p:cNvSpPr/>
          <p:nvPr/>
        </p:nvSpPr>
        <p:spPr>
          <a:xfrm>
            <a:off x="6467100" y="980264"/>
            <a:ext cx="2286000" cy="521400"/>
          </a:xfrm>
          <a:prstGeom prst="roundRect">
            <a:avLst>
              <a:gd fmla="val 16667" name="adj"/>
            </a:avLst>
          </a:prstGeom>
          <a:solidFill>
            <a:srgbClr val="9CA3AF">
              <a:alpha val="6960"/>
            </a:srgbClr>
          </a:solidFill>
          <a:ln cap="flat" cmpd="sng" w="12700">
            <a:solidFill>
              <a:srgbClr val="9CA3A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6575" lIns="91425" spcFirstLastPara="1" rIns="73150" wrap="square" tIns="365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800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Recherche web</a:t>
            </a:r>
            <a:endParaRPr b="1" sz="800">
              <a:solidFill>
                <a:srgbClr val="9CA3A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600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(Tavily)</a:t>
            </a:r>
            <a:endParaRPr b="1" sz="600">
              <a:solidFill>
                <a:srgbClr val="9CA3A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8" name="Google Shape;1878;p82"/>
          <p:cNvSpPr/>
          <p:nvPr/>
        </p:nvSpPr>
        <p:spPr>
          <a:xfrm>
            <a:off x="576219" y="1831125"/>
            <a:ext cx="1578000" cy="359700"/>
          </a:xfrm>
          <a:prstGeom prst="roundRect">
            <a:avLst>
              <a:gd fmla="val 16667" name="adj"/>
            </a:avLst>
          </a:prstGeom>
          <a:solidFill>
            <a:srgbClr val="923E22">
              <a:alpha val="7999"/>
            </a:srgbClr>
          </a:solidFill>
          <a:ln cap="flat" cmpd="sng" w="9525">
            <a:solidFill>
              <a:srgbClr val="923E2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800">
                <a:solidFill>
                  <a:srgbClr val="923E22"/>
                </a:solidFill>
                <a:latin typeface="Calibri"/>
                <a:ea typeface="Calibri"/>
                <a:cs typeface="Calibri"/>
                <a:sym typeface="Calibri"/>
              </a:rPr>
              <a:t>Kestra</a:t>
            </a:r>
            <a:r>
              <a:rPr lang="fr" sz="600">
                <a:solidFill>
                  <a:srgbClr val="923E22"/>
                </a:solidFill>
                <a:latin typeface="Calibri"/>
                <a:ea typeface="Calibri"/>
                <a:cs typeface="Calibri"/>
                <a:sym typeface="Calibri"/>
              </a:rPr>
              <a:t> - ingestion planifiée</a:t>
            </a:r>
            <a:endParaRPr sz="600">
              <a:solidFill>
                <a:srgbClr val="923E2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 sz="600">
                <a:solidFill>
                  <a:srgbClr val="923E22"/>
                </a:solidFill>
                <a:latin typeface="Calibri"/>
                <a:ea typeface="Calibri"/>
                <a:cs typeface="Calibri"/>
                <a:sym typeface="Calibri"/>
              </a:rPr>
              <a:t>fetch ⇒ clean ⇒ embed ⇒ upsert</a:t>
            </a:r>
            <a:endParaRPr sz="600">
              <a:solidFill>
                <a:srgbClr val="923E2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9" name="Google Shape;1879;p82"/>
          <p:cNvSpPr/>
          <p:nvPr/>
        </p:nvSpPr>
        <p:spPr>
          <a:xfrm>
            <a:off x="562125" y="2350491"/>
            <a:ext cx="1578000" cy="521400"/>
          </a:xfrm>
          <a:prstGeom prst="roundRect">
            <a:avLst>
              <a:gd fmla="val 16667" name="adj"/>
            </a:avLst>
          </a:prstGeom>
          <a:solidFill>
            <a:srgbClr val="0000FF">
              <a:alpha val="14000"/>
            </a:srgbClr>
          </a:solidFill>
          <a:ln cap="flat" cmpd="sng" w="9525">
            <a:solidFill>
              <a:srgbClr val="00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800">
                <a:solidFill>
                  <a:srgbClr val="3C78D8"/>
                </a:solidFill>
                <a:latin typeface="Calibri"/>
                <a:ea typeface="Calibri"/>
                <a:cs typeface="Calibri"/>
                <a:sym typeface="Calibri"/>
              </a:rPr>
              <a:t>Managed PostgreSQL</a:t>
            </a:r>
            <a:endParaRPr b="1" sz="800">
              <a:solidFill>
                <a:srgbClr val="3C78D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66700" lvl="0" marL="457200" rtl="0" algn="l">
              <a:spcBef>
                <a:spcPts val="0"/>
              </a:spcBef>
              <a:spcAft>
                <a:spcPts val="0"/>
              </a:spcAft>
              <a:buClr>
                <a:srgbClr val="3C78D8"/>
              </a:buClr>
              <a:buSzPts val="600"/>
              <a:buFont typeface="Calibri"/>
              <a:buChar char="●"/>
            </a:pPr>
            <a:r>
              <a:rPr lang="fr" sz="600">
                <a:solidFill>
                  <a:srgbClr val="3C78D8"/>
                </a:solidFill>
                <a:latin typeface="Calibri"/>
                <a:ea typeface="Calibri"/>
                <a:cs typeface="Calibri"/>
                <a:sym typeface="Calibri"/>
              </a:rPr>
              <a:t>pgvector (embeddings)</a:t>
            </a:r>
            <a:endParaRPr sz="600">
              <a:solidFill>
                <a:srgbClr val="3C78D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66700" lvl="0" marL="457200" rtl="0" algn="l">
              <a:spcBef>
                <a:spcPts val="0"/>
              </a:spcBef>
              <a:spcAft>
                <a:spcPts val="0"/>
              </a:spcAft>
              <a:buClr>
                <a:srgbClr val="3C78D8"/>
              </a:buClr>
              <a:buSzPts val="600"/>
              <a:buFont typeface="Calibri"/>
              <a:buChar char="●"/>
            </a:pPr>
            <a:r>
              <a:rPr lang="fr" sz="600">
                <a:solidFill>
                  <a:srgbClr val="3C78D8"/>
                </a:solidFill>
                <a:latin typeface="Calibri"/>
                <a:ea typeface="Calibri"/>
                <a:cs typeface="Calibri"/>
                <a:sym typeface="Calibri"/>
              </a:rPr>
              <a:t>PostGIS (géo)</a:t>
            </a:r>
            <a:endParaRPr sz="600">
              <a:solidFill>
                <a:srgbClr val="3C78D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66700" lvl="0" marL="457200" rtl="0" algn="l">
              <a:spcBef>
                <a:spcPts val="0"/>
              </a:spcBef>
              <a:spcAft>
                <a:spcPts val="0"/>
              </a:spcAft>
              <a:buClr>
                <a:srgbClr val="3C78D8"/>
              </a:buClr>
              <a:buSzPts val="600"/>
              <a:buFont typeface="Calibri"/>
              <a:buChar char="●"/>
            </a:pPr>
            <a:r>
              <a:rPr lang="fr" sz="600">
                <a:solidFill>
                  <a:srgbClr val="3C78D8"/>
                </a:solidFill>
                <a:latin typeface="Calibri"/>
                <a:ea typeface="Calibri"/>
                <a:cs typeface="Calibri"/>
                <a:sym typeface="Calibri"/>
              </a:rPr>
              <a:t>relationnel + mémoire LT</a:t>
            </a:r>
            <a:endParaRPr sz="600">
              <a:solidFill>
                <a:srgbClr val="3C78D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0" name="Google Shape;1880;p82"/>
          <p:cNvSpPr/>
          <p:nvPr/>
        </p:nvSpPr>
        <p:spPr>
          <a:xfrm>
            <a:off x="562125" y="3030722"/>
            <a:ext cx="1578000" cy="303000"/>
          </a:xfrm>
          <a:prstGeom prst="roundRect">
            <a:avLst>
              <a:gd fmla="val 16667" name="adj"/>
            </a:avLst>
          </a:prstGeom>
          <a:solidFill>
            <a:srgbClr val="0000FF">
              <a:alpha val="7999"/>
            </a:srgbClr>
          </a:solidFill>
          <a:ln cap="flat" cmpd="sng" w="9525">
            <a:solidFill>
              <a:srgbClr val="00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800">
                <a:solidFill>
                  <a:srgbClr val="3C78D8"/>
                </a:solidFill>
                <a:latin typeface="Calibri"/>
                <a:ea typeface="Calibri"/>
                <a:cs typeface="Calibri"/>
                <a:sym typeface="Calibri"/>
              </a:rPr>
              <a:t>Managed Redis</a:t>
            </a:r>
            <a:endParaRPr b="1" sz="800">
              <a:solidFill>
                <a:srgbClr val="3C78D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 sz="600">
                <a:solidFill>
                  <a:srgbClr val="3C78D8"/>
                </a:solidFill>
                <a:latin typeface="Calibri"/>
                <a:ea typeface="Calibri"/>
                <a:cs typeface="Calibri"/>
                <a:sym typeface="Calibri"/>
              </a:rPr>
              <a:t>mémoire court terme / session</a:t>
            </a:r>
            <a:endParaRPr sz="600">
              <a:solidFill>
                <a:srgbClr val="3C78D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1" name="Google Shape;1881;p82"/>
          <p:cNvSpPr/>
          <p:nvPr/>
        </p:nvSpPr>
        <p:spPr>
          <a:xfrm>
            <a:off x="562125" y="3492525"/>
            <a:ext cx="1578000" cy="303000"/>
          </a:xfrm>
          <a:prstGeom prst="roundRect">
            <a:avLst>
              <a:gd fmla="val 16667" name="adj"/>
            </a:avLst>
          </a:prstGeom>
          <a:solidFill>
            <a:srgbClr val="0000FF">
              <a:alpha val="3999"/>
            </a:srgbClr>
          </a:solidFill>
          <a:ln cap="flat" cmpd="sng" w="9525">
            <a:solidFill>
              <a:srgbClr val="00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800">
                <a:solidFill>
                  <a:srgbClr val="3C78D8"/>
                </a:solidFill>
                <a:latin typeface="Calibri"/>
                <a:ea typeface="Calibri"/>
                <a:cs typeface="Calibri"/>
                <a:sym typeface="Calibri"/>
              </a:rPr>
              <a:t>Object storage</a:t>
            </a:r>
            <a:r>
              <a:rPr lang="fr" sz="800">
                <a:solidFill>
                  <a:srgbClr val="3C78D8"/>
                </a:solidFill>
                <a:latin typeface="Calibri"/>
                <a:ea typeface="Calibri"/>
                <a:cs typeface="Calibri"/>
                <a:sym typeface="Calibri"/>
              </a:rPr>
              <a:t> S3</a:t>
            </a:r>
            <a:endParaRPr sz="800">
              <a:solidFill>
                <a:srgbClr val="3C78D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2" name="Google Shape;1882;p82"/>
          <p:cNvSpPr/>
          <p:nvPr/>
        </p:nvSpPr>
        <p:spPr>
          <a:xfrm>
            <a:off x="3234300" y="1858100"/>
            <a:ext cx="2675400" cy="2257800"/>
          </a:xfrm>
          <a:prstGeom prst="roundRect">
            <a:avLst>
              <a:gd fmla="val 16667" name="adj"/>
            </a:avLst>
          </a:prstGeom>
          <a:solidFill>
            <a:srgbClr val="0E9C8A">
              <a:alpha val="7999"/>
            </a:srgbClr>
          </a:solidFill>
          <a:ln cap="flat" cmpd="sng" w="9525">
            <a:solidFill>
              <a:srgbClr val="0E9C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3" name="Google Shape;1883;p82"/>
          <p:cNvSpPr/>
          <p:nvPr/>
        </p:nvSpPr>
        <p:spPr>
          <a:xfrm>
            <a:off x="3431358" y="2172800"/>
            <a:ext cx="2270400" cy="521400"/>
          </a:xfrm>
          <a:prstGeom prst="roundRect">
            <a:avLst>
              <a:gd fmla="val 16667" name="adj"/>
            </a:avLst>
          </a:prstGeom>
          <a:solidFill>
            <a:srgbClr val="0E9C8A">
              <a:alpha val="23999"/>
            </a:srgbClr>
          </a:solidFill>
          <a:ln cap="flat" cmpd="sng" w="9525">
            <a:solidFill>
              <a:srgbClr val="0E9C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800">
                <a:solidFill>
                  <a:srgbClr val="0E9C8A"/>
                </a:solidFill>
                <a:latin typeface="Calibri"/>
                <a:ea typeface="Calibri"/>
                <a:cs typeface="Calibri"/>
                <a:sym typeface="Calibri"/>
              </a:rPr>
              <a:t>Agents smolagents</a:t>
            </a:r>
            <a:endParaRPr b="1" sz="800">
              <a:solidFill>
                <a:srgbClr val="0E9C8A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 sz="600">
                <a:solidFill>
                  <a:srgbClr val="0E9C8A"/>
                </a:solidFill>
                <a:latin typeface="Calibri"/>
                <a:ea typeface="Calibri"/>
                <a:cs typeface="Calibri"/>
                <a:sym typeface="Calibri"/>
              </a:rPr>
              <a:t>(orchestration des outils)</a:t>
            </a:r>
            <a:endParaRPr sz="600">
              <a:solidFill>
                <a:srgbClr val="0E9C8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4" name="Google Shape;1884;p82"/>
          <p:cNvSpPr/>
          <p:nvPr/>
        </p:nvSpPr>
        <p:spPr>
          <a:xfrm>
            <a:off x="3431458" y="2799875"/>
            <a:ext cx="1041900" cy="340800"/>
          </a:xfrm>
          <a:prstGeom prst="roundRect">
            <a:avLst>
              <a:gd fmla="val 16667" name="adj"/>
            </a:avLst>
          </a:prstGeom>
          <a:solidFill>
            <a:srgbClr val="0E9C8A">
              <a:alpha val="15999"/>
            </a:srgbClr>
          </a:solidFill>
          <a:ln cap="flat" cmpd="sng" w="9525">
            <a:solidFill>
              <a:srgbClr val="0E9C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800">
                <a:solidFill>
                  <a:srgbClr val="0E9C8A"/>
                </a:solidFill>
                <a:latin typeface="Calibri"/>
                <a:ea typeface="Calibri"/>
                <a:cs typeface="Calibri"/>
                <a:sym typeface="Calibri"/>
              </a:rPr>
              <a:t>outil RAG</a:t>
            </a:r>
            <a:endParaRPr b="1" sz="800">
              <a:solidFill>
                <a:srgbClr val="0E9C8A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 sz="600">
                <a:solidFill>
                  <a:srgbClr val="0E9C8A"/>
                </a:solidFill>
                <a:latin typeface="Calibri"/>
                <a:ea typeface="Calibri"/>
                <a:cs typeface="Calibri"/>
                <a:sym typeface="Calibri"/>
              </a:rPr>
              <a:t>(LangChain hybride)</a:t>
            </a:r>
            <a:endParaRPr sz="600">
              <a:solidFill>
                <a:srgbClr val="0E9C8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5" name="Google Shape;1885;p82"/>
          <p:cNvSpPr txBox="1"/>
          <p:nvPr/>
        </p:nvSpPr>
        <p:spPr>
          <a:xfrm>
            <a:off x="3560475" y="1932625"/>
            <a:ext cx="19485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800">
                <a:solidFill>
                  <a:srgbClr val="0E9C8A"/>
                </a:solidFill>
                <a:latin typeface="Calibri"/>
                <a:ea typeface="Calibri"/>
                <a:cs typeface="Calibri"/>
                <a:sym typeface="Calibri"/>
              </a:rPr>
              <a:t>Serverless Containers - API FastAPI (SSE)</a:t>
            </a:r>
            <a:endParaRPr b="1" sz="800">
              <a:solidFill>
                <a:srgbClr val="0E9C8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6" name="Google Shape;1886;p82"/>
          <p:cNvSpPr/>
          <p:nvPr/>
        </p:nvSpPr>
        <p:spPr>
          <a:xfrm>
            <a:off x="4704742" y="3246350"/>
            <a:ext cx="1012500" cy="340800"/>
          </a:xfrm>
          <a:prstGeom prst="roundRect">
            <a:avLst>
              <a:gd fmla="val 16667" name="adj"/>
            </a:avLst>
          </a:prstGeom>
          <a:solidFill>
            <a:srgbClr val="0E9C8A">
              <a:alpha val="15999"/>
            </a:srgbClr>
          </a:solidFill>
          <a:ln cap="flat" cmpd="sng" w="9525">
            <a:solidFill>
              <a:srgbClr val="0E9C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800">
                <a:solidFill>
                  <a:srgbClr val="0E9C8A"/>
                </a:solidFill>
                <a:latin typeface="Calibri"/>
                <a:ea typeface="Calibri"/>
                <a:cs typeface="Calibri"/>
                <a:sym typeface="Calibri"/>
              </a:rPr>
              <a:t>outil mémoire</a:t>
            </a:r>
            <a:endParaRPr b="1" sz="800">
              <a:solidFill>
                <a:srgbClr val="0E9C8A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 sz="600">
                <a:solidFill>
                  <a:srgbClr val="0E9C8A"/>
                </a:solidFill>
                <a:latin typeface="Calibri"/>
                <a:ea typeface="Calibri"/>
                <a:cs typeface="Calibri"/>
                <a:sym typeface="Calibri"/>
              </a:rPr>
              <a:t>(Redis + PG)</a:t>
            </a:r>
            <a:endParaRPr sz="600">
              <a:solidFill>
                <a:srgbClr val="0E9C8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7" name="Google Shape;1887;p82"/>
          <p:cNvSpPr/>
          <p:nvPr/>
        </p:nvSpPr>
        <p:spPr>
          <a:xfrm>
            <a:off x="4689144" y="2799874"/>
            <a:ext cx="1012500" cy="340800"/>
          </a:xfrm>
          <a:prstGeom prst="roundRect">
            <a:avLst>
              <a:gd fmla="val 16667" name="adj"/>
            </a:avLst>
          </a:prstGeom>
          <a:solidFill>
            <a:srgbClr val="0E9C8A">
              <a:alpha val="15999"/>
            </a:srgbClr>
          </a:solidFill>
          <a:ln cap="flat" cmpd="sng" w="9525">
            <a:solidFill>
              <a:srgbClr val="0E9C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800">
                <a:solidFill>
                  <a:srgbClr val="0E9C8A"/>
                </a:solidFill>
                <a:latin typeface="Calibri"/>
                <a:ea typeface="Calibri"/>
                <a:cs typeface="Calibri"/>
                <a:sym typeface="Calibri"/>
              </a:rPr>
              <a:t>outil web</a:t>
            </a:r>
            <a:endParaRPr b="1" sz="800">
              <a:solidFill>
                <a:srgbClr val="0E9C8A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fr" sz="600">
                <a:solidFill>
                  <a:srgbClr val="0E9C8A"/>
                </a:solidFill>
                <a:latin typeface="Calibri"/>
                <a:ea typeface="Calibri"/>
                <a:cs typeface="Calibri"/>
                <a:sym typeface="Calibri"/>
              </a:rPr>
              <a:t>(Tavily)</a:t>
            </a:r>
            <a:endParaRPr sz="600">
              <a:solidFill>
                <a:srgbClr val="0E9C8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8" name="Google Shape;1888;p82"/>
          <p:cNvSpPr/>
          <p:nvPr/>
        </p:nvSpPr>
        <p:spPr>
          <a:xfrm>
            <a:off x="3426758" y="3246355"/>
            <a:ext cx="1041900" cy="340800"/>
          </a:xfrm>
          <a:prstGeom prst="roundRect">
            <a:avLst>
              <a:gd fmla="val 16667" name="adj"/>
            </a:avLst>
          </a:prstGeom>
          <a:solidFill>
            <a:srgbClr val="0E9C8A">
              <a:alpha val="15999"/>
            </a:srgbClr>
          </a:solidFill>
          <a:ln cap="flat" cmpd="sng" w="9525">
            <a:solidFill>
              <a:srgbClr val="0E9C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fr" sz="800">
                <a:solidFill>
                  <a:srgbClr val="0E9C8A"/>
                </a:solidFill>
                <a:latin typeface="Calibri"/>
                <a:ea typeface="Calibri"/>
                <a:cs typeface="Calibri"/>
                <a:sym typeface="Calibri"/>
              </a:rPr>
              <a:t>outil géo</a:t>
            </a:r>
            <a:endParaRPr b="1" sz="800">
              <a:solidFill>
                <a:srgbClr val="0E9C8A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fr" sz="600">
                <a:solidFill>
                  <a:srgbClr val="0E9C8A"/>
                </a:solidFill>
                <a:latin typeface="Calibri"/>
                <a:ea typeface="Calibri"/>
                <a:cs typeface="Calibri"/>
                <a:sym typeface="Calibri"/>
              </a:rPr>
              <a:t>(PostGIS)</a:t>
            </a:r>
            <a:endParaRPr/>
          </a:p>
        </p:txBody>
      </p:sp>
      <p:sp>
        <p:nvSpPr>
          <p:cNvPr id="1889" name="Google Shape;1889;p82"/>
          <p:cNvSpPr/>
          <p:nvPr/>
        </p:nvSpPr>
        <p:spPr>
          <a:xfrm>
            <a:off x="6534600" y="2344650"/>
            <a:ext cx="2151300" cy="454200"/>
          </a:xfrm>
          <a:prstGeom prst="roundRect">
            <a:avLst>
              <a:gd fmla="val 6000" name="adj"/>
            </a:avLst>
          </a:prstGeom>
          <a:solidFill>
            <a:srgbClr val="674EA7">
              <a:alpha val="7999"/>
            </a:srgbClr>
          </a:solidFill>
          <a:ln cap="flat" cmpd="sng" w="9525">
            <a:solidFill>
              <a:srgbClr val="674EA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fr" sz="800">
                <a:solidFill>
                  <a:srgbClr val="674EA7"/>
                </a:solidFill>
                <a:latin typeface="Calibri"/>
                <a:ea typeface="Calibri"/>
                <a:cs typeface="Calibri"/>
                <a:sym typeface="Calibri"/>
              </a:rPr>
              <a:t>Langfuse</a:t>
            </a:r>
            <a:endParaRPr b="1" sz="800">
              <a:solidFill>
                <a:srgbClr val="674EA7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fr" sz="600">
                <a:solidFill>
                  <a:srgbClr val="674EA7"/>
                </a:solidFill>
                <a:latin typeface="Calibri"/>
                <a:ea typeface="Calibri"/>
                <a:cs typeface="Calibri"/>
                <a:sym typeface="Calibri"/>
              </a:rPr>
              <a:t>observabilité RAG</a:t>
            </a:r>
            <a:endParaRPr sz="600">
              <a:solidFill>
                <a:srgbClr val="674EA7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fr" sz="600">
                <a:solidFill>
                  <a:srgbClr val="674EA7"/>
                </a:solidFill>
                <a:latin typeface="Calibri"/>
                <a:ea typeface="Calibri"/>
                <a:cs typeface="Calibri"/>
                <a:sym typeface="Calibri"/>
              </a:rPr>
              <a:t>qualité . coût . feedback</a:t>
            </a:r>
            <a:endParaRPr sz="600">
              <a:solidFill>
                <a:srgbClr val="674EA7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0" name="Google Shape;1890;p82"/>
          <p:cNvSpPr/>
          <p:nvPr/>
        </p:nvSpPr>
        <p:spPr>
          <a:xfrm>
            <a:off x="2967450" y="4523300"/>
            <a:ext cx="3209100" cy="329700"/>
          </a:xfrm>
          <a:prstGeom prst="roundRect">
            <a:avLst>
              <a:gd fmla="val 16667" name="adj"/>
            </a:avLst>
          </a:prstGeom>
          <a:solidFill>
            <a:srgbClr val="F4F4F5"/>
          </a:solidFill>
          <a:ln cap="flat" cmpd="sng" w="9525">
            <a:solidFill>
              <a:srgbClr val="222A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800">
                <a:solidFill>
                  <a:srgbClr val="222A3A"/>
                </a:solidFill>
                <a:latin typeface="Calibri"/>
                <a:ea typeface="Calibri"/>
                <a:cs typeface="Calibri"/>
                <a:sym typeface="Calibri"/>
              </a:rPr>
              <a:t>frontend web / Utilisateurs</a:t>
            </a:r>
            <a:endParaRPr b="1" sz="800">
              <a:solidFill>
                <a:srgbClr val="222A3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1" name="Google Shape;1891;p82"/>
          <p:cNvSpPr txBox="1"/>
          <p:nvPr/>
        </p:nvSpPr>
        <p:spPr>
          <a:xfrm>
            <a:off x="4586100" y="4275550"/>
            <a:ext cx="1090200" cy="20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 sz="600">
                <a:solidFill>
                  <a:srgbClr val="F4F4F5"/>
                </a:solidFill>
                <a:latin typeface="Calibri"/>
                <a:ea typeface="Calibri"/>
                <a:cs typeface="Calibri"/>
                <a:sym typeface="Calibri"/>
              </a:rPr>
              <a:t>question ⇒ / réponse SSE ⇐</a:t>
            </a:r>
            <a:endParaRPr sz="600">
              <a:solidFill>
                <a:srgbClr val="F4F4F5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 sz="600">
                <a:solidFill>
                  <a:srgbClr val="F4F4F5"/>
                </a:solidFill>
                <a:latin typeface="Calibri"/>
                <a:ea typeface="Calibri"/>
                <a:cs typeface="Calibri"/>
                <a:sym typeface="Calibri"/>
              </a:rPr>
              <a:t>(HTTPS/SSE)</a:t>
            </a:r>
            <a:endParaRPr sz="600">
              <a:solidFill>
                <a:srgbClr val="F4F4F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892" name="Google Shape;1892;p82"/>
          <p:cNvCxnSpPr>
            <a:endCxn id="1878" idx="0"/>
          </p:cNvCxnSpPr>
          <p:nvPr/>
        </p:nvCxnSpPr>
        <p:spPr>
          <a:xfrm flipH="1">
            <a:off x="1365219" y="1511925"/>
            <a:ext cx="2100" cy="319200"/>
          </a:xfrm>
          <a:prstGeom prst="straightConnector1">
            <a:avLst/>
          </a:prstGeom>
          <a:noFill/>
          <a:ln cap="flat" cmpd="sng" w="9525">
            <a:solidFill>
              <a:srgbClr val="923E2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893" name="Google Shape;1893;p82"/>
          <p:cNvCxnSpPr>
            <a:stCxn id="1878" idx="3"/>
            <a:endCxn id="1876" idx="1"/>
          </p:cNvCxnSpPr>
          <p:nvPr/>
        </p:nvCxnSpPr>
        <p:spPr>
          <a:xfrm flipH="1" rot="10800000">
            <a:off x="2154219" y="1240275"/>
            <a:ext cx="1274700" cy="770700"/>
          </a:xfrm>
          <a:prstGeom prst="curvedConnector3">
            <a:avLst>
              <a:gd fmla="val 50003" name="adj1"/>
            </a:avLst>
          </a:prstGeom>
          <a:noFill/>
          <a:ln cap="flat" cmpd="sng" w="9525">
            <a:solidFill>
              <a:srgbClr val="923E22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1894" name="Google Shape;1894;p82"/>
          <p:cNvCxnSpPr>
            <a:stCxn id="1878" idx="2"/>
            <a:endCxn id="1879" idx="0"/>
          </p:cNvCxnSpPr>
          <p:nvPr/>
        </p:nvCxnSpPr>
        <p:spPr>
          <a:xfrm flipH="1">
            <a:off x="1351119" y="2190825"/>
            <a:ext cx="14100" cy="159600"/>
          </a:xfrm>
          <a:prstGeom prst="straightConnector1">
            <a:avLst/>
          </a:prstGeom>
          <a:noFill/>
          <a:ln cap="flat" cmpd="sng" w="9525">
            <a:solidFill>
              <a:srgbClr val="923E2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895" name="Google Shape;1895;p82"/>
          <p:cNvCxnSpPr>
            <a:stCxn id="1884" idx="1"/>
            <a:endCxn id="1879" idx="3"/>
          </p:cNvCxnSpPr>
          <p:nvPr/>
        </p:nvCxnSpPr>
        <p:spPr>
          <a:xfrm rot="10800000">
            <a:off x="2140258" y="2611175"/>
            <a:ext cx="1291200" cy="359100"/>
          </a:xfrm>
          <a:prstGeom prst="curvedConnector3">
            <a:avLst>
              <a:gd fmla="val 50005" name="adj1"/>
            </a:avLst>
          </a:prstGeom>
          <a:noFill/>
          <a:ln cap="flat" cmpd="sng" w="9525">
            <a:solidFill>
              <a:srgbClr val="0E9C8A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896" name="Google Shape;1896;p82"/>
          <p:cNvCxnSpPr>
            <a:stCxn id="1886" idx="3"/>
            <a:endCxn id="1880" idx="3"/>
          </p:cNvCxnSpPr>
          <p:nvPr/>
        </p:nvCxnSpPr>
        <p:spPr>
          <a:xfrm rot="10800000">
            <a:off x="2140042" y="3182150"/>
            <a:ext cx="3577200" cy="234600"/>
          </a:xfrm>
          <a:prstGeom prst="curvedConnector5">
            <a:avLst>
              <a:gd fmla="val -1538" name="adj1"/>
              <a:gd fmla="val -227526" name="adj2"/>
              <a:gd fmla="val 77179" name="adj3"/>
            </a:avLst>
          </a:prstGeom>
          <a:noFill/>
          <a:ln cap="flat" cmpd="sng" w="9525">
            <a:solidFill>
              <a:srgbClr val="0E9C8A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897" name="Google Shape;1897;p82"/>
          <p:cNvCxnSpPr>
            <a:stCxn id="1878" idx="1"/>
            <a:endCxn id="1881" idx="1"/>
          </p:cNvCxnSpPr>
          <p:nvPr/>
        </p:nvCxnSpPr>
        <p:spPr>
          <a:xfrm flipH="1">
            <a:off x="562119" y="2010975"/>
            <a:ext cx="14100" cy="1633200"/>
          </a:xfrm>
          <a:prstGeom prst="curvedConnector3">
            <a:avLst>
              <a:gd fmla="val 1788788" name="adj1"/>
            </a:avLst>
          </a:prstGeom>
          <a:noFill/>
          <a:ln cap="flat" cmpd="sng" w="9525">
            <a:solidFill>
              <a:srgbClr val="923E2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898" name="Google Shape;1898;p82"/>
          <p:cNvCxnSpPr>
            <a:stCxn id="1887" idx="3"/>
            <a:endCxn id="1877" idx="1"/>
          </p:cNvCxnSpPr>
          <p:nvPr/>
        </p:nvCxnSpPr>
        <p:spPr>
          <a:xfrm flipH="1" rot="10800000">
            <a:off x="5701644" y="1241074"/>
            <a:ext cx="765600" cy="1729200"/>
          </a:xfrm>
          <a:prstGeom prst="curvedConnector3">
            <a:avLst>
              <a:gd fmla="val 49991" name="adj1"/>
            </a:avLst>
          </a:prstGeom>
          <a:noFill/>
          <a:ln cap="flat" cmpd="sng" w="9525">
            <a:solidFill>
              <a:srgbClr val="0E9C8A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899" name="Google Shape;1899;p82"/>
          <p:cNvSpPr txBox="1"/>
          <p:nvPr/>
        </p:nvSpPr>
        <p:spPr>
          <a:xfrm>
            <a:off x="21775" y="2444838"/>
            <a:ext cx="399300" cy="12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 sz="600">
                <a:solidFill>
                  <a:srgbClr val="923E22"/>
                </a:solidFill>
                <a:latin typeface="Calibri"/>
                <a:ea typeface="Calibri"/>
                <a:cs typeface="Calibri"/>
                <a:sym typeface="Calibri"/>
              </a:rPr>
              <a:t>dump</a:t>
            </a:r>
            <a:endParaRPr sz="600">
              <a:solidFill>
                <a:srgbClr val="923E2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0" name="Google Shape;1900;p82"/>
          <p:cNvSpPr txBox="1"/>
          <p:nvPr/>
        </p:nvSpPr>
        <p:spPr>
          <a:xfrm>
            <a:off x="1310800" y="2206363"/>
            <a:ext cx="399300" cy="12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 sz="600">
                <a:solidFill>
                  <a:srgbClr val="923E22"/>
                </a:solidFill>
                <a:latin typeface="Calibri"/>
                <a:ea typeface="Calibri"/>
                <a:cs typeface="Calibri"/>
                <a:sym typeface="Calibri"/>
              </a:rPr>
              <a:t>upsert</a:t>
            </a:r>
            <a:endParaRPr sz="600">
              <a:solidFill>
                <a:srgbClr val="923E2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1" name="Google Shape;1901;p82"/>
          <p:cNvSpPr txBox="1"/>
          <p:nvPr/>
        </p:nvSpPr>
        <p:spPr>
          <a:xfrm>
            <a:off x="1290360" y="1518088"/>
            <a:ext cx="582600" cy="12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 sz="600">
                <a:solidFill>
                  <a:srgbClr val="923E22"/>
                </a:solidFill>
                <a:latin typeface="Calibri"/>
                <a:ea typeface="Calibri"/>
                <a:cs typeface="Calibri"/>
                <a:sym typeface="Calibri"/>
              </a:rPr>
              <a:t>événements</a:t>
            </a:r>
            <a:endParaRPr sz="600">
              <a:solidFill>
                <a:srgbClr val="923E2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2" name="Google Shape;1902;p82"/>
          <p:cNvSpPr txBox="1"/>
          <p:nvPr/>
        </p:nvSpPr>
        <p:spPr>
          <a:xfrm>
            <a:off x="2517323" y="1775063"/>
            <a:ext cx="582600" cy="12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 sz="600">
                <a:solidFill>
                  <a:srgbClr val="923E22"/>
                </a:solidFill>
                <a:latin typeface="Calibri"/>
                <a:ea typeface="Calibri"/>
                <a:cs typeface="Calibri"/>
                <a:sym typeface="Calibri"/>
              </a:rPr>
              <a:t>embeddings</a:t>
            </a:r>
            <a:endParaRPr sz="600">
              <a:solidFill>
                <a:srgbClr val="923E2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3" name="Google Shape;1903;p82"/>
          <p:cNvSpPr txBox="1"/>
          <p:nvPr/>
        </p:nvSpPr>
        <p:spPr>
          <a:xfrm>
            <a:off x="2619046" y="2657541"/>
            <a:ext cx="486300" cy="12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 sz="600">
                <a:solidFill>
                  <a:srgbClr val="0E9C8A"/>
                </a:solidFill>
                <a:latin typeface="Calibri"/>
                <a:ea typeface="Calibri"/>
                <a:cs typeface="Calibri"/>
                <a:sym typeface="Calibri"/>
              </a:rPr>
              <a:t>retrieval</a:t>
            </a:r>
            <a:endParaRPr sz="600">
              <a:solidFill>
                <a:srgbClr val="0E9C8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4" name="Google Shape;1904;p82"/>
          <p:cNvSpPr txBox="1"/>
          <p:nvPr/>
        </p:nvSpPr>
        <p:spPr>
          <a:xfrm>
            <a:off x="283150" y="3953488"/>
            <a:ext cx="2454600" cy="23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1000">
                <a:solidFill>
                  <a:srgbClr val="B07BC2"/>
                </a:solidFill>
                <a:latin typeface="Calibri"/>
                <a:ea typeface="Calibri"/>
                <a:cs typeface="Calibri"/>
                <a:sym typeface="Calibri"/>
              </a:rPr>
              <a:t>SCALEWAY</a:t>
            </a:r>
            <a:r>
              <a:rPr lang="fr" sz="800">
                <a:solidFill>
                  <a:srgbClr val="B07BC2"/>
                </a:solidFill>
                <a:latin typeface="Calibri"/>
                <a:ea typeface="Calibri"/>
                <a:cs typeface="Calibri"/>
                <a:sym typeface="Calibri"/>
              </a:rPr>
              <a:t> - cloud souverain (UE, hors CLOUD Act) </a:t>
            </a:r>
            <a:endParaRPr sz="800">
              <a:solidFill>
                <a:srgbClr val="B07BC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5" name="Google Shape;1905;p82"/>
          <p:cNvSpPr/>
          <p:nvPr/>
        </p:nvSpPr>
        <p:spPr>
          <a:xfrm>
            <a:off x="7068700" y="4409050"/>
            <a:ext cx="144600" cy="72900"/>
          </a:xfrm>
          <a:prstGeom prst="roundRect">
            <a:avLst>
              <a:gd fmla="val 16667" name="adj"/>
            </a:avLst>
          </a:prstGeom>
          <a:solidFill>
            <a:srgbClr val="9CA3AF">
              <a:alpha val="6960"/>
            </a:srgbClr>
          </a:solidFill>
          <a:ln cap="flat" cmpd="sng" w="9525">
            <a:solidFill>
              <a:srgbClr val="9CA3A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6" name="Google Shape;1906;p82"/>
          <p:cNvSpPr/>
          <p:nvPr/>
        </p:nvSpPr>
        <p:spPr>
          <a:xfrm>
            <a:off x="7068700" y="4550067"/>
            <a:ext cx="144600" cy="72900"/>
          </a:xfrm>
          <a:prstGeom prst="roundRect">
            <a:avLst>
              <a:gd fmla="val 16667" name="adj"/>
            </a:avLst>
          </a:prstGeom>
          <a:solidFill>
            <a:srgbClr val="923E22">
              <a:alpha val="7999"/>
            </a:srgbClr>
          </a:solidFill>
          <a:ln cap="flat" cmpd="sng" w="9525">
            <a:solidFill>
              <a:srgbClr val="923E2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7" name="Google Shape;1907;p82"/>
          <p:cNvSpPr/>
          <p:nvPr/>
        </p:nvSpPr>
        <p:spPr>
          <a:xfrm>
            <a:off x="7068700" y="4962200"/>
            <a:ext cx="144600" cy="72900"/>
          </a:xfrm>
          <a:prstGeom prst="roundRect">
            <a:avLst>
              <a:gd fmla="val 16667" name="adj"/>
            </a:avLst>
          </a:prstGeom>
          <a:solidFill>
            <a:srgbClr val="674EA7">
              <a:alpha val="7999"/>
            </a:srgbClr>
          </a:solidFill>
          <a:ln cap="flat" cmpd="sng" w="9525">
            <a:solidFill>
              <a:srgbClr val="674EA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8" name="Google Shape;1908;p82"/>
          <p:cNvSpPr/>
          <p:nvPr/>
        </p:nvSpPr>
        <p:spPr>
          <a:xfrm>
            <a:off x="7068700" y="4691085"/>
            <a:ext cx="144600" cy="72900"/>
          </a:xfrm>
          <a:prstGeom prst="roundRect">
            <a:avLst>
              <a:gd fmla="val 16667" name="adj"/>
            </a:avLst>
          </a:prstGeom>
          <a:solidFill>
            <a:srgbClr val="0000FF">
              <a:alpha val="14000"/>
            </a:srgbClr>
          </a:solidFill>
          <a:ln cap="flat" cmpd="sng" w="9525">
            <a:solidFill>
              <a:srgbClr val="00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9" name="Google Shape;1909;p82"/>
          <p:cNvSpPr/>
          <p:nvPr/>
        </p:nvSpPr>
        <p:spPr>
          <a:xfrm>
            <a:off x="7068700" y="4825177"/>
            <a:ext cx="144600" cy="72900"/>
          </a:xfrm>
          <a:prstGeom prst="roundRect">
            <a:avLst>
              <a:gd fmla="val 16667" name="adj"/>
            </a:avLst>
          </a:prstGeom>
          <a:solidFill>
            <a:srgbClr val="0E9C8A">
              <a:alpha val="15999"/>
            </a:srgbClr>
          </a:solidFill>
          <a:ln cap="flat" cmpd="sng" w="9525">
            <a:solidFill>
              <a:srgbClr val="0E9C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910" name="Google Shape;1910;p82"/>
          <p:cNvCxnSpPr>
            <a:endCxn id="1882" idx="2"/>
          </p:cNvCxnSpPr>
          <p:nvPr/>
        </p:nvCxnSpPr>
        <p:spPr>
          <a:xfrm rot="10800000">
            <a:off x="4572000" y="4115900"/>
            <a:ext cx="14100" cy="410100"/>
          </a:xfrm>
          <a:prstGeom prst="straightConnector1">
            <a:avLst/>
          </a:prstGeom>
          <a:noFill/>
          <a:ln cap="flat" cmpd="sng" w="9525">
            <a:solidFill>
              <a:srgbClr val="F4F4F5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911" name="Google Shape;1911;p82"/>
          <p:cNvCxnSpPr>
            <a:stCxn id="1888" idx="1"/>
            <a:endCxn id="1879" idx="3"/>
          </p:cNvCxnSpPr>
          <p:nvPr/>
        </p:nvCxnSpPr>
        <p:spPr>
          <a:xfrm rot="10800000">
            <a:off x="2140058" y="2611255"/>
            <a:ext cx="1286700" cy="805500"/>
          </a:xfrm>
          <a:prstGeom prst="curvedConnector3">
            <a:avLst>
              <a:gd fmla="val 44646" name="adj1"/>
            </a:avLst>
          </a:prstGeom>
          <a:noFill/>
          <a:ln cap="flat" cmpd="sng" w="9525">
            <a:solidFill>
              <a:srgbClr val="0E9C8A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912" name="Google Shape;1912;p82"/>
          <p:cNvCxnSpPr>
            <a:stCxn id="1886" idx="2"/>
            <a:endCxn id="1879" idx="3"/>
          </p:cNvCxnSpPr>
          <p:nvPr/>
        </p:nvCxnSpPr>
        <p:spPr>
          <a:xfrm flipH="1" rot="5400000">
            <a:off x="3187642" y="1563800"/>
            <a:ext cx="975900" cy="3070800"/>
          </a:xfrm>
          <a:prstGeom prst="curvedConnector4">
            <a:avLst>
              <a:gd fmla="val -24401" name="adj1"/>
              <a:gd fmla="val 77150" name="adj2"/>
            </a:avLst>
          </a:prstGeom>
          <a:noFill/>
          <a:ln cap="flat" cmpd="sng" w="9525">
            <a:solidFill>
              <a:srgbClr val="0E9C8A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913" name="Google Shape;1913;p82"/>
          <p:cNvSpPr txBox="1"/>
          <p:nvPr/>
        </p:nvSpPr>
        <p:spPr>
          <a:xfrm>
            <a:off x="3979391" y="3716668"/>
            <a:ext cx="582600" cy="12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 sz="600">
                <a:solidFill>
                  <a:srgbClr val="0E9C8A"/>
                </a:solidFill>
                <a:latin typeface="Calibri"/>
                <a:ea typeface="Calibri"/>
                <a:cs typeface="Calibri"/>
                <a:sym typeface="Calibri"/>
              </a:rPr>
              <a:t>mémoire LT</a:t>
            </a:r>
            <a:endParaRPr sz="600">
              <a:solidFill>
                <a:srgbClr val="0E9C8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4" name="Google Shape;1914;p82"/>
          <p:cNvSpPr txBox="1"/>
          <p:nvPr/>
        </p:nvSpPr>
        <p:spPr>
          <a:xfrm>
            <a:off x="4008429" y="3932876"/>
            <a:ext cx="569700" cy="12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 sz="600">
                <a:solidFill>
                  <a:srgbClr val="0E9C8A"/>
                </a:solidFill>
                <a:latin typeface="Calibri"/>
                <a:ea typeface="Calibri"/>
                <a:cs typeface="Calibri"/>
                <a:sym typeface="Calibri"/>
              </a:rPr>
              <a:t>mémoire CT</a:t>
            </a:r>
            <a:endParaRPr sz="600">
              <a:solidFill>
                <a:srgbClr val="0E9C8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5" name="Google Shape;1915;p82"/>
          <p:cNvSpPr txBox="1"/>
          <p:nvPr/>
        </p:nvSpPr>
        <p:spPr>
          <a:xfrm>
            <a:off x="2780476" y="2950552"/>
            <a:ext cx="358500" cy="12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 sz="600">
                <a:solidFill>
                  <a:srgbClr val="0E9C8A"/>
                </a:solidFill>
                <a:latin typeface="Calibri"/>
                <a:ea typeface="Calibri"/>
                <a:cs typeface="Calibri"/>
                <a:sym typeface="Calibri"/>
              </a:rPr>
              <a:t>géo</a:t>
            </a:r>
            <a:endParaRPr sz="600">
              <a:solidFill>
                <a:srgbClr val="0E9C8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916" name="Google Shape;1916;p82"/>
          <p:cNvCxnSpPr>
            <a:stCxn id="1883" idx="3"/>
            <a:endCxn id="1876" idx="3"/>
          </p:cNvCxnSpPr>
          <p:nvPr/>
        </p:nvCxnSpPr>
        <p:spPr>
          <a:xfrm flipH="1" rot="10800000">
            <a:off x="5701758" y="1240100"/>
            <a:ext cx="13200" cy="1193400"/>
          </a:xfrm>
          <a:prstGeom prst="curvedConnector3">
            <a:avLst>
              <a:gd fmla="val 1217172" name="adj1"/>
            </a:avLst>
          </a:prstGeom>
          <a:noFill/>
          <a:ln cap="flat" cmpd="sng" w="9525">
            <a:solidFill>
              <a:srgbClr val="0E9C8A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917" name="Google Shape;1917;p82"/>
          <p:cNvSpPr txBox="1"/>
          <p:nvPr/>
        </p:nvSpPr>
        <p:spPr>
          <a:xfrm>
            <a:off x="4955400" y="1502475"/>
            <a:ext cx="901500" cy="15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 sz="600">
                <a:solidFill>
                  <a:srgbClr val="0E9C8A"/>
                </a:solidFill>
                <a:latin typeface="Calibri"/>
                <a:ea typeface="Calibri"/>
                <a:cs typeface="Calibri"/>
                <a:sym typeface="Calibri"/>
              </a:rPr>
              <a:t>prompt ⇒ / réponse ⇐</a:t>
            </a:r>
            <a:endParaRPr sz="600">
              <a:solidFill>
                <a:srgbClr val="0E9C8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8" name="Google Shape;1918;p82"/>
          <p:cNvSpPr txBox="1"/>
          <p:nvPr/>
        </p:nvSpPr>
        <p:spPr>
          <a:xfrm>
            <a:off x="7232825" y="4367250"/>
            <a:ext cx="1755600" cy="68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600">
                <a:solidFill>
                  <a:srgbClr val="8A93A6"/>
                </a:solidFill>
                <a:latin typeface="Calibri"/>
                <a:ea typeface="Calibri"/>
                <a:cs typeface="Calibri"/>
                <a:sym typeface="Calibri"/>
              </a:rPr>
              <a:t>Sources externes</a:t>
            </a:r>
            <a:endParaRPr sz="600">
              <a:solidFill>
                <a:srgbClr val="8A93A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600">
                <a:solidFill>
                  <a:srgbClr val="8A93A6"/>
                </a:solidFill>
                <a:latin typeface="Calibri"/>
                <a:ea typeface="Calibri"/>
                <a:cs typeface="Calibri"/>
                <a:sym typeface="Calibri"/>
              </a:rPr>
              <a:t>Ingestion (Kestra)</a:t>
            </a:r>
            <a:endParaRPr sz="600">
              <a:solidFill>
                <a:srgbClr val="8A93A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600">
                <a:solidFill>
                  <a:srgbClr val="8A93A6"/>
                </a:solidFill>
                <a:latin typeface="Calibri"/>
                <a:ea typeface="Calibri"/>
                <a:cs typeface="Calibri"/>
                <a:sym typeface="Calibri"/>
              </a:rPr>
              <a:t>Stockage (PostgreSQL / Redis / Object storage)</a:t>
            </a:r>
            <a:endParaRPr sz="600">
              <a:solidFill>
                <a:srgbClr val="8A93A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600">
                <a:solidFill>
                  <a:srgbClr val="8A93A6"/>
                </a:solidFill>
                <a:latin typeface="Calibri"/>
                <a:ea typeface="Calibri"/>
                <a:cs typeface="Calibri"/>
                <a:sym typeface="Calibri"/>
              </a:rPr>
              <a:t>Applications (API + agent)</a:t>
            </a:r>
            <a:endParaRPr sz="600">
              <a:solidFill>
                <a:srgbClr val="8A93A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600">
                <a:solidFill>
                  <a:srgbClr val="8A93A6"/>
                </a:solidFill>
                <a:latin typeface="Calibri"/>
                <a:ea typeface="Calibri"/>
                <a:cs typeface="Calibri"/>
                <a:sym typeface="Calibri"/>
              </a:rPr>
              <a:t>Observabilité</a:t>
            </a:r>
            <a:endParaRPr sz="600">
              <a:solidFill>
                <a:srgbClr val="8A93A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9" name="Google Shape;1919;p82"/>
          <p:cNvSpPr txBox="1"/>
          <p:nvPr/>
        </p:nvSpPr>
        <p:spPr>
          <a:xfrm>
            <a:off x="377200" y="233175"/>
            <a:ext cx="2286900" cy="45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9050" lIns="0" spcFirstLastPara="1" rIns="0" wrap="square" tIns="190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1800">
                <a:solidFill>
                  <a:srgbClr val="0E9C8A"/>
                </a:solidFill>
                <a:latin typeface="Calibri"/>
                <a:ea typeface="Calibri"/>
                <a:cs typeface="Calibri"/>
                <a:sym typeface="Calibri"/>
              </a:rPr>
              <a:t>L’architecture du MVP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24" name="Shape 19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5" name="Google Shape;1925;p83"/>
          <p:cNvSpPr txBox="1"/>
          <p:nvPr/>
        </p:nvSpPr>
        <p:spPr>
          <a:xfrm>
            <a:off x="377200" y="675550"/>
            <a:ext cx="26754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9050" lIns="0" spcFirstLastPara="1" rIns="0" wrap="square" tIns="190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1100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Architecture MVP - chatbot RAG Puls-EVents</a:t>
            </a:r>
            <a:endParaRPr b="1" sz="1100">
              <a:solidFill>
                <a:srgbClr val="9CA3A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6" name="Google Shape;1926;p83"/>
          <p:cNvSpPr txBox="1"/>
          <p:nvPr/>
        </p:nvSpPr>
        <p:spPr>
          <a:xfrm>
            <a:off x="377200" y="4945850"/>
            <a:ext cx="999000" cy="166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700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MVP RAG Puls-Events</a:t>
            </a:r>
            <a:endParaRPr sz="700">
              <a:solidFill>
                <a:srgbClr val="9CA3A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7" name="Google Shape;1927;p83"/>
          <p:cNvSpPr/>
          <p:nvPr/>
        </p:nvSpPr>
        <p:spPr>
          <a:xfrm>
            <a:off x="64125" y="1631700"/>
            <a:ext cx="8941200" cy="2605500"/>
          </a:xfrm>
          <a:prstGeom prst="roundRect">
            <a:avLst>
              <a:gd fmla="val 6000" name="adj"/>
            </a:avLst>
          </a:prstGeom>
          <a:noFill/>
          <a:ln cap="flat" cmpd="sng" w="9525">
            <a:solidFill>
              <a:srgbClr val="B07BC2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8" name="Google Shape;1928;p83"/>
          <p:cNvSpPr/>
          <p:nvPr/>
        </p:nvSpPr>
        <p:spPr>
          <a:xfrm>
            <a:off x="499800" y="980277"/>
            <a:ext cx="2286000" cy="521400"/>
          </a:xfrm>
          <a:prstGeom prst="roundRect">
            <a:avLst>
              <a:gd fmla="val 16667" name="adj"/>
            </a:avLst>
          </a:prstGeom>
          <a:solidFill>
            <a:srgbClr val="9CA3AF">
              <a:alpha val="6960"/>
            </a:srgbClr>
          </a:solidFill>
          <a:ln cap="flat" cmpd="sng" w="12700">
            <a:solidFill>
              <a:srgbClr val="9CA3A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6575" lIns="91425" spcFirstLastPara="1" rIns="73150" wrap="square" tIns="365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800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Opendatasoft API</a:t>
            </a:r>
            <a:endParaRPr b="1" sz="800">
              <a:solidFill>
                <a:srgbClr val="9CA3A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600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events Open Agenda</a:t>
            </a:r>
            <a:endParaRPr b="1" sz="600">
              <a:solidFill>
                <a:srgbClr val="9CA3A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9" name="Google Shape;1929;p83"/>
          <p:cNvSpPr/>
          <p:nvPr/>
        </p:nvSpPr>
        <p:spPr>
          <a:xfrm>
            <a:off x="3429000" y="979502"/>
            <a:ext cx="2286000" cy="521400"/>
          </a:xfrm>
          <a:prstGeom prst="roundRect">
            <a:avLst>
              <a:gd fmla="val 16667" name="adj"/>
            </a:avLst>
          </a:prstGeom>
          <a:solidFill>
            <a:srgbClr val="9CA3AF">
              <a:alpha val="6960"/>
            </a:srgbClr>
          </a:solidFill>
          <a:ln cap="flat" cmpd="sng" w="12700">
            <a:solidFill>
              <a:srgbClr val="9CA3A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6575" lIns="91425" spcFirstLastPara="1" rIns="73150" wrap="square" tIns="365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800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Mistral API (UE)</a:t>
            </a:r>
            <a:endParaRPr b="1" sz="800">
              <a:solidFill>
                <a:srgbClr val="9CA3A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600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embeddings + LLM</a:t>
            </a:r>
            <a:endParaRPr b="1" sz="600">
              <a:solidFill>
                <a:srgbClr val="9CA3A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0" name="Google Shape;1930;p83"/>
          <p:cNvSpPr/>
          <p:nvPr/>
        </p:nvSpPr>
        <p:spPr>
          <a:xfrm>
            <a:off x="6467100" y="980264"/>
            <a:ext cx="2286000" cy="521400"/>
          </a:xfrm>
          <a:prstGeom prst="roundRect">
            <a:avLst>
              <a:gd fmla="val 16667" name="adj"/>
            </a:avLst>
          </a:prstGeom>
          <a:solidFill>
            <a:srgbClr val="9CA3AF">
              <a:alpha val="6960"/>
            </a:srgbClr>
          </a:solidFill>
          <a:ln cap="flat" cmpd="sng" w="12700">
            <a:solidFill>
              <a:srgbClr val="9CA3A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6575" lIns="91425" spcFirstLastPara="1" rIns="73150" wrap="square" tIns="365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800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Recherche web</a:t>
            </a:r>
            <a:endParaRPr b="1" sz="800">
              <a:solidFill>
                <a:srgbClr val="9CA3A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600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(Tavily)</a:t>
            </a:r>
            <a:endParaRPr b="1" sz="600">
              <a:solidFill>
                <a:srgbClr val="9CA3A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1" name="Google Shape;1931;p83"/>
          <p:cNvSpPr/>
          <p:nvPr/>
        </p:nvSpPr>
        <p:spPr>
          <a:xfrm>
            <a:off x="576219" y="1831125"/>
            <a:ext cx="1578000" cy="359700"/>
          </a:xfrm>
          <a:prstGeom prst="roundRect">
            <a:avLst>
              <a:gd fmla="val 16667" name="adj"/>
            </a:avLst>
          </a:prstGeom>
          <a:solidFill>
            <a:srgbClr val="923E22">
              <a:alpha val="7999"/>
            </a:srgbClr>
          </a:solidFill>
          <a:ln cap="flat" cmpd="sng" w="9525">
            <a:solidFill>
              <a:srgbClr val="923E2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800">
                <a:solidFill>
                  <a:srgbClr val="923E22"/>
                </a:solidFill>
                <a:latin typeface="Calibri"/>
                <a:ea typeface="Calibri"/>
                <a:cs typeface="Calibri"/>
                <a:sym typeface="Calibri"/>
              </a:rPr>
              <a:t>Kestra</a:t>
            </a:r>
            <a:r>
              <a:rPr lang="fr" sz="600">
                <a:solidFill>
                  <a:srgbClr val="923E22"/>
                </a:solidFill>
                <a:latin typeface="Calibri"/>
                <a:ea typeface="Calibri"/>
                <a:cs typeface="Calibri"/>
                <a:sym typeface="Calibri"/>
              </a:rPr>
              <a:t> - ingestion planifiée</a:t>
            </a:r>
            <a:endParaRPr sz="600">
              <a:solidFill>
                <a:srgbClr val="923E2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 sz="600">
                <a:solidFill>
                  <a:srgbClr val="923E22"/>
                </a:solidFill>
                <a:latin typeface="Calibri"/>
                <a:ea typeface="Calibri"/>
                <a:cs typeface="Calibri"/>
                <a:sym typeface="Calibri"/>
              </a:rPr>
              <a:t>fetch ⇒ clean ⇒ embed ⇒ upsert</a:t>
            </a:r>
            <a:endParaRPr sz="600">
              <a:solidFill>
                <a:srgbClr val="923E2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2" name="Google Shape;1932;p83"/>
          <p:cNvSpPr/>
          <p:nvPr/>
        </p:nvSpPr>
        <p:spPr>
          <a:xfrm>
            <a:off x="562125" y="2350491"/>
            <a:ext cx="1578000" cy="521400"/>
          </a:xfrm>
          <a:prstGeom prst="roundRect">
            <a:avLst>
              <a:gd fmla="val 16667" name="adj"/>
            </a:avLst>
          </a:prstGeom>
          <a:solidFill>
            <a:srgbClr val="0000FF">
              <a:alpha val="14000"/>
            </a:srgbClr>
          </a:solidFill>
          <a:ln cap="flat" cmpd="sng" w="9525">
            <a:solidFill>
              <a:srgbClr val="00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800">
                <a:solidFill>
                  <a:srgbClr val="3C78D8"/>
                </a:solidFill>
                <a:latin typeface="Calibri"/>
                <a:ea typeface="Calibri"/>
                <a:cs typeface="Calibri"/>
                <a:sym typeface="Calibri"/>
              </a:rPr>
              <a:t>Managed PostgreSQL</a:t>
            </a:r>
            <a:endParaRPr b="1" sz="800">
              <a:solidFill>
                <a:srgbClr val="3C78D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66700" lvl="0" marL="457200" rtl="0" algn="l">
              <a:spcBef>
                <a:spcPts val="0"/>
              </a:spcBef>
              <a:spcAft>
                <a:spcPts val="0"/>
              </a:spcAft>
              <a:buClr>
                <a:srgbClr val="3C78D8"/>
              </a:buClr>
              <a:buSzPts val="600"/>
              <a:buFont typeface="Calibri"/>
              <a:buChar char="●"/>
            </a:pPr>
            <a:r>
              <a:rPr lang="fr" sz="600">
                <a:solidFill>
                  <a:srgbClr val="3C78D8"/>
                </a:solidFill>
                <a:latin typeface="Calibri"/>
                <a:ea typeface="Calibri"/>
                <a:cs typeface="Calibri"/>
                <a:sym typeface="Calibri"/>
              </a:rPr>
              <a:t>pgvector (embeddings)</a:t>
            </a:r>
            <a:endParaRPr sz="600">
              <a:solidFill>
                <a:srgbClr val="3C78D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66700" lvl="0" marL="457200" rtl="0" algn="l">
              <a:spcBef>
                <a:spcPts val="0"/>
              </a:spcBef>
              <a:spcAft>
                <a:spcPts val="0"/>
              </a:spcAft>
              <a:buClr>
                <a:srgbClr val="3C78D8"/>
              </a:buClr>
              <a:buSzPts val="600"/>
              <a:buFont typeface="Calibri"/>
              <a:buChar char="●"/>
            </a:pPr>
            <a:r>
              <a:rPr lang="fr" sz="600">
                <a:solidFill>
                  <a:srgbClr val="3C78D8"/>
                </a:solidFill>
                <a:latin typeface="Calibri"/>
                <a:ea typeface="Calibri"/>
                <a:cs typeface="Calibri"/>
                <a:sym typeface="Calibri"/>
              </a:rPr>
              <a:t>PostGIS (géo)</a:t>
            </a:r>
            <a:endParaRPr sz="600">
              <a:solidFill>
                <a:srgbClr val="3C78D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66700" lvl="0" marL="457200" rtl="0" algn="l">
              <a:spcBef>
                <a:spcPts val="0"/>
              </a:spcBef>
              <a:spcAft>
                <a:spcPts val="0"/>
              </a:spcAft>
              <a:buClr>
                <a:srgbClr val="3C78D8"/>
              </a:buClr>
              <a:buSzPts val="600"/>
              <a:buFont typeface="Calibri"/>
              <a:buChar char="●"/>
            </a:pPr>
            <a:r>
              <a:rPr lang="fr" sz="600">
                <a:solidFill>
                  <a:srgbClr val="3C78D8"/>
                </a:solidFill>
                <a:latin typeface="Calibri"/>
                <a:ea typeface="Calibri"/>
                <a:cs typeface="Calibri"/>
                <a:sym typeface="Calibri"/>
              </a:rPr>
              <a:t>relationnel + mémoire LT</a:t>
            </a:r>
            <a:endParaRPr sz="600">
              <a:solidFill>
                <a:srgbClr val="3C78D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3" name="Google Shape;1933;p83"/>
          <p:cNvSpPr/>
          <p:nvPr/>
        </p:nvSpPr>
        <p:spPr>
          <a:xfrm>
            <a:off x="562125" y="3030722"/>
            <a:ext cx="1578000" cy="303000"/>
          </a:xfrm>
          <a:prstGeom prst="roundRect">
            <a:avLst>
              <a:gd fmla="val 16667" name="adj"/>
            </a:avLst>
          </a:prstGeom>
          <a:solidFill>
            <a:srgbClr val="0000FF">
              <a:alpha val="7999"/>
            </a:srgbClr>
          </a:solidFill>
          <a:ln cap="flat" cmpd="sng" w="9525">
            <a:solidFill>
              <a:srgbClr val="00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800">
                <a:solidFill>
                  <a:srgbClr val="3C78D8"/>
                </a:solidFill>
                <a:latin typeface="Calibri"/>
                <a:ea typeface="Calibri"/>
                <a:cs typeface="Calibri"/>
                <a:sym typeface="Calibri"/>
              </a:rPr>
              <a:t>Managed Redis</a:t>
            </a:r>
            <a:endParaRPr b="1" sz="800">
              <a:solidFill>
                <a:srgbClr val="3C78D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 sz="600">
                <a:solidFill>
                  <a:srgbClr val="3C78D8"/>
                </a:solidFill>
                <a:latin typeface="Calibri"/>
                <a:ea typeface="Calibri"/>
                <a:cs typeface="Calibri"/>
                <a:sym typeface="Calibri"/>
              </a:rPr>
              <a:t>mémoire court terme / session</a:t>
            </a:r>
            <a:endParaRPr sz="600">
              <a:solidFill>
                <a:srgbClr val="3C78D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4" name="Google Shape;1934;p83"/>
          <p:cNvSpPr/>
          <p:nvPr/>
        </p:nvSpPr>
        <p:spPr>
          <a:xfrm>
            <a:off x="562125" y="3492525"/>
            <a:ext cx="1578000" cy="303000"/>
          </a:xfrm>
          <a:prstGeom prst="roundRect">
            <a:avLst>
              <a:gd fmla="val 16667" name="adj"/>
            </a:avLst>
          </a:prstGeom>
          <a:solidFill>
            <a:srgbClr val="0000FF">
              <a:alpha val="3999"/>
            </a:srgbClr>
          </a:solidFill>
          <a:ln cap="flat" cmpd="sng" w="9525">
            <a:solidFill>
              <a:srgbClr val="00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800">
                <a:solidFill>
                  <a:srgbClr val="3C78D8"/>
                </a:solidFill>
                <a:latin typeface="Calibri"/>
                <a:ea typeface="Calibri"/>
                <a:cs typeface="Calibri"/>
                <a:sym typeface="Calibri"/>
              </a:rPr>
              <a:t>Object storage</a:t>
            </a:r>
            <a:r>
              <a:rPr lang="fr" sz="800">
                <a:solidFill>
                  <a:srgbClr val="3C78D8"/>
                </a:solidFill>
                <a:latin typeface="Calibri"/>
                <a:ea typeface="Calibri"/>
                <a:cs typeface="Calibri"/>
                <a:sym typeface="Calibri"/>
              </a:rPr>
              <a:t> S3</a:t>
            </a:r>
            <a:endParaRPr sz="800">
              <a:solidFill>
                <a:srgbClr val="3C78D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5" name="Google Shape;1935;p83"/>
          <p:cNvSpPr/>
          <p:nvPr/>
        </p:nvSpPr>
        <p:spPr>
          <a:xfrm>
            <a:off x="3234300" y="1858100"/>
            <a:ext cx="2675400" cy="2257800"/>
          </a:xfrm>
          <a:prstGeom prst="roundRect">
            <a:avLst>
              <a:gd fmla="val 16667" name="adj"/>
            </a:avLst>
          </a:prstGeom>
          <a:solidFill>
            <a:srgbClr val="0E9C8A">
              <a:alpha val="7999"/>
            </a:srgbClr>
          </a:solidFill>
          <a:ln cap="flat" cmpd="sng" w="9525">
            <a:solidFill>
              <a:srgbClr val="0E9C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6" name="Google Shape;1936;p83"/>
          <p:cNvSpPr/>
          <p:nvPr/>
        </p:nvSpPr>
        <p:spPr>
          <a:xfrm>
            <a:off x="3431358" y="2172800"/>
            <a:ext cx="2270400" cy="521400"/>
          </a:xfrm>
          <a:prstGeom prst="roundRect">
            <a:avLst>
              <a:gd fmla="val 16667" name="adj"/>
            </a:avLst>
          </a:prstGeom>
          <a:solidFill>
            <a:srgbClr val="0E9C8A">
              <a:alpha val="23999"/>
            </a:srgbClr>
          </a:solidFill>
          <a:ln cap="flat" cmpd="sng" w="9525">
            <a:solidFill>
              <a:srgbClr val="0E9C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800">
                <a:solidFill>
                  <a:srgbClr val="0E9C8A"/>
                </a:solidFill>
                <a:latin typeface="Calibri"/>
                <a:ea typeface="Calibri"/>
                <a:cs typeface="Calibri"/>
                <a:sym typeface="Calibri"/>
              </a:rPr>
              <a:t>Agents smolagents</a:t>
            </a:r>
            <a:endParaRPr b="1" sz="800">
              <a:solidFill>
                <a:srgbClr val="0E9C8A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 sz="600">
                <a:solidFill>
                  <a:srgbClr val="0E9C8A"/>
                </a:solidFill>
                <a:latin typeface="Calibri"/>
                <a:ea typeface="Calibri"/>
                <a:cs typeface="Calibri"/>
                <a:sym typeface="Calibri"/>
              </a:rPr>
              <a:t>(orchestration des outils)</a:t>
            </a:r>
            <a:endParaRPr sz="600">
              <a:solidFill>
                <a:srgbClr val="0E9C8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7" name="Google Shape;1937;p83"/>
          <p:cNvSpPr/>
          <p:nvPr/>
        </p:nvSpPr>
        <p:spPr>
          <a:xfrm>
            <a:off x="3431458" y="2799875"/>
            <a:ext cx="1041900" cy="340800"/>
          </a:xfrm>
          <a:prstGeom prst="roundRect">
            <a:avLst>
              <a:gd fmla="val 16667" name="adj"/>
            </a:avLst>
          </a:prstGeom>
          <a:solidFill>
            <a:srgbClr val="0E9C8A">
              <a:alpha val="15999"/>
            </a:srgbClr>
          </a:solidFill>
          <a:ln cap="flat" cmpd="sng" w="9525">
            <a:solidFill>
              <a:srgbClr val="0E9C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800">
                <a:solidFill>
                  <a:srgbClr val="0E9C8A"/>
                </a:solidFill>
                <a:latin typeface="Calibri"/>
                <a:ea typeface="Calibri"/>
                <a:cs typeface="Calibri"/>
                <a:sym typeface="Calibri"/>
              </a:rPr>
              <a:t>outil RAG</a:t>
            </a:r>
            <a:endParaRPr b="1" sz="800">
              <a:solidFill>
                <a:srgbClr val="0E9C8A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 sz="600">
                <a:solidFill>
                  <a:srgbClr val="0E9C8A"/>
                </a:solidFill>
                <a:latin typeface="Calibri"/>
                <a:ea typeface="Calibri"/>
                <a:cs typeface="Calibri"/>
                <a:sym typeface="Calibri"/>
              </a:rPr>
              <a:t>(LangChain hybride)</a:t>
            </a:r>
            <a:endParaRPr sz="600">
              <a:solidFill>
                <a:srgbClr val="0E9C8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8" name="Google Shape;1938;p83"/>
          <p:cNvSpPr txBox="1"/>
          <p:nvPr/>
        </p:nvSpPr>
        <p:spPr>
          <a:xfrm>
            <a:off x="3560475" y="1932625"/>
            <a:ext cx="19485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800">
                <a:solidFill>
                  <a:srgbClr val="0E9C8A"/>
                </a:solidFill>
                <a:latin typeface="Calibri"/>
                <a:ea typeface="Calibri"/>
                <a:cs typeface="Calibri"/>
                <a:sym typeface="Calibri"/>
              </a:rPr>
              <a:t>Serverless Containers - API FastAPI (SSE)</a:t>
            </a:r>
            <a:endParaRPr b="1" sz="800">
              <a:solidFill>
                <a:srgbClr val="0E9C8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9" name="Google Shape;1939;p83"/>
          <p:cNvSpPr/>
          <p:nvPr/>
        </p:nvSpPr>
        <p:spPr>
          <a:xfrm>
            <a:off x="4704742" y="3246350"/>
            <a:ext cx="1012500" cy="340800"/>
          </a:xfrm>
          <a:prstGeom prst="roundRect">
            <a:avLst>
              <a:gd fmla="val 16667" name="adj"/>
            </a:avLst>
          </a:prstGeom>
          <a:solidFill>
            <a:srgbClr val="0E9C8A">
              <a:alpha val="15999"/>
            </a:srgbClr>
          </a:solidFill>
          <a:ln cap="flat" cmpd="sng" w="9525">
            <a:solidFill>
              <a:srgbClr val="0E9C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800">
                <a:solidFill>
                  <a:srgbClr val="0E9C8A"/>
                </a:solidFill>
                <a:latin typeface="Calibri"/>
                <a:ea typeface="Calibri"/>
                <a:cs typeface="Calibri"/>
                <a:sym typeface="Calibri"/>
              </a:rPr>
              <a:t>outil mémoire</a:t>
            </a:r>
            <a:endParaRPr b="1" sz="800">
              <a:solidFill>
                <a:srgbClr val="0E9C8A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 sz="600">
                <a:solidFill>
                  <a:srgbClr val="0E9C8A"/>
                </a:solidFill>
                <a:latin typeface="Calibri"/>
                <a:ea typeface="Calibri"/>
                <a:cs typeface="Calibri"/>
                <a:sym typeface="Calibri"/>
              </a:rPr>
              <a:t>(Redis + PG)</a:t>
            </a:r>
            <a:endParaRPr sz="600">
              <a:solidFill>
                <a:srgbClr val="0E9C8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0" name="Google Shape;1940;p83"/>
          <p:cNvSpPr/>
          <p:nvPr/>
        </p:nvSpPr>
        <p:spPr>
          <a:xfrm>
            <a:off x="4689144" y="2799874"/>
            <a:ext cx="1012500" cy="340800"/>
          </a:xfrm>
          <a:prstGeom prst="roundRect">
            <a:avLst>
              <a:gd fmla="val 16667" name="adj"/>
            </a:avLst>
          </a:prstGeom>
          <a:solidFill>
            <a:srgbClr val="0E9C8A">
              <a:alpha val="15999"/>
            </a:srgbClr>
          </a:solidFill>
          <a:ln cap="flat" cmpd="sng" w="9525">
            <a:solidFill>
              <a:srgbClr val="0E9C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800">
                <a:solidFill>
                  <a:srgbClr val="0E9C8A"/>
                </a:solidFill>
                <a:latin typeface="Calibri"/>
                <a:ea typeface="Calibri"/>
                <a:cs typeface="Calibri"/>
                <a:sym typeface="Calibri"/>
              </a:rPr>
              <a:t>outil web</a:t>
            </a:r>
            <a:endParaRPr b="1" sz="800">
              <a:solidFill>
                <a:srgbClr val="0E9C8A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fr" sz="600">
                <a:solidFill>
                  <a:srgbClr val="0E9C8A"/>
                </a:solidFill>
                <a:latin typeface="Calibri"/>
                <a:ea typeface="Calibri"/>
                <a:cs typeface="Calibri"/>
                <a:sym typeface="Calibri"/>
              </a:rPr>
              <a:t>(Tavily)</a:t>
            </a:r>
            <a:endParaRPr sz="600">
              <a:solidFill>
                <a:srgbClr val="0E9C8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1" name="Google Shape;1941;p83"/>
          <p:cNvSpPr/>
          <p:nvPr/>
        </p:nvSpPr>
        <p:spPr>
          <a:xfrm>
            <a:off x="3426758" y="3246355"/>
            <a:ext cx="1041900" cy="340800"/>
          </a:xfrm>
          <a:prstGeom prst="roundRect">
            <a:avLst>
              <a:gd fmla="val 16667" name="adj"/>
            </a:avLst>
          </a:prstGeom>
          <a:solidFill>
            <a:srgbClr val="0E9C8A">
              <a:alpha val="15999"/>
            </a:srgbClr>
          </a:solidFill>
          <a:ln cap="flat" cmpd="sng" w="9525">
            <a:solidFill>
              <a:srgbClr val="0E9C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fr" sz="800">
                <a:solidFill>
                  <a:srgbClr val="0E9C8A"/>
                </a:solidFill>
                <a:latin typeface="Calibri"/>
                <a:ea typeface="Calibri"/>
                <a:cs typeface="Calibri"/>
                <a:sym typeface="Calibri"/>
              </a:rPr>
              <a:t>outil géo</a:t>
            </a:r>
            <a:endParaRPr b="1" sz="800">
              <a:solidFill>
                <a:srgbClr val="0E9C8A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fr" sz="600">
                <a:solidFill>
                  <a:srgbClr val="0E9C8A"/>
                </a:solidFill>
                <a:latin typeface="Calibri"/>
                <a:ea typeface="Calibri"/>
                <a:cs typeface="Calibri"/>
                <a:sym typeface="Calibri"/>
              </a:rPr>
              <a:t>(PostGIS)</a:t>
            </a:r>
            <a:endParaRPr/>
          </a:p>
        </p:txBody>
      </p:sp>
      <p:sp>
        <p:nvSpPr>
          <p:cNvPr id="1942" name="Google Shape;1942;p83"/>
          <p:cNvSpPr/>
          <p:nvPr/>
        </p:nvSpPr>
        <p:spPr>
          <a:xfrm>
            <a:off x="6534600" y="2344650"/>
            <a:ext cx="2151300" cy="454200"/>
          </a:xfrm>
          <a:prstGeom prst="roundRect">
            <a:avLst>
              <a:gd fmla="val 6000" name="adj"/>
            </a:avLst>
          </a:prstGeom>
          <a:solidFill>
            <a:srgbClr val="674EA7">
              <a:alpha val="7999"/>
            </a:srgbClr>
          </a:solidFill>
          <a:ln cap="flat" cmpd="sng" w="9525">
            <a:solidFill>
              <a:srgbClr val="674EA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fr" sz="800">
                <a:solidFill>
                  <a:srgbClr val="674EA7"/>
                </a:solidFill>
                <a:latin typeface="Calibri"/>
                <a:ea typeface="Calibri"/>
                <a:cs typeface="Calibri"/>
                <a:sym typeface="Calibri"/>
              </a:rPr>
              <a:t>Langfuse</a:t>
            </a:r>
            <a:endParaRPr b="1" sz="800">
              <a:solidFill>
                <a:srgbClr val="674EA7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fr" sz="600">
                <a:solidFill>
                  <a:srgbClr val="674EA7"/>
                </a:solidFill>
                <a:latin typeface="Calibri"/>
                <a:ea typeface="Calibri"/>
                <a:cs typeface="Calibri"/>
                <a:sym typeface="Calibri"/>
              </a:rPr>
              <a:t>observabilité RAG</a:t>
            </a:r>
            <a:endParaRPr sz="600">
              <a:solidFill>
                <a:srgbClr val="674EA7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fr" sz="600">
                <a:solidFill>
                  <a:srgbClr val="674EA7"/>
                </a:solidFill>
                <a:latin typeface="Calibri"/>
                <a:ea typeface="Calibri"/>
                <a:cs typeface="Calibri"/>
                <a:sym typeface="Calibri"/>
              </a:rPr>
              <a:t>qualité . coût . feedback</a:t>
            </a:r>
            <a:endParaRPr sz="600">
              <a:solidFill>
                <a:srgbClr val="674EA7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3" name="Google Shape;1943;p83"/>
          <p:cNvSpPr/>
          <p:nvPr/>
        </p:nvSpPr>
        <p:spPr>
          <a:xfrm>
            <a:off x="2967450" y="4523300"/>
            <a:ext cx="3209100" cy="329700"/>
          </a:xfrm>
          <a:prstGeom prst="roundRect">
            <a:avLst>
              <a:gd fmla="val 16667" name="adj"/>
            </a:avLst>
          </a:prstGeom>
          <a:solidFill>
            <a:srgbClr val="F4F4F5"/>
          </a:solidFill>
          <a:ln cap="flat" cmpd="sng" w="9525">
            <a:solidFill>
              <a:srgbClr val="222A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800">
                <a:solidFill>
                  <a:srgbClr val="222A3A"/>
                </a:solidFill>
                <a:latin typeface="Calibri"/>
                <a:ea typeface="Calibri"/>
                <a:cs typeface="Calibri"/>
                <a:sym typeface="Calibri"/>
              </a:rPr>
              <a:t>frontend web / Utilisateurs</a:t>
            </a:r>
            <a:endParaRPr b="1" sz="800">
              <a:solidFill>
                <a:srgbClr val="222A3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4" name="Google Shape;1944;p83"/>
          <p:cNvSpPr txBox="1"/>
          <p:nvPr/>
        </p:nvSpPr>
        <p:spPr>
          <a:xfrm>
            <a:off x="4586100" y="4275550"/>
            <a:ext cx="1090200" cy="20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 sz="600">
                <a:solidFill>
                  <a:srgbClr val="F4F4F5"/>
                </a:solidFill>
                <a:latin typeface="Calibri"/>
                <a:ea typeface="Calibri"/>
                <a:cs typeface="Calibri"/>
                <a:sym typeface="Calibri"/>
              </a:rPr>
              <a:t>question ⇒ / réponse SSE ⇐</a:t>
            </a:r>
            <a:endParaRPr sz="600">
              <a:solidFill>
                <a:srgbClr val="F4F4F5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 sz="600">
                <a:solidFill>
                  <a:srgbClr val="F4F4F5"/>
                </a:solidFill>
                <a:latin typeface="Calibri"/>
                <a:ea typeface="Calibri"/>
                <a:cs typeface="Calibri"/>
                <a:sym typeface="Calibri"/>
              </a:rPr>
              <a:t>(HTTPS/SSE)</a:t>
            </a:r>
            <a:endParaRPr sz="600">
              <a:solidFill>
                <a:srgbClr val="F4F4F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945" name="Google Shape;1945;p83"/>
          <p:cNvCxnSpPr>
            <a:endCxn id="1931" idx="0"/>
          </p:cNvCxnSpPr>
          <p:nvPr/>
        </p:nvCxnSpPr>
        <p:spPr>
          <a:xfrm flipH="1">
            <a:off x="1365219" y="1511925"/>
            <a:ext cx="2100" cy="319200"/>
          </a:xfrm>
          <a:prstGeom prst="straightConnector1">
            <a:avLst/>
          </a:prstGeom>
          <a:noFill/>
          <a:ln cap="flat" cmpd="sng" w="9525">
            <a:solidFill>
              <a:srgbClr val="923E2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946" name="Google Shape;1946;p83"/>
          <p:cNvCxnSpPr>
            <a:stCxn id="1931" idx="3"/>
            <a:endCxn id="1929" idx="1"/>
          </p:cNvCxnSpPr>
          <p:nvPr/>
        </p:nvCxnSpPr>
        <p:spPr>
          <a:xfrm flipH="1" rot="10800000">
            <a:off x="2154219" y="1240275"/>
            <a:ext cx="1274700" cy="770700"/>
          </a:xfrm>
          <a:prstGeom prst="curvedConnector3">
            <a:avLst>
              <a:gd fmla="val 50003" name="adj1"/>
            </a:avLst>
          </a:prstGeom>
          <a:noFill/>
          <a:ln cap="flat" cmpd="sng" w="9525">
            <a:solidFill>
              <a:srgbClr val="923E22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1947" name="Google Shape;1947;p83"/>
          <p:cNvCxnSpPr>
            <a:stCxn id="1931" idx="2"/>
            <a:endCxn id="1932" idx="0"/>
          </p:cNvCxnSpPr>
          <p:nvPr/>
        </p:nvCxnSpPr>
        <p:spPr>
          <a:xfrm flipH="1">
            <a:off x="1351119" y="2190825"/>
            <a:ext cx="14100" cy="159600"/>
          </a:xfrm>
          <a:prstGeom prst="straightConnector1">
            <a:avLst/>
          </a:prstGeom>
          <a:noFill/>
          <a:ln cap="flat" cmpd="sng" w="9525">
            <a:solidFill>
              <a:srgbClr val="923E2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948" name="Google Shape;1948;p83"/>
          <p:cNvCxnSpPr>
            <a:stCxn id="1937" idx="1"/>
            <a:endCxn id="1932" idx="3"/>
          </p:cNvCxnSpPr>
          <p:nvPr/>
        </p:nvCxnSpPr>
        <p:spPr>
          <a:xfrm rot="10800000">
            <a:off x="2140258" y="2611175"/>
            <a:ext cx="1291200" cy="359100"/>
          </a:xfrm>
          <a:prstGeom prst="curvedConnector3">
            <a:avLst>
              <a:gd fmla="val 50005" name="adj1"/>
            </a:avLst>
          </a:prstGeom>
          <a:noFill/>
          <a:ln cap="flat" cmpd="sng" w="9525">
            <a:solidFill>
              <a:srgbClr val="0E9C8A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949" name="Google Shape;1949;p83"/>
          <p:cNvCxnSpPr>
            <a:stCxn id="1939" idx="3"/>
            <a:endCxn id="1933" idx="3"/>
          </p:cNvCxnSpPr>
          <p:nvPr/>
        </p:nvCxnSpPr>
        <p:spPr>
          <a:xfrm rot="10800000">
            <a:off x="2140042" y="3182150"/>
            <a:ext cx="3577200" cy="234600"/>
          </a:xfrm>
          <a:prstGeom prst="curvedConnector5">
            <a:avLst>
              <a:gd fmla="val -1538" name="adj1"/>
              <a:gd fmla="val -227526" name="adj2"/>
              <a:gd fmla="val 77179" name="adj3"/>
            </a:avLst>
          </a:prstGeom>
          <a:noFill/>
          <a:ln cap="flat" cmpd="sng" w="9525">
            <a:solidFill>
              <a:srgbClr val="0E9C8A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950" name="Google Shape;1950;p83"/>
          <p:cNvCxnSpPr>
            <a:stCxn id="1942" idx="1"/>
            <a:endCxn id="1935" idx="3"/>
          </p:cNvCxnSpPr>
          <p:nvPr/>
        </p:nvCxnSpPr>
        <p:spPr>
          <a:xfrm flipH="1">
            <a:off x="5909700" y="2571750"/>
            <a:ext cx="624900" cy="415200"/>
          </a:xfrm>
          <a:prstGeom prst="curvedConnector3">
            <a:avLst>
              <a:gd fmla="val 50000" name="adj1"/>
            </a:avLst>
          </a:prstGeom>
          <a:noFill/>
          <a:ln cap="flat" cmpd="sng" w="9525">
            <a:solidFill>
              <a:srgbClr val="674EA7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1951" name="Google Shape;1951;p83"/>
          <p:cNvCxnSpPr>
            <a:stCxn id="1931" idx="1"/>
            <a:endCxn id="1934" idx="1"/>
          </p:cNvCxnSpPr>
          <p:nvPr/>
        </p:nvCxnSpPr>
        <p:spPr>
          <a:xfrm flipH="1">
            <a:off x="562119" y="2010975"/>
            <a:ext cx="14100" cy="1633200"/>
          </a:xfrm>
          <a:prstGeom prst="curvedConnector3">
            <a:avLst>
              <a:gd fmla="val 1788788" name="adj1"/>
            </a:avLst>
          </a:prstGeom>
          <a:noFill/>
          <a:ln cap="flat" cmpd="sng" w="9525">
            <a:solidFill>
              <a:srgbClr val="923E2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952" name="Google Shape;1952;p83"/>
          <p:cNvCxnSpPr>
            <a:stCxn id="1940" idx="3"/>
            <a:endCxn id="1930" idx="1"/>
          </p:cNvCxnSpPr>
          <p:nvPr/>
        </p:nvCxnSpPr>
        <p:spPr>
          <a:xfrm flipH="1" rot="10800000">
            <a:off x="5701644" y="1241074"/>
            <a:ext cx="765600" cy="1729200"/>
          </a:xfrm>
          <a:prstGeom prst="curvedConnector3">
            <a:avLst>
              <a:gd fmla="val 49991" name="adj1"/>
            </a:avLst>
          </a:prstGeom>
          <a:noFill/>
          <a:ln cap="flat" cmpd="sng" w="9525">
            <a:solidFill>
              <a:srgbClr val="0E9C8A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953" name="Google Shape;1953;p83"/>
          <p:cNvSpPr txBox="1"/>
          <p:nvPr/>
        </p:nvSpPr>
        <p:spPr>
          <a:xfrm>
            <a:off x="21775" y="2444838"/>
            <a:ext cx="399300" cy="12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 sz="600">
                <a:solidFill>
                  <a:srgbClr val="923E22"/>
                </a:solidFill>
                <a:latin typeface="Calibri"/>
                <a:ea typeface="Calibri"/>
                <a:cs typeface="Calibri"/>
                <a:sym typeface="Calibri"/>
              </a:rPr>
              <a:t>dump</a:t>
            </a:r>
            <a:endParaRPr sz="600">
              <a:solidFill>
                <a:srgbClr val="923E2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4" name="Google Shape;1954;p83"/>
          <p:cNvSpPr txBox="1"/>
          <p:nvPr/>
        </p:nvSpPr>
        <p:spPr>
          <a:xfrm>
            <a:off x="1310800" y="2206363"/>
            <a:ext cx="399300" cy="12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 sz="600">
                <a:solidFill>
                  <a:srgbClr val="923E22"/>
                </a:solidFill>
                <a:latin typeface="Calibri"/>
                <a:ea typeface="Calibri"/>
                <a:cs typeface="Calibri"/>
                <a:sym typeface="Calibri"/>
              </a:rPr>
              <a:t>upsert</a:t>
            </a:r>
            <a:endParaRPr sz="600">
              <a:solidFill>
                <a:srgbClr val="923E2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5" name="Google Shape;1955;p83"/>
          <p:cNvSpPr txBox="1"/>
          <p:nvPr/>
        </p:nvSpPr>
        <p:spPr>
          <a:xfrm>
            <a:off x="1290360" y="1518088"/>
            <a:ext cx="582600" cy="12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 sz="600">
                <a:solidFill>
                  <a:srgbClr val="923E22"/>
                </a:solidFill>
                <a:latin typeface="Calibri"/>
                <a:ea typeface="Calibri"/>
                <a:cs typeface="Calibri"/>
                <a:sym typeface="Calibri"/>
              </a:rPr>
              <a:t>événements</a:t>
            </a:r>
            <a:endParaRPr sz="600">
              <a:solidFill>
                <a:srgbClr val="923E2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6" name="Google Shape;1956;p83"/>
          <p:cNvSpPr txBox="1"/>
          <p:nvPr/>
        </p:nvSpPr>
        <p:spPr>
          <a:xfrm>
            <a:off x="2517323" y="1775063"/>
            <a:ext cx="582600" cy="12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 sz="600">
                <a:solidFill>
                  <a:srgbClr val="923E22"/>
                </a:solidFill>
                <a:latin typeface="Calibri"/>
                <a:ea typeface="Calibri"/>
                <a:cs typeface="Calibri"/>
                <a:sym typeface="Calibri"/>
              </a:rPr>
              <a:t>embeddings</a:t>
            </a:r>
            <a:endParaRPr sz="600">
              <a:solidFill>
                <a:srgbClr val="923E2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7" name="Google Shape;1957;p83"/>
          <p:cNvSpPr txBox="1"/>
          <p:nvPr/>
        </p:nvSpPr>
        <p:spPr>
          <a:xfrm>
            <a:off x="2619046" y="2657541"/>
            <a:ext cx="486300" cy="12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 sz="600">
                <a:solidFill>
                  <a:srgbClr val="0E9C8A"/>
                </a:solidFill>
                <a:latin typeface="Calibri"/>
                <a:ea typeface="Calibri"/>
                <a:cs typeface="Calibri"/>
                <a:sym typeface="Calibri"/>
              </a:rPr>
              <a:t>retrieval</a:t>
            </a:r>
            <a:endParaRPr sz="600">
              <a:solidFill>
                <a:srgbClr val="0E9C8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8" name="Google Shape;1958;p83"/>
          <p:cNvSpPr txBox="1"/>
          <p:nvPr/>
        </p:nvSpPr>
        <p:spPr>
          <a:xfrm>
            <a:off x="6176100" y="2745525"/>
            <a:ext cx="358500" cy="12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 sz="600">
                <a:solidFill>
                  <a:srgbClr val="674EA7"/>
                </a:solidFill>
                <a:latin typeface="Calibri"/>
                <a:ea typeface="Calibri"/>
                <a:cs typeface="Calibri"/>
                <a:sym typeface="Calibri"/>
              </a:rPr>
              <a:t>trace</a:t>
            </a:r>
            <a:endParaRPr sz="600">
              <a:solidFill>
                <a:srgbClr val="674EA7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9" name="Google Shape;1959;p83"/>
          <p:cNvSpPr txBox="1"/>
          <p:nvPr/>
        </p:nvSpPr>
        <p:spPr>
          <a:xfrm>
            <a:off x="283150" y="3953488"/>
            <a:ext cx="2454600" cy="23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1000">
                <a:solidFill>
                  <a:srgbClr val="B07BC2"/>
                </a:solidFill>
                <a:latin typeface="Calibri"/>
                <a:ea typeface="Calibri"/>
                <a:cs typeface="Calibri"/>
                <a:sym typeface="Calibri"/>
              </a:rPr>
              <a:t>SCALEWAY</a:t>
            </a:r>
            <a:r>
              <a:rPr lang="fr" sz="800">
                <a:solidFill>
                  <a:srgbClr val="B07BC2"/>
                </a:solidFill>
                <a:latin typeface="Calibri"/>
                <a:ea typeface="Calibri"/>
                <a:cs typeface="Calibri"/>
                <a:sym typeface="Calibri"/>
              </a:rPr>
              <a:t> - cloud souverain (UE, hors CLOUD Act) </a:t>
            </a:r>
            <a:endParaRPr sz="800">
              <a:solidFill>
                <a:srgbClr val="B07BC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0" name="Google Shape;1960;p83"/>
          <p:cNvSpPr/>
          <p:nvPr/>
        </p:nvSpPr>
        <p:spPr>
          <a:xfrm>
            <a:off x="7068700" y="4409050"/>
            <a:ext cx="144600" cy="72900"/>
          </a:xfrm>
          <a:prstGeom prst="roundRect">
            <a:avLst>
              <a:gd fmla="val 16667" name="adj"/>
            </a:avLst>
          </a:prstGeom>
          <a:solidFill>
            <a:srgbClr val="9CA3AF">
              <a:alpha val="6960"/>
            </a:srgbClr>
          </a:solidFill>
          <a:ln cap="flat" cmpd="sng" w="9525">
            <a:solidFill>
              <a:srgbClr val="9CA3A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1" name="Google Shape;1961;p83"/>
          <p:cNvSpPr/>
          <p:nvPr/>
        </p:nvSpPr>
        <p:spPr>
          <a:xfrm>
            <a:off x="7068700" y="4550067"/>
            <a:ext cx="144600" cy="72900"/>
          </a:xfrm>
          <a:prstGeom prst="roundRect">
            <a:avLst>
              <a:gd fmla="val 16667" name="adj"/>
            </a:avLst>
          </a:prstGeom>
          <a:solidFill>
            <a:srgbClr val="923E22">
              <a:alpha val="7999"/>
            </a:srgbClr>
          </a:solidFill>
          <a:ln cap="flat" cmpd="sng" w="9525">
            <a:solidFill>
              <a:srgbClr val="923E2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2" name="Google Shape;1962;p83"/>
          <p:cNvSpPr/>
          <p:nvPr/>
        </p:nvSpPr>
        <p:spPr>
          <a:xfrm>
            <a:off x="7068700" y="4962200"/>
            <a:ext cx="144600" cy="72900"/>
          </a:xfrm>
          <a:prstGeom prst="roundRect">
            <a:avLst>
              <a:gd fmla="val 16667" name="adj"/>
            </a:avLst>
          </a:prstGeom>
          <a:solidFill>
            <a:srgbClr val="674EA7">
              <a:alpha val="7999"/>
            </a:srgbClr>
          </a:solidFill>
          <a:ln cap="flat" cmpd="sng" w="9525">
            <a:solidFill>
              <a:srgbClr val="674EA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3" name="Google Shape;1963;p83"/>
          <p:cNvSpPr/>
          <p:nvPr/>
        </p:nvSpPr>
        <p:spPr>
          <a:xfrm>
            <a:off x="7068700" y="4691085"/>
            <a:ext cx="144600" cy="72900"/>
          </a:xfrm>
          <a:prstGeom prst="roundRect">
            <a:avLst>
              <a:gd fmla="val 16667" name="adj"/>
            </a:avLst>
          </a:prstGeom>
          <a:solidFill>
            <a:srgbClr val="0000FF">
              <a:alpha val="14000"/>
            </a:srgbClr>
          </a:solidFill>
          <a:ln cap="flat" cmpd="sng" w="9525">
            <a:solidFill>
              <a:srgbClr val="00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4" name="Google Shape;1964;p83"/>
          <p:cNvSpPr/>
          <p:nvPr/>
        </p:nvSpPr>
        <p:spPr>
          <a:xfrm>
            <a:off x="7068700" y="4825177"/>
            <a:ext cx="144600" cy="72900"/>
          </a:xfrm>
          <a:prstGeom prst="roundRect">
            <a:avLst>
              <a:gd fmla="val 16667" name="adj"/>
            </a:avLst>
          </a:prstGeom>
          <a:solidFill>
            <a:srgbClr val="0E9C8A">
              <a:alpha val="15999"/>
            </a:srgbClr>
          </a:solidFill>
          <a:ln cap="flat" cmpd="sng" w="9525">
            <a:solidFill>
              <a:srgbClr val="0E9C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965" name="Google Shape;1965;p83"/>
          <p:cNvCxnSpPr>
            <a:endCxn id="1935" idx="2"/>
          </p:cNvCxnSpPr>
          <p:nvPr/>
        </p:nvCxnSpPr>
        <p:spPr>
          <a:xfrm rot="10800000">
            <a:off x="4572000" y="4115900"/>
            <a:ext cx="14100" cy="410100"/>
          </a:xfrm>
          <a:prstGeom prst="straightConnector1">
            <a:avLst/>
          </a:prstGeom>
          <a:noFill/>
          <a:ln cap="flat" cmpd="sng" w="9525">
            <a:solidFill>
              <a:srgbClr val="F4F4F5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966" name="Google Shape;1966;p83"/>
          <p:cNvCxnSpPr>
            <a:stCxn id="1941" idx="1"/>
            <a:endCxn id="1932" idx="3"/>
          </p:cNvCxnSpPr>
          <p:nvPr/>
        </p:nvCxnSpPr>
        <p:spPr>
          <a:xfrm rot="10800000">
            <a:off x="2140058" y="2611255"/>
            <a:ext cx="1286700" cy="805500"/>
          </a:xfrm>
          <a:prstGeom prst="curvedConnector3">
            <a:avLst>
              <a:gd fmla="val 44646" name="adj1"/>
            </a:avLst>
          </a:prstGeom>
          <a:noFill/>
          <a:ln cap="flat" cmpd="sng" w="9525">
            <a:solidFill>
              <a:srgbClr val="0E9C8A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967" name="Google Shape;1967;p83"/>
          <p:cNvCxnSpPr>
            <a:stCxn id="1939" idx="2"/>
            <a:endCxn id="1932" idx="3"/>
          </p:cNvCxnSpPr>
          <p:nvPr/>
        </p:nvCxnSpPr>
        <p:spPr>
          <a:xfrm flipH="1" rot="5400000">
            <a:off x="3187642" y="1563800"/>
            <a:ext cx="975900" cy="3070800"/>
          </a:xfrm>
          <a:prstGeom prst="curvedConnector4">
            <a:avLst>
              <a:gd fmla="val -24401" name="adj1"/>
              <a:gd fmla="val 77150" name="adj2"/>
            </a:avLst>
          </a:prstGeom>
          <a:noFill/>
          <a:ln cap="flat" cmpd="sng" w="9525">
            <a:solidFill>
              <a:srgbClr val="0E9C8A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968" name="Google Shape;1968;p83"/>
          <p:cNvSpPr txBox="1"/>
          <p:nvPr/>
        </p:nvSpPr>
        <p:spPr>
          <a:xfrm>
            <a:off x="3979391" y="3716668"/>
            <a:ext cx="582600" cy="12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 sz="600">
                <a:solidFill>
                  <a:srgbClr val="0E9C8A"/>
                </a:solidFill>
                <a:latin typeface="Calibri"/>
                <a:ea typeface="Calibri"/>
                <a:cs typeface="Calibri"/>
                <a:sym typeface="Calibri"/>
              </a:rPr>
              <a:t>mémoire LT</a:t>
            </a:r>
            <a:endParaRPr sz="600">
              <a:solidFill>
                <a:srgbClr val="0E9C8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9" name="Google Shape;1969;p83"/>
          <p:cNvSpPr txBox="1"/>
          <p:nvPr/>
        </p:nvSpPr>
        <p:spPr>
          <a:xfrm>
            <a:off x="4008429" y="3932876"/>
            <a:ext cx="569700" cy="12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 sz="600">
                <a:solidFill>
                  <a:srgbClr val="0E9C8A"/>
                </a:solidFill>
                <a:latin typeface="Calibri"/>
                <a:ea typeface="Calibri"/>
                <a:cs typeface="Calibri"/>
                <a:sym typeface="Calibri"/>
              </a:rPr>
              <a:t>mémoire CT</a:t>
            </a:r>
            <a:endParaRPr sz="600">
              <a:solidFill>
                <a:srgbClr val="0E9C8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0" name="Google Shape;1970;p83"/>
          <p:cNvSpPr txBox="1"/>
          <p:nvPr/>
        </p:nvSpPr>
        <p:spPr>
          <a:xfrm>
            <a:off x="2780476" y="2950552"/>
            <a:ext cx="358500" cy="12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 sz="600">
                <a:solidFill>
                  <a:srgbClr val="0E9C8A"/>
                </a:solidFill>
                <a:latin typeface="Calibri"/>
                <a:ea typeface="Calibri"/>
                <a:cs typeface="Calibri"/>
                <a:sym typeface="Calibri"/>
              </a:rPr>
              <a:t>géo</a:t>
            </a:r>
            <a:endParaRPr sz="600">
              <a:solidFill>
                <a:srgbClr val="0E9C8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971" name="Google Shape;1971;p83"/>
          <p:cNvCxnSpPr>
            <a:stCxn id="1936" idx="3"/>
            <a:endCxn id="1929" idx="3"/>
          </p:cNvCxnSpPr>
          <p:nvPr/>
        </p:nvCxnSpPr>
        <p:spPr>
          <a:xfrm flipH="1" rot="10800000">
            <a:off x="5701758" y="1240100"/>
            <a:ext cx="13200" cy="1193400"/>
          </a:xfrm>
          <a:prstGeom prst="curvedConnector3">
            <a:avLst>
              <a:gd fmla="val 1217172" name="adj1"/>
            </a:avLst>
          </a:prstGeom>
          <a:noFill/>
          <a:ln cap="flat" cmpd="sng" w="9525">
            <a:solidFill>
              <a:srgbClr val="0E9C8A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972" name="Google Shape;1972;p83"/>
          <p:cNvSpPr txBox="1"/>
          <p:nvPr/>
        </p:nvSpPr>
        <p:spPr>
          <a:xfrm>
            <a:off x="4955400" y="1502475"/>
            <a:ext cx="901500" cy="15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 sz="600">
                <a:solidFill>
                  <a:srgbClr val="0E9C8A"/>
                </a:solidFill>
                <a:latin typeface="Calibri"/>
                <a:ea typeface="Calibri"/>
                <a:cs typeface="Calibri"/>
                <a:sym typeface="Calibri"/>
              </a:rPr>
              <a:t>prompt ⇒ / réponse ⇐</a:t>
            </a:r>
            <a:endParaRPr sz="600">
              <a:solidFill>
                <a:srgbClr val="0E9C8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3" name="Google Shape;1973;p83"/>
          <p:cNvSpPr txBox="1"/>
          <p:nvPr/>
        </p:nvSpPr>
        <p:spPr>
          <a:xfrm>
            <a:off x="7232825" y="4367250"/>
            <a:ext cx="1755600" cy="68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600">
                <a:solidFill>
                  <a:srgbClr val="8A93A6"/>
                </a:solidFill>
                <a:latin typeface="Calibri"/>
                <a:ea typeface="Calibri"/>
                <a:cs typeface="Calibri"/>
                <a:sym typeface="Calibri"/>
              </a:rPr>
              <a:t>Sources externes</a:t>
            </a:r>
            <a:endParaRPr sz="600">
              <a:solidFill>
                <a:srgbClr val="8A93A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600">
                <a:solidFill>
                  <a:srgbClr val="8A93A6"/>
                </a:solidFill>
                <a:latin typeface="Calibri"/>
                <a:ea typeface="Calibri"/>
                <a:cs typeface="Calibri"/>
                <a:sym typeface="Calibri"/>
              </a:rPr>
              <a:t>Ingestion (Kestra)</a:t>
            </a:r>
            <a:endParaRPr sz="600">
              <a:solidFill>
                <a:srgbClr val="8A93A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600">
                <a:solidFill>
                  <a:srgbClr val="8A93A6"/>
                </a:solidFill>
                <a:latin typeface="Calibri"/>
                <a:ea typeface="Calibri"/>
                <a:cs typeface="Calibri"/>
                <a:sym typeface="Calibri"/>
              </a:rPr>
              <a:t>Stockage (PostgreSQL / Redis / Object storage)</a:t>
            </a:r>
            <a:endParaRPr sz="600">
              <a:solidFill>
                <a:srgbClr val="8A93A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600">
                <a:solidFill>
                  <a:srgbClr val="8A93A6"/>
                </a:solidFill>
                <a:latin typeface="Calibri"/>
                <a:ea typeface="Calibri"/>
                <a:cs typeface="Calibri"/>
                <a:sym typeface="Calibri"/>
              </a:rPr>
              <a:t>Applications (API + agent)</a:t>
            </a:r>
            <a:endParaRPr sz="600">
              <a:solidFill>
                <a:srgbClr val="8A93A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600">
                <a:solidFill>
                  <a:srgbClr val="8A93A6"/>
                </a:solidFill>
                <a:latin typeface="Calibri"/>
                <a:ea typeface="Calibri"/>
                <a:cs typeface="Calibri"/>
                <a:sym typeface="Calibri"/>
              </a:rPr>
              <a:t>Observabilité</a:t>
            </a:r>
            <a:endParaRPr sz="600">
              <a:solidFill>
                <a:srgbClr val="8A93A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4" name="Google Shape;1974;p83"/>
          <p:cNvSpPr txBox="1"/>
          <p:nvPr/>
        </p:nvSpPr>
        <p:spPr>
          <a:xfrm>
            <a:off x="377200" y="233175"/>
            <a:ext cx="2286900" cy="45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9050" lIns="0" spcFirstLastPara="1" rIns="0" wrap="square" tIns="190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1800">
                <a:solidFill>
                  <a:srgbClr val="0E9C8A"/>
                </a:solidFill>
                <a:latin typeface="Calibri"/>
                <a:ea typeface="Calibri"/>
                <a:cs typeface="Calibri"/>
                <a:sym typeface="Calibri"/>
              </a:rPr>
              <a:t>L’architecture du MVP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79" name="Shape 19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0" name="Google Shape;1980;p84"/>
          <p:cNvSpPr txBox="1"/>
          <p:nvPr/>
        </p:nvSpPr>
        <p:spPr>
          <a:xfrm>
            <a:off x="377200" y="675550"/>
            <a:ext cx="26754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9050" lIns="0" spcFirstLastPara="1" rIns="0" wrap="square" tIns="190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1100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Architecture MVP - chatbot RAG Puls-EVents</a:t>
            </a:r>
            <a:endParaRPr b="1" sz="1100">
              <a:solidFill>
                <a:srgbClr val="9CA3A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1" name="Google Shape;1981;p84"/>
          <p:cNvSpPr txBox="1"/>
          <p:nvPr/>
        </p:nvSpPr>
        <p:spPr>
          <a:xfrm>
            <a:off x="377200" y="4945850"/>
            <a:ext cx="999000" cy="166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700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MVP RAG Puls-Events</a:t>
            </a:r>
            <a:endParaRPr sz="700">
              <a:solidFill>
                <a:srgbClr val="9CA3A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2" name="Google Shape;1982;p84"/>
          <p:cNvSpPr/>
          <p:nvPr/>
        </p:nvSpPr>
        <p:spPr>
          <a:xfrm>
            <a:off x="64125" y="1631700"/>
            <a:ext cx="8941200" cy="2605500"/>
          </a:xfrm>
          <a:prstGeom prst="roundRect">
            <a:avLst>
              <a:gd fmla="val 6000" name="adj"/>
            </a:avLst>
          </a:prstGeom>
          <a:noFill/>
          <a:ln cap="flat" cmpd="sng" w="9525">
            <a:solidFill>
              <a:srgbClr val="B07BC2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3" name="Google Shape;1983;p84"/>
          <p:cNvSpPr/>
          <p:nvPr/>
        </p:nvSpPr>
        <p:spPr>
          <a:xfrm>
            <a:off x="499800" y="980277"/>
            <a:ext cx="2286000" cy="521400"/>
          </a:xfrm>
          <a:prstGeom prst="roundRect">
            <a:avLst>
              <a:gd fmla="val 16667" name="adj"/>
            </a:avLst>
          </a:prstGeom>
          <a:solidFill>
            <a:srgbClr val="9CA3AF">
              <a:alpha val="6960"/>
            </a:srgbClr>
          </a:solidFill>
          <a:ln cap="flat" cmpd="sng" w="12700">
            <a:solidFill>
              <a:srgbClr val="9CA3A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6575" lIns="91425" spcFirstLastPara="1" rIns="73150" wrap="square" tIns="365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800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Opendatasoft API</a:t>
            </a:r>
            <a:endParaRPr b="1" sz="800">
              <a:solidFill>
                <a:srgbClr val="9CA3A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600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events Open Agenda</a:t>
            </a:r>
            <a:endParaRPr b="1" sz="600">
              <a:solidFill>
                <a:srgbClr val="9CA3A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4" name="Google Shape;1984;p84"/>
          <p:cNvSpPr/>
          <p:nvPr/>
        </p:nvSpPr>
        <p:spPr>
          <a:xfrm>
            <a:off x="3429000" y="979502"/>
            <a:ext cx="2286000" cy="521400"/>
          </a:xfrm>
          <a:prstGeom prst="roundRect">
            <a:avLst>
              <a:gd fmla="val 16667" name="adj"/>
            </a:avLst>
          </a:prstGeom>
          <a:solidFill>
            <a:srgbClr val="9CA3AF">
              <a:alpha val="6960"/>
            </a:srgbClr>
          </a:solidFill>
          <a:ln cap="flat" cmpd="sng" w="12700">
            <a:solidFill>
              <a:srgbClr val="9CA3A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6575" lIns="91425" spcFirstLastPara="1" rIns="73150" wrap="square" tIns="365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800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Mistral API (UE)</a:t>
            </a:r>
            <a:endParaRPr b="1" sz="800">
              <a:solidFill>
                <a:srgbClr val="9CA3A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600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embeddings + LLM</a:t>
            </a:r>
            <a:endParaRPr b="1" sz="600">
              <a:solidFill>
                <a:srgbClr val="9CA3A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5" name="Google Shape;1985;p84"/>
          <p:cNvSpPr/>
          <p:nvPr/>
        </p:nvSpPr>
        <p:spPr>
          <a:xfrm>
            <a:off x="6467100" y="980264"/>
            <a:ext cx="2286000" cy="521400"/>
          </a:xfrm>
          <a:prstGeom prst="roundRect">
            <a:avLst>
              <a:gd fmla="val 16667" name="adj"/>
            </a:avLst>
          </a:prstGeom>
          <a:solidFill>
            <a:srgbClr val="9CA3AF">
              <a:alpha val="6960"/>
            </a:srgbClr>
          </a:solidFill>
          <a:ln cap="flat" cmpd="sng" w="12700">
            <a:solidFill>
              <a:srgbClr val="9CA3A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6575" lIns="91425" spcFirstLastPara="1" rIns="73150" wrap="square" tIns="365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800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Recherche web</a:t>
            </a:r>
            <a:endParaRPr b="1" sz="800">
              <a:solidFill>
                <a:srgbClr val="9CA3A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600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(Tavily)</a:t>
            </a:r>
            <a:endParaRPr b="1" sz="600">
              <a:solidFill>
                <a:srgbClr val="9CA3A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6" name="Google Shape;1986;p84"/>
          <p:cNvSpPr/>
          <p:nvPr/>
        </p:nvSpPr>
        <p:spPr>
          <a:xfrm>
            <a:off x="576219" y="1831125"/>
            <a:ext cx="1578000" cy="359700"/>
          </a:xfrm>
          <a:prstGeom prst="roundRect">
            <a:avLst>
              <a:gd fmla="val 16667" name="adj"/>
            </a:avLst>
          </a:prstGeom>
          <a:solidFill>
            <a:srgbClr val="923E22">
              <a:alpha val="7999"/>
            </a:srgbClr>
          </a:solidFill>
          <a:ln cap="flat" cmpd="sng" w="9525">
            <a:solidFill>
              <a:srgbClr val="923E2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800">
                <a:solidFill>
                  <a:srgbClr val="923E22"/>
                </a:solidFill>
                <a:latin typeface="Calibri"/>
                <a:ea typeface="Calibri"/>
                <a:cs typeface="Calibri"/>
                <a:sym typeface="Calibri"/>
              </a:rPr>
              <a:t>Kestra</a:t>
            </a:r>
            <a:r>
              <a:rPr lang="fr" sz="600">
                <a:solidFill>
                  <a:srgbClr val="923E22"/>
                </a:solidFill>
                <a:latin typeface="Calibri"/>
                <a:ea typeface="Calibri"/>
                <a:cs typeface="Calibri"/>
                <a:sym typeface="Calibri"/>
              </a:rPr>
              <a:t> - ingestion planifiée</a:t>
            </a:r>
            <a:endParaRPr sz="600">
              <a:solidFill>
                <a:srgbClr val="923E2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 sz="600">
                <a:solidFill>
                  <a:srgbClr val="923E22"/>
                </a:solidFill>
                <a:latin typeface="Calibri"/>
                <a:ea typeface="Calibri"/>
                <a:cs typeface="Calibri"/>
                <a:sym typeface="Calibri"/>
              </a:rPr>
              <a:t>fetch ⇒ clean ⇒ embed ⇒ upsert</a:t>
            </a:r>
            <a:endParaRPr sz="600">
              <a:solidFill>
                <a:srgbClr val="923E2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7" name="Google Shape;1987;p84"/>
          <p:cNvSpPr/>
          <p:nvPr/>
        </p:nvSpPr>
        <p:spPr>
          <a:xfrm>
            <a:off x="562125" y="2350491"/>
            <a:ext cx="1578000" cy="521400"/>
          </a:xfrm>
          <a:prstGeom prst="roundRect">
            <a:avLst>
              <a:gd fmla="val 16667" name="adj"/>
            </a:avLst>
          </a:prstGeom>
          <a:solidFill>
            <a:srgbClr val="0000FF">
              <a:alpha val="14000"/>
            </a:srgbClr>
          </a:solidFill>
          <a:ln cap="flat" cmpd="sng" w="9525">
            <a:solidFill>
              <a:srgbClr val="00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800">
                <a:solidFill>
                  <a:srgbClr val="3C78D8"/>
                </a:solidFill>
                <a:latin typeface="Calibri"/>
                <a:ea typeface="Calibri"/>
                <a:cs typeface="Calibri"/>
                <a:sym typeface="Calibri"/>
              </a:rPr>
              <a:t>Managed PostgreSQL</a:t>
            </a:r>
            <a:endParaRPr b="1" sz="800">
              <a:solidFill>
                <a:srgbClr val="3C78D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66700" lvl="0" marL="457200" rtl="0" algn="l">
              <a:spcBef>
                <a:spcPts val="0"/>
              </a:spcBef>
              <a:spcAft>
                <a:spcPts val="0"/>
              </a:spcAft>
              <a:buClr>
                <a:srgbClr val="3C78D8"/>
              </a:buClr>
              <a:buSzPts val="600"/>
              <a:buFont typeface="Calibri"/>
              <a:buChar char="●"/>
            </a:pPr>
            <a:r>
              <a:rPr lang="fr" sz="600">
                <a:solidFill>
                  <a:srgbClr val="3C78D8"/>
                </a:solidFill>
                <a:latin typeface="Calibri"/>
                <a:ea typeface="Calibri"/>
                <a:cs typeface="Calibri"/>
                <a:sym typeface="Calibri"/>
              </a:rPr>
              <a:t>pgvector (embeddings)</a:t>
            </a:r>
            <a:endParaRPr sz="600">
              <a:solidFill>
                <a:srgbClr val="3C78D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66700" lvl="0" marL="457200" rtl="0" algn="l">
              <a:spcBef>
                <a:spcPts val="0"/>
              </a:spcBef>
              <a:spcAft>
                <a:spcPts val="0"/>
              </a:spcAft>
              <a:buClr>
                <a:srgbClr val="3C78D8"/>
              </a:buClr>
              <a:buSzPts val="600"/>
              <a:buFont typeface="Calibri"/>
              <a:buChar char="●"/>
            </a:pPr>
            <a:r>
              <a:rPr lang="fr" sz="600">
                <a:solidFill>
                  <a:srgbClr val="3C78D8"/>
                </a:solidFill>
                <a:latin typeface="Calibri"/>
                <a:ea typeface="Calibri"/>
                <a:cs typeface="Calibri"/>
                <a:sym typeface="Calibri"/>
              </a:rPr>
              <a:t>PostGIS (géo)</a:t>
            </a:r>
            <a:endParaRPr sz="600">
              <a:solidFill>
                <a:srgbClr val="3C78D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66700" lvl="0" marL="457200" rtl="0" algn="l">
              <a:spcBef>
                <a:spcPts val="0"/>
              </a:spcBef>
              <a:spcAft>
                <a:spcPts val="0"/>
              </a:spcAft>
              <a:buClr>
                <a:srgbClr val="3C78D8"/>
              </a:buClr>
              <a:buSzPts val="600"/>
              <a:buFont typeface="Calibri"/>
              <a:buChar char="●"/>
            </a:pPr>
            <a:r>
              <a:rPr lang="fr" sz="600">
                <a:solidFill>
                  <a:srgbClr val="3C78D8"/>
                </a:solidFill>
                <a:latin typeface="Calibri"/>
                <a:ea typeface="Calibri"/>
                <a:cs typeface="Calibri"/>
                <a:sym typeface="Calibri"/>
              </a:rPr>
              <a:t>relationnel + mémoire LT</a:t>
            </a:r>
            <a:endParaRPr sz="600">
              <a:solidFill>
                <a:srgbClr val="3C78D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8" name="Google Shape;1988;p84"/>
          <p:cNvSpPr/>
          <p:nvPr/>
        </p:nvSpPr>
        <p:spPr>
          <a:xfrm>
            <a:off x="562125" y="3030722"/>
            <a:ext cx="1578000" cy="303000"/>
          </a:xfrm>
          <a:prstGeom prst="roundRect">
            <a:avLst>
              <a:gd fmla="val 16667" name="adj"/>
            </a:avLst>
          </a:prstGeom>
          <a:solidFill>
            <a:srgbClr val="0000FF">
              <a:alpha val="7999"/>
            </a:srgbClr>
          </a:solidFill>
          <a:ln cap="flat" cmpd="sng" w="9525">
            <a:solidFill>
              <a:srgbClr val="00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800">
                <a:solidFill>
                  <a:srgbClr val="3C78D8"/>
                </a:solidFill>
                <a:latin typeface="Calibri"/>
                <a:ea typeface="Calibri"/>
                <a:cs typeface="Calibri"/>
                <a:sym typeface="Calibri"/>
              </a:rPr>
              <a:t>Managed Redis</a:t>
            </a:r>
            <a:endParaRPr b="1" sz="800">
              <a:solidFill>
                <a:srgbClr val="3C78D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 sz="600">
                <a:solidFill>
                  <a:srgbClr val="3C78D8"/>
                </a:solidFill>
                <a:latin typeface="Calibri"/>
                <a:ea typeface="Calibri"/>
                <a:cs typeface="Calibri"/>
                <a:sym typeface="Calibri"/>
              </a:rPr>
              <a:t>mémoire court terme / session</a:t>
            </a:r>
            <a:endParaRPr sz="600">
              <a:solidFill>
                <a:srgbClr val="3C78D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9" name="Google Shape;1989;p84"/>
          <p:cNvSpPr/>
          <p:nvPr/>
        </p:nvSpPr>
        <p:spPr>
          <a:xfrm>
            <a:off x="562125" y="3492525"/>
            <a:ext cx="1578000" cy="303000"/>
          </a:xfrm>
          <a:prstGeom prst="roundRect">
            <a:avLst>
              <a:gd fmla="val 16667" name="adj"/>
            </a:avLst>
          </a:prstGeom>
          <a:solidFill>
            <a:srgbClr val="0000FF">
              <a:alpha val="3999"/>
            </a:srgbClr>
          </a:solidFill>
          <a:ln cap="flat" cmpd="sng" w="9525">
            <a:solidFill>
              <a:srgbClr val="00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800">
                <a:solidFill>
                  <a:srgbClr val="3C78D8"/>
                </a:solidFill>
                <a:latin typeface="Calibri"/>
                <a:ea typeface="Calibri"/>
                <a:cs typeface="Calibri"/>
                <a:sym typeface="Calibri"/>
              </a:rPr>
              <a:t>Object storage</a:t>
            </a:r>
            <a:r>
              <a:rPr lang="fr" sz="800">
                <a:solidFill>
                  <a:srgbClr val="3C78D8"/>
                </a:solidFill>
                <a:latin typeface="Calibri"/>
                <a:ea typeface="Calibri"/>
                <a:cs typeface="Calibri"/>
                <a:sym typeface="Calibri"/>
              </a:rPr>
              <a:t> S3</a:t>
            </a:r>
            <a:endParaRPr sz="800">
              <a:solidFill>
                <a:srgbClr val="3C78D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0" name="Google Shape;1990;p84"/>
          <p:cNvSpPr/>
          <p:nvPr/>
        </p:nvSpPr>
        <p:spPr>
          <a:xfrm>
            <a:off x="3234300" y="1858100"/>
            <a:ext cx="2675400" cy="2257800"/>
          </a:xfrm>
          <a:prstGeom prst="roundRect">
            <a:avLst>
              <a:gd fmla="val 16667" name="adj"/>
            </a:avLst>
          </a:prstGeom>
          <a:solidFill>
            <a:srgbClr val="0E9C8A">
              <a:alpha val="7999"/>
            </a:srgbClr>
          </a:solidFill>
          <a:ln cap="flat" cmpd="sng" w="9525">
            <a:solidFill>
              <a:srgbClr val="0E9C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1" name="Google Shape;1991;p84"/>
          <p:cNvSpPr/>
          <p:nvPr/>
        </p:nvSpPr>
        <p:spPr>
          <a:xfrm>
            <a:off x="3431358" y="2172800"/>
            <a:ext cx="2270400" cy="521400"/>
          </a:xfrm>
          <a:prstGeom prst="roundRect">
            <a:avLst>
              <a:gd fmla="val 16667" name="adj"/>
            </a:avLst>
          </a:prstGeom>
          <a:solidFill>
            <a:srgbClr val="0E9C8A">
              <a:alpha val="23999"/>
            </a:srgbClr>
          </a:solidFill>
          <a:ln cap="flat" cmpd="sng" w="9525">
            <a:solidFill>
              <a:srgbClr val="0E9C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800">
                <a:solidFill>
                  <a:srgbClr val="0E9C8A"/>
                </a:solidFill>
                <a:latin typeface="Calibri"/>
                <a:ea typeface="Calibri"/>
                <a:cs typeface="Calibri"/>
                <a:sym typeface="Calibri"/>
              </a:rPr>
              <a:t>Agents smolagents</a:t>
            </a:r>
            <a:endParaRPr b="1" sz="800">
              <a:solidFill>
                <a:srgbClr val="0E9C8A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 sz="600">
                <a:solidFill>
                  <a:srgbClr val="0E9C8A"/>
                </a:solidFill>
                <a:latin typeface="Calibri"/>
                <a:ea typeface="Calibri"/>
                <a:cs typeface="Calibri"/>
                <a:sym typeface="Calibri"/>
              </a:rPr>
              <a:t>(orchestration des outils)</a:t>
            </a:r>
            <a:endParaRPr sz="600">
              <a:solidFill>
                <a:srgbClr val="0E9C8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2" name="Google Shape;1992;p84"/>
          <p:cNvSpPr/>
          <p:nvPr/>
        </p:nvSpPr>
        <p:spPr>
          <a:xfrm>
            <a:off x="3431458" y="2799875"/>
            <a:ext cx="1041900" cy="340800"/>
          </a:xfrm>
          <a:prstGeom prst="roundRect">
            <a:avLst>
              <a:gd fmla="val 16667" name="adj"/>
            </a:avLst>
          </a:prstGeom>
          <a:solidFill>
            <a:srgbClr val="0E9C8A">
              <a:alpha val="15999"/>
            </a:srgbClr>
          </a:solidFill>
          <a:ln cap="flat" cmpd="sng" w="9525">
            <a:solidFill>
              <a:srgbClr val="0E9C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800">
                <a:solidFill>
                  <a:srgbClr val="0E9C8A"/>
                </a:solidFill>
                <a:latin typeface="Calibri"/>
                <a:ea typeface="Calibri"/>
                <a:cs typeface="Calibri"/>
                <a:sym typeface="Calibri"/>
              </a:rPr>
              <a:t>outil RAG</a:t>
            </a:r>
            <a:endParaRPr b="1" sz="800">
              <a:solidFill>
                <a:srgbClr val="0E9C8A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 sz="600">
                <a:solidFill>
                  <a:srgbClr val="0E9C8A"/>
                </a:solidFill>
                <a:latin typeface="Calibri"/>
                <a:ea typeface="Calibri"/>
                <a:cs typeface="Calibri"/>
                <a:sym typeface="Calibri"/>
              </a:rPr>
              <a:t>(LangChain hybride)</a:t>
            </a:r>
            <a:endParaRPr sz="600">
              <a:solidFill>
                <a:srgbClr val="0E9C8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3" name="Google Shape;1993;p84"/>
          <p:cNvSpPr txBox="1"/>
          <p:nvPr/>
        </p:nvSpPr>
        <p:spPr>
          <a:xfrm>
            <a:off x="3560475" y="1932625"/>
            <a:ext cx="19485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800">
                <a:solidFill>
                  <a:srgbClr val="0E9C8A"/>
                </a:solidFill>
                <a:latin typeface="Calibri"/>
                <a:ea typeface="Calibri"/>
                <a:cs typeface="Calibri"/>
                <a:sym typeface="Calibri"/>
              </a:rPr>
              <a:t>Serverless Containers - API FastAPI (SSE)</a:t>
            </a:r>
            <a:endParaRPr b="1" sz="800">
              <a:solidFill>
                <a:srgbClr val="0E9C8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4" name="Google Shape;1994;p84"/>
          <p:cNvSpPr/>
          <p:nvPr/>
        </p:nvSpPr>
        <p:spPr>
          <a:xfrm>
            <a:off x="4704742" y="3246350"/>
            <a:ext cx="1012500" cy="340800"/>
          </a:xfrm>
          <a:prstGeom prst="roundRect">
            <a:avLst>
              <a:gd fmla="val 16667" name="adj"/>
            </a:avLst>
          </a:prstGeom>
          <a:solidFill>
            <a:srgbClr val="0E9C8A">
              <a:alpha val="15999"/>
            </a:srgbClr>
          </a:solidFill>
          <a:ln cap="flat" cmpd="sng" w="9525">
            <a:solidFill>
              <a:srgbClr val="0E9C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800">
                <a:solidFill>
                  <a:srgbClr val="0E9C8A"/>
                </a:solidFill>
                <a:latin typeface="Calibri"/>
                <a:ea typeface="Calibri"/>
                <a:cs typeface="Calibri"/>
                <a:sym typeface="Calibri"/>
              </a:rPr>
              <a:t>outil mémoire</a:t>
            </a:r>
            <a:endParaRPr b="1" sz="800">
              <a:solidFill>
                <a:srgbClr val="0E9C8A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 sz="600">
                <a:solidFill>
                  <a:srgbClr val="0E9C8A"/>
                </a:solidFill>
                <a:latin typeface="Calibri"/>
                <a:ea typeface="Calibri"/>
                <a:cs typeface="Calibri"/>
                <a:sym typeface="Calibri"/>
              </a:rPr>
              <a:t>(Redis + PG)</a:t>
            </a:r>
            <a:endParaRPr sz="600">
              <a:solidFill>
                <a:srgbClr val="0E9C8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5" name="Google Shape;1995;p84"/>
          <p:cNvSpPr/>
          <p:nvPr/>
        </p:nvSpPr>
        <p:spPr>
          <a:xfrm>
            <a:off x="4689144" y="2799874"/>
            <a:ext cx="1012500" cy="340800"/>
          </a:xfrm>
          <a:prstGeom prst="roundRect">
            <a:avLst>
              <a:gd fmla="val 16667" name="adj"/>
            </a:avLst>
          </a:prstGeom>
          <a:solidFill>
            <a:srgbClr val="0E9C8A">
              <a:alpha val="15999"/>
            </a:srgbClr>
          </a:solidFill>
          <a:ln cap="flat" cmpd="sng" w="9525">
            <a:solidFill>
              <a:srgbClr val="0E9C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800">
                <a:solidFill>
                  <a:srgbClr val="0E9C8A"/>
                </a:solidFill>
                <a:latin typeface="Calibri"/>
                <a:ea typeface="Calibri"/>
                <a:cs typeface="Calibri"/>
                <a:sym typeface="Calibri"/>
              </a:rPr>
              <a:t>outil web</a:t>
            </a:r>
            <a:endParaRPr b="1" sz="800">
              <a:solidFill>
                <a:srgbClr val="0E9C8A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fr" sz="600">
                <a:solidFill>
                  <a:srgbClr val="0E9C8A"/>
                </a:solidFill>
                <a:latin typeface="Calibri"/>
                <a:ea typeface="Calibri"/>
                <a:cs typeface="Calibri"/>
                <a:sym typeface="Calibri"/>
              </a:rPr>
              <a:t>(Tavily)</a:t>
            </a:r>
            <a:endParaRPr sz="600">
              <a:solidFill>
                <a:srgbClr val="0E9C8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6" name="Google Shape;1996;p84"/>
          <p:cNvSpPr/>
          <p:nvPr/>
        </p:nvSpPr>
        <p:spPr>
          <a:xfrm>
            <a:off x="3426758" y="3246355"/>
            <a:ext cx="1041900" cy="340800"/>
          </a:xfrm>
          <a:prstGeom prst="roundRect">
            <a:avLst>
              <a:gd fmla="val 16667" name="adj"/>
            </a:avLst>
          </a:prstGeom>
          <a:solidFill>
            <a:srgbClr val="0E9C8A">
              <a:alpha val="15999"/>
            </a:srgbClr>
          </a:solidFill>
          <a:ln cap="flat" cmpd="sng" w="9525">
            <a:solidFill>
              <a:srgbClr val="0E9C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fr" sz="800">
                <a:solidFill>
                  <a:srgbClr val="0E9C8A"/>
                </a:solidFill>
                <a:latin typeface="Calibri"/>
                <a:ea typeface="Calibri"/>
                <a:cs typeface="Calibri"/>
                <a:sym typeface="Calibri"/>
              </a:rPr>
              <a:t>outil géo</a:t>
            </a:r>
            <a:endParaRPr b="1" sz="800">
              <a:solidFill>
                <a:srgbClr val="0E9C8A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fr" sz="600">
                <a:solidFill>
                  <a:srgbClr val="0E9C8A"/>
                </a:solidFill>
                <a:latin typeface="Calibri"/>
                <a:ea typeface="Calibri"/>
                <a:cs typeface="Calibri"/>
                <a:sym typeface="Calibri"/>
              </a:rPr>
              <a:t>(PostGIS)</a:t>
            </a:r>
            <a:endParaRPr/>
          </a:p>
        </p:txBody>
      </p:sp>
      <p:sp>
        <p:nvSpPr>
          <p:cNvPr id="1997" name="Google Shape;1997;p84"/>
          <p:cNvSpPr/>
          <p:nvPr/>
        </p:nvSpPr>
        <p:spPr>
          <a:xfrm>
            <a:off x="6534600" y="2344650"/>
            <a:ext cx="2151300" cy="454200"/>
          </a:xfrm>
          <a:prstGeom prst="roundRect">
            <a:avLst>
              <a:gd fmla="val 6000" name="adj"/>
            </a:avLst>
          </a:prstGeom>
          <a:solidFill>
            <a:srgbClr val="674EA7">
              <a:alpha val="7999"/>
            </a:srgbClr>
          </a:solidFill>
          <a:ln cap="flat" cmpd="sng" w="9525">
            <a:solidFill>
              <a:srgbClr val="674EA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fr" sz="800">
                <a:solidFill>
                  <a:srgbClr val="674EA7"/>
                </a:solidFill>
                <a:latin typeface="Calibri"/>
                <a:ea typeface="Calibri"/>
                <a:cs typeface="Calibri"/>
                <a:sym typeface="Calibri"/>
              </a:rPr>
              <a:t>Langfuse</a:t>
            </a:r>
            <a:endParaRPr b="1" sz="800">
              <a:solidFill>
                <a:srgbClr val="674EA7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fr" sz="600">
                <a:solidFill>
                  <a:srgbClr val="674EA7"/>
                </a:solidFill>
                <a:latin typeface="Calibri"/>
                <a:ea typeface="Calibri"/>
                <a:cs typeface="Calibri"/>
                <a:sym typeface="Calibri"/>
              </a:rPr>
              <a:t>observabilité RAG</a:t>
            </a:r>
            <a:endParaRPr sz="600">
              <a:solidFill>
                <a:srgbClr val="674EA7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fr" sz="600">
                <a:solidFill>
                  <a:srgbClr val="674EA7"/>
                </a:solidFill>
                <a:latin typeface="Calibri"/>
                <a:ea typeface="Calibri"/>
                <a:cs typeface="Calibri"/>
                <a:sym typeface="Calibri"/>
              </a:rPr>
              <a:t>qualité . coût . feedback</a:t>
            </a:r>
            <a:endParaRPr sz="600">
              <a:solidFill>
                <a:srgbClr val="674EA7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8" name="Google Shape;1998;p84"/>
          <p:cNvSpPr/>
          <p:nvPr/>
        </p:nvSpPr>
        <p:spPr>
          <a:xfrm>
            <a:off x="6534600" y="2969250"/>
            <a:ext cx="2151300" cy="454200"/>
          </a:xfrm>
          <a:prstGeom prst="roundRect">
            <a:avLst>
              <a:gd fmla="val 6000" name="adj"/>
            </a:avLst>
          </a:prstGeom>
          <a:solidFill>
            <a:srgbClr val="674EA7">
              <a:alpha val="7999"/>
            </a:srgbClr>
          </a:solidFill>
          <a:ln cap="flat" cmpd="sng" w="9525">
            <a:solidFill>
              <a:srgbClr val="674EA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fr" sz="800">
                <a:solidFill>
                  <a:srgbClr val="674EA7"/>
                </a:solidFill>
                <a:latin typeface="Calibri"/>
                <a:ea typeface="Calibri"/>
                <a:cs typeface="Calibri"/>
                <a:sym typeface="Calibri"/>
              </a:rPr>
              <a:t>Cockpit</a:t>
            </a:r>
            <a:r>
              <a:rPr lang="fr" sz="800">
                <a:solidFill>
                  <a:srgbClr val="674EA7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fr" sz="600">
                <a:solidFill>
                  <a:srgbClr val="674EA7"/>
                </a:solidFill>
                <a:latin typeface="Calibri"/>
                <a:ea typeface="Calibri"/>
                <a:cs typeface="Calibri"/>
                <a:sym typeface="Calibri"/>
              </a:rPr>
              <a:t>(natif, gratuit)</a:t>
            </a:r>
            <a:endParaRPr sz="600">
              <a:solidFill>
                <a:srgbClr val="674EA7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fr" sz="600">
                <a:solidFill>
                  <a:srgbClr val="674EA7"/>
                </a:solidFill>
                <a:latin typeface="Calibri"/>
                <a:ea typeface="Calibri"/>
                <a:cs typeface="Calibri"/>
                <a:sym typeface="Calibri"/>
              </a:rPr>
              <a:t>observabilité infra</a:t>
            </a:r>
            <a:endParaRPr sz="600">
              <a:solidFill>
                <a:srgbClr val="674EA7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fr" sz="600">
                <a:solidFill>
                  <a:srgbClr val="674EA7"/>
                </a:solidFill>
                <a:latin typeface="Calibri"/>
                <a:ea typeface="Calibri"/>
                <a:cs typeface="Calibri"/>
                <a:sym typeface="Calibri"/>
              </a:rPr>
              <a:t>latence . logs . CPU  </a:t>
            </a:r>
            <a:endParaRPr sz="600">
              <a:solidFill>
                <a:srgbClr val="674EA7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9" name="Google Shape;1999;p84"/>
          <p:cNvSpPr/>
          <p:nvPr/>
        </p:nvSpPr>
        <p:spPr>
          <a:xfrm>
            <a:off x="2967450" y="4523300"/>
            <a:ext cx="3209100" cy="329700"/>
          </a:xfrm>
          <a:prstGeom prst="roundRect">
            <a:avLst>
              <a:gd fmla="val 16667" name="adj"/>
            </a:avLst>
          </a:prstGeom>
          <a:solidFill>
            <a:srgbClr val="F4F4F5"/>
          </a:solidFill>
          <a:ln cap="flat" cmpd="sng" w="9525">
            <a:solidFill>
              <a:srgbClr val="222A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800">
                <a:solidFill>
                  <a:srgbClr val="222A3A"/>
                </a:solidFill>
                <a:latin typeface="Calibri"/>
                <a:ea typeface="Calibri"/>
                <a:cs typeface="Calibri"/>
                <a:sym typeface="Calibri"/>
              </a:rPr>
              <a:t>frontend web / Utilisateurs</a:t>
            </a:r>
            <a:endParaRPr b="1" sz="800">
              <a:solidFill>
                <a:srgbClr val="222A3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0" name="Google Shape;2000;p84"/>
          <p:cNvSpPr txBox="1"/>
          <p:nvPr/>
        </p:nvSpPr>
        <p:spPr>
          <a:xfrm>
            <a:off x="4586100" y="4275550"/>
            <a:ext cx="1090200" cy="20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 sz="600">
                <a:solidFill>
                  <a:srgbClr val="F4F4F5"/>
                </a:solidFill>
                <a:latin typeface="Calibri"/>
                <a:ea typeface="Calibri"/>
                <a:cs typeface="Calibri"/>
                <a:sym typeface="Calibri"/>
              </a:rPr>
              <a:t>question ⇒ / réponse SSE ⇐</a:t>
            </a:r>
            <a:endParaRPr sz="600">
              <a:solidFill>
                <a:srgbClr val="F4F4F5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 sz="600">
                <a:solidFill>
                  <a:srgbClr val="F4F4F5"/>
                </a:solidFill>
                <a:latin typeface="Calibri"/>
                <a:ea typeface="Calibri"/>
                <a:cs typeface="Calibri"/>
                <a:sym typeface="Calibri"/>
              </a:rPr>
              <a:t>(HTTPS/SSE)</a:t>
            </a:r>
            <a:endParaRPr sz="600">
              <a:solidFill>
                <a:srgbClr val="F4F4F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001" name="Google Shape;2001;p84"/>
          <p:cNvCxnSpPr>
            <a:endCxn id="1986" idx="0"/>
          </p:cNvCxnSpPr>
          <p:nvPr/>
        </p:nvCxnSpPr>
        <p:spPr>
          <a:xfrm flipH="1">
            <a:off x="1365219" y="1511925"/>
            <a:ext cx="2100" cy="319200"/>
          </a:xfrm>
          <a:prstGeom prst="straightConnector1">
            <a:avLst/>
          </a:prstGeom>
          <a:noFill/>
          <a:ln cap="flat" cmpd="sng" w="9525">
            <a:solidFill>
              <a:srgbClr val="923E2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002" name="Google Shape;2002;p84"/>
          <p:cNvCxnSpPr>
            <a:stCxn id="1986" idx="3"/>
            <a:endCxn id="1984" idx="1"/>
          </p:cNvCxnSpPr>
          <p:nvPr/>
        </p:nvCxnSpPr>
        <p:spPr>
          <a:xfrm flipH="1" rot="10800000">
            <a:off x="2154219" y="1240275"/>
            <a:ext cx="1274700" cy="770700"/>
          </a:xfrm>
          <a:prstGeom prst="curvedConnector3">
            <a:avLst>
              <a:gd fmla="val 50003" name="adj1"/>
            </a:avLst>
          </a:prstGeom>
          <a:noFill/>
          <a:ln cap="flat" cmpd="sng" w="9525">
            <a:solidFill>
              <a:srgbClr val="923E22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2003" name="Google Shape;2003;p84"/>
          <p:cNvCxnSpPr>
            <a:stCxn id="1986" idx="2"/>
            <a:endCxn id="1987" idx="0"/>
          </p:cNvCxnSpPr>
          <p:nvPr/>
        </p:nvCxnSpPr>
        <p:spPr>
          <a:xfrm flipH="1">
            <a:off x="1351119" y="2190825"/>
            <a:ext cx="14100" cy="159600"/>
          </a:xfrm>
          <a:prstGeom prst="straightConnector1">
            <a:avLst/>
          </a:prstGeom>
          <a:noFill/>
          <a:ln cap="flat" cmpd="sng" w="9525">
            <a:solidFill>
              <a:srgbClr val="923E2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004" name="Google Shape;2004;p84"/>
          <p:cNvCxnSpPr>
            <a:stCxn id="1992" idx="1"/>
            <a:endCxn id="1987" idx="3"/>
          </p:cNvCxnSpPr>
          <p:nvPr/>
        </p:nvCxnSpPr>
        <p:spPr>
          <a:xfrm rot="10800000">
            <a:off x="2140258" y="2611175"/>
            <a:ext cx="1291200" cy="359100"/>
          </a:xfrm>
          <a:prstGeom prst="curvedConnector3">
            <a:avLst>
              <a:gd fmla="val 50005" name="adj1"/>
            </a:avLst>
          </a:prstGeom>
          <a:noFill/>
          <a:ln cap="flat" cmpd="sng" w="9525">
            <a:solidFill>
              <a:srgbClr val="0E9C8A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005" name="Google Shape;2005;p84"/>
          <p:cNvCxnSpPr>
            <a:stCxn id="1994" idx="3"/>
            <a:endCxn id="1988" idx="3"/>
          </p:cNvCxnSpPr>
          <p:nvPr/>
        </p:nvCxnSpPr>
        <p:spPr>
          <a:xfrm rot="10800000">
            <a:off x="2140042" y="3182150"/>
            <a:ext cx="3577200" cy="234600"/>
          </a:xfrm>
          <a:prstGeom prst="curvedConnector5">
            <a:avLst>
              <a:gd fmla="val -1538" name="adj1"/>
              <a:gd fmla="val -227526" name="adj2"/>
              <a:gd fmla="val 77179" name="adj3"/>
            </a:avLst>
          </a:prstGeom>
          <a:noFill/>
          <a:ln cap="flat" cmpd="sng" w="9525">
            <a:solidFill>
              <a:srgbClr val="0E9C8A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006" name="Google Shape;2006;p84"/>
          <p:cNvCxnSpPr>
            <a:stCxn id="1997" idx="1"/>
            <a:endCxn id="1990" idx="3"/>
          </p:cNvCxnSpPr>
          <p:nvPr/>
        </p:nvCxnSpPr>
        <p:spPr>
          <a:xfrm flipH="1">
            <a:off x="5909700" y="2571750"/>
            <a:ext cx="624900" cy="415200"/>
          </a:xfrm>
          <a:prstGeom prst="curvedConnector3">
            <a:avLst>
              <a:gd fmla="val 50000" name="adj1"/>
            </a:avLst>
          </a:prstGeom>
          <a:noFill/>
          <a:ln cap="flat" cmpd="sng" w="9525">
            <a:solidFill>
              <a:srgbClr val="674EA7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2007" name="Google Shape;2007;p84"/>
          <p:cNvCxnSpPr>
            <a:stCxn id="1986" idx="1"/>
            <a:endCxn id="1989" idx="1"/>
          </p:cNvCxnSpPr>
          <p:nvPr/>
        </p:nvCxnSpPr>
        <p:spPr>
          <a:xfrm flipH="1">
            <a:off x="562119" y="2010975"/>
            <a:ext cx="14100" cy="1633200"/>
          </a:xfrm>
          <a:prstGeom prst="curvedConnector3">
            <a:avLst>
              <a:gd fmla="val 1788788" name="adj1"/>
            </a:avLst>
          </a:prstGeom>
          <a:noFill/>
          <a:ln cap="flat" cmpd="sng" w="9525">
            <a:solidFill>
              <a:srgbClr val="923E2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008" name="Google Shape;2008;p84"/>
          <p:cNvCxnSpPr>
            <a:stCxn id="1995" idx="3"/>
            <a:endCxn id="1985" idx="1"/>
          </p:cNvCxnSpPr>
          <p:nvPr/>
        </p:nvCxnSpPr>
        <p:spPr>
          <a:xfrm flipH="1" rot="10800000">
            <a:off x="5701644" y="1241074"/>
            <a:ext cx="765600" cy="1729200"/>
          </a:xfrm>
          <a:prstGeom prst="curvedConnector3">
            <a:avLst>
              <a:gd fmla="val 49991" name="adj1"/>
            </a:avLst>
          </a:prstGeom>
          <a:noFill/>
          <a:ln cap="flat" cmpd="sng" w="9525">
            <a:solidFill>
              <a:srgbClr val="0E9C8A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009" name="Google Shape;2009;p84"/>
          <p:cNvSpPr txBox="1"/>
          <p:nvPr/>
        </p:nvSpPr>
        <p:spPr>
          <a:xfrm>
            <a:off x="21775" y="2444838"/>
            <a:ext cx="399300" cy="12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 sz="600">
                <a:solidFill>
                  <a:srgbClr val="923E22"/>
                </a:solidFill>
                <a:latin typeface="Calibri"/>
                <a:ea typeface="Calibri"/>
                <a:cs typeface="Calibri"/>
                <a:sym typeface="Calibri"/>
              </a:rPr>
              <a:t>dump</a:t>
            </a:r>
            <a:endParaRPr sz="600">
              <a:solidFill>
                <a:srgbClr val="923E2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0" name="Google Shape;2010;p84"/>
          <p:cNvSpPr txBox="1"/>
          <p:nvPr/>
        </p:nvSpPr>
        <p:spPr>
          <a:xfrm>
            <a:off x="1310800" y="2206363"/>
            <a:ext cx="399300" cy="12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 sz="600">
                <a:solidFill>
                  <a:srgbClr val="923E22"/>
                </a:solidFill>
                <a:latin typeface="Calibri"/>
                <a:ea typeface="Calibri"/>
                <a:cs typeface="Calibri"/>
                <a:sym typeface="Calibri"/>
              </a:rPr>
              <a:t>upsert</a:t>
            </a:r>
            <a:endParaRPr sz="600">
              <a:solidFill>
                <a:srgbClr val="923E2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1" name="Google Shape;2011;p84"/>
          <p:cNvSpPr txBox="1"/>
          <p:nvPr/>
        </p:nvSpPr>
        <p:spPr>
          <a:xfrm>
            <a:off x="1290360" y="1518088"/>
            <a:ext cx="582600" cy="12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 sz="600">
                <a:solidFill>
                  <a:srgbClr val="923E22"/>
                </a:solidFill>
                <a:latin typeface="Calibri"/>
                <a:ea typeface="Calibri"/>
                <a:cs typeface="Calibri"/>
                <a:sym typeface="Calibri"/>
              </a:rPr>
              <a:t>événements</a:t>
            </a:r>
            <a:endParaRPr sz="600">
              <a:solidFill>
                <a:srgbClr val="923E2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2" name="Google Shape;2012;p84"/>
          <p:cNvSpPr txBox="1"/>
          <p:nvPr/>
        </p:nvSpPr>
        <p:spPr>
          <a:xfrm>
            <a:off x="2517323" y="1775063"/>
            <a:ext cx="582600" cy="12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 sz="600">
                <a:solidFill>
                  <a:srgbClr val="923E22"/>
                </a:solidFill>
                <a:latin typeface="Calibri"/>
                <a:ea typeface="Calibri"/>
                <a:cs typeface="Calibri"/>
                <a:sym typeface="Calibri"/>
              </a:rPr>
              <a:t>embeddings</a:t>
            </a:r>
            <a:endParaRPr sz="600">
              <a:solidFill>
                <a:srgbClr val="923E2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3" name="Google Shape;2013;p84"/>
          <p:cNvSpPr txBox="1"/>
          <p:nvPr/>
        </p:nvSpPr>
        <p:spPr>
          <a:xfrm>
            <a:off x="2619046" y="2657541"/>
            <a:ext cx="486300" cy="12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 sz="600">
                <a:solidFill>
                  <a:srgbClr val="0E9C8A"/>
                </a:solidFill>
                <a:latin typeface="Calibri"/>
                <a:ea typeface="Calibri"/>
                <a:cs typeface="Calibri"/>
                <a:sym typeface="Calibri"/>
              </a:rPr>
              <a:t>retrieval</a:t>
            </a:r>
            <a:endParaRPr sz="600">
              <a:solidFill>
                <a:srgbClr val="0E9C8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4" name="Google Shape;2014;p84"/>
          <p:cNvSpPr txBox="1"/>
          <p:nvPr/>
        </p:nvSpPr>
        <p:spPr>
          <a:xfrm>
            <a:off x="6176100" y="2745525"/>
            <a:ext cx="358500" cy="12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 sz="600">
                <a:solidFill>
                  <a:srgbClr val="674EA7"/>
                </a:solidFill>
                <a:latin typeface="Calibri"/>
                <a:ea typeface="Calibri"/>
                <a:cs typeface="Calibri"/>
                <a:sym typeface="Calibri"/>
              </a:rPr>
              <a:t>trace</a:t>
            </a:r>
            <a:endParaRPr sz="600">
              <a:solidFill>
                <a:srgbClr val="674EA7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5" name="Google Shape;2015;p84"/>
          <p:cNvSpPr txBox="1"/>
          <p:nvPr/>
        </p:nvSpPr>
        <p:spPr>
          <a:xfrm>
            <a:off x="283150" y="3953488"/>
            <a:ext cx="2454600" cy="23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1000">
                <a:solidFill>
                  <a:srgbClr val="B07BC2"/>
                </a:solidFill>
                <a:latin typeface="Calibri"/>
                <a:ea typeface="Calibri"/>
                <a:cs typeface="Calibri"/>
                <a:sym typeface="Calibri"/>
              </a:rPr>
              <a:t>SCALEWAY</a:t>
            </a:r>
            <a:r>
              <a:rPr lang="fr" sz="800">
                <a:solidFill>
                  <a:srgbClr val="B07BC2"/>
                </a:solidFill>
                <a:latin typeface="Calibri"/>
                <a:ea typeface="Calibri"/>
                <a:cs typeface="Calibri"/>
                <a:sym typeface="Calibri"/>
              </a:rPr>
              <a:t> - cloud souverain (UE, hors CLOUD Act) </a:t>
            </a:r>
            <a:endParaRPr sz="800">
              <a:solidFill>
                <a:srgbClr val="B07BC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6" name="Google Shape;2016;p84"/>
          <p:cNvSpPr/>
          <p:nvPr/>
        </p:nvSpPr>
        <p:spPr>
          <a:xfrm>
            <a:off x="7068700" y="4409050"/>
            <a:ext cx="144600" cy="72900"/>
          </a:xfrm>
          <a:prstGeom prst="roundRect">
            <a:avLst>
              <a:gd fmla="val 16667" name="adj"/>
            </a:avLst>
          </a:prstGeom>
          <a:solidFill>
            <a:srgbClr val="9CA3AF">
              <a:alpha val="6960"/>
            </a:srgbClr>
          </a:solidFill>
          <a:ln cap="flat" cmpd="sng" w="9525">
            <a:solidFill>
              <a:srgbClr val="9CA3A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7" name="Google Shape;2017;p84"/>
          <p:cNvSpPr/>
          <p:nvPr/>
        </p:nvSpPr>
        <p:spPr>
          <a:xfrm>
            <a:off x="7068700" y="4550067"/>
            <a:ext cx="144600" cy="72900"/>
          </a:xfrm>
          <a:prstGeom prst="roundRect">
            <a:avLst>
              <a:gd fmla="val 16667" name="adj"/>
            </a:avLst>
          </a:prstGeom>
          <a:solidFill>
            <a:srgbClr val="923E22">
              <a:alpha val="7999"/>
            </a:srgbClr>
          </a:solidFill>
          <a:ln cap="flat" cmpd="sng" w="9525">
            <a:solidFill>
              <a:srgbClr val="923E2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8" name="Google Shape;2018;p84"/>
          <p:cNvSpPr/>
          <p:nvPr/>
        </p:nvSpPr>
        <p:spPr>
          <a:xfrm>
            <a:off x="7068700" y="4962200"/>
            <a:ext cx="144600" cy="72900"/>
          </a:xfrm>
          <a:prstGeom prst="roundRect">
            <a:avLst>
              <a:gd fmla="val 16667" name="adj"/>
            </a:avLst>
          </a:prstGeom>
          <a:solidFill>
            <a:srgbClr val="674EA7">
              <a:alpha val="7999"/>
            </a:srgbClr>
          </a:solidFill>
          <a:ln cap="flat" cmpd="sng" w="9525">
            <a:solidFill>
              <a:srgbClr val="674EA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9" name="Google Shape;2019;p84"/>
          <p:cNvSpPr/>
          <p:nvPr/>
        </p:nvSpPr>
        <p:spPr>
          <a:xfrm>
            <a:off x="7068700" y="4691085"/>
            <a:ext cx="144600" cy="72900"/>
          </a:xfrm>
          <a:prstGeom prst="roundRect">
            <a:avLst>
              <a:gd fmla="val 16667" name="adj"/>
            </a:avLst>
          </a:prstGeom>
          <a:solidFill>
            <a:srgbClr val="0000FF">
              <a:alpha val="14000"/>
            </a:srgbClr>
          </a:solidFill>
          <a:ln cap="flat" cmpd="sng" w="9525">
            <a:solidFill>
              <a:srgbClr val="00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0" name="Google Shape;2020;p84"/>
          <p:cNvSpPr/>
          <p:nvPr/>
        </p:nvSpPr>
        <p:spPr>
          <a:xfrm>
            <a:off x="7068700" y="4825177"/>
            <a:ext cx="144600" cy="72900"/>
          </a:xfrm>
          <a:prstGeom prst="roundRect">
            <a:avLst>
              <a:gd fmla="val 16667" name="adj"/>
            </a:avLst>
          </a:prstGeom>
          <a:solidFill>
            <a:srgbClr val="0E9C8A">
              <a:alpha val="15999"/>
            </a:srgbClr>
          </a:solidFill>
          <a:ln cap="flat" cmpd="sng" w="9525">
            <a:solidFill>
              <a:srgbClr val="0E9C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021" name="Google Shape;2021;p84"/>
          <p:cNvCxnSpPr>
            <a:endCxn id="1990" idx="2"/>
          </p:cNvCxnSpPr>
          <p:nvPr/>
        </p:nvCxnSpPr>
        <p:spPr>
          <a:xfrm rot="10800000">
            <a:off x="4572000" y="4115900"/>
            <a:ext cx="14100" cy="410100"/>
          </a:xfrm>
          <a:prstGeom prst="straightConnector1">
            <a:avLst/>
          </a:prstGeom>
          <a:noFill/>
          <a:ln cap="flat" cmpd="sng" w="9525">
            <a:solidFill>
              <a:srgbClr val="F4F4F5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022" name="Google Shape;2022;p84"/>
          <p:cNvCxnSpPr>
            <a:stCxn id="1996" idx="1"/>
            <a:endCxn id="1987" idx="3"/>
          </p:cNvCxnSpPr>
          <p:nvPr/>
        </p:nvCxnSpPr>
        <p:spPr>
          <a:xfrm rot="10800000">
            <a:off x="2140058" y="2611255"/>
            <a:ext cx="1286700" cy="805500"/>
          </a:xfrm>
          <a:prstGeom prst="curvedConnector3">
            <a:avLst>
              <a:gd fmla="val 44646" name="adj1"/>
            </a:avLst>
          </a:prstGeom>
          <a:noFill/>
          <a:ln cap="flat" cmpd="sng" w="9525">
            <a:solidFill>
              <a:srgbClr val="0E9C8A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023" name="Google Shape;2023;p84"/>
          <p:cNvCxnSpPr>
            <a:stCxn id="1994" idx="2"/>
            <a:endCxn id="1987" idx="3"/>
          </p:cNvCxnSpPr>
          <p:nvPr/>
        </p:nvCxnSpPr>
        <p:spPr>
          <a:xfrm flipH="1" rot="5400000">
            <a:off x="3187642" y="1563800"/>
            <a:ext cx="975900" cy="3070800"/>
          </a:xfrm>
          <a:prstGeom prst="curvedConnector4">
            <a:avLst>
              <a:gd fmla="val -24401" name="adj1"/>
              <a:gd fmla="val 77150" name="adj2"/>
            </a:avLst>
          </a:prstGeom>
          <a:noFill/>
          <a:ln cap="flat" cmpd="sng" w="9525">
            <a:solidFill>
              <a:srgbClr val="0E9C8A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024" name="Google Shape;2024;p84"/>
          <p:cNvSpPr txBox="1"/>
          <p:nvPr/>
        </p:nvSpPr>
        <p:spPr>
          <a:xfrm>
            <a:off x="3979391" y="3716668"/>
            <a:ext cx="582600" cy="12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 sz="600">
                <a:solidFill>
                  <a:srgbClr val="0E9C8A"/>
                </a:solidFill>
                <a:latin typeface="Calibri"/>
                <a:ea typeface="Calibri"/>
                <a:cs typeface="Calibri"/>
                <a:sym typeface="Calibri"/>
              </a:rPr>
              <a:t>mémoire LT</a:t>
            </a:r>
            <a:endParaRPr sz="600">
              <a:solidFill>
                <a:srgbClr val="0E9C8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5" name="Google Shape;2025;p84"/>
          <p:cNvSpPr txBox="1"/>
          <p:nvPr/>
        </p:nvSpPr>
        <p:spPr>
          <a:xfrm>
            <a:off x="4008429" y="3932876"/>
            <a:ext cx="569700" cy="12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 sz="600">
                <a:solidFill>
                  <a:srgbClr val="0E9C8A"/>
                </a:solidFill>
                <a:latin typeface="Calibri"/>
                <a:ea typeface="Calibri"/>
                <a:cs typeface="Calibri"/>
                <a:sym typeface="Calibri"/>
              </a:rPr>
              <a:t>mémoire CT</a:t>
            </a:r>
            <a:endParaRPr sz="600">
              <a:solidFill>
                <a:srgbClr val="0E9C8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6" name="Google Shape;2026;p84"/>
          <p:cNvSpPr txBox="1"/>
          <p:nvPr/>
        </p:nvSpPr>
        <p:spPr>
          <a:xfrm>
            <a:off x="2780476" y="2950552"/>
            <a:ext cx="358500" cy="12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 sz="600">
                <a:solidFill>
                  <a:srgbClr val="0E9C8A"/>
                </a:solidFill>
                <a:latin typeface="Calibri"/>
                <a:ea typeface="Calibri"/>
                <a:cs typeface="Calibri"/>
                <a:sym typeface="Calibri"/>
              </a:rPr>
              <a:t>géo</a:t>
            </a:r>
            <a:endParaRPr sz="600">
              <a:solidFill>
                <a:srgbClr val="0E9C8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027" name="Google Shape;2027;p84"/>
          <p:cNvCxnSpPr>
            <a:stCxn id="1991" idx="3"/>
            <a:endCxn id="1984" idx="3"/>
          </p:cNvCxnSpPr>
          <p:nvPr/>
        </p:nvCxnSpPr>
        <p:spPr>
          <a:xfrm flipH="1" rot="10800000">
            <a:off x="5701758" y="1240100"/>
            <a:ext cx="13200" cy="1193400"/>
          </a:xfrm>
          <a:prstGeom prst="curvedConnector3">
            <a:avLst>
              <a:gd fmla="val 1217172" name="adj1"/>
            </a:avLst>
          </a:prstGeom>
          <a:noFill/>
          <a:ln cap="flat" cmpd="sng" w="9525">
            <a:solidFill>
              <a:srgbClr val="0E9C8A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028" name="Google Shape;2028;p84"/>
          <p:cNvSpPr txBox="1"/>
          <p:nvPr/>
        </p:nvSpPr>
        <p:spPr>
          <a:xfrm>
            <a:off x="4955400" y="1502475"/>
            <a:ext cx="901500" cy="15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 sz="600">
                <a:solidFill>
                  <a:srgbClr val="0E9C8A"/>
                </a:solidFill>
                <a:latin typeface="Calibri"/>
                <a:ea typeface="Calibri"/>
                <a:cs typeface="Calibri"/>
                <a:sym typeface="Calibri"/>
              </a:rPr>
              <a:t>prompt ⇒ / réponse ⇐</a:t>
            </a:r>
            <a:endParaRPr sz="600">
              <a:solidFill>
                <a:srgbClr val="0E9C8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9" name="Google Shape;2029;p84"/>
          <p:cNvSpPr txBox="1"/>
          <p:nvPr/>
        </p:nvSpPr>
        <p:spPr>
          <a:xfrm>
            <a:off x="7232825" y="4367250"/>
            <a:ext cx="1755600" cy="68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600">
                <a:solidFill>
                  <a:srgbClr val="8A93A6"/>
                </a:solidFill>
                <a:latin typeface="Calibri"/>
                <a:ea typeface="Calibri"/>
                <a:cs typeface="Calibri"/>
                <a:sym typeface="Calibri"/>
              </a:rPr>
              <a:t>Sources externes</a:t>
            </a:r>
            <a:endParaRPr sz="600">
              <a:solidFill>
                <a:srgbClr val="8A93A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600">
                <a:solidFill>
                  <a:srgbClr val="8A93A6"/>
                </a:solidFill>
                <a:latin typeface="Calibri"/>
                <a:ea typeface="Calibri"/>
                <a:cs typeface="Calibri"/>
                <a:sym typeface="Calibri"/>
              </a:rPr>
              <a:t>Ingestion (Kestra)</a:t>
            </a:r>
            <a:endParaRPr sz="600">
              <a:solidFill>
                <a:srgbClr val="8A93A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600">
                <a:solidFill>
                  <a:srgbClr val="8A93A6"/>
                </a:solidFill>
                <a:latin typeface="Calibri"/>
                <a:ea typeface="Calibri"/>
                <a:cs typeface="Calibri"/>
                <a:sym typeface="Calibri"/>
              </a:rPr>
              <a:t>Stockage (PostgreSQL / Redis / Object storage)</a:t>
            </a:r>
            <a:endParaRPr sz="600">
              <a:solidFill>
                <a:srgbClr val="8A93A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600">
                <a:solidFill>
                  <a:srgbClr val="8A93A6"/>
                </a:solidFill>
                <a:latin typeface="Calibri"/>
                <a:ea typeface="Calibri"/>
                <a:cs typeface="Calibri"/>
                <a:sym typeface="Calibri"/>
              </a:rPr>
              <a:t>Applications (API + agent)</a:t>
            </a:r>
            <a:endParaRPr sz="600">
              <a:solidFill>
                <a:srgbClr val="8A93A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600">
                <a:solidFill>
                  <a:srgbClr val="8A93A6"/>
                </a:solidFill>
                <a:latin typeface="Calibri"/>
                <a:ea typeface="Calibri"/>
                <a:cs typeface="Calibri"/>
                <a:sym typeface="Calibri"/>
              </a:rPr>
              <a:t>Observabilité</a:t>
            </a:r>
            <a:endParaRPr sz="600">
              <a:solidFill>
                <a:srgbClr val="8A93A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0" name="Google Shape;2030;p84"/>
          <p:cNvSpPr txBox="1"/>
          <p:nvPr/>
        </p:nvSpPr>
        <p:spPr>
          <a:xfrm>
            <a:off x="377200" y="233175"/>
            <a:ext cx="2286900" cy="45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9050" lIns="0" spcFirstLastPara="1" rIns="0" wrap="square" tIns="190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1800">
                <a:solidFill>
                  <a:srgbClr val="0E9C8A"/>
                </a:solidFill>
                <a:latin typeface="Calibri"/>
                <a:ea typeface="Calibri"/>
                <a:cs typeface="Calibri"/>
                <a:sym typeface="Calibri"/>
              </a:rPr>
              <a:t>L’architecture du MVP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35" name="Shape 20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6" name="Google Shape;2036;p85"/>
          <p:cNvSpPr txBox="1"/>
          <p:nvPr/>
        </p:nvSpPr>
        <p:spPr>
          <a:xfrm>
            <a:off x="377200" y="675550"/>
            <a:ext cx="26754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9050" lIns="0" spcFirstLastPara="1" rIns="0" wrap="square" tIns="190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1100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Architecture MVP - chatbot RAG Puls-EVents</a:t>
            </a:r>
            <a:endParaRPr b="1" sz="1100">
              <a:solidFill>
                <a:srgbClr val="9CA3A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7" name="Google Shape;2037;p85"/>
          <p:cNvSpPr txBox="1"/>
          <p:nvPr/>
        </p:nvSpPr>
        <p:spPr>
          <a:xfrm>
            <a:off x="377200" y="4945850"/>
            <a:ext cx="999000" cy="166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700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MVP RAG Puls-Events</a:t>
            </a:r>
            <a:endParaRPr sz="700">
              <a:solidFill>
                <a:srgbClr val="9CA3A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8" name="Google Shape;2038;p85"/>
          <p:cNvSpPr/>
          <p:nvPr/>
        </p:nvSpPr>
        <p:spPr>
          <a:xfrm>
            <a:off x="64125" y="1631700"/>
            <a:ext cx="8941200" cy="2605500"/>
          </a:xfrm>
          <a:prstGeom prst="roundRect">
            <a:avLst>
              <a:gd fmla="val 6000" name="adj"/>
            </a:avLst>
          </a:prstGeom>
          <a:noFill/>
          <a:ln cap="flat" cmpd="sng" w="9525">
            <a:solidFill>
              <a:srgbClr val="B07BC2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9" name="Google Shape;2039;p85"/>
          <p:cNvSpPr/>
          <p:nvPr/>
        </p:nvSpPr>
        <p:spPr>
          <a:xfrm>
            <a:off x="499800" y="980277"/>
            <a:ext cx="2286000" cy="521400"/>
          </a:xfrm>
          <a:prstGeom prst="roundRect">
            <a:avLst>
              <a:gd fmla="val 16667" name="adj"/>
            </a:avLst>
          </a:prstGeom>
          <a:solidFill>
            <a:srgbClr val="9CA3AF">
              <a:alpha val="6960"/>
            </a:srgbClr>
          </a:solidFill>
          <a:ln cap="flat" cmpd="sng" w="12700">
            <a:solidFill>
              <a:srgbClr val="9CA3A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6575" lIns="91425" spcFirstLastPara="1" rIns="73150" wrap="square" tIns="365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800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Opendatasoft API</a:t>
            </a:r>
            <a:endParaRPr b="1" sz="800">
              <a:solidFill>
                <a:srgbClr val="9CA3A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600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events Open Agenda</a:t>
            </a:r>
            <a:endParaRPr b="1" sz="600">
              <a:solidFill>
                <a:srgbClr val="9CA3A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0" name="Google Shape;2040;p85"/>
          <p:cNvSpPr/>
          <p:nvPr/>
        </p:nvSpPr>
        <p:spPr>
          <a:xfrm>
            <a:off x="3429000" y="979502"/>
            <a:ext cx="2286000" cy="521400"/>
          </a:xfrm>
          <a:prstGeom prst="roundRect">
            <a:avLst>
              <a:gd fmla="val 16667" name="adj"/>
            </a:avLst>
          </a:prstGeom>
          <a:solidFill>
            <a:srgbClr val="9CA3AF">
              <a:alpha val="6960"/>
            </a:srgbClr>
          </a:solidFill>
          <a:ln cap="flat" cmpd="sng" w="12700">
            <a:solidFill>
              <a:srgbClr val="9CA3A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6575" lIns="91425" spcFirstLastPara="1" rIns="73150" wrap="square" tIns="365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800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Mistral API (UE)</a:t>
            </a:r>
            <a:endParaRPr b="1" sz="800">
              <a:solidFill>
                <a:srgbClr val="9CA3A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600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embeddings + LLM</a:t>
            </a:r>
            <a:endParaRPr b="1" sz="600">
              <a:solidFill>
                <a:srgbClr val="9CA3A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1" name="Google Shape;2041;p85"/>
          <p:cNvSpPr/>
          <p:nvPr/>
        </p:nvSpPr>
        <p:spPr>
          <a:xfrm>
            <a:off x="6467100" y="980264"/>
            <a:ext cx="2286000" cy="521400"/>
          </a:xfrm>
          <a:prstGeom prst="roundRect">
            <a:avLst>
              <a:gd fmla="val 16667" name="adj"/>
            </a:avLst>
          </a:prstGeom>
          <a:solidFill>
            <a:srgbClr val="9CA3AF">
              <a:alpha val="6960"/>
            </a:srgbClr>
          </a:solidFill>
          <a:ln cap="flat" cmpd="sng" w="12700">
            <a:solidFill>
              <a:srgbClr val="9CA3A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6575" lIns="91425" spcFirstLastPara="1" rIns="73150" wrap="square" tIns="365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800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Recherche web</a:t>
            </a:r>
            <a:endParaRPr b="1" sz="800">
              <a:solidFill>
                <a:srgbClr val="9CA3A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600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(Tavily)</a:t>
            </a:r>
            <a:endParaRPr b="1" sz="600">
              <a:solidFill>
                <a:srgbClr val="9CA3A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2" name="Google Shape;2042;p85"/>
          <p:cNvSpPr/>
          <p:nvPr/>
        </p:nvSpPr>
        <p:spPr>
          <a:xfrm>
            <a:off x="576219" y="1831125"/>
            <a:ext cx="1578000" cy="359700"/>
          </a:xfrm>
          <a:prstGeom prst="roundRect">
            <a:avLst>
              <a:gd fmla="val 16667" name="adj"/>
            </a:avLst>
          </a:prstGeom>
          <a:solidFill>
            <a:srgbClr val="923E22">
              <a:alpha val="7999"/>
            </a:srgbClr>
          </a:solidFill>
          <a:ln cap="flat" cmpd="sng" w="9525">
            <a:solidFill>
              <a:srgbClr val="923E2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800">
                <a:solidFill>
                  <a:srgbClr val="923E22"/>
                </a:solidFill>
                <a:latin typeface="Calibri"/>
                <a:ea typeface="Calibri"/>
                <a:cs typeface="Calibri"/>
                <a:sym typeface="Calibri"/>
              </a:rPr>
              <a:t>Kestra</a:t>
            </a:r>
            <a:r>
              <a:rPr lang="fr" sz="600">
                <a:solidFill>
                  <a:srgbClr val="923E22"/>
                </a:solidFill>
                <a:latin typeface="Calibri"/>
                <a:ea typeface="Calibri"/>
                <a:cs typeface="Calibri"/>
                <a:sym typeface="Calibri"/>
              </a:rPr>
              <a:t> - ingestion planifiée</a:t>
            </a:r>
            <a:endParaRPr sz="600">
              <a:solidFill>
                <a:srgbClr val="923E2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 sz="600">
                <a:solidFill>
                  <a:srgbClr val="923E22"/>
                </a:solidFill>
                <a:latin typeface="Calibri"/>
                <a:ea typeface="Calibri"/>
                <a:cs typeface="Calibri"/>
                <a:sym typeface="Calibri"/>
              </a:rPr>
              <a:t>fetch ⇒ clean ⇒ embed ⇒ upsert</a:t>
            </a:r>
            <a:endParaRPr sz="600">
              <a:solidFill>
                <a:srgbClr val="923E2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3" name="Google Shape;2043;p85"/>
          <p:cNvSpPr/>
          <p:nvPr/>
        </p:nvSpPr>
        <p:spPr>
          <a:xfrm>
            <a:off x="562125" y="2350491"/>
            <a:ext cx="1578000" cy="521400"/>
          </a:xfrm>
          <a:prstGeom prst="roundRect">
            <a:avLst>
              <a:gd fmla="val 16667" name="adj"/>
            </a:avLst>
          </a:prstGeom>
          <a:solidFill>
            <a:srgbClr val="0000FF">
              <a:alpha val="14000"/>
            </a:srgbClr>
          </a:solidFill>
          <a:ln cap="flat" cmpd="sng" w="9525">
            <a:solidFill>
              <a:srgbClr val="00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800">
                <a:solidFill>
                  <a:srgbClr val="3C78D8"/>
                </a:solidFill>
                <a:latin typeface="Calibri"/>
                <a:ea typeface="Calibri"/>
                <a:cs typeface="Calibri"/>
                <a:sym typeface="Calibri"/>
              </a:rPr>
              <a:t>Managed PostgreSQL</a:t>
            </a:r>
            <a:endParaRPr b="1" sz="800">
              <a:solidFill>
                <a:srgbClr val="3C78D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66700" lvl="0" marL="457200" rtl="0" algn="l">
              <a:spcBef>
                <a:spcPts val="0"/>
              </a:spcBef>
              <a:spcAft>
                <a:spcPts val="0"/>
              </a:spcAft>
              <a:buClr>
                <a:srgbClr val="3C78D8"/>
              </a:buClr>
              <a:buSzPts val="600"/>
              <a:buFont typeface="Calibri"/>
              <a:buChar char="●"/>
            </a:pPr>
            <a:r>
              <a:rPr lang="fr" sz="600">
                <a:solidFill>
                  <a:srgbClr val="3C78D8"/>
                </a:solidFill>
                <a:latin typeface="Calibri"/>
                <a:ea typeface="Calibri"/>
                <a:cs typeface="Calibri"/>
                <a:sym typeface="Calibri"/>
              </a:rPr>
              <a:t>pgvector (embeddings)</a:t>
            </a:r>
            <a:endParaRPr sz="600">
              <a:solidFill>
                <a:srgbClr val="3C78D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66700" lvl="0" marL="457200" rtl="0" algn="l">
              <a:spcBef>
                <a:spcPts val="0"/>
              </a:spcBef>
              <a:spcAft>
                <a:spcPts val="0"/>
              </a:spcAft>
              <a:buClr>
                <a:srgbClr val="3C78D8"/>
              </a:buClr>
              <a:buSzPts val="600"/>
              <a:buFont typeface="Calibri"/>
              <a:buChar char="●"/>
            </a:pPr>
            <a:r>
              <a:rPr lang="fr" sz="600">
                <a:solidFill>
                  <a:srgbClr val="3C78D8"/>
                </a:solidFill>
                <a:latin typeface="Calibri"/>
                <a:ea typeface="Calibri"/>
                <a:cs typeface="Calibri"/>
                <a:sym typeface="Calibri"/>
              </a:rPr>
              <a:t>PostGIS (géo)</a:t>
            </a:r>
            <a:endParaRPr sz="600">
              <a:solidFill>
                <a:srgbClr val="3C78D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66700" lvl="0" marL="457200" rtl="0" algn="l">
              <a:spcBef>
                <a:spcPts val="0"/>
              </a:spcBef>
              <a:spcAft>
                <a:spcPts val="0"/>
              </a:spcAft>
              <a:buClr>
                <a:srgbClr val="3C78D8"/>
              </a:buClr>
              <a:buSzPts val="600"/>
              <a:buFont typeface="Calibri"/>
              <a:buChar char="●"/>
            </a:pPr>
            <a:r>
              <a:rPr lang="fr" sz="600">
                <a:solidFill>
                  <a:srgbClr val="3C78D8"/>
                </a:solidFill>
                <a:latin typeface="Calibri"/>
                <a:ea typeface="Calibri"/>
                <a:cs typeface="Calibri"/>
                <a:sym typeface="Calibri"/>
              </a:rPr>
              <a:t>relationnel + mémoire LT</a:t>
            </a:r>
            <a:endParaRPr sz="600">
              <a:solidFill>
                <a:srgbClr val="3C78D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4" name="Google Shape;2044;p85"/>
          <p:cNvSpPr/>
          <p:nvPr/>
        </p:nvSpPr>
        <p:spPr>
          <a:xfrm>
            <a:off x="562125" y="3030722"/>
            <a:ext cx="1578000" cy="303000"/>
          </a:xfrm>
          <a:prstGeom prst="roundRect">
            <a:avLst>
              <a:gd fmla="val 16667" name="adj"/>
            </a:avLst>
          </a:prstGeom>
          <a:solidFill>
            <a:srgbClr val="0000FF">
              <a:alpha val="7999"/>
            </a:srgbClr>
          </a:solidFill>
          <a:ln cap="flat" cmpd="sng" w="9525">
            <a:solidFill>
              <a:srgbClr val="00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800">
                <a:solidFill>
                  <a:srgbClr val="3C78D8"/>
                </a:solidFill>
                <a:latin typeface="Calibri"/>
                <a:ea typeface="Calibri"/>
                <a:cs typeface="Calibri"/>
                <a:sym typeface="Calibri"/>
              </a:rPr>
              <a:t>Managed Redis</a:t>
            </a:r>
            <a:endParaRPr b="1" sz="800">
              <a:solidFill>
                <a:srgbClr val="3C78D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 sz="600">
                <a:solidFill>
                  <a:srgbClr val="3C78D8"/>
                </a:solidFill>
                <a:latin typeface="Calibri"/>
                <a:ea typeface="Calibri"/>
                <a:cs typeface="Calibri"/>
                <a:sym typeface="Calibri"/>
              </a:rPr>
              <a:t>mémoire court terme / session</a:t>
            </a:r>
            <a:endParaRPr sz="600">
              <a:solidFill>
                <a:srgbClr val="3C78D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5" name="Google Shape;2045;p85"/>
          <p:cNvSpPr/>
          <p:nvPr/>
        </p:nvSpPr>
        <p:spPr>
          <a:xfrm>
            <a:off x="562125" y="3492525"/>
            <a:ext cx="1578000" cy="303000"/>
          </a:xfrm>
          <a:prstGeom prst="roundRect">
            <a:avLst>
              <a:gd fmla="val 16667" name="adj"/>
            </a:avLst>
          </a:prstGeom>
          <a:solidFill>
            <a:srgbClr val="0000FF">
              <a:alpha val="3999"/>
            </a:srgbClr>
          </a:solidFill>
          <a:ln cap="flat" cmpd="sng" w="9525">
            <a:solidFill>
              <a:srgbClr val="00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800">
                <a:solidFill>
                  <a:srgbClr val="3C78D8"/>
                </a:solidFill>
                <a:latin typeface="Calibri"/>
                <a:ea typeface="Calibri"/>
                <a:cs typeface="Calibri"/>
                <a:sym typeface="Calibri"/>
              </a:rPr>
              <a:t>Object storage</a:t>
            </a:r>
            <a:r>
              <a:rPr lang="fr" sz="800">
                <a:solidFill>
                  <a:srgbClr val="3C78D8"/>
                </a:solidFill>
                <a:latin typeface="Calibri"/>
                <a:ea typeface="Calibri"/>
                <a:cs typeface="Calibri"/>
                <a:sym typeface="Calibri"/>
              </a:rPr>
              <a:t> S3</a:t>
            </a:r>
            <a:endParaRPr sz="800">
              <a:solidFill>
                <a:srgbClr val="3C78D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6" name="Google Shape;2046;p85"/>
          <p:cNvSpPr/>
          <p:nvPr/>
        </p:nvSpPr>
        <p:spPr>
          <a:xfrm>
            <a:off x="3234300" y="1858100"/>
            <a:ext cx="2675400" cy="2257800"/>
          </a:xfrm>
          <a:prstGeom prst="roundRect">
            <a:avLst>
              <a:gd fmla="val 16667" name="adj"/>
            </a:avLst>
          </a:prstGeom>
          <a:solidFill>
            <a:srgbClr val="0E9C8A">
              <a:alpha val="7999"/>
            </a:srgbClr>
          </a:solidFill>
          <a:ln cap="flat" cmpd="sng" w="9525">
            <a:solidFill>
              <a:srgbClr val="0E9C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7" name="Google Shape;2047;p85"/>
          <p:cNvSpPr/>
          <p:nvPr/>
        </p:nvSpPr>
        <p:spPr>
          <a:xfrm>
            <a:off x="3431358" y="2172800"/>
            <a:ext cx="2270400" cy="521400"/>
          </a:xfrm>
          <a:prstGeom prst="roundRect">
            <a:avLst>
              <a:gd fmla="val 16667" name="adj"/>
            </a:avLst>
          </a:prstGeom>
          <a:solidFill>
            <a:srgbClr val="0E9C8A">
              <a:alpha val="23999"/>
            </a:srgbClr>
          </a:solidFill>
          <a:ln cap="flat" cmpd="sng" w="9525">
            <a:solidFill>
              <a:srgbClr val="0E9C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800">
                <a:solidFill>
                  <a:srgbClr val="0E9C8A"/>
                </a:solidFill>
                <a:latin typeface="Calibri"/>
                <a:ea typeface="Calibri"/>
                <a:cs typeface="Calibri"/>
                <a:sym typeface="Calibri"/>
              </a:rPr>
              <a:t>Agents smolagents</a:t>
            </a:r>
            <a:endParaRPr b="1" sz="800">
              <a:solidFill>
                <a:srgbClr val="0E9C8A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 sz="600">
                <a:solidFill>
                  <a:srgbClr val="0E9C8A"/>
                </a:solidFill>
                <a:latin typeface="Calibri"/>
                <a:ea typeface="Calibri"/>
                <a:cs typeface="Calibri"/>
                <a:sym typeface="Calibri"/>
              </a:rPr>
              <a:t>(orchestration des outils)</a:t>
            </a:r>
            <a:endParaRPr sz="600">
              <a:solidFill>
                <a:srgbClr val="0E9C8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8" name="Google Shape;2048;p85"/>
          <p:cNvSpPr/>
          <p:nvPr/>
        </p:nvSpPr>
        <p:spPr>
          <a:xfrm>
            <a:off x="3431458" y="2799875"/>
            <a:ext cx="1041900" cy="340800"/>
          </a:xfrm>
          <a:prstGeom prst="roundRect">
            <a:avLst>
              <a:gd fmla="val 16667" name="adj"/>
            </a:avLst>
          </a:prstGeom>
          <a:solidFill>
            <a:srgbClr val="0E9C8A">
              <a:alpha val="15999"/>
            </a:srgbClr>
          </a:solidFill>
          <a:ln cap="flat" cmpd="sng" w="9525">
            <a:solidFill>
              <a:srgbClr val="0E9C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800">
                <a:solidFill>
                  <a:srgbClr val="0E9C8A"/>
                </a:solidFill>
                <a:latin typeface="Calibri"/>
                <a:ea typeface="Calibri"/>
                <a:cs typeface="Calibri"/>
                <a:sym typeface="Calibri"/>
              </a:rPr>
              <a:t>outil RAG</a:t>
            </a:r>
            <a:endParaRPr b="1" sz="800">
              <a:solidFill>
                <a:srgbClr val="0E9C8A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 sz="600">
                <a:solidFill>
                  <a:srgbClr val="0E9C8A"/>
                </a:solidFill>
                <a:latin typeface="Calibri"/>
                <a:ea typeface="Calibri"/>
                <a:cs typeface="Calibri"/>
                <a:sym typeface="Calibri"/>
              </a:rPr>
              <a:t>(LangChain hybride)</a:t>
            </a:r>
            <a:endParaRPr sz="600">
              <a:solidFill>
                <a:srgbClr val="0E9C8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9" name="Google Shape;2049;p85"/>
          <p:cNvSpPr txBox="1"/>
          <p:nvPr/>
        </p:nvSpPr>
        <p:spPr>
          <a:xfrm>
            <a:off x="3560475" y="1932625"/>
            <a:ext cx="19485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800">
                <a:solidFill>
                  <a:srgbClr val="0E9C8A"/>
                </a:solidFill>
                <a:latin typeface="Calibri"/>
                <a:ea typeface="Calibri"/>
                <a:cs typeface="Calibri"/>
                <a:sym typeface="Calibri"/>
              </a:rPr>
              <a:t>Serverless Containers - API FastAPI (SSE)</a:t>
            </a:r>
            <a:endParaRPr b="1" sz="800">
              <a:solidFill>
                <a:srgbClr val="0E9C8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0" name="Google Shape;2050;p85"/>
          <p:cNvSpPr/>
          <p:nvPr/>
        </p:nvSpPr>
        <p:spPr>
          <a:xfrm>
            <a:off x="4704742" y="3246350"/>
            <a:ext cx="1012500" cy="340800"/>
          </a:xfrm>
          <a:prstGeom prst="roundRect">
            <a:avLst>
              <a:gd fmla="val 16667" name="adj"/>
            </a:avLst>
          </a:prstGeom>
          <a:solidFill>
            <a:srgbClr val="0E9C8A">
              <a:alpha val="15999"/>
            </a:srgbClr>
          </a:solidFill>
          <a:ln cap="flat" cmpd="sng" w="9525">
            <a:solidFill>
              <a:srgbClr val="0E9C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800">
                <a:solidFill>
                  <a:srgbClr val="0E9C8A"/>
                </a:solidFill>
                <a:latin typeface="Calibri"/>
                <a:ea typeface="Calibri"/>
                <a:cs typeface="Calibri"/>
                <a:sym typeface="Calibri"/>
              </a:rPr>
              <a:t>outil mémoire</a:t>
            </a:r>
            <a:endParaRPr b="1" sz="800">
              <a:solidFill>
                <a:srgbClr val="0E9C8A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 sz="600">
                <a:solidFill>
                  <a:srgbClr val="0E9C8A"/>
                </a:solidFill>
                <a:latin typeface="Calibri"/>
                <a:ea typeface="Calibri"/>
                <a:cs typeface="Calibri"/>
                <a:sym typeface="Calibri"/>
              </a:rPr>
              <a:t>(Redis + PG)</a:t>
            </a:r>
            <a:endParaRPr sz="600">
              <a:solidFill>
                <a:srgbClr val="0E9C8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1" name="Google Shape;2051;p85"/>
          <p:cNvSpPr/>
          <p:nvPr/>
        </p:nvSpPr>
        <p:spPr>
          <a:xfrm>
            <a:off x="4689144" y="2799874"/>
            <a:ext cx="1012500" cy="340800"/>
          </a:xfrm>
          <a:prstGeom prst="roundRect">
            <a:avLst>
              <a:gd fmla="val 16667" name="adj"/>
            </a:avLst>
          </a:prstGeom>
          <a:solidFill>
            <a:srgbClr val="0E9C8A">
              <a:alpha val="15999"/>
            </a:srgbClr>
          </a:solidFill>
          <a:ln cap="flat" cmpd="sng" w="9525">
            <a:solidFill>
              <a:srgbClr val="0E9C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800">
                <a:solidFill>
                  <a:srgbClr val="0E9C8A"/>
                </a:solidFill>
                <a:latin typeface="Calibri"/>
                <a:ea typeface="Calibri"/>
                <a:cs typeface="Calibri"/>
                <a:sym typeface="Calibri"/>
              </a:rPr>
              <a:t>outil web</a:t>
            </a:r>
            <a:endParaRPr b="1" sz="800">
              <a:solidFill>
                <a:srgbClr val="0E9C8A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fr" sz="600">
                <a:solidFill>
                  <a:srgbClr val="0E9C8A"/>
                </a:solidFill>
                <a:latin typeface="Calibri"/>
                <a:ea typeface="Calibri"/>
                <a:cs typeface="Calibri"/>
                <a:sym typeface="Calibri"/>
              </a:rPr>
              <a:t>(Tavily)</a:t>
            </a:r>
            <a:endParaRPr sz="600">
              <a:solidFill>
                <a:srgbClr val="0E9C8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2" name="Google Shape;2052;p85"/>
          <p:cNvSpPr/>
          <p:nvPr/>
        </p:nvSpPr>
        <p:spPr>
          <a:xfrm>
            <a:off x="3426758" y="3246355"/>
            <a:ext cx="1041900" cy="340800"/>
          </a:xfrm>
          <a:prstGeom prst="roundRect">
            <a:avLst>
              <a:gd fmla="val 16667" name="adj"/>
            </a:avLst>
          </a:prstGeom>
          <a:solidFill>
            <a:srgbClr val="0E9C8A">
              <a:alpha val="15999"/>
            </a:srgbClr>
          </a:solidFill>
          <a:ln cap="flat" cmpd="sng" w="9525">
            <a:solidFill>
              <a:srgbClr val="0E9C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fr" sz="800">
                <a:solidFill>
                  <a:srgbClr val="0E9C8A"/>
                </a:solidFill>
                <a:latin typeface="Calibri"/>
                <a:ea typeface="Calibri"/>
                <a:cs typeface="Calibri"/>
                <a:sym typeface="Calibri"/>
              </a:rPr>
              <a:t>outil géo</a:t>
            </a:r>
            <a:endParaRPr b="1" sz="800">
              <a:solidFill>
                <a:srgbClr val="0E9C8A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fr" sz="600">
                <a:solidFill>
                  <a:srgbClr val="0E9C8A"/>
                </a:solidFill>
                <a:latin typeface="Calibri"/>
                <a:ea typeface="Calibri"/>
                <a:cs typeface="Calibri"/>
                <a:sym typeface="Calibri"/>
              </a:rPr>
              <a:t>(PostGIS)</a:t>
            </a:r>
            <a:endParaRPr/>
          </a:p>
        </p:txBody>
      </p:sp>
      <p:sp>
        <p:nvSpPr>
          <p:cNvPr id="2053" name="Google Shape;2053;p85"/>
          <p:cNvSpPr/>
          <p:nvPr/>
        </p:nvSpPr>
        <p:spPr>
          <a:xfrm>
            <a:off x="6534600" y="2344650"/>
            <a:ext cx="2151300" cy="454200"/>
          </a:xfrm>
          <a:prstGeom prst="roundRect">
            <a:avLst>
              <a:gd fmla="val 6000" name="adj"/>
            </a:avLst>
          </a:prstGeom>
          <a:solidFill>
            <a:srgbClr val="674EA7">
              <a:alpha val="7999"/>
            </a:srgbClr>
          </a:solidFill>
          <a:ln cap="flat" cmpd="sng" w="9525">
            <a:solidFill>
              <a:srgbClr val="674EA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fr" sz="800">
                <a:solidFill>
                  <a:srgbClr val="674EA7"/>
                </a:solidFill>
                <a:latin typeface="Calibri"/>
                <a:ea typeface="Calibri"/>
                <a:cs typeface="Calibri"/>
                <a:sym typeface="Calibri"/>
              </a:rPr>
              <a:t>Langfuse</a:t>
            </a:r>
            <a:endParaRPr b="1" sz="800">
              <a:solidFill>
                <a:srgbClr val="674EA7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fr" sz="600">
                <a:solidFill>
                  <a:srgbClr val="674EA7"/>
                </a:solidFill>
                <a:latin typeface="Calibri"/>
                <a:ea typeface="Calibri"/>
                <a:cs typeface="Calibri"/>
                <a:sym typeface="Calibri"/>
              </a:rPr>
              <a:t>observabilité RAG</a:t>
            </a:r>
            <a:endParaRPr sz="600">
              <a:solidFill>
                <a:srgbClr val="674EA7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fr" sz="600">
                <a:solidFill>
                  <a:srgbClr val="674EA7"/>
                </a:solidFill>
                <a:latin typeface="Calibri"/>
                <a:ea typeface="Calibri"/>
                <a:cs typeface="Calibri"/>
                <a:sym typeface="Calibri"/>
              </a:rPr>
              <a:t>qualité . coût . feedback</a:t>
            </a:r>
            <a:endParaRPr sz="600">
              <a:solidFill>
                <a:srgbClr val="674EA7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4" name="Google Shape;2054;p85"/>
          <p:cNvSpPr/>
          <p:nvPr/>
        </p:nvSpPr>
        <p:spPr>
          <a:xfrm>
            <a:off x="6534600" y="2969250"/>
            <a:ext cx="2151300" cy="454200"/>
          </a:xfrm>
          <a:prstGeom prst="roundRect">
            <a:avLst>
              <a:gd fmla="val 6000" name="adj"/>
            </a:avLst>
          </a:prstGeom>
          <a:solidFill>
            <a:srgbClr val="674EA7">
              <a:alpha val="7999"/>
            </a:srgbClr>
          </a:solidFill>
          <a:ln cap="flat" cmpd="sng" w="9525">
            <a:solidFill>
              <a:srgbClr val="674EA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fr" sz="800">
                <a:solidFill>
                  <a:srgbClr val="674EA7"/>
                </a:solidFill>
                <a:latin typeface="Calibri"/>
                <a:ea typeface="Calibri"/>
                <a:cs typeface="Calibri"/>
                <a:sym typeface="Calibri"/>
              </a:rPr>
              <a:t>Cockpit</a:t>
            </a:r>
            <a:r>
              <a:rPr lang="fr" sz="800">
                <a:solidFill>
                  <a:srgbClr val="674EA7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fr" sz="600">
                <a:solidFill>
                  <a:srgbClr val="674EA7"/>
                </a:solidFill>
                <a:latin typeface="Calibri"/>
                <a:ea typeface="Calibri"/>
                <a:cs typeface="Calibri"/>
                <a:sym typeface="Calibri"/>
              </a:rPr>
              <a:t>(natif, gratuit)</a:t>
            </a:r>
            <a:endParaRPr sz="600">
              <a:solidFill>
                <a:srgbClr val="674EA7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fr" sz="600">
                <a:solidFill>
                  <a:srgbClr val="674EA7"/>
                </a:solidFill>
                <a:latin typeface="Calibri"/>
                <a:ea typeface="Calibri"/>
                <a:cs typeface="Calibri"/>
                <a:sym typeface="Calibri"/>
              </a:rPr>
              <a:t>observabilité infra</a:t>
            </a:r>
            <a:endParaRPr sz="600">
              <a:solidFill>
                <a:srgbClr val="674EA7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fr" sz="600">
                <a:solidFill>
                  <a:srgbClr val="674EA7"/>
                </a:solidFill>
                <a:latin typeface="Calibri"/>
                <a:ea typeface="Calibri"/>
                <a:cs typeface="Calibri"/>
                <a:sym typeface="Calibri"/>
              </a:rPr>
              <a:t>latence . logs . CPU  </a:t>
            </a:r>
            <a:endParaRPr sz="600">
              <a:solidFill>
                <a:srgbClr val="674EA7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5" name="Google Shape;2055;p85"/>
          <p:cNvSpPr/>
          <p:nvPr/>
        </p:nvSpPr>
        <p:spPr>
          <a:xfrm>
            <a:off x="2967450" y="4523300"/>
            <a:ext cx="3209100" cy="329700"/>
          </a:xfrm>
          <a:prstGeom prst="roundRect">
            <a:avLst>
              <a:gd fmla="val 16667" name="adj"/>
            </a:avLst>
          </a:prstGeom>
          <a:solidFill>
            <a:srgbClr val="F4F4F5"/>
          </a:solidFill>
          <a:ln cap="flat" cmpd="sng" w="9525">
            <a:solidFill>
              <a:srgbClr val="222A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800">
                <a:solidFill>
                  <a:srgbClr val="222A3A"/>
                </a:solidFill>
                <a:latin typeface="Calibri"/>
                <a:ea typeface="Calibri"/>
                <a:cs typeface="Calibri"/>
                <a:sym typeface="Calibri"/>
              </a:rPr>
              <a:t>frontend web / Utilisateurs</a:t>
            </a:r>
            <a:endParaRPr b="1" sz="800">
              <a:solidFill>
                <a:srgbClr val="222A3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6" name="Google Shape;2056;p85"/>
          <p:cNvSpPr txBox="1"/>
          <p:nvPr/>
        </p:nvSpPr>
        <p:spPr>
          <a:xfrm>
            <a:off x="4586100" y="4275550"/>
            <a:ext cx="1090200" cy="20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 sz="600">
                <a:solidFill>
                  <a:srgbClr val="F4F4F5"/>
                </a:solidFill>
                <a:latin typeface="Calibri"/>
                <a:ea typeface="Calibri"/>
                <a:cs typeface="Calibri"/>
                <a:sym typeface="Calibri"/>
              </a:rPr>
              <a:t>question ⇒ / réponse SSE ⇐</a:t>
            </a:r>
            <a:endParaRPr sz="600">
              <a:solidFill>
                <a:srgbClr val="F4F4F5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 sz="600">
                <a:solidFill>
                  <a:srgbClr val="F4F4F5"/>
                </a:solidFill>
                <a:latin typeface="Calibri"/>
                <a:ea typeface="Calibri"/>
                <a:cs typeface="Calibri"/>
                <a:sym typeface="Calibri"/>
              </a:rPr>
              <a:t>(HTTPS/SSE)</a:t>
            </a:r>
            <a:endParaRPr sz="600">
              <a:solidFill>
                <a:srgbClr val="F4F4F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057" name="Google Shape;2057;p85"/>
          <p:cNvCxnSpPr>
            <a:endCxn id="2042" idx="0"/>
          </p:cNvCxnSpPr>
          <p:nvPr/>
        </p:nvCxnSpPr>
        <p:spPr>
          <a:xfrm flipH="1">
            <a:off x="1365219" y="1511925"/>
            <a:ext cx="2100" cy="319200"/>
          </a:xfrm>
          <a:prstGeom prst="straightConnector1">
            <a:avLst/>
          </a:prstGeom>
          <a:noFill/>
          <a:ln cap="flat" cmpd="sng" w="9525">
            <a:solidFill>
              <a:srgbClr val="923E2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058" name="Google Shape;2058;p85"/>
          <p:cNvCxnSpPr>
            <a:stCxn id="2042" idx="3"/>
            <a:endCxn id="2040" idx="1"/>
          </p:cNvCxnSpPr>
          <p:nvPr/>
        </p:nvCxnSpPr>
        <p:spPr>
          <a:xfrm flipH="1" rot="10800000">
            <a:off x="2154219" y="1240275"/>
            <a:ext cx="1274700" cy="770700"/>
          </a:xfrm>
          <a:prstGeom prst="curvedConnector3">
            <a:avLst>
              <a:gd fmla="val 50003" name="adj1"/>
            </a:avLst>
          </a:prstGeom>
          <a:noFill/>
          <a:ln cap="flat" cmpd="sng" w="9525">
            <a:solidFill>
              <a:srgbClr val="923E22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2059" name="Google Shape;2059;p85"/>
          <p:cNvCxnSpPr>
            <a:stCxn id="2042" idx="2"/>
            <a:endCxn id="2043" idx="0"/>
          </p:cNvCxnSpPr>
          <p:nvPr/>
        </p:nvCxnSpPr>
        <p:spPr>
          <a:xfrm flipH="1">
            <a:off x="1351119" y="2190825"/>
            <a:ext cx="14100" cy="159600"/>
          </a:xfrm>
          <a:prstGeom prst="straightConnector1">
            <a:avLst/>
          </a:prstGeom>
          <a:noFill/>
          <a:ln cap="flat" cmpd="sng" w="9525">
            <a:solidFill>
              <a:srgbClr val="923E2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060" name="Google Shape;2060;p85"/>
          <p:cNvCxnSpPr>
            <a:stCxn id="2048" idx="1"/>
            <a:endCxn id="2043" idx="3"/>
          </p:cNvCxnSpPr>
          <p:nvPr/>
        </p:nvCxnSpPr>
        <p:spPr>
          <a:xfrm rot="10800000">
            <a:off x="2140258" y="2611175"/>
            <a:ext cx="1291200" cy="359100"/>
          </a:xfrm>
          <a:prstGeom prst="curvedConnector3">
            <a:avLst>
              <a:gd fmla="val 50005" name="adj1"/>
            </a:avLst>
          </a:prstGeom>
          <a:noFill/>
          <a:ln cap="flat" cmpd="sng" w="9525">
            <a:solidFill>
              <a:srgbClr val="0E9C8A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061" name="Google Shape;2061;p85"/>
          <p:cNvCxnSpPr>
            <a:stCxn id="2050" idx="3"/>
            <a:endCxn id="2044" idx="3"/>
          </p:cNvCxnSpPr>
          <p:nvPr/>
        </p:nvCxnSpPr>
        <p:spPr>
          <a:xfrm rot="10800000">
            <a:off x="2140042" y="3182150"/>
            <a:ext cx="3577200" cy="234600"/>
          </a:xfrm>
          <a:prstGeom prst="curvedConnector5">
            <a:avLst>
              <a:gd fmla="val -1538" name="adj1"/>
              <a:gd fmla="val -227526" name="adj2"/>
              <a:gd fmla="val 77179" name="adj3"/>
            </a:avLst>
          </a:prstGeom>
          <a:noFill/>
          <a:ln cap="flat" cmpd="sng" w="9525">
            <a:solidFill>
              <a:srgbClr val="0E9C8A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062" name="Google Shape;2062;p85"/>
          <p:cNvCxnSpPr>
            <a:stCxn id="2054" idx="1"/>
            <a:endCxn id="2043" idx="3"/>
          </p:cNvCxnSpPr>
          <p:nvPr/>
        </p:nvCxnSpPr>
        <p:spPr>
          <a:xfrm rot="10800000">
            <a:off x="2140200" y="2611050"/>
            <a:ext cx="4394400" cy="585300"/>
          </a:xfrm>
          <a:prstGeom prst="bentConnector3">
            <a:avLst>
              <a:gd fmla="val 76926" name="adj1"/>
            </a:avLst>
          </a:prstGeom>
          <a:noFill/>
          <a:ln cap="flat" cmpd="sng" w="9525">
            <a:solidFill>
              <a:srgbClr val="674EA7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2063" name="Google Shape;2063;p85"/>
          <p:cNvCxnSpPr>
            <a:stCxn id="2053" idx="1"/>
            <a:endCxn id="2046" idx="3"/>
          </p:cNvCxnSpPr>
          <p:nvPr/>
        </p:nvCxnSpPr>
        <p:spPr>
          <a:xfrm flipH="1">
            <a:off x="5909700" y="2571750"/>
            <a:ext cx="624900" cy="415200"/>
          </a:xfrm>
          <a:prstGeom prst="curvedConnector3">
            <a:avLst>
              <a:gd fmla="val 50000" name="adj1"/>
            </a:avLst>
          </a:prstGeom>
          <a:noFill/>
          <a:ln cap="flat" cmpd="sng" w="9525">
            <a:solidFill>
              <a:srgbClr val="674EA7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2064" name="Google Shape;2064;p85"/>
          <p:cNvCxnSpPr>
            <a:stCxn id="2054" idx="1"/>
            <a:endCxn id="2046" idx="3"/>
          </p:cNvCxnSpPr>
          <p:nvPr/>
        </p:nvCxnSpPr>
        <p:spPr>
          <a:xfrm rot="10800000">
            <a:off x="5909700" y="2986950"/>
            <a:ext cx="624900" cy="209400"/>
          </a:xfrm>
          <a:prstGeom prst="curvedConnector3">
            <a:avLst>
              <a:gd fmla="val 50000" name="adj1"/>
            </a:avLst>
          </a:prstGeom>
          <a:noFill/>
          <a:ln cap="flat" cmpd="sng" w="9525">
            <a:solidFill>
              <a:srgbClr val="674EA7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2065" name="Google Shape;2065;p85"/>
          <p:cNvCxnSpPr>
            <a:stCxn id="2042" idx="1"/>
            <a:endCxn id="2045" idx="1"/>
          </p:cNvCxnSpPr>
          <p:nvPr/>
        </p:nvCxnSpPr>
        <p:spPr>
          <a:xfrm flipH="1">
            <a:off x="562119" y="2010975"/>
            <a:ext cx="14100" cy="1633200"/>
          </a:xfrm>
          <a:prstGeom prst="curvedConnector3">
            <a:avLst>
              <a:gd fmla="val 1788788" name="adj1"/>
            </a:avLst>
          </a:prstGeom>
          <a:noFill/>
          <a:ln cap="flat" cmpd="sng" w="9525">
            <a:solidFill>
              <a:srgbClr val="923E2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066" name="Google Shape;2066;p85"/>
          <p:cNvCxnSpPr>
            <a:stCxn id="2051" idx="3"/>
            <a:endCxn id="2041" idx="1"/>
          </p:cNvCxnSpPr>
          <p:nvPr/>
        </p:nvCxnSpPr>
        <p:spPr>
          <a:xfrm flipH="1" rot="10800000">
            <a:off x="5701644" y="1241074"/>
            <a:ext cx="765600" cy="1729200"/>
          </a:xfrm>
          <a:prstGeom prst="curvedConnector3">
            <a:avLst>
              <a:gd fmla="val 49991" name="adj1"/>
            </a:avLst>
          </a:prstGeom>
          <a:noFill/>
          <a:ln cap="flat" cmpd="sng" w="9525">
            <a:solidFill>
              <a:srgbClr val="0E9C8A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067" name="Google Shape;2067;p85"/>
          <p:cNvSpPr txBox="1"/>
          <p:nvPr/>
        </p:nvSpPr>
        <p:spPr>
          <a:xfrm>
            <a:off x="21775" y="2444838"/>
            <a:ext cx="399300" cy="12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 sz="600">
                <a:solidFill>
                  <a:srgbClr val="923E22"/>
                </a:solidFill>
                <a:latin typeface="Calibri"/>
                <a:ea typeface="Calibri"/>
                <a:cs typeface="Calibri"/>
                <a:sym typeface="Calibri"/>
              </a:rPr>
              <a:t>dump</a:t>
            </a:r>
            <a:endParaRPr sz="600">
              <a:solidFill>
                <a:srgbClr val="923E2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8" name="Google Shape;2068;p85"/>
          <p:cNvSpPr txBox="1"/>
          <p:nvPr/>
        </p:nvSpPr>
        <p:spPr>
          <a:xfrm>
            <a:off x="1310800" y="2206363"/>
            <a:ext cx="399300" cy="12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 sz="600">
                <a:solidFill>
                  <a:srgbClr val="923E22"/>
                </a:solidFill>
                <a:latin typeface="Calibri"/>
                <a:ea typeface="Calibri"/>
                <a:cs typeface="Calibri"/>
                <a:sym typeface="Calibri"/>
              </a:rPr>
              <a:t>upsert</a:t>
            </a:r>
            <a:endParaRPr sz="600">
              <a:solidFill>
                <a:srgbClr val="923E2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9" name="Google Shape;2069;p85"/>
          <p:cNvSpPr txBox="1"/>
          <p:nvPr/>
        </p:nvSpPr>
        <p:spPr>
          <a:xfrm>
            <a:off x="1290360" y="1518088"/>
            <a:ext cx="582600" cy="12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 sz="600">
                <a:solidFill>
                  <a:srgbClr val="923E22"/>
                </a:solidFill>
                <a:latin typeface="Calibri"/>
                <a:ea typeface="Calibri"/>
                <a:cs typeface="Calibri"/>
                <a:sym typeface="Calibri"/>
              </a:rPr>
              <a:t>événements</a:t>
            </a:r>
            <a:endParaRPr sz="600">
              <a:solidFill>
                <a:srgbClr val="923E2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0" name="Google Shape;2070;p85"/>
          <p:cNvSpPr txBox="1"/>
          <p:nvPr/>
        </p:nvSpPr>
        <p:spPr>
          <a:xfrm>
            <a:off x="2517323" y="1775063"/>
            <a:ext cx="582600" cy="12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 sz="600">
                <a:solidFill>
                  <a:srgbClr val="923E22"/>
                </a:solidFill>
                <a:latin typeface="Calibri"/>
                <a:ea typeface="Calibri"/>
                <a:cs typeface="Calibri"/>
                <a:sym typeface="Calibri"/>
              </a:rPr>
              <a:t>embeddings</a:t>
            </a:r>
            <a:endParaRPr sz="600">
              <a:solidFill>
                <a:srgbClr val="923E2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1" name="Google Shape;2071;p85"/>
          <p:cNvSpPr txBox="1"/>
          <p:nvPr/>
        </p:nvSpPr>
        <p:spPr>
          <a:xfrm>
            <a:off x="2619046" y="2657541"/>
            <a:ext cx="486300" cy="12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 sz="600">
                <a:solidFill>
                  <a:srgbClr val="0E9C8A"/>
                </a:solidFill>
                <a:latin typeface="Calibri"/>
                <a:ea typeface="Calibri"/>
                <a:cs typeface="Calibri"/>
                <a:sym typeface="Calibri"/>
              </a:rPr>
              <a:t>retrieval</a:t>
            </a:r>
            <a:endParaRPr sz="600">
              <a:solidFill>
                <a:srgbClr val="0E9C8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2" name="Google Shape;2072;p85"/>
          <p:cNvSpPr txBox="1"/>
          <p:nvPr/>
        </p:nvSpPr>
        <p:spPr>
          <a:xfrm>
            <a:off x="6176100" y="2745525"/>
            <a:ext cx="358500" cy="12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 sz="600">
                <a:solidFill>
                  <a:srgbClr val="674EA7"/>
                </a:solidFill>
                <a:latin typeface="Calibri"/>
                <a:ea typeface="Calibri"/>
                <a:cs typeface="Calibri"/>
                <a:sym typeface="Calibri"/>
              </a:rPr>
              <a:t>trace</a:t>
            </a:r>
            <a:endParaRPr sz="600">
              <a:solidFill>
                <a:srgbClr val="674EA7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3" name="Google Shape;2073;p85"/>
          <p:cNvSpPr txBox="1"/>
          <p:nvPr/>
        </p:nvSpPr>
        <p:spPr>
          <a:xfrm>
            <a:off x="6058300" y="3233650"/>
            <a:ext cx="519900" cy="12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 sz="600">
                <a:solidFill>
                  <a:srgbClr val="674EA7"/>
                </a:solidFill>
                <a:latin typeface="Calibri"/>
                <a:ea typeface="Calibri"/>
                <a:cs typeface="Calibri"/>
                <a:sym typeface="Calibri"/>
              </a:rPr>
              <a:t>métriques</a:t>
            </a:r>
            <a:endParaRPr sz="600">
              <a:solidFill>
                <a:srgbClr val="674EA7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4" name="Google Shape;2074;p85"/>
          <p:cNvSpPr txBox="1"/>
          <p:nvPr/>
        </p:nvSpPr>
        <p:spPr>
          <a:xfrm>
            <a:off x="283150" y="3953488"/>
            <a:ext cx="2454600" cy="23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1000">
                <a:solidFill>
                  <a:srgbClr val="B07BC2"/>
                </a:solidFill>
                <a:latin typeface="Calibri"/>
                <a:ea typeface="Calibri"/>
                <a:cs typeface="Calibri"/>
                <a:sym typeface="Calibri"/>
              </a:rPr>
              <a:t>SCALEWAY</a:t>
            </a:r>
            <a:r>
              <a:rPr lang="fr" sz="800">
                <a:solidFill>
                  <a:srgbClr val="B07BC2"/>
                </a:solidFill>
                <a:latin typeface="Calibri"/>
                <a:ea typeface="Calibri"/>
                <a:cs typeface="Calibri"/>
                <a:sym typeface="Calibri"/>
              </a:rPr>
              <a:t> - cloud souverain (UE, hors CLOUD Act) </a:t>
            </a:r>
            <a:endParaRPr sz="800">
              <a:solidFill>
                <a:srgbClr val="B07BC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5" name="Google Shape;2075;p85"/>
          <p:cNvSpPr/>
          <p:nvPr/>
        </p:nvSpPr>
        <p:spPr>
          <a:xfrm>
            <a:off x="7068700" y="4409050"/>
            <a:ext cx="144600" cy="72900"/>
          </a:xfrm>
          <a:prstGeom prst="roundRect">
            <a:avLst>
              <a:gd fmla="val 16667" name="adj"/>
            </a:avLst>
          </a:prstGeom>
          <a:solidFill>
            <a:srgbClr val="9CA3AF">
              <a:alpha val="6960"/>
            </a:srgbClr>
          </a:solidFill>
          <a:ln cap="flat" cmpd="sng" w="9525">
            <a:solidFill>
              <a:srgbClr val="9CA3A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6" name="Google Shape;2076;p85"/>
          <p:cNvSpPr/>
          <p:nvPr/>
        </p:nvSpPr>
        <p:spPr>
          <a:xfrm>
            <a:off x="7068700" y="4550067"/>
            <a:ext cx="144600" cy="72900"/>
          </a:xfrm>
          <a:prstGeom prst="roundRect">
            <a:avLst>
              <a:gd fmla="val 16667" name="adj"/>
            </a:avLst>
          </a:prstGeom>
          <a:solidFill>
            <a:srgbClr val="923E22">
              <a:alpha val="7999"/>
            </a:srgbClr>
          </a:solidFill>
          <a:ln cap="flat" cmpd="sng" w="9525">
            <a:solidFill>
              <a:srgbClr val="923E2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7" name="Google Shape;2077;p85"/>
          <p:cNvSpPr/>
          <p:nvPr/>
        </p:nvSpPr>
        <p:spPr>
          <a:xfrm>
            <a:off x="7068700" y="4962200"/>
            <a:ext cx="144600" cy="72900"/>
          </a:xfrm>
          <a:prstGeom prst="roundRect">
            <a:avLst>
              <a:gd fmla="val 16667" name="adj"/>
            </a:avLst>
          </a:prstGeom>
          <a:solidFill>
            <a:srgbClr val="674EA7">
              <a:alpha val="7999"/>
            </a:srgbClr>
          </a:solidFill>
          <a:ln cap="flat" cmpd="sng" w="9525">
            <a:solidFill>
              <a:srgbClr val="674EA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8" name="Google Shape;2078;p85"/>
          <p:cNvSpPr/>
          <p:nvPr/>
        </p:nvSpPr>
        <p:spPr>
          <a:xfrm>
            <a:off x="7068700" y="4691085"/>
            <a:ext cx="144600" cy="72900"/>
          </a:xfrm>
          <a:prstGeom prst="roundRect">
            <a:avLst>
              <a:gd fmla="val 16667" name="adj"/>
            </a:avLst>
          </a:prstGeom>
          <a:solidFill>
            <a:srgbClr val="0000FF">
              <a:alpha val="14000"/>
            </a:srgbClr>
          </a:solidFill>
          <a:ln cap="flat" cmpd="sng" w="9525">
            <a:solidFill>
              <a:srgbClr val="00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9" name="Google Shape;2079;p85"/>
          <p:cNvSpPr/>
          <p:nvPr/>
        </p:nvSpPr>
        <p:spPr>
          <a:xfrm>
            <a:off x="7068700" y="4825177"/>
            <a:ext cx="144600" cy="72900"/>
          </a:xfrm>
          <a:prstGeom prst="roundRect">
            <a:avLst>
              <a:gd fmla="val 16667" name="adj"/>
            </a:avLst>
          </a:prstGeom>
          <a:solidFill>
            <a:srgbClr val="0E9C8A">
              <a:alpha val="15999"/>
            </a:srgbClr>
          </a:solidFill>
          <a:ln cap="flat" cmpd="sng" w="9525">
            <a:solidFill>
              <a:srgbClr val="0E9C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080" name="Google Shape;2080;p85"/>
          <p:cNvCxnSpPr>
            <a:endCxn id="2046" idx="2"/>
          </p:cNvCxnSpPr>
          <p:nvPr/>
        </p:nvCxnSpPr>
        <p:spPr>
          <a:xfrm rot="10800000">
            <a:off x="4572000" y="4115900"/>
            <a:ext cx="14100" cy="410100"/>
          </a:xfrm>
          <a:prstGeom prst="straightConnector1">
            <a:avLst/>
          </a:prstGeom>
          <a:noFill/>
          <a:ln cap="flat" cmpd="sng" w="9525">
            <a:solidFill>
              <a:srgbClr val="F4F4F5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081" name="Google Shape;2081;p85"/>
          <p:cNvCxnSpPr>
            <a:stCxn id="2052" idx="1"/>
            <a:endCxn id="2043" idx="3"/>
          </p:cNvCxnSpPr>
          <p:nvPr/>
        </p:nvCxnSpPr>
        <p:spPr>
          <a:xfrm rot="10800000">
            <a:off x="2140058" y="2611255"/>
            <a:ext cx="1286700" cy="805500"/>
          </a:xfrm>
          <a:prstGeom prst="curvedConnector3">
            <a:avLst>
              <a:gd fmla="val 44646" name="adj1"/>
            </a:avLst>
          </a:prstGeom>
          <a:noFill/>
          <a:ln cap="flat" cmpd="sng" w="9525">
            <a:solidFill>
              <a:srgbClr val="0E9C8A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082" name="Google Shape;2082;p85"/>
          <p:cNvCxnSpPr>
            <a:stCxn id="2050" idx="2"/>
            <a:endCxn id="2043" idx="3"/>
          </p:cNvCxnSpPr>
          <p:nvPr/>
        </p:nvCxnSpPr>
        <p:spPr>
          <a:xfrm flipH="1" rot="5400000">
            <a:off x="3187642" y="1563800"/>
            <a:ext cx="975900" cy="3070800"/>
          </a:xfrm>
          <a:prstGeom prst="curvedConnector4">
            <a:avLst>
              <a:gd fmla="val -24401" name="adj1"/>
              <a:gd fmla="val 77150" name="adj2"/>
            </a:avLst>
          </a:prstGeom>
          <a:noFill/>
          <a:ln cap="flat" cmpd="sng" w="9525">
            <a:solidFill>
              <a:srgbClr val="0E9C8A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083" name="Google Shape;2083;p85"/>
          <p:cNvSpPr txBox="1"/>
          <p:nvPr/>
        </p:nvSpPr>
        <p:spPr>
          <a:xfrm>
            <a:off x="3979391" y="3716668"/>
            <a:ext cx="582600" cy="12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 sz="600">
                <a:solidFill>
                  <a:srgbClr val="0E9C8A"/>
                </a:solidFill>
                <a:latin typeface="Calibri"/>
                <a:ea typeface="Calibri"/>
                <a:cs typeface="Calibri"/>
                <a:sym typeface="Calibri"/>
              </a:rPr>
              <a:t>mémoire LT</a:t>
            </a:r>
            <a:endParaRPr sz="600">
              <a:solidFill>
                <a:srgbClr val="0E9C8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4" name="Google Shape;2084;p85"/>
          <p:cNvSpPr txBox="1"/>
          <p:nvPr/>
        </p:nvSpPr>
        <p:spPr>
          <a:xfrm>
            <a:off x="4008429" y="3932876"/>
            <a:ext cx="569700" cy="12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 sz="600">
                <a:solidFill>
                  <a:srgbClr val="0E9C8A"/>
                </a:solidFill>
                <a:latin typeface="Calibri"/>
                <a:ea typeface="Calibri"/>
                <a:cs typeface="Calibri"/>
                <a:sym typeface="Calibri"/>
              </a:rPr>
              <a:t>mémoire CT</a:t>
            </a:r>
            <a:endParaRPr sz="600">
              <a:solidFill>
                <a:srgbClr val="0E9C8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5" name="Google Shape;2085;p85"/>
          <p:cNvSpPr txBox="1"/>
          <p:nvPr/>
        </p:nvSpPr>
        <p:spPr>
          <a:xfrm>
            <a:off x="2780476" y="2950552"/>
            <a:ext cx="358500" cy="12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 sz="600">
                <a:solidFill>
                  <a:srgbClr val="0E9C8A"/>
                </a:solidFill>
                <a:latin typeface="Calibri"/>
                <a:ea typeface="Calibri"/>
                <a:cs typeface="Calibri"/>
                <a:sym typeface="Calibri"/>
              </a:rPr>
              <a:t>géo</a:t>
            </a:r>
            <a:endParaRPr sz="600">
              <a:solidFill>
                <a:srgbClr val="0E9C8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086" name="Google Shape;2086;p85"/>
          <p:cNvCxnSpPr>
            <a:stCxn id="2047" idx="3"/>
            <a:endCxn id="2040" idx="3"/>
          </p:cNvCxnSpPr>
          <p:nvPr/>
        </p:nvCxnSpPr>
        <p:spPr>
          <a:xfrm flipH="1" rot="10800000">
            <a:off x="5701758" y="1240100"/>
            <a:ext cx="13200" cy="1193400"/>
          </a:xfrm>
          <a:prstGeom prst="curvedConnector3">
            <a:avLst>
              <a:gd fmla="val 1217172" name="adj1"/>
            </a:avLst>
          </a:prstGeom>
          <a:noFill/>
          <a:ln cap="flat" cmpd="sng" w="9525">
            <a:solidFill>
              <a:srgbClr val="0E9C8A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087" name="Google Shape;2087;p85"/>
          <p:cNvSpPr txBox="1"/>
          <p:nvPr/>
        </p:nvSpPr>
        <p:spPr>
          <a:xfrm>
            <a:off x="4955400" y="1502475"/>
            <a:ext cx="901500" cy="15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 sz="600">
                <a:solidFill>
                  <a:srgbClr val="0E9C8A"/>
                </a:solidFill>
                <a:latin typeface="Calibri"/>
                <a:ea typeface="Calibri"/>
                <a:cs typeface="Calibri"/>
                <a:sym typeface="Calibri"/>
              </a:rPr>
              <a:t>prompt ⇒ / réponse ⇐</a:t>
            </a:r>
            <a:endParaRPr sz="600">
              <a:solidFill>
                <a:srgbClr val="0E9C8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8" name="Google Shape;2088;p85"/>
          <p:cNvSpPr txBox="1"/>
          <p:nvPr/>
        </p:nvSpPr>
        <p:spPr>
          <a:xfrm>
            <a:off x="7232825" y="4367250"/>
            <a:ext cx="1755600" cy="68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600">
                <a:solidFill>
                  <a:srgbClr val="8A93A6"/>
                </a:solidFill>
                <a:latin typeface="Calibri"/>
                <a:ea typeface="Calibri"/>
                <a:cs typeface="Calibri"/>
                <a:sym typeface="Calibri"/>
              </a:rPr>
              <a:t>Sources externes</a:t>
            </a:r>
            <a:endParaRPr sz="600">
              <a:solidFill>
                <a:srgbClr val="8A93A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600">
                <a:solidFill>
                  <a:srgbClr val="8A93A6"/>
                </a:solidFill>
                <a:latin typeface="Calibri"/>
                <a:ea typeface="Calibri"/>
                <a:cs typeface="Calibri"/>
                <a:sym typeface="Calibri"/>
              </a:rPr>
              <a:t>Ingestion (Kestra)</a:t>
            </a:r>
            <a:endParaRPr sz="600">
              <a:solidFill>
                <a:srgbClr val="8A93A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600">
                <a:solidFill>
                  <a:srgbClr val="8A93A6"/>
                </a:solidFill>
                <a:latin typeface="Calibri"/>
                <a:ea typeface="Calibri"/>
                <a:cs typeface="Calibri"/>
                <a:sym typeface="Calibri"/>
              </a:rPr>
              <a:t>Stockage (PostgreSQL / Redis / Object storage)</a:t>
            </a:r>
            <a:endParaRPr sz="600">
              <a:solidFill>
                <a:srgbClr val="8A93A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600">
                <a:solidFill>
                  <a:srgbClr val="8A93A6"/>
                </a:solidFill>
                <a:latin typeface="Calibri"/>
                <a:ea typeface="Calibri"/>
                <a:cs typeface="Calibri"/>
                <a:sym typeface="Calibri"/>
              </a:rPr>
              <a:t>Applications (API + agent)</a:t>
            </a:r>
            <a:endParaRPr sz="600">
              <a:solidFill>
                <a:srgbClr val="8A93A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600">
                <a:solidFill>
                  <a:srgbClr val="8A93A6"/>
                </a:solidFill>
                <a:latin typeface="Calibri"/>
                <a:ea typeface="Calibri"/>
                <a:cs typeface="Calibri"/>
                <a:sym typeface="Calibri"/>
              </a:rPr>
              <a:t>Observabilité</a:t>
            </a:r>
            <a:endParaRPr sz="600">
              <a:solidFill>
                <a:srgbClr val="8A93A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9" name="Google Shape;2089;p85"/>
          <p:cNvSpPr txBox="1"/>
          <p:nvPr/>
        </p:nvSpPr>
        <p:spPr>
          <a:xfrm>
            <a:off x="377200" y="233175"/>
            <a:ext cx="2286900" cy="45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9050" lIns="0" spcFirstLastPara="1" rIns="0" wrap="square" tIns="190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1800">
                <a:solidFill>
                  <a:srgbClr val="0E9C8A"/>
                </a:solidFill>
                <a:latin typeface="Calibri"/>
                <a:ea typeface="Calibri"/>
                <a:cs typeface="Calibri"/>
                <a:sym typeface="Calibri"/>
              </a:rPr>
              <a:t>L’architecture du MVP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94" name="Shape 20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5" name="Google Shape;2095;p86"/>
          <p:cNvSpPr txBox="1"/>
          <p:nvPr/>
        </p:nvSpPr>
        <p:spPr>
          <a:xfrm>
            <a:off x="377200" y="233175"/>
            <a:ext cx="2286900" cy="45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9050" lIns="0" spcFirstLastPara="1" rIns="0" wrap="square" tIns="190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1800">
                <a:solidFill>
                  <a:srgbClr val="0E9C8A"/>
                </a:solidFill>
                <a:latin typeface="Calibri"/>
                <a:ea typeface="Calibri"/>
                <a:cs typeface="Calibri"/>
                <a:sym typeface="Calibri"/>
              </a:rPr>
              <a:t>Justification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6" name="Google Shape;2096;p86"/>
          <p:cNvSpPr txBox="1"/>
          <p:nvPr/>
        </p:nvSpPr>
        <p:spPr>
          <a:xfrm>
            <a:off x="377200" y="675550"/>
            <a:ext cx="26754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9050" lIns="0" spcFirstLastPara="1" rIns="0" wrap="square" tIns="190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1100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Un choix par défi — besoin, option, critère</a:t>
            </a:r>
            <a:endParaRPr b="1" sz="1100">
              <a:solidFill>
                <a:srgbClr val="9CA3A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7" name="Google Shape;2097;p86"/>
          <p:cNvSpPr txBox="1"/>
          <p:nvPr/>
        </p:nvSpPr>
        <p:spPr>
          <a:xfrm>
            <a:off x="377200" y="4945850"/>
            <a:ext cx="999000" cy="166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700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MVP RAG Puls-Events</a:t>
            </a:r>
            <a:endParaRPr sz="700">
              <a:solidFill>
                <a:srgbClr val="9CA3A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02" name="Shape 2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3" name="Google Shape;2103;p87"/>
          <p:cNvSpPr txBox="1"/>
          <p:nvPr/>
        </p:nvSpPr>
        <p:spPr>
          <a:xfrm>
            <a:off x="377200" y="233175"/>
            <a:ext cx="2286900" cy="45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9050" lIns="0" spcFirstLastPara="1" rIns="0" wrap="square" tIns="190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1800">
                <a:solidFill>
                  <a:srgbClr val="0E9C8A"/>
                </a:solidFill>
                <a:latin typeface="Calibri"/>
                <a:ea typeface="Calibri"/>
                <a:cs typeface="Calibri"/>
                <a:sym typeface="Calibri"/>
              </a:rPr>
              <a:t>Justification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4" name="Google Shape;2104;p87"/>
          <p:cNvSpPr txBox="1"/>
          <p:nvPr/>
        </p:nvSpPr>
        <p:spPr>
          <a:xfrm>
            <a:off x="377200" y="675550"/>
            <a:ext cx="26754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9050" lIns="0" spcFirstLastPara="1" rIns="0" wrap="square" tIns="190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1100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Un choix par défi — besoin, option, critère</a:t>
            </a:r>
            <a:endParaRPr b="1" sz="1100">
              <a:solidFill>
                <a:srgbClr val="9CA3A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5" name="Google Shape;2105;p87"/>
          <p:cNvSpPr txBox="1"/>
          <p:nvPr/>
        </p:nvSpPr>
        <p:spPr>
          <a:xfrm>
            <a:off x="377200" y="4945850"/>
            <a:ext cx="999000" cy="166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700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MVP RAG Puls-Events</a:t>
            </a:r>
            <a:endParaRPr sz="700">
              <a:solidFill>
                <a:srgbClr val="9CA3A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6" name="Google Shape;2106;p87"/>
          <p:cNvSpPr/>
          <p:nvPr/>
        </p:nvSpPr>
        <p:spPr>
          <a:xfrm>
            <a:off x="377200" y="994410"/>
            <a:ext cx="4149000" cy="1797000"/>
          </a:xfrm>
          <a:prstGeom prst="roundRect">
            <a:avLst>
              <a:gd fmla="val 6000" name="adj"/>
            </a:avLst>
          </a:prstGeom>
          <a:solidFill>
            <a:srgbClr val="0E9C8A">
              <a:alpha val="7999"/>
            </a:srgbClr>
          </a:solidFill>
          <a:ln cap="flat" cmpd="sng" w="7150">
            <a:solidFill>
              <a:srgbClr val="0E9C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7" name="Google Shape;2107;p87"/>
          <p:cNvSpPr/>
          <p:nvPr/>
        </p:nvSpPr>
        <p:spPr>
          <a:xfrm>
            <a:off x="582946" y="1186434"/>
            <a:ext cx="342900" cy="342900"/>
          </a:xfrm>
          <a:prstGeom prst="ellipse">
            <a:avLst/>
          </a:prstGeom>
          <a:noFill/>
          <a:ln cap="flat" cmpd="sng" w="9525">
            <a:solidFill>
              <a:srgbClr val="0E9C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fr" sz="1100" u="none" cap="none" strike="noStrike">
                <a:solidFill>
                  <a:srgbClr val="0E9C8A"/>
                </a:solidFill>
                <a:latin typeface="Cambria"/>
                <a:ea typeface="Cambria"/>
                <a:cs typeface="Cambria"/>
                <a:sym typeface="Cambria"/>
              </a:rPr>
              <a:t>1</a:t>
            </a:r>
            <a:endParaRPr sz="1100">
              <a:solidFill>
                <a:srgbClr val="0E9C8A"/>
              </a:solidFill>
            </a:endParaRPr>
          </a:p>
        </p:txBody>
      </p:sp>
      <p:sp>
        <p:nvSpPr>
          <p:cNvPr id="2108" name="Google Shape;2108;p87"/>
          <p:cNvSpPr txBox="1"/>
          <p:nvPr/>
        </p:nvSpPr>
        <p:spPr>
          <a:xfrm>
            <a:off x="1063018" y="1145286"/>
            <a:ext cx="3291900" cy="1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0" spcFirstLastPara="1" rIns="0" wrap="square" tIns="190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fr" sz="900" u="none" cap="none" strike="noStrike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Mémoire : court terme rapide + long terme durable</a:t>
            </a:r>
            <a:endParaRPr sz="1100">
              <a:solidFill>
                <a:srgbClr val="9CA3AF"/>
              </a:solidFill>
            </a:endParaRPr>
          </a:p>
        </p:txBody>
      </p:sp>
      <p:sp>
        <p:nvSpPr>
          <p:cNvPr id="2109" name="Google Shape;2109;p87"/>
          <p:cNvSpPr txBox="1"/>
          <p:nvPr/>
        </p:nvSpPr>
        <p:spPr>
          <a:xfrm>
            <a:off x="1063018" y="1392173"/>
            <a:ext cx="32919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0" spcFirstLastPara="1" rIns="0" wrap="square" tIns="190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fr" sz="1400" u="none" cap="none" strike="noStrike">
                <a:solidFill>
                  <a:srgbClr val="0E9C8A"/>
                </a:solidFill>
                <a:latin typeface="Cambria"/>
                <a:ea typeface="Cambria"/>
                <a:cs typeface="Cambria"/>
                <a:sym typeface="Cambria"/>
              </a:rPr>
              <a:t>Redis + PostgreSQL</a:t>
            </a:r>
            <a:endParaRPr sz="1100"/>
          </a:p>
        </p:txBody>
      </p:sp>
      <p:sp>
        <p:nvSpPr>
          <p:cNvPr id="2110" name="Google Shape;2110;p87"/>
          <p:cNvSpPr txBox="1"/>
          <p:nvPr/>
        </p:nvSpPr>
        <p:spPr>
          <a:xfrm>
            <a:off x="596662" y="1899666"/>
            <a:ext cx="3737700" cy="3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0" spcFirstLastPara="1" rIns="0" wrap="square" tIns="190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fr" sz="900" u="none" cap="none" strike="noStrike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Critère décisif </a:t>
            </a:r>
            <a:r>
              <a:rPr b="1" lang="fr" sz="900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-</a:t>
            </a:r>
            <a:r>
              <a:rPr b="1" i="0" lang="fr" sz="900" u="none" cap="none" strike="noStrike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0" i="0" lang="fr" sz="900" u="none" cap="none" strike="noStrike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Deux besoins de natures différentes : volatil/rapide vs durable/requêtable</a:t>
            </a:r>
            <a:endParaRPr sz="1100">
              <a:solidFill>
                <a:srgbClr val="9CA3AF"/>
              </a:solidFill>
            </a:endParaRPr>
          </a:p>
        </p:txBody>
      </p:sp>
      <p:sp>
        <p:nvSpPr>
          <p:cNvPr id="2111" name="Google Shape;2111;p87"/>
          <p:cNvSpPr txBox="1"/>
          <p:nvPr/>
        </p:nvSpPr>
        <p:spPr>
          <a:xfrm>
            <a:off x="596662" y="2366010"/>
            <a:ext cx="3737700" cy="1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0" spcFirstLastPara="1" rIns="0" wrap="square" tIns="190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fr" sz="900" u="none" cap="none" strike="noStrike">
                <a:solidFill>
                  <a:srgbClr val="B7791F"/>
                </a:solidFill>
                <a:latin typeface="Calibri"/>
                <a:ea typeface="Calibri"/>
                <a:cs typeface="Calibri"/>
                <a:sym typeface="Calibri"/>
              </a:rPr>
              <a:t>Vigilance : cohérence des deux stores (TTL vs persistance)</a:t>
            </a:r>
            <a:endParaRPr sz="1100"/>
          </a:p>
        </p:txBody>
      </p:sp>
      <p:sp>
        <p:nvSpPr>
          <p:cNvPr id="2112" name="Google Shape;2112;p87"/>
          <p:cNvSpPr/>
          <p:nvPr/>
        </p:nvSpPr>
        <p:spPr>
          <a:xfrm>
            <a:off x="4766436" y="994410"/>
            <a:ext cx="4149000" cy="1797000"/>
          </a:xfrm>
          <a:prstGeom prst="roundRect">
            <a:avLst>
              <a:gd fmla="val 6000" name="adj"/>
            </a:avLst>
          </a:prstGeom>
          <a:solidFill>
            <a:srgbClr val="0E9C8A">
              <a:alpha val="7999"/>
            </a:srgbClr>
          </a:solidFill>
          <a:ln cap="flat" cmpd="sng" w="7150">
            <a:solidFill>
              <a:srgbClr val="0E9C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3" name="Google Shape;2113;p87"/>
          <p:cNvSpPr/>
          <p:nvPr/>
        </p:nvSpPr>
        <p:spPr>
          <a:xfrm>
            <a:off x="4972182" y="1186434"/>
            <a:ext cx="342900" cy="342900"/>
          </a:xfrm>
          <a:prstGeom prst="ellipse">
            <a:avLst/>
          </a:prstGeom>
          <a:noFill/>
          <a:ln cap="flat" cmpd="sng" w="9525">
            <a:solidFill>
              <a:srgbClr val="0E9C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fr" sz="1100" u="none" cap="none" strike="noStrike">
                <a:solidFill>
                  <a:srgbClr val="0E9C8A"/>
                </a:solidFill>
                <a:latin typeface="Cambria"/>
                <a:ea typeface="Cambria"/>
                <a:cs typeface="Cambria"/>
                <a:sym typeface="Cambria"/>
              </a:rPr>
              <a:t>2</a:t>
            </a:r>
            <a:endParaRPr sz="1100">
              <a:solidFill>
                <a:srgbClr val="0E9C8A"/>
              </a:solidFill>
            </a:endParaRPr>
          </a:p>
        </p:txBody>
      </p:sp>
      <p:sp>
        <p:nvSpPr>
          <p:cNvPr id="2114" name="Google Shape;2114;p87"/>
          <p:cNvSpPr txBox="1"/>
          <p:nvPr/>
        </p:nvSpPr>
        <p:spPr>
          <a:xfrm>
            <a:off x="5452255" y="1145286"/>
            <a:ext cx="3291900" cy="1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0" spcFirstLastPara="1" rIns="0" wrap="square" tIns="190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fr" sz="900" u="none" cap="none" strike="noStrike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Géo : requêtes rayon / distance natives</a:t>
            </a:r>
            <a:endParaRPr sz="1100">
              <a:solidFill>
                <a:srgbClr val="9CA3AF"/>
              </a:solidFill>
            </a:endParaRPr>
          </a:p>
        </p:txBody>
      </p:sp>
      <p:sp>
        <p:nvSpPr>
          <p:cNvPr id="2115" name="Google Shape;2115;p87"/>
          <p:cNvSpPr txBox="1"/>
          <p:nvPr/>
        </p:nvSpPr>
        <p:spPr>
          <a:xfrm>
            <a:off x="5452255" y="1392173"/>
            <a:ext cx="32919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0" spcFirstLastPara="1" rIns="0" wrap="square" tIns="190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fr" sz="1400" u="none" cap="none" strike="noStrike">
                <a:solidFill>
                  <a:srgbClr val="0E9C8A"/>
                </a:solidFill>
                <a:latin typeface="Cambria"/>
                <a:ea typeface="Cambria"/>
                <a:cs typeface="Cambria"/>
                <a:sym typeface="Cambria"/>
              </a:rPr>
              <a:t>PostGIS</a:t>
            </a:r>
            <a:endParaRPr sz="1100"/>
          </a:p>
        </p:txBody>
      </p:sp>
      <p:sp>
        <p:nvSpPr>
          <p:cNvPr id="2116" name="Google Shape;2116;p87"/>
          <p:cNvSpPr txBox="1"/>
          <p:nvPr/>
        </p:nvSpPr>
        <p:spPr>
          <a:xfrm>
            <a:off x="4985899" y="1899666"/>
            <a:ext cx="3737700" cy="1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0" spcFirstLastPara="1" rIns="0" wrap="square" tIns="190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fr" sz="900" u="none" cap="none" strike="noStrike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Critère décisif </a:t>
            </a:r>
            <a:r>
              <a:rPr b="1" lang="fr" sz="900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-</a:t>
            </a:r>
            <a:r>
              <a:rPr b="1" i="0" lang="fr" sz="900" u="none" cap="none" strike="noStrike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0" i="0" lang="fr" sz="900" u="none" cap="none" strike="noStrike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Pousser le calcul géo dans la base, pas dans l'application</a:t>
            </a:r>
            <a:endParaRPr sz="1100">
              <a:solidFill>
                <a:srgbClr val="9CA3AF"/>
              </a:solidFill>
            </a:endParaRPr>
          </a:p>
        </p:txBody>
      </p:sp>
      <p:sp>
        <p:nvSpPr>
          <p:cNvPr id="2117" name="Google Shape;2117;p87"/>
          <p:cNvSpPr txBox="1"/>
          <p:nvPr/>
        </p:nvSpPr>
        <p:spPr>
          <a:xfrm>
            <a:off x="4985899" y="2366010"/>
            <a:ext cx="3737700" cy="1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0" spcFirstLastPara="1" rIns="0" wrap="square" tIns="190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fr" sz="900" u="none" cap="none" strike="noStrike">
                <a:solidFill>
                  <a:srgbClr val="B7791F"/>
                </a:solidFill>
                <a:latin typeface="Calibri"/>
                <a:ea typeface="Calibri"/>
                <a:cs typeface="Calibri"/>
                <a:sym typeface="Calibri"/>
              </a:rPr>
              <a:t>Vigilance : indexation spatiale GIST à prévoir</a:t>
            </a:r>
            <a:endParaRPr sz="1100"/>
          </a:p>
        </p:txBody>
      </p:sp>
      <p:sp>
        <p:nvSpPr>
          <p:cNvPr id="2118" name="Google Shape;2118;p87"/>
          <p:cNvSpPr/>
          <p:nvPr/>
        </p:nvSpPr>
        <p:spPr>
          <a:xfrm>
            <a:off x="377200" y="2983230"/>
            <a:ext cx="4149000" cy="1797000"/>
          </a:xfrm>
          <a:prstGeom prst="roundRect">
            <a:avLst>
              <a:gd fmla="val 6000" name="adj"/>
            </a:avLst>
          </a:prstGeom>
          <a:solidFill>
            <a:srgbClr val="0E9C8A">
              <a:alpha val="7999"/>
            </a:srgbClr>
          </a:solidFill>
          <a:ln cap="flat" cmpd="sng" w="7150">
            <a:solidFill>
              <a:srgbClr val="0E9C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9" name="Google Shape;2119;p87"/>
          <p:cNvSpPr/>
          <p:nvPr/>
        </p:nvSpPr>
        <p:spPr>
          <a:xfrm>
            <a:off x="582946" y="3175254"/>
            <a:ext cx="342900" cy="342900"/>
          </a:xfrm>
          <a:prstGeom prst="ellipse">
            <a:avLst/>
          </a:prstGeom>
          <a:noFill/>
          <a:ln cap="flat" cmpd="sng" w="9525">
            <a:solidFill>
              <a:srgbClr val="0E9C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fr" sz="1100" u="none" cap="none" strike="noStrike">
                <a:solidFill>
                  <a:srgbClr val="0E9C8A"/>
                </a:solidFill>
                <a:latin typeface="Cambria"/>
                <a:ea typeface="Cambria"/>
                <a:cs typeface="Cambria"/>
                <a:sym typeface="Cambria"/>
              </a:rPr>
              <a:t>3</a:t>
            </a:r>
            <a:endParaRPr sz="1100">
              <a:solidFill>
                <a:srgbClr val="0E9C8A"/>
              </a:solidFill>
            </a:endParaRPr>
          </a:p>
        </p:txBody>
      </p:sp>
      <p:sp>
        <p:nvSpPr>
          <p:cNvPr id="2120" name="Google Shape;2120;p87"/>
          <p:cNvSpPr txBox="1"/>
          <p:nvPr/>
        </p:nvSpPr>
        <p:spPr>
          <a:xfrm>
            <a:off x="1063018" y="3134106"/>
            <a:ext cx="3291900" cy="1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0" spcFirstLastPara="1" rIns="0" wrap="square" tIns="190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fr" sz="900" u="none" cap="none" strike="noStrike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Web : compléter le RAG sur l'actualité</a:t>
            </a:r>
            <a:endParaRPr sz="1100">
              <a:solidFill>
                <a:srgbClr val="9CA3AF"/>
              </a:solidFill>
            </a:endParaRPr>
          </a:p>
        </p:txBody>
      </p:sp>
      <p:sp>
        <p:nvSpPr>
          <p:cNvPr id="2121" name="Google Shape;2121;p87"/>
          <p:cNvSpPr txBox="1"/>
          <p:nvPr/>
        </p:nvSpPr>
        <p:spPr>
          <a:xfrm>
            <a:off x="1063018" y="3380994"/>
            <a:ext cx="32919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0" spcFirstLastPara="1" rIns="0" wrap="square" tIns="190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fr" sz="1400" u="none" cap="none" strike="noStrike">
                <a:solidFill>
                  <a:srgbClr val="0E9C8A"/>
                </a:solidFill>
                <a:latin typeface="Cambria"/>
                <a:ea typeface="Cambria"/>
                <a:cs typeface="Cambria"/>
                <a:sym typeface="Cambria"/>
              </a:rPr>
              <a:t>smolagents + Tavily</a:t>
            </a:r>
            <a:endParaRPr sz="1100"/>
          </a:p>
        </p:txBody>
      </p:sp>
      <p:sp>
        <p:nvSpPr>
          <p:cNvPr id="2122" name="Google Shape;2122;p87"/>
          <p:cNvSpPr txBox="1"/>
          <p:nvPr/>
        </p:nvSpPr>
        <p:spPr>
          <a:xfrm>
            <a:off x="596662" y="3888486"/>
            <a:ext cx="3737700" cy="3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0" spcFirstLastPara="1" rIns="0" wrap="square" tIns="190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fr" sz="900" u="none" cap="none" strike="noStrike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Critère décisif </a:t>
            </a:r>
            <a:r>
              <a:rPr b="1" lang="fr" sz="900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-</a:t>
            </a:r>
            <a:r>
              <a:rPr b="1" i="0" lang="fr" sz="900" u="none" cap="none" strike="noStrike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0" i="0" lang="fr" sz="900" u="none" cap="none" strike="noStrike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Orchestration agentique légère + search pensé pour LLM (piste du brief)</a:t>
            </a:r>
            <a:endParaRPr sz="1100">
              <a:solidFill>
                <a:srgbClr val="9CA3AF"/>
              </a:solidFill>
            </a:endParaRPr>
          </a:p>
        </p:txBody>
      </p:sp>
      <p:sp>
        <p:nvSpPr>
          <p:cNvPr id="2123" name="Google Shape;2123;p87"/>
          <p:cNvSpPr txBox="1"/>
          <p:nvPr/>
        </p:nvSpPr>
        <p:spPr>
          <a:xfrm>
            <a:off x="596662" y="4354830"/>
            <a:ext cx="3737700" cy="1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0" spcFirstLastPara="1" rIns="0" wrap="square" tIns="190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fr" sz="900" u="none" cap="none" strike="noStrike">
                <a:solidFill>
                  <a:srgbClr val="B7791F"/>
                </a:solidFill>
                <a:latin typeface="Calibri"/>
                <a:ea typeface="Calibri"/>
                <a:cs typeface="Calibri"/>
                <a:sym typeface="Calibri"/>
              </a:rPr>
              <a:t>Vigilance : coût par requête et latence ajoutée</a:t>
            </a:r>
            <a:endParaRPr sz="1100"/>
          </a:p>
        </p:txBody>
      </p:sp>
      <p:sp>
        <p:nvSpPr>
          <p:cNvPr id="2124" name="Google Shape;2124;p87"/>
          <p:cNvSpPr/>
          <p:nvPr/>
        </p:nvSpPr>
        <p:spPr>
          <a:xfrm>
            <a:off x="4766436" y="2983230"/>
            <a:ext cx="4149000" cy="1797000"/>
          </a:xfrm>
          <a:prstGeom prst="roundRect">
            <a:avLst>
              <a:gd fmla="val 6000" name="adj"/>
            </a:avLst>
          </a:prstGeom>
          <a:solidFill>
            <a:srgbClr val="0E9C8A">
              <a:alpha val="7999"/>
            </a:srgbClr>
          </a:solidFill>
          <a:ln cap="flat" cmpd="sng" w="7150">
            <a:solidFill>
              <a:srgbClr val="0E9C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5" name="Google Shape;2125;p87"/>
          <p:cNvSpPr/>
          <p:nvPr/>
        </p:nvSpPr>
        <p:spPr>
          <a:xfrm>
            <a:off x="4972182" y="3175254"/>
            <a:ext cx="342900" cy="342900"/>
          </a:xfrm>
          <a:prstGeom prst="ellipse">
            <a:avLst/>
          </a:prstGeom>
          <a:noFill/>
          <a:ln cap="flat" cmpd="sng" w="9525">
            <a:solidFill>
              <a:srgbClr val="0E9C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fr" sz="1100" u="none" cap="none" strike="noStrike">
                <a:solidFill>
                  <a:srgbClr val="0E9C8A"/>
                </a:solidFill>
                <a:latin typeface="Cambria"/>
                <a:ea typeface="Cambria"/>
                <a:cs typeface="Cambria"/>
                <a:sym typeface="Cambria"/>
              </a:rPr>
              <a:t>4</a:t>
            </a:r>
            <a:endParaRPr sz="1100">
              <a:solidFill>
                <a:srgbClr val="0E9C8A"/>
              </a:solidFill>
            </a:endParaRPr>
          </a:p>
        </p:txBody>
      </p:sp>
      <p:sp>
        <p:nvSpPr>
          <p:cNvPr id="2126" name="Google Shape;2126;p87"/>
          <p:cNvSpPr txBox="1"/>
          <p:nvPr/>
        </p:nvSpPr>
        <p:spPr>
          <a:xfrm>
            <a:off x="5452255" y="3134106"/>
            <a:ext cx="3291900" cy="1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0" spcFirstLastPara="1" rIns="0" wrap="square" tIns="190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fr" sz="900" u="none" cap="none" strike="noStrike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Monitoring : qualité, coût, satisfaction</a:t>
            </a:r>
            <a:endParaRPr sz="1100">
              <a:solidFill>
                <a:srgbClr val="9CA3AF"/>
              </a:solidFill>
            </a:endParaRPr>
          </a:p>
        </p:txBody>
      </p:sp>
      <p:sp>
        <p:nvSpPr>
          <p:cNvPr id="2127" name="Google Shape;2127;p87"/>
          <p:cNvSpPr txBox="1"/>
          <p:nvPr/>
        </p:nvSpPr>
        <p:spPr>
          <a:xfrm>
            <a:off x="5452255" y="3380994"/>
            <a:ext cx="32919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0" spcFirstLastPara="1" rIns="0" wrap="square" tIns="190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fr" sz="1400" u="none" cap="none" strike="noStrike">
                <a:solidFill>
                  <a:srgbClr val="0E9C8A"/>
                </a:solidFill>
                <a:latin typeface="Cambria"/>
                <a:ea typeface="Cambria"/>
                <a:cs typeface="Cambria"/>
                <a:sym typeface="Cambria"/>
              </a:rPr>
              <a:t>Langfuse + Cockpit</a:t>
            </a:r>
            <a:endParaRPr sz="1100"/>
          </a:p>
        </p:txBody>
      </p:sp>
      <p:sp>
        <p:nvSpPr>
          <p:cNvPr id="2128" name="Google Shape;2128;p87"/>
          <p:cNvSpPr txBox="1"/>
          <p:nvPr/>
        </p:nvSpPr>
        <p:spPr>
          <a:xfrm>
            <a:off x="4985899" y="3888486"/>
            <a:ext cx="3737700" cy="3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0" spcFirstLastPara="1" rIns="0" wrap="square" tIns="190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fr" sz="900" u="none" cap="none" strike="noStrike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Critère décisif </a:t>
            </a:r>
            <a:r>
              <a:rPr b="1" lang="fr" sz="900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-</a:t>
            </a:r>
            <a:r>
              <a:rPr b="1" i="0" lang="fr" sz="900" u="none" cap="none" strike="noStrike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0" i="0" lang="fr" sz="900" u="none" cap="none" strike="noStrike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Observabilité LLM-native (traces, coût, eval) + souveraineté/gratuité</a:t>
            </a:r>
            <a:endParaRPr sz="1100">
              <a:solidFill>
                <a:srgbClr val="9CA3AF"/>
              </a:solidFill>
            </a:endParaRPr>
          </a:p>
        </p:txBody>
      </p:sp>
      <p:sp>
        <p:nvSpPr>
          <p:cNvPr id="2129" name="Google Shape;2129;p87"/>
          <p:cNvSpPr txBox="1"/>
          <p:nvPr/>
        </p:nvSpPr>
        <p:spPr>
          <a:xfrm>
            <a:off x="4985899" y="4354830"/>
            <a:ext cx="3737700" cy="1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0" spcFirstLastPara="1" rIns="0" wrap="square" tIns="190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fr" sz="900" u="none" cap="none" strike="noStrike">
                <a:solidFill>
                  <a:srgbClr val="B7791F"/>
                </a:solidFill>
                <a:latin typeface="Calibri"/>
                <a:ea typeface="Calibri"/>
                <a:cs typeface="Calibri"/>
                <a:sym typeface="Calibri"/>
              </a:rPr>
              <a:t>Vigilance : définir les métriques tracées dès le départ</a:t>
            </a:r>
            <a:endParaRPr sz="1100"/>
          </a:p>
        </p:txBody>
      </p:sp>
      <p:sp>
        <p:nvSpPr>
          <p:cNvPr id="2130" name="Google Shape;2130;p87"/>
          <p:cNvSpPr/>
          <p:nvPr/>
        </p:nvSpPr>
        <p:spPr>
          <a:xfrm>
            <a:off x="304450" y="924650"/>
            <a:ext cx="8673000" cy="3952500"/>
          </a:xfrm>
          <a:prstGeom prst="rect">
            <a:avLst/>
          </a:prstGeom>
          <a:solidFill>
            <a:srgbClr val="111113">
              <a:alpha val="69999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35" name="Shape 2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6" name="Google Shape;2136;p88"/>
          <p:cNvSpPr txBox="1"/>
          <p:nvPr/>
        </p:nvSpPr>
        <p:spPr>
          <a:xfrm>
            <a:off x="377200" y="233175"/>
            <a:ext cx="2286900" cy="45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9050" lIns="0" spcFirstLastPara="1" rIns="0" wrap="square" tIns="190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1800">
                <a:solidFill>
                  <a:srgbClr val="0E9C8A"/>
                </a:solidFill>
                <a:latin typeface="Calibri"/>
                <a:ea typeface="Calibri"/>
                <a:cs typeface="Calibri"/>
                <a:sym typeface="Calibri"/>
              </a:rPr>
              <a:t>Justification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7" name="Google Shape;2137;p88"/>
          <p:cNvSpPr txBox="1"/>
          <p:nvPr/>
        </p:nvSpPr>
        <p:spPr>
          <a:xfrm>
            <a:off x="377200" y="675550"/>
            <a:ext cx="26754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9050" lIns="0" spcFirstLastPara="1" rIns="0" wrap="square" tIns="190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1100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Un choix par défi — besoin, option, critère</a:t>
            </a:r>
            <a:endParaRPr b="1" sz="1100">
              <a:solidFill>
                <a:srgbClr val="9CA3A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8" name="Google Shape;2138;p88"/>
          <p:cNvSpPr txBox="1"/>
          <p:nvPr/>
        </p:nvSpPr>
        <p:spPr>
          <a:xfrm>
            <a:off x="377200" y="4945850"/>
            <a:ext cx="999000" cy="166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700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MVP RAG Puls-Events</a:t>
            </a:r>
            <a:endParaRPr sz="700">
              <a:solidFill>
                <a:srgbClr val="9CA3A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9" name="Google Shape;2139;p88"/>
          <p:cNvSpPr/>
          <p:nvPr/>
        </p:nvSpPr>
        <p:spPr>
          <a:xfrm>
            <a:off x="377200" y="994410"/>
            <a:ext cx="4149000" cy="1797000"/>
          </a:xfrm>
          <a:prstGeom prst="roundRect">
            <a:avLst>
              <a:gd fmla="val 6000" name="adj"/>
            </a:avLst>
          </a:prstGeom>
          <a:solidFill>
            <a:srgbClr val="0E9C8A">
              <a:alpha val="7999"/>
            </a:srgbClr>
          </a:solidFill>
          <a:ln cap="flat" cmpd="sng" w="7150">
            <a:solidFill>
              <a:srgbClr val="0E9C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0" name="Google Shape;2140;p88"/>
          <p:cNvSpPr/>
          <p:nvPr/>
        </p:nvSpPr>
        <p:spPr>
          <a:xfrm>
            <a:off x="582946" y="1186434"/>
            <a:ext cx="342900" cy="342900"/>
          </a:xfrm>
          <a:prstGeom prst="ellipse">
            <a:avLst/>
          </a:prstGeom>
          <a:noFill/>
          <a:ln cap="flat" cmpd="sng" w="9525">
            <a:solidFill>
              <a:srgbClr val="0E9C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fr" sz="1100" u="none" cap="none" strike="noStrike">
                <a:solidFill>
                  <a:srgbClr val="0E9C8A"/>
                </a:solidFill>
                <a:latin typeface="Cambria"/>
                <a:ea typeface="Cambria"/>
                <a:cs typeface="Cambria"/>
                <a:sym typeface="Cambria"/>
              </a:rPr>
              <a:t>1</a:t>
            </a:r>
            <a:endParaRPr sz="1100">
              <a:solidFill>
                <a:srgbClr val="0E9C8A"/>
              </a:solidFill>
            </a:endParaRPr>
          </a:p>
        </p:txBody>
      </p:sp>
      <p:sp>
        <p:nvSpPr>
          <p:cNvPr id="2141" name="Google Shape;2141;p88"/>
          <p:cNvSpPr txBox="1"/>
          <p:nvPr/>
        </p:nvSpPr>
        <p:spPr>
          <a:xfrm>
            <a:off x="1063018" y="1145286"/>
            <a:ext cx="3291900" cy="1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0" spcFirstLastPara="1" rIns="0" wrap="square" tIns="190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fr" sz="900" u="none" cap="none" strike="noStrike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Mémoire : court terme rapide + long terme durable</a:t>
            </a:r>
            <a:endParaRPr sz="1100">
              <a:solidFill>
                <a:srgbClr val="9CA3AF"/>
              </a:solidFill>
            </a:endParaRPr>
          </a:p>
        </p:txBody>
      </p:sp>
      <p:sp>
        <p:nvSpPr>
          <p:cNvPr id="2142" name="Google Shape;2142;p88"/>
          <p:cNvSpPr txBox="1"/>
          <p:nvPr/>
        </p:nvSpPr>
        <p:spPr>
          <a:xfrm>
            <a:off x="1063018" y="1392173"/>
            <a:ext cx="32919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0" spcFirstLastPara="1" rIns="0" wrap="square" tIns="190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fr" sz="1400" u="none" cap="none" strike="noStrike">
                <a:solidFill>
                  <a:srgbClr val="0E9C8A"/>
                </a:solidFill>
                <a:latin typeface="Cambria"/>
                <a:ea typeface="Cambria"/>
                <a:cs typeface="Cambria"/>
                <a:sym typeface="Cambria"/>
              </a:rPr>
              <a:t>Redis + PostgreSQL</a:t>
            </a:r>
            <a:endParaRPr sz="1100"/>
          </a:p>
        </p:txBody>
      </p:sp>
      <p:sp>
        <p:nvSpPr>
          <p:cNvPr id="2143" name="Google Shape;2143;p88"/>
          <p:cNvSpPr txBox="1"/>
          <p:nvPr/>
        </p:nvSpPr>
        <p:spPr>
          <a:xfrm>
            <a:off x="596662" y="1899666"/>
            <a:ext cx="3737700" cy="3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0" spcFirstLastPara="1" rIns="0" wrap="square" tIns="190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fr" sz="900" u="none" cap="none" strike="noStrike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Critère décisif </a:t>
            </a:r>
            <a:r>
              <a:rPr b="1" lang="fr" sz="900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-</a:t>
            </a:r>
            <a:r>
              <a:rPr b="1" i="0" lang="fr" sz="900" u="none" cap="none" strike="noStrike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0" i="0" lang="fr" sz="900" u="none" cap="none" strike="noStrike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Deux besoins de natures différentes : volatil/rapide vs durable/requêtable</a:t>
            </a:r>
            <a:endParaRPr sz="1100">
              <a:solidFill>
                <a:srgbClr val="9CA3AF"/>
              </a:solidFill>
            </a:endParaRPr>
          </a:p>
        </p:txBody>
      </p:sp>
      <p:sp>
        <p:nvSpPr>
          <p:cNvPr id="2144" name="Google Shape;2144;p88"/>
          <p:cNvSpPr txBox="1"/>
          <p:nvPr/>
        </p:nvSpPr>
        <p:spPr>
          <a:xfrm>
            <a:off x="596662" y="2366010"/>
            <a:ext cx="3737700" cy="1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0" spcFirstLastPara="1" rIns="0" wrap="square" tIns="190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fr" sz="900" u="none" cap="none" strike="noStrike">
                <a:solidFill>
                  <a:srgbClr val="B7791F"/>
                </a:solidFill>
                <a:latin typeface="Calibri"/>
                <a:ea typeface="Calibri"/>
                <a:cs typeface="Calibri"/>
                <a:sym typeface="Calibri"/>
              </a:rPr>
              <a:t>Vigilance : cohérence des deux stores (TTL vs persistance)</a:t>
            </a:r>
            <a:endParaRPr sz="1100"/>
          </a:p>
        </p:txBody>
      </p:sp>
      <p:sp>
        <p:nvSpPr>
          <p:cNvPr id="2145" name="Google Shape;2145;p88"/>
          <p:cNvSpPr/>
          <p:nvPr/>
        </p:nvSpPr>
        <p:spPr>
          <a:xfrm>
            <a:off x="4766436" y="994410"/>
            <a:ext cx="4149000" cy="1797000"/>
          </a:xfrm>
          <a:prstGeom prst="roundRect">
            <a:avLst>
              <a:gd fmla="val 6000" name="adj"/>
            </a:avLst>
          </a:prstGeom>
          <a:solidFill>
            <a:srgbClr val="0E9C8A">
              <a:alpha val="7999"/>
            </a:srgbClr>
          </a:solidFill>
          <a:ln cap="flat" cmpd="sng" w="7150">
            <a:solidFill>
              <a:srgbClr val="0E9C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6" name="Google Shape;2146;p88"/>
          <p:cNvSpPr/>
          <p:nvPr/>
        </p:nvSpPr>
        <p:spPr>
          <a:xfrm>
            <a:off x="4972182" y="1186434"/>
            <a:ext cx="342900" cy="342900"/>
          </a:xfrm>
          <a:prstGeom prst="ellipse">
            <a:avLst/>
          </a:prstGeom>
          <a:noFill/>
          <a:ln cap="flat" cmpd="sng" w="9525">
            <a:solidFill>
              <a:srgbClr val="0E9C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fr" sz="1100" u="none" cap="none" strike="noStrike">
                <a:solidFill>
                  <a:srgbClr val="0E9C8A"/>
                </a:solidFill>
                <a:latin typeface="Cambria"/>
                <a:ea typeface="Cambria"/>
                <a:cs typeface="Cambria"/>
                <a:sym typeface="Cambria"/>
              </a:rPr>
              <a:t>2</a:t>
            </a:r>
            <a:endParaRPr sz="1100">
              <a:solidFill>
                <a:srgbClr val="0E9C8A"/>
              </a:solidFill>
            </a:endParaRPr>
          </a:p>
        </p:txBody>
      </p:sp>
      <p:sp>
        <p:nvSpPr>
          <p:cNvPr id="2147" name="Google Shape;2147;p88"/>
          <p:cNvSpPr txBox="1"/>
          <p:nvPr/>
        </p:nvSpPr>
        <p:spPr>
          <a:xfrm>
            <a:off x="5452255" y="1145286"/>
            <a:ext cx="3291900" cy="1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0" spcFirstLastPara="1" rIns="0" wrap="square" tIns="190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fr" sz="900" u="none" cap="none" strike="noStrike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Géo : requêtes rayon / distance natives</a:t>
            </a:r>
            <a:endParaRPr sz="1100">
              <a:solidFill>
                <a:srgbClr val="9CA3AF"/>
              </a:solidFill>
            </a:endParaRPr>
          </a:p>
        </p:txBody>
      </p:sp>
      <p:sp>
        <p:nvSpPr>
          <p:cNvPr id="2148" name="Google Shape;2148;p88"/>
          <p:cNvSpPr txBox="1"/>
          <p:nvPr/>
        </p:nvSpPr>
        <p:spPr>
          <a:xfrm>
            <a:off x="5452255" y="1392173"/>
            <a:ext cx="32919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0" spcFirstLastPara="1" rIns="0" wrap="square" tIns="190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fr" sz="1400" u="none" cap="none" strike="noStrike">
                <a:solidFill>
                  <a:srgbClr val="0E9C8A"/>
                </a:solidFill>
                <a:latin typeface="Cambria"/>
                <a:ea typeface="Cambria"/>
                <a:cs typeface="Cambria"/>
                <a:sym typeface="Cambria"/>
              </a:rPr>
              <a:t>PostGIS</a:t>
            </a:r>
            <a:endParaRPr sz="1100"/>
          </a:p>
        </p:txBody>
      </p:sp>
      <p:sp>
        <p:nvSpPr>
          <p:cNvPr id="2149" name="Google Shape;2149;p88"/>
          <p:cNvSpPr txBox="1"/>
          <p:nvPr/>
        </p:nvSpPr>
        <p:spPr>
          <a:xfrm>
            <a:off x="4985899" y="1899666"/>
            <a:ext cx="3737700" cy="1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0" spcFirstLastPara="1" rIns="0" wrap="square" tIns="190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fr" sz="900" u="none" cap="none" strike="noStrike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Critère décisif </a:t>
            </a:r>
            <a:r>
              <a:rPr b="1" lang="fr" sz="900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-</a:t>
            </a:r>
            <a:r>
              <a:rPr b="1" i="0" lang="fr" sz="900" u="none" cap="none" strike="noStrike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0" i="0" lang="fr" sz="900" u="none" cap="none" strike="noStrike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Pousser le calcul géo dans la base, pas dans l'application</a:t>
            </a:r>
            <a:endParaRPr sz="1100">
              <a:solidFill>
                <a:srgbClr val="9CA3AF"/>
              </a:solidFill>
            </a:endParaRPr>
          </a:p>
        </p:txBody>
      </p:sp>
      <p:sp>
        <p:nvSpPr>
          <p:cNvPr id="2150" name="Google Shape;2150;p88"/>
          <p:cNvSpPr txBox="1"/>
          <p:nvPr/>
        </p:nvSpPr>
        <p:spPr>
          <a:xfrm>
            <a:off x="4985899" y="2366010"/>
            <a:ext cx="3737700" cy="1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0" spcFirstLastPara="1" rIns="0" wrap="square" tIns="190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fr" sz="900" u="none" cap="none" strike="noStrike">
                <a:solidFill>
                  <a:srgbClr val="B7791F"/>
                </a:solidFill>
                <a:latin typeface="Calibri"/>
                <a:ea typeface="Calibri"/>
                <a:cs typeface="Calibri"/>
                <a:sym typeface="Calibri"/>
              </a:rPr>
              <a:t>Vigilance : indexation spatiale GIST à prévoir</a:t>
            </a:r>
            <a:endParaRPr sz="1100"/>
          </a:p>
        </p:txBody>
      </p:sp>
      <p:sp>
        <p:nvSpPr>
          <p:cNvPr id="2151" name="Google Shape;2151;p88"/>
          <p:cNvSpPr/>
          <p:nvPr/>
        </p:nvSpPr>
        <p:spPr>
          <a:xfrm>
            <a:off x="377200" y="2983230"/>
            <a:ext cx="4149000" cy="1797000"/>
          </a:xfrm>
          <a:prstGeom prst="roundRect">
            <a:avLst>
              <a:gd fmla="val 6000" name="adj"/>
            </a:avLst>
          </a:prstGeom>
          <a:solidFill>
            <a:srgbClr val="0E9C8A">
              <a:alpha val="7999"/>
            </a:srgbClr>
          </a:solidFill>
          <a:ln cap="flat" cmpd="sng" w="7150">
            <a:solidFill>
              <a:srgbClr val="0E9C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2" name="Google Shape;2152;p88"/>
          <p:cNvSpPr/>
          <p:nvPr/>
        </p:nvSpPr>
        <p:spPr>
          <a:xfrm>
            <a:off x="582946" y="3175254"/>
            <a:ext cx="342900" cy="342900"/>
          </a:xfrm>
          <a:prstGeom prst="ellipse">
            <a:avLst/>
          </a:prstGeom>
          <a:noFill/>
          <a:ln cap="flat" cmpd="sng" w="9525">
            <a:solidFill>
              <a:srgbClr val="0E9C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fr" sz="1100" u="none" cap="none" strike="noStrike">
                <a:solidFill>
                  <a:srgbClr val="0E9C8A"/>
                </a:solidFill>
                <a:latin typeface="Cambria"/>
                <a:ea typeface="Cambria"/>
                <a:cs typeface="Cambria"/>
                <a:sym typeface="Cambria"/>
              </a:rPr>
              <a:t>3</a:t>
            </a:r>
            <a:endParaRPr sz="1100">
              <a:solidFill>
                <a:srgbClr val="0E9C8A"/>
              </a:solidFill>
            </a:endParaRPr>
          </a:p>
        </p:txBody>
      </p:sp>
      <p:sp>
        <p:nvSpPr>
          <p:cNvPr id="2153" name="Google Shape;2153;p88"/>
          <p:cNvSpPr txBox="1"/>
          <p:nvPr/>
        </p:nvSpPr>
        <p:spPr>
          <a:xfrm>
            <a:off x="1063018" y="3134106"/>
            <a:ext cx="3291900" cy="1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0" spcFirstLastPara="1" rIns="0" wrap="square" tIns="190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fr" sz="900" u="none" cap="none" strike="noStrike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Web : compléter le RAG sur l'actualité</a:t>
            </a:r>
            <a:endParaRPr sz="1100">
              <a:solidFill>
                <a:srgbClr val="9CA3AF"/>
              </a:solidFill>
            </a:endParaRPr>
          </a:p>
        </p:txBody>
      </p:sp>
      <p:sp>
        <p:nvSpPr>
          <p:cNvPr id="2154" name="Google Shape;2154;p88"/>
          <p:cNvSpPr txBox="1"/>
          <p:nvPr/>
        </p:nvSpPr>
        <p:spPr>
          <a:xfrm>
            <a:off x="1063018" y="3380994"/>
            <a:ext cx="32919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0" spcFirstLastPara="1" rIns="0" wrap="square" tIns="190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fr" sz="1400" u="none" cap="none" strike="noStrike">
                <a:solidFill>
                  <a:srgbClr val="0E9C8A"/>
                </a:solidFill>
                <a:latin typeface="Cambria"/>
                <a:ea typeface="Cambria"/>
                <a:cs typeface="Cambria"/>
                <a:sym typeface="Cambria"/>
              </a:rPr>
              <a:t>smolagents + Tavily</a:t>
            </a:r>
            <a:endParaRPr sz="1100"/>
          </a:p>
        </p:txBody>
      </p:sp>
      <p:sp>
        <p:nvSpPr>
          <p:cNvPr id="2155" name="Google Shape;2155;p88"/>
          <p:cNvSpPr txBox="1"/>
          <p:nvPr/>
        </p:nvSpPr>
        <p:spPr>
          <a:xfrm>
            <a:off x="596662" y="3888486"/>
            <a:ext cx="3737700" cy="3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0" spcFirstLastPara="1" rIns="0" wrap="square" tIns="190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fr" sz="900" u="none" cap="none" strike="noStrike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Critère décisif </a:t>
            </a:r>
            <a:r>
              <a:rPr b="1" lang="fr" sz="900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-</a:t>
            </a:r>
            <a:r>
              <a:rPr b="1" i="0" lang="fr" sz="900" u="none" cap="none" strike="noStrike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0" i="0" lang="fr" sz="900" u="none" cap="none" strike="noStrike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Orchestration agentique légère + search pensé pour LLM (piste du brief)</a:t>
            </a:r>
            <a:endParaRPr sz="1100">
              <a:solidFill>
                <a:srgbClr val="9CA3AF"/>
              </a:solidFill>
            </a:endParaRPr>
          </a:p>
        </p:txBody>
      </p:sp>
      <p:sp>
        <p:nvSpPr>
          <p:cNvPr id="2156" name="Google Shape;2156;p88"/>
          <p:cNvSpPr txBox="1"/>
          <p:nvPr/>
        </p:nvSpPr>
        <p:spPr>
          <a:xfrm>
            <a:off x="596662" y="4354830"/>
            <a:ext cx="3737700" cy="1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0" spcFirstLastPara="1" rIns="0" wrap="square" tIns="190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fr" sz="900" u="none" cap="none" strike="noStrike">
                <a:solidFill>
                  <a:srgbClr val="B7791F"/>
                </a:solidFill>
                <a:latin typeface="Calibri"/>
                <a:ea typeface="Calibri"/>
                <a:cs typeface="Calibri"/>
                <a:sym typeface="Calibri"/>
              </a:rPr>
              <a:t>Vigilance : coût par requête et latence ajoutée</a:t>
            </a:r>
            <a:endParaRPr sz="1100"/>
          </a:p>
        </p:txBody>
      </p:sp>
      <p:sp>
        <p:nvSpPr>
          <p:cNvPr id="2157" name="Google Shape;2157;p88"/>
          <p:cNvSpPr/>
          <p:nvPr/>
        </p:nvSpPr>
        <p:spPr>
          <a:xfrm>
            <a:off x="4766436" y="2983230"/>
            <a:ext cx="4149000" cy="1797000"/>
          </a:xfrm>
          <a:prstGeom prst="roundRect">
            <a:avLst>
              <a:gd fmla="val 6000" name="adj"/>
            </a:avLst>
          </a:prstGeom>
          <a:solidFill>
            <a:srgbClr val="0E9C8A">
              <a:alpha val="7999"/>
            </a:srgbClr>
          </a:solidFill>
          <a:ln cap="flat" cmpd="sng" w="7150">
            <a:solidFill>
              <a:srgbClr val="0E9C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8" name="Google Shape;2158;p88"/>
          <p:cNvSpPr/>
          <p:nvPr/>
        </p:nvSpPr>
        <p:spPr>
          <a:xfrm>
            <a:off x="4972182" y="3175254"/>
            <a:ext cx="342900" cy="342900"/>
          </a:xfrm>
          <a:prstGeom prst="ellipse">
            <a:avLst/>
          </a:prstGeom>
          <a:noFill/>
          <a:ln cap="flat" cmpd="sng" w="9525">
            <a:solidFill>
              <a:srgbClr val="0E9C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fr" sz="1100" u="none" cap="none" strike="noStrike">
                <a:solidFill>
                  <a:srgbClr val="0E9C8A"/>
                </a:solidFill>
                <a:latin typeface="Cambria"/>
                <a:ea typeface="Cambria"/>
                <a:cs typeface="Cambria"/>
                <a:sym typeface="Cambria"/>
              </a:rPr>
              <a:t>4</a:t>
            </a:r>
            <a:endParaRPr sz="1100">
              <a:solidFill>
                <a:srgbClr val="0E9C8A"/>
              </a:solidFill>
            </a:endParaRPr>
          </a:p>
        </p:txBody>
      </p:sp>
      <p:sp>
        <p:nvSpPr>
          <p:cNvPr id="2159" name="Google Shape;2159;p88"/>
          <p:cNvSpPr txBox="1"/>
          <p:nvPr/>
        </p:nvSpPr>
        <p:spPr>
          <a:xfrm>
            <a:off x="5452255" y="3134106"/>
            <a:ext cx="3291900" cy="1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0" spcFirstLastPara="1" rIns="0" wrap="square" tIns="190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fr" sz="900" u="none" cap="none" strike="noStrike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Monitoring : qualité, coût, satisfaction</a:t>
            </a:r>
            <a:endParaRPr sz="1100">
              <a:solidFill>
                <a:srgbClr val="9CA3AF"/>
              </a:solidFill>
            </a:endParaRPr>
          </a:p>
        </p:txBody>
      </p:sp>
      <p:sp>
        <p:nvSpPr>
          <p:cNvPr id="2160" name="Google Shape;2160;p88"/>
          <p:cNvSpPr txBox="1"/>
          <p:nvPr/>
        </p:nvSpPr>
        <p:spPr>
          <a:xfrm>
            <a:off x="5452255" y="3380994"/>
            <a:ext cx="32919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0" spcFirstLastPara="1" rIns="0" wrap="square" tIns="190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fr" sz="1400" u="none" cap="none" strike="noStrike">
                <a:solidFill>
                  <a:srgbClr val="0E9C8A"/>
                </a:solidFill>
                <a:latin typeface="Cambria"/>
                <a:ea typeface="Cambria"/>
                <a:cs typeface="Cambria"/>
                <a:sym typeface="Cambria"/>
              </a:rPr>
              <a:t>Langfuse + Cockpit</a:t>
            </a:r>
            <a:endParaRPr sz="1100"/>
          </a:p>
        </p:txBody>
      </p:sp>
      <p:sp>
        <p:nvSpPr>
          <p:cNvPr id="2161" name="Google Shape;2161;p88"/>
          <p:cNvSpPr txBox="1"/>
          <p:nvPr/>
        </p:nvSpPr>
        <p:spPr>
          <a:xfrm>
            <a:off x="4985899" y="3888486"/>
            <a:ext cx="3737700" cy="3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0" spcFirstLastPara="1" rIns="0" wrap="square" tIns="190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fr" sz="900" u="none" cap="none" strike="noStrike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Critère décisif </a:t>
            </a:r>
            <a:r>
              <a:rPr b="1" lang="fr" sz="900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-</a:t>
            </a:r>
            <a:r>
              <a:rPr b="1" i="0" lang="fr" sz="900" u="none" cap="none" strike="noStrike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0" i="0" lang="fr" sz="900" u="none" cap="none" strike="noStrike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Observabilité LLM-native (traces, coût, eval) + souveraineté/gratuité</a:t>
            </a:r>
            <a:endParaRPr sz="1100">
              <a:solidFill>
                <a:srgbClr val="9CA3AF"/>
              </a:solidFill>
            </a:endParaRPr>
          </a:p>
        </p:txBody>
      </p:sp>
      <p:sp>
        <p:nvSpPr>
          <p:cNvPr id="2162" name="Google Shape;2162;p88"/>
          <p:cNvSpPr txBox="1"/>
          <p:nvPr/>
        </p:nvSpPr>
        <p:spPr>
          <a:xfrm>
            <a:off x="4985899" y="4354830"/>
            <a:ext cx="3737700" cy="1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0" spcFirstLastPara="1" rIns="0" wrap="square" tIns="190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fr" sz="900" u="none" cap="none" strike="noStrike">
                <a:solidFill>
                  <a:srgbClr val="B7791F"/>
                </a:solidFill>
                <a:latin typeface="Calibri"/>
                <a:ea typeface="Calibri"/>
                <a:cs typeface="Calibri"/>
                <a:sym typeface="Calibri"/>
              </a:rPr>
              <a:t>Vigilance : définir les métriques tracées dès le départ</a:t>
            </a:r>
            <a:endParaRPr sz="1100"/>
          </a:p>
        </p:txBody>
      </p:sp>
      <p:sp>
        <p:nvSpPr>
          <p:cNvPr id="2163" name="Google Shape;2163;p88"/>
          <p:cNvSpPr/>
          <p:nvPr/>
        </p:nvSpPr>
        <p:spPr>
          <a:xfrm>
            <a:off x="4696875" y="924650"/>
            <a:ext cx="4280700" cy="3952500"/>
          </a:xfrm>
          <a:prstGeom prst="rect">
            <a:avLst/>
          </a:prstGeom>
          <a:solidFill>
            <a:srgbClr val="111113">
              <a:alpha val="69999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4" name="Google Shape;2164;p88"/>
          <p:cNvSpPr/>
          <p:nvPr/>
        </p:nvSpPr>
        <p:spPr>
          <a:xfrm>
            <a:off x="325150" y="2902350"/>
            <a:ext cx="4280700" cy="1988400"/>
          </a:xfrm>
          <a:prstGeom prst="rect">
            <a:avLst/>
          </a:prstGeom>
          <a:solidFill>
            <a:srgbClr val="111113">
              <a:alpha val="69999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69" name="Shape 2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0" name="Google Shape;2170;p89"/>
          <p:cNvSpPr txBox="1"/>
          <p:nvPr/>
        </p:nvSpPr>
        <p:spPr>
          <a:xfrm>
            <a:off x="377200" y="233175"/>
            <a:ext cx="2286900" cy="45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9050" lIns="0" spcFirstLastPara="1" rIns="0" wrap="square" tIns="190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1800">
                <a:solidFill>
                  <a:srgbClr val="0E9C8A"/>
                </a:solidFill>
                <a:latin typeface="Calibri"/>
                <a:ea typeface="Calibri"/>
                <a:cs typeface="Calibri"/>
                <a:sym typeface="Calibri"/>
              </a:rPr>
              <a:t>Justification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1" name="Google Shape;2171;p89"/>
          <p:cNvSpPr txBox="1"/>
          <p:nvPr/>
        </p:nvSpPr>
        <p:spPr>
          <a:xfrm>
            <a:off x="377200" y="675550"/>
            <a:ext cx="26754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9050" lIns="0" spcFirstLastPara="1" rIns="0" wrap="square" tIns="190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1100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Un choix par défi — besoin, option, critère</a:t>
            </a:r>
            <a:endParaRPr b="1" sz="1100">
              <a:solidFill>
                <a:srgbClr val="9CA3A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2" name="Google Shape;2172;p89"/>
          <p:cNvSpPr txBox="1"/>
          <p:nvPr/>
        </p:nvSpPr>
        <p:spPr>
          <a:xfrm>
            <a:off x="377200" y="4945850"/>
            <a:ext cx="999000" cy="166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700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MVP RAG Puls-Events</a:t>
            </a:r>
            <a:endParaRPr sz="700">
              <a:solidFill>
                <a:srgbClr val="9CA3A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3" name="Google Shape;2173;p89"/>
          <p:cNvSpPr/>
          <p:nvPr/>
        </p:nvSpPr>
        <p:spPr>
          <a:xfrm>
            <a:off x="377200" y="994410"/>
            <a:ext cx="4149000" cy="1797000"/>
          </a:xfrm>
          <a:prstGeom prst="roundRect">
            <a:avLst>
              <a:gd fmla="val 6000" name="adj"/>
            </a:avLst>
          </a:prstGeom>
          <a:solidFill>
            <a:srgbClr val="0E9C8A">
              <a:alpha val="7999"/>
            </a:srgbClr>
          </a:solidFill>
          <a:ln cap="flat" cmpd="sng" w="7150">
            <a:solidFill>
              <a:srgbClr val="0E9C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4" name="Google Shape;2174;p89"/>
          <p:cNvSpPr/>
          <p:nvPr/>
        </p:nvSpPr>
        <p:spPr>
          <a:xfrm>
            <a:off x="582946" y="1186434"/>
            <a:ext cx="342900" cy="342900"/>
          </a:xfrm>
          <a:prstGeom prst="ellipse">
            <a:avLst/>
          </a:prstGeom>
          <a:noFill/>
          <a:ln cap="flat" cmpd="sng" w="9525">
            <a:solidFill>
              <a:srgbClr val="0E9C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fr" sz="1100" u="none" cap="none" strike="noStrike">
                <a:solidFill>
                  <a:srgbClr val="0E9C8A"/>
                </a:solidFill>
                <a:latin typeface="Cambria"/>
                <a:ea typeface="Cambria"/>
                <a:cs typeface="Cambria"/>
                <a:sym typeface="Cambria"/>
              </a:rPr>
              <a:t>1</a:t>
            </a:r>
            <a:endParaRPr sz="1100">
              <a:solidFill>
                <a:srgbClr val="0E9C8A"/>
              </a:solidFill>
            </a:endParaRPr>
          </a:p>
        </p:txBody>
      </p:sp>
      <p:sp>
        <p:nvSpPr>
          <p:cNvPr id="2175" name="Google Shape;2175;p89"/>
          <p:cNvSpPr txBox="1"/>
          <p:nvPr/>
        </p:nvSpPr>
        <p:spPr>
          <a:xfrm>
            <a:off x="1063018" y="1145286"/>
            <a:ext cx="3291900" cy="1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0" spcFirstLastPara="1" rIns="0" wrap="square" tIns="190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fr" sz="900" u="none" cap="none" strike="noStrike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Mémoire : court terme rapide + long terme durable</a:t>
            </a:r>
            <a:endParaRPr sz="1100">
              <a:solidFill>
                <a:srgbClr val="9CA3AF"/>
              </a:solidFill>
            </a:endParaRPr>
          </a:p>
        </p:txBody>
      </p:sp>
      <p:sp>
        <p:nvSpPr>
          <p:cNvPr id="2176" name="Google Shape;2176;p89"/>
          <p:cNvSpPr txBox="1"/>
          <p:nvPr/>
        </p:nvSpPr>
        <p:spPr>
          <a:xfrm>
            <a:off x="1063018" y="1392173"/>
            <a:ext cx="32919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0" spcFirstLastPara="1" rIns="0" wrap="square" tIns="190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fr" sz="1400" u="none" cap="none" strike="noStrike">
                <a:solidFill>
                  <a:srgbClr val="0E9C8A"/>
                </a:solidFill>
                <a:latin typeface="Cambria"/>
                <a:ea typeface="Cambria"/>
                <a:cs typeface="Cambria"/>
                <a:sym typeface="Cambria"/>
              </a:rPr>
              <a:t>Redis + PostgreSQL</a:t>
            </a:r>
            <a:endParaRPr sz="1100"/>
          </a:p>
        </p:txBody>
      </p:sp>
      <p:sp>
        <p:nvSpPr>
          <p:cNvPr id="2177" name="Google Shape;2177;p89"/>
          <p:cNvSpPr txBox="1"/>
          <p:nvPr/>
        </p:nvSpPr>
        <p:spPr>
          <a:xfrm>
            <a:off x="596662" y="1899666"/>
            <a:ext cx="3737700" cy="3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0" spcFirstLastPara="1" rIns="0" wrap="square" tIns="190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fr" sz="900" u="none" cap="none" strike="noStrike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Critère décisif </a:t>
            </a:r>
            <a:r>
              <a:rPr b="1" lang="fr" sz="900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-</a:t>
            </a:r>
            <a:r>
              <a:rPr b="1" i="0" lang="fr" sz="900" u="none" cap="none" strike="noStrike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0" i="0" lang="fr" sz="900" u="none" cap="none" strike="noStrike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Deux besoins de natures différentes : volatil/rapide vs durable/requêtable</a:t>
            </a:r>
            <a:endParaRPr sz="1100">
              <a:solidFill>
                <a:srgbClr val="9CA3AF"/>
              </a:solidFill>
            </a:endParaRPr>
          </a:p>
        </p:txBody>
      </p:sp>
      <p:sp>
        <p:nvSpPr>
          <p:cNvPr id="2178" name="Google Shape;2178;p89"/>
          <p:cNvSpPr txBox="1"/>
          <p:nvPr/>
        </p:nvSpPr>
        <p:spPr>
          <a:xfrm>
            <a:off x="596662" y="2366010"/>
            <a:ext cx="3737700" cy="1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0" spcFirstLastPara="1" rIns="0" wrap="square" tIns="190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fr" sz="900" u="none" cap="none" strike="noStrike">
                <a:solidFill>
                  <a:srgbClr val="B7791F"/>
                </a:solidFill>
                <a:latin typeface="Calibri"/>
                <a:ea typeface="Calibri"/>
                <a:cs typeface="Calibri"/>
                <a:sym typeface="Calibri"/>
              </a:rPr>
              <a:t>Vigilance : cohérence des deux stores (TTL vs persistance)</a:t>
            </a:r>
            <a:endParaRPr sz="1100"/>
          </a:p>
        </p:txBody>
      </p:sp>
      <p:sp>
        <p:nvSpPr>
          <p:cNvPr id="2179" name="Google Shape;2179;p89"/>
          <p:cNvSpPr/>
          <p:nvPr/>
        </p:nvSpPr>
        <p:spPr>
          <a:xfrm>
            <a:off x="4766436" y="994410"/>
            <a:ext cx="4149000" cy="1797000"/>
          </a:xfrm>
          <a:prstGeom prst="roundRect">
            <a:avLst>
              <a:gd fmla="val 6000" name="adj"/>
            </a:avLst>
          </a:prstGeom>
          <a:solidFill>
            <a:srgbClr val="0E9C8A">
              <a:alpha val="7999"/>
            </a:srgbClr>
          </a:solidFill>
          <a:ln cap="flat" cmpd="sng" w="7150">
            <a:solidFill>
              <a:srgbClr val="0E9C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0" name="Google Shape;2180;p89"/>
          <p:cNvSpPr/>
          <p:nvPr/>
        </p:nvSpPr>
        <p:spPr>
          <a:xfrm>
            <a:off x="4972182" y="1186434"/>
            <a:ext cx="342900" cy="342900"/>
          </a:xfrm>
          <a:prstGeom prst="ellipse">
            <a:avLst/>
          </a:prstGeom>
          <a:noFill/>
          <a:ln cap="flat" cmpd="sng" w="9525">
            <a:solidFill>
              <a:srgbClr val="0E9C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fr" sz="1100" u="none" cap="none" strike="noStrike">
                <a:solidFill>
                  <a:srgbClr val="0E9C8A"/>
                </a:solidFill>
                <a:latin typeface="Cambria"/>
                <a:ea typeface="Cambria"/>
                <a:cs typeface="Cambria"/>
                <a:sym typeface="Cambria"/>
              </a:rPr>
              <a:t>2</a:t>
            </a:r>
            <a:endParaRPr sz="1100">
              <a:solidFill>
                <a:srgbClr val="0E9C8A"/>
              </a:solidFill>
            </a:endParaRPr>
          </a:p>
        </p:txBody>
      </p:sp>
      <p:sp>
        <p:nvSpPr>
          <p:cNvPr id="2181" name="Google Shape;2181;p89"/>
          <p:cNvSpPr txBox="1"/>
          <p:nvPr/>
        </p:nvSpPr>
        <p:spPr>
          <a:xfrm>
            <a:off x="5452255" y="1145286"/>
            <a:ext cx="3291900" cy="1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0" spcFirstLastPara="1" rIns="0" wrap="square" tIns="190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fr" sz="900" u="none" cap="none" strike="noStrike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Géo : requêtes rayon / distance natives</a:t>
            </a:r>
            <a:endParaRPr sz="1100">
              <a:solidFill>
                <a:srgbClr val="9CA3AF"/>
              </a:solidFill>
            </a:endParaRPr>
          </a:p>
        </p:txBody>
      </p:sp>
      <p:sp>
        <p:nvSpPr>
          <p:cNvPr id="2182" name="Google Shape;2182;p89"/>
          <p:cNvSpPr txBox="1"/>
          <p:nvPr/>
        </p:nvSpPr>
        <p:spPr>
          <a:xfrm>
            <a:off x="5452255" y="1392173"/>
            <a:ext cx="32919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0" spcFirstLastPara="1" rIns="0" wrap="square" tIns="190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fr" sz="1400" u="none" cap="none" strike="noStrike">
                <a:solidFill>
                  <a:srgbClr val="0E9C8A"/>
                </a:solidFill>
                <a:latin typeface="Cambria"/>
                <a:ea typeface="Cambria"/>
                <a:cs typeface="Cambria"/>
                <a:sym typeface="Cambria"/>
              </a:rPr>
              <a:t>PostGIS</a:t>
            </a:r>
            <a:endParaRPr sz="1100"/>
          </a:p>
        </p:txBody>
      </p:sp>
      <p:sp>
        <p:nvSpPr>
          <p:cNvPr id="2183" name="Google Shape;2183;p89"/>
          <p:cNvSpPr txBox="1"/>
          <p:nvPr/>
        </p:nvSpPr>
        <p:spPr>
          <a:xfrm>
            <a:off x="4985899" y="1899666"/>
            <a:ext cx="3737700" cy="1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0" spcFirstLastPara="1" rIns="0" wrap="square" tIns="190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fr" sz="900" u="none" cap="none" strike="noStrike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Critère décisif </a:t>
            </a:r>
            <a:r>
              <a:rPr b="1" lang="fr" sz="900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-</a:t>
            </a:r>
            <a:r>
              <a:rPr b="1" i="0" lang="fr" sz="900" u="none" cap="none" strike="noStrike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0" i="0" lang="fr" sz="900" u="none" cap="none" strike="noStrike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Pousser le calcul géo dans la base, pas dans l'application</a:t>
            </a:r>
            <a:endParaRPr sz="1100">
              <a:solidFill>
                <a:srgbClr val="9CA3AF"/>
              </a:solidFill>
            </a:endParaRPr>
          </a:p>
        </p:txBody>
      </p:sp>
      <p:sp>
        <p:nvSpPr>
          <p:cNvPr id="2184" name="Google Shape;2184;p89"/>
          <p:cNvSpPr txBox="1"/>
          <p:nvPr/>
        </p:nvSpPr>
        <p:spPr>
          <a:xfrm>
            <a:off x="4985899" y="2366010"/>
            <a:ext cx="3737700" cy="1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0" spcFirstLastPara="1" rIns="0" wrap="square" tIns="190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fr" sz="900" u="none" cap="none" strike="noStrike">
                <a:solidFill>
                  <a:srgbClr val="B7791F"/>
                </a:solidFill>
                <a:latin typeface="Calibri"/>
                <a:ea typeface="Calibri"/>
                <a:cs typeface="Calibri"/>
                <a:sym typeface="Calibri"/>
              </a:rPr>
              <a:t>Vigilance : indexation spatiale GIST à prévoir</a:t>
            </a:r>
            <a:endParaRPr sz="1100"/>
          </a:p>
        </p:txBody>
      </p:sp>
      <p:sp>
        <p:nvSpPr>
          <p:cNvPr id="2185" name="Google Shape;2185;p89"/>
          <p:cNvSpPr/>
          <p:nvPr/>
        </p:nvSpPr>
        <p:spPr>
          <a:xfrm>
            <a:off x="377200" y="2983230"/>
            <a:ext cx="4149000" cy="1797000"/>
          </a:xfrm>
          <a:prstGeom prst="roundRect">
            <a:avLst>
              <a:gd fmla="val 6000" name="adj"/>
            </a:avLst>
          </a:prstGeom>
          <a:solidFill>
            <a:srgbClr val="0E9C8A">
              <a:alpha val="7999"/>
            </a:srgbClr>
          </a:solidFill>
          <a:ln cap="flat" cmpd="sng" w="7150">
            <a:solidFill>
              <a:srgbClr val="0E9C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6" name="Google Shape;2186;p89"/>
          <p:cNvSpPr/>
          <p:nvPr/>
        </p:nvSpPr>
        <p:spPr>
          <a:xfrm>
            <a:off x="582946" y="3175254"/>
            <a:ext cx="342900" cy="342900"/>
          </a:xfrm>
          <a:prstGeom prst="ellipse">
            <a:avLst/>
          </a:prstGeom>
          <a:noFill/>
          <a:ln cap="flat" cmpd="sng" w="9525">
            <a:solidFill>
              <a:srgbClr val="0E9C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fr" sz="1100" u="none" cap="none" strike="noStrike">
                <a:solidFill>
                  <a:srgbClr val="0E9C8A"/>
                </a:solidFill>
                <a:latin typeface="Cambria"/>
                <a:ea typeface="Cambria"/>
                <a:cs typeface="Cambria"/>
                <a:sym typeface="Cambria"/>
              </a:rPr>
              <a:t>3</a:t>
            </a:r>
            <a:endParaRPr sz="1100">
              <a:solidFill>
                <a:srgbClr val="0E9C8A"/>
              </a:solidFill>
            </a:endParaRPr>
          </a:p>
        </p:txBody>
      </p:sp>
      <p:sp>
        <p:nvSpPr>
          <p:cNvPr id="2187" name="Google Shape;2187;p89"/>
          <p:cNvSpPr txBox="1"/>
          <p:nvPr/>
        </p:nvSpPr>
        <p:spPr>
          <a:xfrm>
            <a:off x="1063018" y="3134106"/>
            <a:ext cx="3291900" cy="1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0" spcFirstLastPara="1" rIns="0" wrap="square" tIns="190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fr" sz="900" u="none" cap="none" strike="noStrike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Web : compléter le RAG sur l'actualité</a:t>
            </a:r>
            <a:endParaRPr sz="1100">
              <a:solidFill>
                <a:srgbClr val="9CA3AF"/>
              </a:solidFill>
            </a:endParaRPr>
          </a:p>
        </p:txBody>
      </p:sp>
      <p:sp>
        <p:nvSpPr>
          <p:cNvPr id="2188" name="Google Shape;2188;p89"/>
          <p:cNvSpPr txBox="1"/>
          <p:nvPr/>
        </p:nvSpPr>
        <p:spPr>
          <a:xfrm>
            <a:off x="1063018" y="3380994"/>
            <a:ext cx="32919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0" spcFirstLastPara="1" rIns="0" wrap="square" tIns="190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fr" sz="1400" u="none" cap="none" strike="noStrike">
                <a:solidFill>
                  <a:srgbClr val="0E9C8A"/>
                </a:solidFill>
                <a:latin typeface="Cambria"/>
                <a:ea typeface="Cambria"/>
                <a:cs typeface="Cambria"/>
                <a:sym typeface="Cambria"/>
              </a:rPr>
              <a:t>smolagents + Tavily</a:t>
            </a:r>
            <a:endParaRPr sz="1100"/>
          </a:p>
        </p:txBody>
      </p:sp>
      <p:sp>
        <p:nvSpPr>
          <p:cNvPr id="2189" name="Google Shape;2189;p89"/>
          <p:cNvSpPr txBox="1"/>
          <p:nvPr/>
        </p:nvSpPr>
        <p:spPr>
          <a:xfrm>
            <a:off x="596662" y="3888486"/>
            <a:ext cx="3737700" cy="3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0" spcFirstLastPara="1" rIns="0" wrap="square" tIns="190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fr" sz="900" u="none" cap="none" strike="noStrike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Critère décisif </a:t>
            </a:r>
            <a:r>
              <a:rPr b="1" lang="fr" sz="900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-</a:t>
            </a:r>
            <a:r>
              <a:rPr b="1" i="0" lang="fr" sz="900" u="none" cap="none" strike="noStrike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0" i="0" lang="fr" sz="900" u="none" cap="none" strike="noStrike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Orchestration agentique légère + search pensé pour LLM (piste du brief)</a:t>
            </a:r>
            <a:endParaRPr sz="1100">
              <a:solidFill>
                <a:srgbClr val="9CA3AF"/>
              </a:solidFill>
            </a:endParaRPr>
          </a:p>
        </p:txBody>
      </p:sp>
      <p:sp>
        <p:nvSpPr>
          <p:cNvPr id="2190" name="Google Shape;2190;p89"/>
          <p:cNvSpPr txBox="1"/>
          <p:nvPr/>
        </p:nvSpPr>
        <p:spPr>
          <a:xfrm>
            <a:off x="596662" y="4354830"/>
            <a:ext cx="3737700" cy="1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0" spcFirstLastPara="1" rIns="0" wrap="square" tIns="190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fr" sz="900" u="none" cap="none" strike="noStrike">
                <a:solidFill>
                  <a:srgbClr val="B7791F"/>
                </a:solidFill>
                <a:latin typeface="Calibri"/>
                <a:ea typeface="Calibri"/>
                <a:cs typeface="Calibri"/>
                <a:sym typeface="Calibri"/>
              </a:rPr>
              <a:t>Vigilance : coût par requête et latence ajoutée</a:t>
            </a:r>
            <a:endParaRPr sz="1100"/>
          </a:p>
        </p:txBody>
      </p:sp>
      <p:sp>
        <p:nvSpPr>
          <p:cNvPr id="2191" name="Google Shape;2191;p89"/>
          <p:cNvSpPr/>
          <p:nvPr/>
        </p:nvSpPr>
        <p:spPr>
          <a:xfrm>
            <a:off x="4766436" y="2983230"/>
            <a:ext cx="4149000" cy="1797000"/>
          </a:xfrm>
          <a:prstGeom prst="roundRect">
            <a:avLst>
              <a:gd fmla="val 6000" name="adj"/>
            </a:avLst>
          </a:prstGeom>
          <a:solidFill>
            <a:srgbClr val="0E9C8A">
              <a:alpha val="7999"/>
            </a:srgbClr>
          </a:solidFill>
          <a:ln cap="flat" cmpd="sng" w="7150">
            <a:solidFill>
              <a:srgbClr val="0E9C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2" name="Google Shape;2192;p89"/>
          <p:cNvSpPr/>
          <p:nvPr/>
        </p:nvSpPr>
        <p:spPr>
          <a:xfrm>
            <a:off x="4972182" y="3175254"/>
            <a:ext cx="342900" cy="342900"/>
          </a:xfrm>
          <a:prstGeom prst="ellipse">
            <a:avLst/>
          </a:prstGeom>
          <a:noFill/>
          <a:ln cap="flat" cmpd="sng" w="9525">
            <a:solidFill>
              <a:srgbClr val="0E9C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fr" sz="1100" u="none" cap="none" strike="noStrike">
                <a:solidFill>
                  <a:srgbClr val="0E9C8A"/>
                </a:solidFill>
                <a:latin typeface="Cambria"/>
                <a:ea typeface="Cambria"/>
                <a:cs typeface="Cambria"/>
                <a:sym typeface="Cambria"/>
              </a:rPr>
              <a:t>4</a:t>
            </a:r>
            <a:endParaRPr sz="1100">
              <a:solidFill>
                <a:srgbClr val="0E9C8A"/>
              </a:solidFill>
            </a:endParaRPr>
          </a:p>
        </p:txBody>
      </p:sp>
      <p:sp>
        <p:nvSpPr>
          <p:cNvPr id="2193" name="Google Shape;2193;p89"/>
          <p:cNvSpPr txBox="1"/>
          <p:nvPr/>
        </p:nvSpPr>
        <p:spPr>
          <a:xfrm>
            <a:off x="5452255" y="3134106"/>
            <a:ext cx="3291900" cy="1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0" spcFirstLastPara="1" rIns="0" wrap="square" tIns="190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fr" sz="900" u="none" cap="none" strike="noStrike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Monitoring : qualité, coût, satisfaction</a:t>
            </a:r>
            <a:endParaRPr sz="1100">
              <a:solidFill>
                <a:srgbClr val="9CA3AF"/>
              </a:solidFill>
            </a:endParaRPr>
          </a:p>
        </p:txBody>
      </p:sp>
      <p:sp>
        <p:nvSpPr>
          <p:cNvPr id="2194" name="Google Shape;2194;p89"/>
          <p:cNvSpPr txBox="1"/>
          <p:nvPr/>
        </p:nvSpPr>
        <p:spPr>
          <a:xfrm>
            <a:off x="5452255" y="3380994"/>
            <a:ext cx="32919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0" spcFirstLastPara="1" rIns="0" wrap="square" tIns="190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fr" sz="1400" u="none" cap="none" strike="noStrike">
                <a:solidFill>
                  <a:srgbClr val="0E9C8A"/>
                </a:solidFill>
                <a:latin typeface="Cambria"/>
                <a:ea typeface="Cambria"/>
                <a:cs typeface="Cambria"/>
                <a:sym typeface="Cambria"/>
              </a:rPr>
              <a:t>Langfuse + Cockpit</a:t>
            </a:r>
            <a:endParaRPr sz="1100"/>
          </a:p>
        </p:txBody>
      </p:sp>
      <p:sp>
        <p:nvSpPr>
          <p:cNvPr id="2195" name="Google Shape;2195;p89"/>
          <p:cNvSpPr txBox="1"/>
          <p:nvPr/>
        </p:nvSpPr>
        <p:spPr>
          <a:xfrm>
            <a:off x="4985899" y="3888486"/>
            <a:ext cx="3737700" cy="3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0" spcFirstLastPara="1" rIns="0" wrap="square" tIns="190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fr" sz="900" u="none" cap="none" strike="noStrike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Critère décisif </a:t>
            </a:r>
            <a:r>
              <a:rPr b="1" lang="fr" sz="900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-</a:t>
            </a:r>
            <a:r>
              <a:rPr b="1" i="0" lang="fr" sz="900" u="none" cap="none" strike="noStrike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0" i="0" lang="fr" sz="900" u="none" cap="none" strike="noStrike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Observabilité LLM-native (traces, coût, eval) + souveraineté/gratuité</a:t>
            </a:r>
            <a:endParaRPr sz="1100">
              <a:solidFill>
                <a:srgbClr val="9CA3AF"/>
              </a:solidFill>
            </a:endParaRPr>
          </a:p>
        </p:txBody>
      </p:sp>
      <p:sp>
        <p:nvSpPr>
          <p:cNvPr id="2196" name="Google Shape;2196;p89"/>
          <p:cNvSpPr txBox="1"/>
          <p:nvPr/>
        </p:nvSpPr>
        <p:spPr>
          <a:xfrm>
            <a:off x="4985899" y="4354830"/>
            <a:ext cx="3737700" cy="1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0" spcFirstLastPara="1" rIns="0" wrap="square" tIns="190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fr" sz="900" u="none" cap="none" strike="noStrike">
                <a:solidFill>
                  <a:srgbClr val="B7791F"/>
                </a:solidFill>
                <a:latin typeface="Calibri"/>
                <a:ea typeface="Calibri"/>
                <a:cs typeface="Calibri"/>
                <a:sym typeface="Calibri"/>
              </a:rPr>
              <a:t>Vigilance : définir les métriques tracées dès le départ</a:t>
            </a:r>
            <a:endParaRPr sz="1100"/>
          </a:p>
        </p:txBody>
      </p:sp>
      <p:sp>
        <p:nvSpPr>
          <p:cNvPr id="2197" name="Google Shape;2197;p89"/>
          <p:cNvSpPr/>
          <p:nvPr/>
        </p:nvSpPr>
        <p:spPr>
          <a:xfrm>
            <a:off x="4696875" y="2900000"/>
            <a:ext cx="4280700" cy="1977300"/>
          </a:xfrm>
          <a:prstGeom prst="rect">
            <a:avLst/>
          </a:prstGeom>
          <a:solidFill>
            <a:srgbClr val="111113">
              <a:alpha val="69999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98" name="Google Shape;2198;p89"/>
          <p:cNvSpPr/>
          <p:nvPr/>
        </p:nvSpPr>
        <p:spPr>
          <a:xfrm>
            <a:off x="325150" y="938250"/>
            <a:ext cx="4280700" cy="3952500"/>
          </a:xfrm>
          <a:prstGeom prst="rect">
            <a:avLst/>
          </a:prstGeom>
          <a:solidFill>
            <a:srgbClr val="111113">
              <a:alpha val="69999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03" name="Shape 2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4" name="Google Shape;2204;p90"/>
          <p:cNvSpPr txBox="1"/>
          <p:nvPr/>
        </p:nvSpPr>
        <p:spPr>
          <a:xfrm>
            <a:off x="377200" y="233175"/>
            <a:ext cx="2286900" cy="45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9050" lIns="0" spcFirstLastPara="1" rIns="0" wrap="square" tIns="190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1800">
                <a:solidFill>
                  <a:srgbClr val="0E9C8A"/>
                </a:solidFill>
                <a:latin typeface="Calibri"/>
                <a:ea typeface="Calibri"/>
                <a:cs typeface="Calibri"/>
                <a:sym typeface="Calibri"/>
              </a:rPr>
              <a:t>Justification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5" name="Google Shape;2205;p90"/>
          <p:cNvSpPr txBox="1"/>
          <p:nvPr/>
        </p:nvSpPr>
        <p:spPr>
          <a:xfrm>
            <a:off x="377200" y="675550"/>
            <a:ext cx="26754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9050" lIns="0" spcFirstLastPara="1" rIns="0" wrap="square" tIns="190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1100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Un choix par défi — besoin, option, critère</a:t>
            </a:r>
            <a:endParaRPr b="1" sz="1100">
              <a:solidFill>
                <a:srgbClr val="9CA3A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6" name="Google Shape;2206;p90"/>
          <p:cNvSpPr txBox="1"/>
          <p:nvPr/>
        </p:nvSpPr>
        <p:spPr>
          <a:xfrm>
            <a:off x="377200" y="4945850"/>
            <a:ext cx="999000" cy="166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700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MVP RAG Puls-Events</a:t>
            </a:r>
            <a:endParaRPr sz="700">
              <a:solidFill>
                <a:srgbClr val="9CA3A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7" name="Google Shape;2207;p90"/>
          <p:cNvSpPr/>
          <p:nvPr/>
        </p:nvSpPr>
        <p:spPr>
          <a:xfrm>
            <a:off x="377200" y="994410"/>
            <a:ext cx="4149000" cy="1797000"/>
          </a:xfrm>
          <a:prstGeom prst="roundRect">
            <a:avLst>
              <a:gd fmla="val 6000" name="adj"/>
            </a:avLst>
          </a:prstGeom>
          <a:solidFill>
            <a:srgbClr val="0E9C8A">
              <a:alpha val="7999"/>
            </a:srgbClr>
          </a:solidFill>
          <a:ln cap="flat" cmpd="sng" w="7150">
            <a:solidFill>
              <a:srgbClr val="0E9C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8" name="Google Shape;2208;p90"/>
          <p:cNvSpPr/>
          <p:nvPr/>
        </p:nvSpPr>
        <p:spPr>
          <a:xfrm>
            <a:off x="582946" y="1186434"/>
            <a:ext cx="342900" cy="342900"/>
          </a:xfrm>
          <a:prstGeom prst="ellipse">
            <a:avLst/>
          </a:prstGeom>
          <a:noFill/>
          <a:ln cap="flat" cmpd="sng" w="9525">
            <a:solidFill>
              <a:srgbClr val="0E9C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fr" sz="1100" u="none" cap="none" strike="noStrike">
                <a:solidFill>
                  <a:srgbClr val="0E9C8A"/>
                </a:solidFill>
                <a:latin typeface="Cambria"/>
                <a:ea typeface="Cambria"/>
                <a:cs typeface="Cambria"/>
                <a:sym typeface="Cambria"/>
              </a:rPr>
              <a:t>1</a:t>
            </a:r>
            <a:endParaRPr sz="1100">
              <a:solidFill>
                <a:srgbClr val="0E9C8A"/>
              </a:solidFill>
            </a:endParaRPr>
          </a:p>
        </p:txBody>
      </p:sp>
      <p:sp>
        <p:nvSpPr>
          <p:cNvPr id="2209" name="Google Shape;2209;p90"/>
          <p:cNvSpPr txBox="1"/>
          <p:nvPr/>
        </p:nvSpPr>
        <p:spPr>
          <a:xfrm>
            <a:off x="1063018" y="1145286"/>
            <a:ext cx="3291900" cy="1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0" spcFirstLastPara="1" rIns="0" wrap="square" tIns="190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fr" sz="900" u="none" cap="none" strike="noStrike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Mémoire : court terme rapide + long terme durable</a:t>
            </a:r>
            <a:endParaRPr sz="1100">
              <a:solidFill>
                <a:srgbClr val="9CA3AF"/>
              </a:solidFill>
            </a:endParaRPr>
          </a:p>
        </p:txBody>
      </p:sp>
      <p:sp>
        <p:nvSpPr>
          <p:cNvPr id="2210" name="Google Shape;2210;p90"/>
          <p:cNvSpPr txBox="1"/>
          <p:nvPr/>
        </p:nvSpPr>
        <p:spPr>
          <a:xfrm>
            <a:off x="1063018" y="1392173"/>
            <a:ext cx="32919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0" spcFirstLastPara="1" rIns="0" wrap="square" tIns="190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fr" sz="1400" u="none" cap="none" strike="noStrike">
                <a:solidFill>
                  <a:srgbClr val="0E9C8A"/>
                </a:solidFill>
                <a:latin typeface="Cambria"/>
                <a:ea typeface="Cambria"/>
                <a:cs typeface="Cambria"/>
                <a:sym typeface="Cambria"/>
              </a:rPr>
              <a:t>Redis + PostgreSQL</a:t>
            </a:r>
            <a:endParaRPr sz="1100"/>
          </a:p>
        </p:txBody>
      </p:sp>
      <p:sp>
        <p:nvSpPr>
          <p:cNvPr id="2211" name="Google Shape;2211;p90"/>
          <p:cNvSpPr txBox="1"/>
          <p:nvPr/>
        </p:nvSpPr>
        <p:spPr>
          <a:xfrm>
            <a:off x="596662" y="1899666"/>
            <a:ext cx="3737700" cy="3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0" spcFirstLastPara="1" rIns="0" wrap="square" tIns="190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fr" sz="900" u="none" cap="none" strike="noStrike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Critère décisif </a:t>
            </a:r>
            <a:r>
              <a:rPr b="1" lang="fr" sz="900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-</a:t>
            </a:r>
            <a:r>
              <a:rPr b="1" i="0" lang="fr" sz="900" u="none" cap="none" strike="noStrike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0" i="0" lang="fr" sz="900" u="none" cap="none" strike="noStrike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Deux besoins de natures différentes : volatil/rapide vs durable/requêtable</a:t>
            </a:r>
            <a:endParaRPr sz="1100">
              <a:solidFill>
                <a:srgbClr val="9CA3AF"/>
              </a:solidFill>
            </a:endParaRPr>
          </a:p>
        </p:txBody>
      </p:sp>
      <p:sp>
        <p:nvSpPr>
          <p:cNvPr id="2212" name="Google Shape;2212;p90"/>
          <p:cNvSpPr txBox="1"/>
          <p:nvPr/>
        </p:nvSpPr>
        <p:spPr>
          <a:xfrm>
            <a:off x="596662" y="2366010"/>
            <a:ext cx="3737700" cy="1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0" spcFirstLastPara="1" rIns="0" wrap="square" tIns="190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fr" sz="900" u="none" cap="none" strike="noStrike">
                <a:solidFill>
                  <a:srgbClr val="B7791F"/>
                </a:solidFill>
                <a:latin typeface="Calibri"/>
                <a:ea typeface="Calibri"/>
                <a:cs typeface="Calibri"/>
                <a:sym typeface="Calibri"/>
              </a:rPr>
              <a:t>Vigilance : cohérence des deux stores (TTL vs persistance)</a:t>
            </a:r>
            <a:endParaRPr sz="1100"/>
          </a:p>
        </p:txBody>
      </p:sp>
      <p:sp>
        <p:nvSpPr>
          <p:cNvPr id="2213" name="Google Shape;2213;p90"/>
          <p:cNvSpPr/>
          <p:nvPr/>
        </p:nvSpPr>
        <p:spPr>
          <a:xfrm>
            <a:off x="4766436" y="994410"/>
            <a:ext cx="4149000" cy="1797000"/>
          </a:xfrm>
          <a:prstGeom prst="roundRect">
            <a:avLst>
              <a:gd fmla="val 6000" name="adj"/>
            </a:avLst>
          </a:prstGeom>
          <a:solidFill>
            <a:srgbClr val="0E9C8A">
              <a:alpha val="7999"/>
            </a:srgbClr>
          </a:solidFill>
          <a:ln cap="flat" cmpd="sng" w="7150">
            <a:solidFill>
              <a:srgbClr val="0E9C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4" name="Google Shape;2214;p90"/>
          <p:cNvSpPr/>
          <p:nvPr/>
        </p:nvSpPr>
        <p:spPr>
          <a:xfrm>
            <a:off x="4972182" y="1186434"/>
            <a:ext cx="342900" cy="342900"/>
          </a:xfrm>
          <a:prstGeom prst="ellipse">
            <a:avLst/>
          </a:prstGeom>
          <a:noFill/>
          <a:ln cap="flat" cmpd="sng" w="9525">
            <a:solidFill>
              <a:srgbClr val="0E9C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fr" sz="1100" u="none" cap="none" strike="noStrike">
                <a:solidFill>
                  <a:srgbClr val="0E9C8A"/>
                </a:solidFill>
                <a:latin typeface="Cambria"/>
                <a:ea typeface="Cambria"/>
                <a:cs typeface="Cambria"/>
                <a:sym typeface="Cambria"/>
              </a:rPr>
              <a:t>2</a:t>
            </a:r>
            <a:endParaRPr sz="1100">
              <a:solidFill>
                <a:srgbClr val="0E9C8A"/>
              </a:solidFill>
            </a:endParaRPr>
          </a:p>
        </p:txBody>
      </p:sp>
      <p:sp>
        <p:nvSpPr>
          <p:cNvPr id="2215" name="Google Shape;2215;p90"/>
          <p:cNvSpPr txBox="1"/>
          <p:nvPr/>
        </p:nvSpPr>
        <p:spPr>
          <a:xfrm>
            <a:off x="5452255" y="1145286"/>
            <a:ext cx="3291900" cy="1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0" spcFirstLastPara="1" rIns="0" wrap="square" tIns="190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fr" sz="900" u="none" cap="none" strike="noStrike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Géo : requêtes rayon / distance natives</a:t>
            </a:r>
            <a:endParaRPr sz="1100">
              <a:solidFill>
                <a:srgbClr val="9CA3AF"/>
              </a:solidFill>
            </a:endParaRPr>
          </a:p>
        </p:txBody>
      </p:sp>
      <p:sp>
        <p:nvSpPr>
          <p:cNvPr id="2216" name="Google Shape;2216;p90"/>
          <p:cNvSpPr txBox="1"/>
          <p:nvPr/>
        </p:nvSpPr>
        <p:spPr>
          <a:xfrm>
            <a:off x="5452255" y="1392173"/>
            <a:ext cx="32919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0" spcFirstLastPara="1" rIns="0" wrap="square" tIns="190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fr" sz="1400" u="none" cap="none" strike="noStrike">
                <a:solidFill>
                  <a:srgbClr val="0E9C8A"/>
                </a:solidFill>
                <a:latin typeface="Cambria"/>
                <a:ea typeface="Cambria"/>
                <a:cs typeface="Cambria"/>
                <a:sym typeface="Cambria"/>
              </a:rPr>
              <a:t>PostGIS</a:t>
            </a:r>
            <a:endParaRPr sz="1100"/>
          </a:p>
        </p:txBody>
      </p:sp>
      <p:sp>
        <p:nvSpPr>
          <p:cNvPr id="2217" name="Google Shape;2217;p90"/>
          <p:cNvSpPr txBox="1"/>
          <p:nvPr/>
        </p:nvSpPr>
        <p:spPr>
          <a:xfrm>
            <a:off x="4985899" y="1899666"/>
            <a:ext cx="3737700" cy="1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0" spcFirstLastPara="1" rIns="0" wrap="square" tIns="190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fr" sz="900" u="none" cap="none" strike="noStrike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Critère décisif </a:t>
            </a:r>
            <a:r>
              <a:rPr b="1" lang="fr" sz="900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-</a:t>
            </a:r>
            <a:r>
              <a:rPr b="1" i="0" lang="fr" sz="900" u="none" cap="none" strike="noStrike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0" i="0" lang="fr" sz="900" u="none" cap="none" strike="noStrike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Pousser le calcul géo dans la base, pas dans l'application</a:t>
            </a:r>
            <a:endParaRPr sz="1100">
              <a:solidFill>
                <a:srgbClr val="9CA3AF"/>
              </a:solidFill>
            </a:endParaRPr>
          </a:p>
        </p:txBody>
      </p:sp>
      <p:sp>
        <p:nvSpPr>
          <p:cNvPr id="2218" name="Google Shape;2218;p90"/>
          <p:cNvSpPr txBox="1"/>
          <p:nvPr/>
        </p:nvSpPr>
        <p:spPr>
          <a:xfrm>
            <a:off x="4985899" y="2366010"/>
            <a:ext cx="3737700" cy="1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0" spcFirstLastPara="1" rIns="0" wrap="square" tIns="190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fr" sz="900" u="none" cap="none" strike="noStrike">
                <a:solidFill>
                  <a:srgbClr val="B7791F"/>
                </a:solidFill>
                <a:latin typeface="Calibri"/>
                <a:ea typeface="Calibri"/>
                <a:cs typeface="Calibri"/>
                <a:sym typeface="Calibri"/>
              </a:rPr>
              <a:t>Vigilance : indexation spatiale GIST à prévoir</a:t>
            </a:r>
            <a:endParaRPr sz="1100"/>
          </a:p>
        </p:txBody>
      </p:sp>
      <p:sp>
        <p:nvSpPr>
          <p:cNvPr id="2219" name="Google Shape;2219;p90"/>
          <p:cNvSpPr/>
          <p:nvPr/>
        </p:nvSpPr>
        <p:spPr>
          <a:xfrm>
            <a:off x="377200" y="2983230"/>
            <a:ext cx="4149000" cy="1797000"/>
          </a:xfrm>
          <a:prstGeom prst="roundRect">
            <a:avLst>
              <a:gd fmla="val 6000" name="adj"/>
            </a:avLst>
          </a:prstGeom>
          <a:solidFill>
            <a:srgbClr val="0E9C8A">
              <a:alpha val="7999"/>
            </a:srgbClr>
          </a:solidFill>
          <a:ln cap="flat" cmpd="sng" w="7150">
            <a:solidFill>
              <a:srgbClr val="0E9C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0" name="Google Shape;2220;p90"/>
          <p:cNvSpPr/>
          <p:nvPr/>
        </p:nvSpPr>
        <p:spPr>
          <a:xfrm>
            <a:off x="582946" y="3175254"/>
            <a:ext cx="342900" cy="342900"/>
          </a:xfrm>
          <a:prstGeom prst="ellipse">
            <a:avLst/>
          </a:prstGeom>
          <a:noFill/>
          <a:ln cap="flat" cmpd="sng" w="9525">
            <a:solidFill>
              <a:srgbClr val="0E9C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fr" sz="1100" u="none" cap="none" strike="noStrike">
                <a:solidFill>
                  <a:srgbClr val="0E9C8A"/>
                </a:solidFill>
                <a:latin typeface="Cambria"/>
                <a:ea typeface="Cambria"/>
                <a:cs typeface="Cambria"/>
                <a:sym typeface="Cambria"/>
              </a:rPr>
              <a:t>3</a:t>
            </a:r>
            <a:endParaRPr sz="1100">
              <a:solidFill>
                <a:srgbClr val="0E9C8A"/>
              </a:solidFill>
            </a:endParaRPr>
          </a:p>
        </p:txBody>
      </p:sp>
      <p:sp>
        <p:nvSpPr>
          <p:cNvPr id="2221" name="Google Shape;2221;p90"/>
          <p:cNvSpPr txBox="1"/>
          <p:nvPr/>
        </p:nvSpPr>
        <p:spPr>
          <a:xfrm>
            <a:off x="1063018" y="3134106"/>
            <a:ext cx="3291900" cy="1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0" spcFirstLastPara="1" rIns="0" wrap="square" tIns="190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fr" sz="900" u="none" cap="none" strike="noStrike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Web : compléter le RAG sur l'actualité</a:t>
            </a:r>
            <a:endParaRPr sz="1100">
              <a:solidFill>
                <a:srgbClr val="9CA3AF"/>
              </a:solidFill>
            </a:endParaRPr>
          </a:p>
        </p:txBody>
      </p:sp>
      <p:sp>
        <p:nvSpPr>
          <p:cNvPr id="2222" name="Google Shape;2222;p90"/>
          <p:cNvSpPr txBox="1"/>
          <p:nvPr/>
        </p:nvSpPr>
        <p:spPr>
          <a:xfrm>
            <a:off x="1063018" y="3380994"/>
            <a:ext cx="32919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0" spcFirstLastPara="1" rIns="0" wrap="square" tIns="190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fr" sz="1400" u="none" cap="none" strike="noStrike">
                <a:solidFill>
                  <a:srgbClr val="0E9C8A"/>
                </a:solidFill>
                <a:latin typeface="Cambria"/>
                <a:ea typeface="Cambria"/>
                <a:cs typeface="Cambria"/>
                <a:sym typeface="Cambria"/>
              </a:rPr>
              <a:t>smolagents + Tavily</a:t>
            </a:r>
            <a:endParaRPr sz="1100"/>
          </a:p>
        </p:txBody>
      </p:sp>
      <p:sp>
        <p:nvSpPr>
          <p:cNvPr id="2223" name="Google Shape;2223;p90"/>
          <p:cNvSpPr txBox="1"/>
          <p:nvPr/>
        </p:nvSpPr>
        <p:spPr>
          <a:xfrm>
            <a:off x="596662" y="3888486"/>
            <a:ext cx="3737700" cy="3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0" spcFirstLastPara="1" rIns="0" wrap="square" tIns="190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fr" sz="900" u="none" cap="none" strike="noStrike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Critère décisif </a:t>
            </a:r>
            <a:r>
              <a:rPr b="1" lang="fr" sz="900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-</a:t>
            </a:r>
            <a:r>
              <a:rPr b="1" i="0" lang="fr" sz="900" u="none" cap="none" strike="noStrike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0" i="0" lang="fr" sz="900" u="none" cap="none" strike="noStrike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Orchestration agentique légère + search pensé pour LLM (piste du brief)</a:t>
            </a:r>
            <a:endParaRPr sz="1100">
              <a:solidFill>
                <a:srgbClr val="9CA3AF"/>
              </a:solidFill>
            </a:endParaRPr>
          </a:p>
        </p:txBody>
      </p:sp>
      <p:sp>
        <p:nvSpPr>
          <p:cNvPr id="2224" name="Google Shape;2224;p90"/>
          <p:cNvSpPr txBox="1"/>
          <p:nvPr/>
        </p:nvSpPr>
        <p:spPr>
          <a:xfrm>
            <a:off x="596662" y="4354830"/>
            <a:ext cx="3737700" cy="1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0" spcFirstLastPara="1" rIns="0" wrap="square" tIns="190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fr" sz="900" u="none" cap="none" strike="noStrike">
                <a:solidFill>
                  <a:srgbClr val="B7791F"/>
                </a:solidFill>
                <a:latin typeface="Calibri"/>
                <a:ea typeface="Calibri"/>
                <a:cs typeface="Calibri"/>
                <a:sym typeface="Calibri"/>
              </a:rPr>
              <a:t>Vigilance : coût par requête et latence ajoutée</a:t>
            </a:r>
            <a:endParaRPr sz="1100"/>
          </a:p>
        </p:txBody>
      </p:sp>
      <p:sp>
        <p:nvSpPr>
          <p:cNvPr id="2225" name="Google Shape;2225;p90"/>
          <p:cNvSpPr/>
          <p:nvPr/>
        </p:nvSpPr>
        <p:spPr>
          <a:xfrm>
            <a:off x="4766436" y="2983230"/>
            <a:ext cx="4149000" cy="1797000"/>
          </a:xfrm>
          <a:prstGeom prst="roundRect">
            <a:avLst>
              <a:gd fmla="val 6000" name="adj"/>
            </a:avLst>
          </a:prstGeom>
          <a:solidFill>
            <a:srgbClr val="0E9C8A">
              <a:alpha val="7999"/>
            </a:srgbClr>
          </a:solidFill>
          <a:ln cap="flat" cmpd="sng" w="7150">
            <a:solidFill>
              <a:srgbClr val="0E9C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6" name="Google Shape;2226;p90"/>
          <p:cNvSpPr/>
          <p:nvPr/>
        </p:nvSpPr>
        <p:spPr>
          <a:xfrm>
            <a:off x="4972182" y="3175254"/>
            <a:ext cx="342900" cy="342900"/>
          </a:xfrm>
          <a:prstGeom prst="ellipse">
            <a:avLst/>
          </a:prstGeom>
          <a:noFill/>
          <a:ln cap="flat" cmpd="sng" w="9525">
            <a:solidFill>
              <a:srgbClr val="0E9C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fr" sz="1100" u="none" cap="none" strike="noStrike">
                <a:solidFill>
                  <a:srgbClr val="0E9C8A"/>
                </a:solidFill>
                <a:latin typeface="Cambria"/>
                <a:ea typeface="Cambria"/>
                <a:cs typeface="Cambria"/>
                <a:sym typeface="Cambria"/>
              </a:rPr>
              <a:t>4</a:t>
            </a:r>
            <a:endParaRPr sz="1100">
              <a:solidFill>
                <a:srgbClr val="0E9C8A"/>
              </a:solidFill>
            </a:endParaRPr>
          </a:p>
        </p:txBody>
      </p:sp>
      <p:sp>
        <p:nvSpPr>
          <p:cNvPr id="2227" name="Google Shape;2227;p90"/>
          <p:cNvSpPr txBox="1"/>
          <p:nvPr/>
        </p:nvSpPr>
        <p:spPr>
          <a:xfrm>
            <a:off x="5452255" y="3134106"/>
            <a:ext cx="3291900" cy="1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0" spcFirstLastPara="1" rIns="0" wrap="square" tIns="190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fr" sz="900" u="none" cap="none" strike="noStrike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Monitoring : qualité, coût, satisfaction</a:t>
            </a:r>
            <a:endParaRPr sz="1100">
              <a:solidFill>
                <a:srgbClr val="9CA3AF"/>
              </a:solidFill>
            </a:endParaRPr>
          </a:p>
        </p:txBody>
      </p:sp>
      <p:sp>
        <p:nvSpPr>
          <p:cNvPr id="2228" name="Google Shape;2228;p90"/>
          <p:cNvSpPr txBox="1"/>
          <p:nvPr/>
        </p:nvSpPr>
        <p:spPr>
          <a:xfrm>
            <a:off x="5452255" y="3380994"/>
            <a:ext cx="32919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0" spcFirstLastPara="1" rIns="0" wrap="square" tIns="190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fr" sz="1400" u="none" cap="none" strike="noStrike">
                <a:solidFill>
                  <a:srgbClr val="0E9C8A"/>
                </a:solidFill>
                <a:latin typeface="Cambria"/>
                <a:ea typeface="Cambria"/>
                <a:cs typeface="Cambria"/>
                <a:sym typeface="Cambria"/>
              </a:rPr>
              <a:t>Langfuse + Cockpit</a:t>
            </a:r>
            <a:endParaRPr sz="1100"/>
          </a:p>
        </p:txBody>
      </p:sp>
      <p:sp>
        <p:nvSpPr>
          <p:cNvPr id="2229" name="Google Shape;2229;p90"/>
          <p:cNvSpPr txBox="1"/>
          <p:nvPr/>
        </p:nvSpPr>
        <p:spPr>
          <a:xfrm>
            <a:off x="4985899" y="3888486"/>
            <a:ext cx="3737700" cy="3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0" spcFirstLastPara="1" rIns="0" wrap="square" tIns="190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fr" sz="900" u="none" cap="none" strike="noStrike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Critère décisif </a:t>
            </a:r>
            <a:r>
              <a:rPr b="1" lang="fr" sz="900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-</a:t>
            </a:r>
            <a:r>
              <a:rPr b="1" i="0" lang="fr" sz="900" u="none" cap="none" strike="noStrike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0" i="0" lang="fr" sz="900" u="none" cap="none" strike="noStrike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Observabilité LLM-native (traces, coût, eval) + souveraineté/gratuité</a:t>
            </a:r>
            <a:endParaRPr sz="1100">
              <a:solidFill>
                <a:srgbClr val="9CA3AF"/>
              </a:solidFill>
            </a:endParaRPr>
          </a:p>
        </p:txBody>
      </p:sp>
      <p:sp>
        <p:nvSpPr>
          <p:cNvPr id="2230" name="Google Shape;2230;p90"/>
          <p:cNvSpPr txBox="1"/>
          <p:nvPr/>
        </p:nvSpPr>
        <p:spPr>
          <a:xfrm>
            <a:off x="4985899" y="4354830"/>
            <a:ext cx="3737700" cy="1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0" spcFirstLastPara="1" rIns="0" wrap="square" tIns="190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fr" sz="900" u="none" cap="none" strike="noStrike">
                <a:solidFill>
                  <a:srgbClr val="B7791F"/>
                </a:solidFill>
                <a:latin typeface="Calibri"/>
                <a:ea typeface="Calibri"/>
                <a:cs typeface="Calibri"/>
                <a:sym typeface="Calibri"/>
              </a:rPr>
              <a:t>Vigilance : définir les métriques tracées dès le départ</a:t>
            </a:r>
            <a:endParaRPr sz="1100"/>
          </a:p>
        </p:txBody>
      </p:sp>
      <p:sp>
        <p:nvSpPr>
          <p:cNvPr id="2231" name="Google Shape;2231;p90"/>
          <p:cNvSpPr/>
          <p:nvPr/>
        </p:nvSpPr>
        <p:spPr>
          <a:xfrm>
            <a:off x="4696875" y="883450"/>
            <a:ext cx="4280700" cy="3993900"/>
          </a:xfrm>
          <a:prstGeom prst="rect">
            <a:avLst/>
          </a:prstGeom>
          <a:solidFill>
            <a:srgbClr val="111113">
              <a:alpha val="69999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32" name="Google Shape;2232;p90"/>
          <p:cNvSpPr/>
          <p:nvPr/>
        </p:nvSpPr>
        <p:spPr>
          <a:xfrm>
            <a:off x="325150" y="938250"/>
            <a:ext cx="4280700" cy="1932600"/>
          </a:xfrm>
          <a:prstGeom prst="rect">
            <a:avLst/>
          </a:prstGeom>
          <a:solidFill>
            <a:srgbClr val="111113">
              <a:alpha val="69999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37" name="Shape 2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8" name="Google Shape;2238;p91"/>
          <p:cNvSpPr txBox="1"/>
          <p:nvPr/>
        </p:nvSpPr>
        <p:spPr>
          <a:xfrm>
            <a:off x="377200" y="233175"/>
            <a:ext cx="2286900" cy="45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9050" lIns="0" spcFirstLastPara="1" rIns="0" wrap="square" tIns="190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1800">
                <a:solidFill>
                  <a:srgbClr val="0E9C8A"/>
                </a:solidFill>
                <a:latin typeface="Calibri"/>
                <a:ea typeface="Calibri"/>
                <a:cs typeface="Calibri"/>
                <a:sym typeface="Calibri"/>
              </a:rPr>
              <a:t>Justification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9" name="Google Shape;2239;p91"/>
          <p:cNvSpPr txBox="1"/>
          <p:nvPr/>
        </p:nvSpPr>
        <p:spPr>
          <a:xfrm>
            <a:off x="377200" y="675550"/>
            <a:ext cx="26754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9050" lIns="0" spcFirstLastPara="1" rIns="0" wrap="square" tIns="190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1100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Un choix par défi — besoin, option, critère</a:t>
            </a:r>
            <a:endParaRPr b="1" sz="1100">
              <a:solidFill>
                <a:srgbClr val="9CA3A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0" name="Google Shape;2240;p91"/>
          <p:cNvSpPr txBox="1"/>
          <p:nvPr/>
        </p:nvSpPr>
        <p:spPr>
          <a:xfrm>
            <a:off x="377200" y="4945850"/>
            <a:ext cx="999000" cy="166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700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MVP RAG Puls-Events</a:t>
            </a:r>
            <a:endParaRPr sz="700">
              <a:solidFill>
                <a:srgbClr val="9CA3A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1" name="Google Shape;2241;p91"/>
          <p:cNvSpPr/>
          <p:nvPr/>
        </p:nvSpPr>
        <p:spPr>
          <a:xfrm>
            <a:off x="377200" y="994410"/>
            <a:ext cx="4149000" cy="1797000"/>
          </a:xfrm>
          <a:prstGeom prst="roundRect">
            <a:avLst>
              <a:gd fmla="val 6000" name="adj"/>
            </a:avLst>
          </a:prstGeom>
          <a:solidFill>
            <a:srgbClr val="0E9C8A">
              <a:alpha val="7999"/>
            </a:srgbClr>
          </a:solidFill>
          <a:ln cap="flat" cmpd="sng" w="7150">
            <a:solidFill>
              <a:srgbClr val="0E9C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2" name="Google Shape;2242;p91"/>
          <p:cNvSpPr/>
          <p:nvPr/>
        </p:nvSpPr>
        <p:spPr>
          <a:xfrm>
            <a:off x="582946" y="1186434"/>
            <a:ext cx="342900" cy="342900"/>
          </a:xfrm>
          <a:prstGeom prst="ellipse">
            <a:avLst/>
          </a:prstGeom>
          <a:noFill/>
          <a:ln cap="flat" cmpd="sng" w="9525">
            <a:solidFill>
              <a:srgbClr val="0E9C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fr" sz="1100" u="none" cap="none" strike="noStrike">
                <a:solidFill>
                  <a:srgbClr val="0E9C8A"/>
                </a:solidFill>
                <a:latin typeface="Cambria"/>
                <a:ea typeface="Cambria"/>
                <a:cs typeface="Cambria"/>
                <a:sym typeface="Cambria"/>
              </a:rPr>
              <a:t>1</a:t>
            </a:r>
            <a:endParaRPr sz="1100">
              <a:solidFill>
                <a:srgbClr val="0E9C8A"/>
              </a:solidFill>
            </a:endParaRPr>
          </a:p>
        </p:txBody>
      </p:sp>
      <p:sp>
        <p:nvSpPr>
          <p:cNvPr id="2243" name="Google Shape;2243;p91"/>
          <p:cNvSpPr txBox="1"/>
          <p:nvPr/>
        </p:nvSpPr>
        <p:spPr>
          <a:xfrm>
            <a:off x="1063018" y="1145286"/>
            <a:ext cx="3291900" cy="1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0" spcFirstLastPara="1" rIns="0" wrap="square" tIns="190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fr" sz="900" u="none" cap="none" strike="noStrike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Mémoire : court terme rapide + long terme durable</a:t>
            </a:r>
            <a:endParaRPr sz="1100">
              <a:solidFill>
                <a:srgbClr val="9CA3AF"/>
              </a:solidFill>
            </a:endParaRPr>
          </a:p>
        </p:txBody>
      </p:sp>
      <p:sp>
        <p:nvSpPr>
          <p:cNvPr id="2244" name="Google Shape;2244;p91"/>
          <p:cNvSpPr txBox="1"/>
          <p:nvPr/>
        </p:nvSpPr>
        <p:spPr>
          <a:xfrm>
            <a:off x="1063018" y="1392173"/>
            <a:ext cx="32919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0" spcFirstLastPara="1" rIns="0" wrap="square" tIns="190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fr" sz="1400" u="none" cap="none" strike="noStrike">
                <a:solidFill>
                  <a:srgbClr val="0E9C8A"/>
                </a:solidFill>
                <a:latin typeface="Cambria"/>
                <a:ea typeface="Cambria"/>
                <a:cs typeface="Cambria"/>
                <a:sym typeface="Cambria"/>
              </a:rPr>
              <a:t>Redis + PostgreSQL</a:t>
            </a:r>
            <a:endParaRPr sz="1100"/>
          </a:p>
        </p:txBody>
      </p:sp>
      <p:sp>
        <p:nvSpPr>
          <p:cNvPr id="2245" name="Google Shape;2245;p91"/>
          <p:cNvSpPr txBox="1"/>
          <p:nvPr/>
        </p:nvSpPr>
        <p:spPr>
          <a:xfrm>
            <a:off x="596662" y="1899666"/>
            <a:ext cx="3737700" cy="3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0" spcFirstLastPara="1" rIns="0" wrap="square" tIns="190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fr" sz="900" u="none" cap="none" strike="noStrike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Critère décisif </a:t>
            </a:r>
            <a:r>
              <a:rPr b="1" lang="fr" sz="900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-</a:t>
            </a:r>
            <a:r>
              <a:rPr b="1" i="0" lang="fr" sz="900" u="none" cap="none" strike="noStrike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0" i="0" lang="fr" sz="900" u="none" cap="none" strike="noStrike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Deux besoins de natures différentes : volatil/rapide vs durable/requêtable</a:t>
            </a:r>
            <a:endParaRPr sz="1100">
              <a:solidFill>
                <a:srgbClr val="9CA3AF"/>
              </a:solidFill>
            </a:endParaRPr>
          </a:p>
        </p:txBody>
      </p:sp>
      <p:sp>
        <p:nvSpPr>
          <p:cNvPr id="2246" name="Google Shape;2246;p91"/>
          <p:cNvSpPr txBox="1"/>
          <p:nvPr/>
        </p:nvSpPr>
        <p:spPr>
          <a:xfrm>
            <a:off x="596662" y="2366010"/>
            <a:ext cx="3737700" cy="1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0" spcFirstLastPara="1" rIns="0" wrap="square" tIns="190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fr" sz="900" u="none" cap="none" strike="noStrike">
                <a:solidFill>
                  <a:srgbClr val="B7791F"/>
                </a:solidFill>
                <a:latin typeface="Calibri"/>
                <a:ea typeface="Calibri"/>
                <a:cs typeface="Calibri"/>
                <a:sym typeface="Calibri"/>
              </a:rPr>
              <a:t>Vigilance : cohérence des deux stores (TTL vs persistance)</a:t>
            </a:r>
            <a:endParaRPr sz="1100"/>
          </a:p>
        </p:txBody>
      </p:sp>
      <p:sp>
        <p:nvSpPr>
          <p:cNvPr id="2247" name="Google Shape;2247;p91"/>
          <p:cNvSpPr/>
          <p:nvPr/>
        </p:nvSpPr>
        <p:spPr>
          <a:xfrm>
            <a:off x="4766436" y="994410"/>
            <a:ext cx="4149000" cy="1797000"/>
          </a:xfrm>
          <a:prstGeom prst="roundRect">
            <a:avLst>
              <a:gd fmla="val 6000" name="adj"/>
            </a:avLst>
          </a:prstGeom>
          <a:solidFill>
            <a:srgbClr val="0E9C8A">
              <a:alpha val="7999"/>
            </a:srgbClr>
          </a:solidFill>
          <a:ln cap="flat" cmpd="sng" w="7150">
            <a:solidFill>
              <a:srgbClr val="0E9C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8" name="Google Shape;2248;p91"/>
          <p:cNvSpPr/>
          <p:nvPr/>
        </p:nvSpPr>
        <p:spPr>
          <a:xfrm>
            <a:off x="4972182" y="1186434"/>
            <a:ext cx="342900" cy="342900"/>
          </a:xfrm>
          <a:prstGeom prst="ellipse">
            <a:avLst/>
          </a:prstGeom>
          <a:noFill/>
          <a:ln cap="flat" cmpd="sng" w="9525">
            <a:solidFill>
              <a:srgbClr val="0E9C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fr" sz="1100" u="none" cap="none" strike="noStrike">
                <a:solidFill>
                  <a:srgbClr val="0E9C8A"/>
                </a:solidFill>
                <a:latin typeface="Cambria"/>
                <a:ea typeface="Cambria"/>
                <a:cs typeface="Cambria"/>
                <a:sym typeface="Cambria"/>
              </a:rPr>
              <a:t>2</a:t>
            </a:r>
            <a:endParaRPr sz="1100">
              <a:solidFill>
                <a:srgbClr val="0E9C8A"/>
              </a:solidFill>
            </a:endParaRPr>
          </a:p>
        </p:txBody>
      </p:sp>
      <p:sp>
        <p:nvSpPr>
          <p:cNvPr id="2249" name="Google Shape;2249;p91"/>
          <p:cNvSpPr txBox="1"/>
          <p:nvPr/>
        </p:nvSpPr>
        <p:spPr>
          <a:xfrm>
            <a:off x="5452255" y="1145286"/>
            <a:ext cx="3291900" cy="1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0" spcFirstLastPara="1" rIns="0" wrap="square" tIns="190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fr" sz="900" u="none" cap="none" strike="noStrike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Géo : requêtes rayon / distance natives</a:t>
            </a:r>
            <a:endParaRPr sz="1100">
              <a:solidFill>
                <a:srgbClr val="9CA3AF"/>
              </a:solidFill>
            </a:endParaRPr>
          </a:p>
        </p:txBody>
      </p:sp>
      <p:sp>
        <p:nvSpPr>
          <p:cNvPr id="2250" name="Google Shape;2250;p91"/>
          <p:cNvSpPr txBox="1"/>
          <p:nvPr/>
        </p:nvSpPr>
        <p:spPr>
          <a:xfrm>
            <a:off x="5452255" y="1392173"/>
            <a:ext cx="32919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0" spcFirstLastPara="1" rIns="0" wrap="square" tIns="190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fr" sz="1400" u="none" cap="none" strike="noStrike">
                <a:solidFill>
                  <a:srgbClr val="0E9C8A"/>
                </a:solidFill>
                <a:latin typeface="Cambria"/>
                <a:ea typeface="Cambria"/>
                <a:cs typeface="Cambria"/>
                <a:sym typeface="Cambria"/>
              </a:rPr>
              <a:t>PostGIS</a:t>
            </a:r>
            <a:endParaRPr sz="1100"/>
          </a:p>
        </p:txBody>
      </p:sp>
      <p:sp>
        <p:nvSpPr>
          <p:cNvPr id="2251" name="Google Shape;2251;p91"/>
          <p:cNvSpPr txBox="1"/>
          <p:nvPr/>
        </p:nvSpPr>
        <p:spPr>
          <a:xfrm>
            <a:off x="4985899" y="1899666"/>
            <a:ext cx="3737700" cy="1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0" spcFirstLastPara="1" rIns="0" wrap="square" tIns="190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fr" sz="900" u="none" cap="none" strike="noStrike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Critère décisif </a:t>
            </a:r>
            <a:r>
              <a:rPr b="1" lang="fr" sz="900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-</a:t>
            </a:r>
            <a:r>
              <a:rPr b="1" i="0" lang="fr" sz="900" u="none" cap="none" strike="noStrike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0" i="0" lang="fr" sz="900" u="none" cap="none" strike="noStrike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Pousser le calcul géo dans la base, pas dans l'application</a:t>
            </a:r>
            <a:endParaRPr sz="1100">
              <a:solidFill>
                <a:srgbClr val="9CA3AF"/>
              </a:solidFill>
            </a:endParaRPr>
          </a:p>
        </p:txBody>
      </p:sp>
      <p:sp>
        <p:nvSpPr>
          <p:cNvPr id="2252" name="Google Shape;2252;p91"/>
          <p:cNvSpPr txBox="1"/>
          <p:nvPr/>
        </p:nvSpPr>
        <p:spPr>
          <a:xfrm>
            <a:off x="4985899" y="2366010"/>
            <a:ext cx="3737700" cy="1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0" spcFirstLastPara="1" rIns="0" wrap="square" tIns="190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fr" sz="900" u="none" cap="none" strike="noStrike">
                <a:solidFill>
                  <a:srgbClr val="B7791F"/>
                </a:solidFill>
                <a:latin typeface="Calibri"/>
                <a:ea typeface="Calibri"/>
                <a:cs typeface="Calibri"/>
                <a:sym typeface="Calibri"/>
              </a:rPr>
              <a:t>Vigilance : indexation spatiale GIST à prévoir</a:t>
            </a:r>
            <a:endParaRPr sz="1100"/>
          </a:p>
        </p:txBody>
      </p:sp>
      <p:sp>
        <p:nvSpPr>
          <p:cNvPr id="2253" name="Google Shape;2253;p91"/>
          <p:cNvSpPr/>
          <p:nvPr/>
        </p:nvSpPr>
        <p:spPr>
          <a:xfrm>
            <a:off x="377200" y="2983230"/>
            <a:ext cx="4149000" cy="1797000"/>
          </a:xfrm>
          <a:prstGeom prst="roundRect">
            <a:avLst>
              <a:gd fmla="val 6000" name="adj"/>
            </a:avLst>
          </a:prstGeom>
          <a:solidFill>
            <a:srgbClr val="0E9C8A">
              <a:alpha val="7999"/>
            </a:srgbClr>
          </a:solidFill>
          <a:ln cap="flat" cmpd="sng" w="7150">
            <a:solidFill>
              <a:srgbClr val="0E9C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4" name="Google Shape;2254;p91"/>
          <p:cNvSpPr/>
          <p:nvPr/>
        </p:nvSpPr>
        <p:spPr>
          <a:xfrm>
            <a:off x="582946" y="3175254"/>
            <a:ext cx="342900" cy="342900"/>
          </a:xfrm>
          <a:prstGeom prst="ellipse">
            <a:avLst/>
          </a:prstGeom>
          <a:noFill/>
          <a:ln cap="flat" cmpd="sng" w="9525">
            <a:solidFill>
              <a:srgbClr val="0E9C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fr" sz="1100" u="none" cap="none" strike="noStrike">
                <a:solidFill>
                  <a:srgbClr val="0E9C8A"/>
                </a:solidFill>
                <a:latin typeface="Cambria"/>
                <a:ea typeface="Cambria"/>
                <a:cs typeface="Cambria"/>
                <a:sym typeface="Cambria"/>
              </a:rPr>
              <a:t>3</a:t>
            </a:r>
            <a:endParaRPr sz="1100">
              <a:solidFill>
                <a:srgbClr val="0E9C8A"/>
              </a:solidFill>
            </a:endParaRPr>
          </a:p>
        </p:txBody>
      </p:sp>
      <p:sp>
        <p:nvSpPr>
          <p:cNvPr id="2255" name="Google Shape;2255;p91"/>
          <p:cNvSpPr txBox="1"/>
          <p:nvPr/>
        </p:nvSpPr>
        <p:spPr>
          <a:xfrm>
            <a:off x="1063018" y="3134106"/>
            <a:ext cx="3291900" cy="1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0" spcFirstLastPara="1" rIns="0" wrap="square" tIns="190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fr" sz="900" u="none" cap="none" strike="noStrike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Web : compléter le RAG sur l'actualité</a:t>
            </a:r>
            <a:endParaRPr sz="1100">
              <a:solidFill>
                <a:srgbClr val="9CA3AF"/>
              </a:solidFill>
            </a:endParaRPr>
          </a:p>
        </p:txBody>
      </p:sp>
      <p:sp>
        <p:nvSpPr>
          <p:cNvPr id="2256" name="Google Shape;2256;p91"/>
          <p:cNvSpPr txBox="1"/>
          <p:nvPr/>
        </p:nvSpPr>
        <p:spPr>
          <a:xfrm>
            <a:off x="1063018" y="3380994"/>
            <a:ext cx="32919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0" spcFirstLastPara="1" rIns="0" wrap="square" tIns="190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fr" sz="1400" u="none" cap="none" strike="noStrike">
                <a:solidFill>
                  <a:srgbClr val="0E9C8A"/>
                </a:solidFill>
                <a:latin typeface="Cambria"/>
                <a:ea typeface="Cambria"/>
                <a:cs typeface="Cambria"/>
                <a:sym typeface="Cambria"/>
              </a:rPr>
              <a:t>smolagents + Tavily</a:t>
            </a:r>
            <a:endParaRPr sz="1100"/>
          </a:p>
        </p:txBody>
      </p:sp>
      <p:sp>
        <p:nvSpPr>
          <p:cNvPr id="2257" name="Google Shape;2257;p91"/>
          <p:cNvSpPr txBox="1"/>
          <p:nvPr/>
        </p:nvSpPr>
        <p:spPr>
          <a:xfrm>
            <a:off x="596662" y="3888486"/>
            <a:ext cx="3737700" cy="3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0" spcFirstLastPara="1" rIns="0" wrap="square" tIns="190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fr" sz="900" u="none" cap="none" strike="noStrike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Critère décisif </a:t>
            </a:r>
            <a:r>
              <a:rPr b="1" lang="fr" sz="900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-</a:t>
            </a:r>
            <a:r>
              <a:rPr b="1" i="0" lang="fr" sz="900" u="none" cap="none" strike="noStrike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0" i="0" lang="fr" sz="900" u="none" cap="none" strike="noStrike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Orchestration agentique légère + search pensé pour LLM (piste du brief)</a:t>
            </a:r>
            <a:endParaRPr sz="1100">
              <a:solidFill>
                <a:srgbClr val="9CA3AF"/>
              </a:solidFill>
            </a:endParaRPr>
          </a:p>
        </p:txBody>
      </p:sp>
      <p:sp>
        <p:nvSpPr>
          <p:cNvPr id="2258" name="Google Shape;2258;p91"/>
          <p:cNvSpPr txBox="1"/>
          <p:nvPr/>
        </p:nvSpPr>
        <p:spPr>
          <a:xfrm>
            <a:off x="596662" y="4354830"/>
            <a:ext cx="3737700" cy="1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0" spcFirstLastPara="1" rIns="0" wrap="square" tIns="190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fr" sz="900" u="none" cap="none" strike="noStrike">
                <a:solidFill>
                  <a:srgbClr val="B7791F"/>
                </a:solidFill>
                <a:latin typeface="Calibri"/>
                <a:ea typeface="Calibri"/>
                <a:cs typeface="Calibri"/>
                <a:sym typeface="Calibri"/>
              </a:rPr>
              <a:t>Vigilance : coût par requête et latence ajoutée</a:t>
            </a:r>
            <a:endParaRPr sz="1100"/>
          </a:p>
        </p:txBody>
      </p:sp>
      <p:sp>
        <p:nvSpPr>
          <p:cNvPr id="2259" name="Google Shape;2259;p91"/>
          <p:cNvSpPr/>
          <p:nvPr/>
        </p:nvSpPr>
        <p:spPr>
          <a:xfrm>
            <a:off x="4766436" y="2983230"/>
            <a:ext cx="4149000" cy="1797000"/>
          </a:xfrm>
          <a:prstGeom prst="roundRect">
            <a:avLst>
              <a:gd fmla="val 6000" name="adj"/>
            </a:avLst>
          </a:prstGeom>
          <a:solidFill>
            <a:srgbClr val="0E9C8A">
              <a:alpha val="7999"/>
            </a:srgbClr>
          </a:solidFill>
          <a:ln cap="flat" cmpd="sng" w="7150">
            <a:solidFill>
              <a:srgbClr val="0E9C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0" name="Google Shape;2260;p91"/>
          <p:cNvSpPr/>
          <p:nvPr/>
        </p:nvSpPr>
        <p:spPr>
          <a:xfrm>
            <a:off x="4972182" y="3175254"/>
            <a:ext cx="342900" cy="342900"/>
          </a:xfrm>
          <a:prstGeom prst="ellipse">
            <a:avLst/>
          </a:prstGeom>
          <a:noFill/>
          <a:ln cap="flat" cmpd="sng" w="9525">
            <a:solidFill>
              <a:srgbClr val="0E9C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fr" sz="1100" u="none" cap="none" strike="noStrike">
                <a:solidFill>
                  <a:srgbClr val="0E9C8A"/>
                </a:solidFill>
                <a:latin typeface="Cambria"/>
                <a:ea typeface="Cambria"/>
                <a:cs typeface="Cambria"/>
                <a:sym typeface="Cambria"/>
              </a:rPr>
              <a:t>4</a:t>
            </a:r>
            <a:endParaRPr sz="1100">
              <a:solidFill>
                <a:srgbClr val="0E9C8A"/>
              </a:solidFill>
            </a:endParaRPr>
          </a:p>
        </p:txBody>
      </p:sp>
      <p:sp>
        <p:nvSpPr>
          <p:cNvPr id="2261" name="Google Shape;2261;p91"/>
          <p:cNvSpPr txBox="1"/>
          <p:nvPr/>
        </p:nvSpPr>
        <p:spPr>
          <a:xfrm>
            <a:off x="5452255" y="3134106"/>
            <a:ext cx="3291900" cy="1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0" spcFirstLastPara="1" rIns="0" wrap="square" tIns="190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fr" sz="900" u="none" cap="none" strike="noStrike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Monitoring : qualité, coût, satisfaction</a:t>
            </a:r>
            <a:endParaRPr sz="1100">
              <a:solidFill>
                <a:srgbClr val="9CA3AF"/>
              </a:solidFill>
            </a:endParaRPr>
          </a:p>
        </p:txBody>
      </p:sp>
      <p:sp>
        <p:nvSpPr>
          <p:cNvPr id="2262" name="Google Shape;2262;p91"/>
          <p:cNvSpPr txBox="1"/>
          <p:nvPr/>
        </p:nvSpPr>
        <p:spPr>
          <a:xfrm>
            <a:off x="5452255" y="3380994"/>
            <a:ext cx="32919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0" spcFirstLastPara="1" rIns="0" wrap="square" tIns="190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fr" sz="1400" u="none" cap="none" strike="noStrike">
                <a:solidFill>
                  <a:srgbClr val="0E9C8A"/>
                </a:solidFill>
                <a:latin typeface="Cambria"/>
                <a:ea typeface="Cambria"/>
                <a:cs typeface="Cambria"/>
                <a:sym typeface="Cambria"/>
              </a:rPr>
              <a:t>Langfuse + Cockpit</a:t>
            </a:r>
            <a:endParaRPr sz="1100"/>
          </a:p>
        </p:txBody>
      </p:sp>
      <p:sp>
        <p:nvSpPr>
          <p:cNvPr id="2263" name="Google Shape;2263;p91"/>
          <p:cNvSpPr txBox="1"/>
          <p:nvPr/>
        </p:nvSpPr>
        <p:spPr>
          <a:xfrm>
            <a:off x="4985899" y="3888486"/>
            <a:ext cx="3737700" cy="3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0" spcFirstLastPara="1" rIns="0" wrap="square" tIns="190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fr" sz="900" u="none" cap="none" strike="noStrike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Critère décisif </a:t>
            </a:r>
            <a:r>
              <a:rPr b="1" lang="fr" sz="900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-</a:t>
            </a:r>
            <a:r>
              <a:rPr b="1" i="0" lang="fr" sz="900" u="none" cap="none" strike="noStrike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0" i="0" lang="fr" sz="900" u="none" cap="none" strike="noStrike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Observabilité LLM-native (traces, coût, eval) + souveraineté/gratuité</a:t>
            </a:r>
            <a:endParaRPr sz="1100">
              <a:solidFill>
                <a:srgbClr val="9CA3AF"/>
              </a:solidFill>
            </a:endParaRPr>
          </a:p>
        </p:txBody>
      </p:sp>
      <p:sp>
        <p:nvSpPr>
          <p:cNvPr id="2264" name="Google Shape;2264;p91"/>
          <p:cNvSpPr txBox="1"/>
          <p:nvPr/>
        </p:nvSpPr>
        <p:spPr>
          <a:xfrm>
            <a:off x="4985899" y="4354830"/>
            <a:ext cx="3737700" cy="1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0" spcFirstLastPara="1" rIns="0" wrap="square" tIns="190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fr" sz="900" u="none" cap="none" strike="noStrike">
                <a:solidFill>
                  <a:srgbClr val="B7791F"/>
                </a:solidFill>
                <a:latin typeface="Calibri"/>
                <a:ea typeface="Calibri"/>
                <a:cs typeface="Calibri"/>
                <a:sym typeface="Calibri"/>
              </a:rPr>
              <a:t>Vigilance : définir les métriques tracées dès le départ</a:t>
            </a:r>
            <a:endParaRPr sz="1100"/>
          </a:p>
        </p:txBody>
      </p:sp>
      <p:sp>
        <p:nvSpPr>
          <p:cNvPr id="2265" name="Google Shape;2265;p91"/>
          <p:cNvSpPr/>
          <p:nvPr/>
        </p:nvSpPr>
        <p:spPr>
          <a:xfrm>
            <a:off x="4696875" y="883450"/>
            <a:ext cx="4280700" cy="1988700"/>
          </a:xfrm>
          <a:prstGeom prst="rect">
            <a:avLst/>
          </a:prstGeom>
          <a:solidFill>
            <a:srgbClr val="111113">
              <a:alpha val="69999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66" name="Google Shape;2266;p91"/>
          <p:cNvSpPr/>
          <p:nvPr/>
        </p:nvSpPr>
        <p:spPr>
          <a:xfrm>
            <a:off x="325150" y="938250"/>
            <a:ext cx="4280700" cy="3925200"/>
          </a:xfrm>
          <a:prstGeom prst="rect">
            <a:avLst/>
          </a:prstGeom>
          <a:solidFill>
            <a:srgbClr val="111113">
              <a:alpha val="69999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71" name="Shape 2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2" name="Google Shape;2272;p92"/>
          <p:cNvSpPr txBox="1"/>
          <p:nvPr/>
        </p:nvSpPr>
        <p:spPr>
          <a:xfrm>
            <a:off x="377200" y="233175"/>
            <a:ext cx="2286900" cy="45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9050" lIns="0" spcFirstLastPara="1" rIns="0" wrap="square" tIns="190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1800">
                <a:solidFill>
                  <a:srgbClr val="0E9C8A"/>
                </a:solidFill>
                <a:latin typeface="Calibri"/>
                <a:ea typeface="Calibri"/>
                <a:cs typeface="Calibri"/>
                <a:sym typeface="Calibri"/>
              </a:rPr>
              <a:t>Justification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3" name="Google Shape;2273;p92"/>
          <p:cNvSpPr txBox="1"/>
          <p:nvPr/>
        </p:nvSpPr>
        <p:spPr>
          <a:xfrm>
            <a:off x="377200" y="675550"/>
            <a:ext cx="26754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9050" lIns="0" spcFirstLastPara="1" rIns="0" wrap="square" tIns="190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1100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Un choix par défi — besoin, option, critère</a:t>
            </a:r>
            <a:endParaRPr b="1" sz="1100">
              <a:solidFill>
                <a:srgbClr val="9CA3A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4" name="Google Shape;2274;p92"/>
          <p:cNvSpPr txBox="1"/>
          <p:nvPr/>
        </p:nvSpPr>
        <p:spPr>
          <a:xfrm>
            <a:off x="377200" y="4945850"/>
            <a:ext cx="999000" cy="166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700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MVP RAG Puls-Events</a:t>
            </a:r>
            <a:endParaRPr sz="700">
              <a:solidFill>
                <a:srgbClr val="9CA3A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5" name="Google Shape;2275;p92"/>
          <p:cNvSpPr/>
          <p:nvPr/>
        </p:nvSpPr>
        <p:spPr>
          <a:xfrm>
            <a:off x="377200" y="994410"/>
            <a:ext cx="4149000" cy="1797000"/>
          </a:xfrm>
          <a:prstGeom prst="roundRect">
            <a:avLst>
              <a:gd fmla="val 6000" name="adj"/>
            </a:avLst>
          </a:prstGeom>
          <a:solidFill>
            <a:srgbClr val="0E9C8A">
              <a:alpha val="7999"/>
            </a:srgbClr>
          </a:solidFill>
          <a:ln cap="flat" cmpd="sng" w="7150">
            <a:solidFill>
              <a:srgbClr val="0E9C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6" name="Google Shape;2276;p92"/>
          <p:cNvSpPr/>
          <p:nvPr/>
        </p:nvSpPr>
        <p:spPr>
          <a:xfrm>
            <a:off x="582946" y="1186434"/>
            <a:ext cx="342900" cy="342900"/>
          </a:xfrm>
          <a:prstGeom prst="ellipse">
            <a:avLst/>
          </a:prstGeom>
          <a:noFill/>
          <a:ln cap="flat" cmpd="sng" w="9525">
            <a:solidFill>
              <a:srgbClr val="0E9C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fr" sz="1100" u="none" cap="none" strike="noStrike">
                <a:solidFill>
                  <a:srgbClr val="0E9C8A"/>
                </a:solidFill>
                <a:latin typeface="Cambria"/>
                <a:ea typeface="Cambria"/>
                <a:cs typeface="Cambria"/>
                <a:sym typeface="Cambria"/>
              </a:rPr>
              <a:t>1</a:t>
            </a:r>
            <a:endParaRPr sz="1100">
              <a:solidFill>
                <a:srgbClr val="0E9C8A"/>
              </a:solidFill>
            </a:endParaRPr>
          </a:p>
        </p:txBody>
      </p:sp>
      <p:sp>
        <p:nvSpPr>
          <p:cNvPr id="2277" name="Google Shape;2277;p92"/>
          <p:cNvSpPr txBox="1"/>
          <p:nvPr/>
        </p:nvSpPr>
        <p:spPr>
          <a:xfrm>
            <a:off x="1063018" y="1145286"/>
            <a:ext cx="3291900" cy="1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0" spcFirstLastPara="1" rIns="0" wrap="square" tIns="190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fr" sz="900" u="none" cap="none" strike="noStrike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Mémoire : court terme rapide + long terme durable</a:t>
            </a:r>
            <a:endParaRPr sz="1100">
              <a:solidFill>
                <a:srgbClr val="9CA3AF"/>
              </a:solidFill>
            </a:endParaRPr>
          </a:p>
        </p:txBody>
      </p:sp>
      <p:sp>
        <p:nvSpPr>
          <p:cNvPr id="2278" name="Google Shape;2278;p92"/>
          <p:cNvSpPr txBox="1"/>
          <p:nvPr/>
        </p:nvSpPr>
        <p:spPr>
          <a:xfrm>
            <a:off x="1063018" y="1392173"/>
            <a:ext cx="32919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0" spcFirstLastPara="1" rIns="0" wrap="square" tIns="190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fr" sz="1400" u="none" cap="none" strike="noStrike">
                <a:solidFill>
                  <a:srgbClr val="0E9C8A"/>
                </a:solidFill>
                <a:latin typeface="Cambria"/>
                <a:ea typeface="Cambria"/>
                <a:cs typeface="Cambria"/>
                <a:sym typeface="Cambria"/>
              </a:rPr>
              <a:t>Redis + PostgreSQL</a:t>
            </a:r>
            <a:endParaRPr sz="1100"/>
          </a:p>
        </p:txBody>
      </p:sp>
      <p:sp>
        <p:nvSpPr>
          <p:cNvPr id="2279" name="Google Shape;2279;p92"/>
          <p:cNvSpPr txBox="1"/>
          <p:nvPr/>
        </p:nvSpPr>
        <p:spPr>
          <a:xfrm>
            <a:off x="596662" y="1899666"/>
            <a:ext cx="3737700" cy="3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0" spcFirstLastPara="1" rIns="0" wrap="square" tIns="190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fr" sz="900" u="none" cap="none" strike="noStrike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Critère décisif </a:t>
            </a:r>
            <a:r>
              <a:rPr b="1" lang="fr" sz="900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-</a:t>
            </a:r>
            <a:r>
              <a:rPr b="1" i="0" lang="fr" sz="900" u="none" cap="none" strike="noStrike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0" i="0" lang="fr" sz="900" u="none" cap="none" strike="noStrike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Deux besoins de natures différentes : volatil/rapide vs durable/requêtable</a:t>
            </a:r>
            <a:endParaRPr sz="1100">
              <a:solidFill>
                <a:srgbClr val="9CA3AF"/>
              </a:solidFill>
            </a:endParaRPr>
          </a:p>
        </p:txBody>
      </p:sp>
      <p:sp>
        <p:nvSpPr>
          <p:cNvPr id="2280" name="Google Shape;2280;p92"/>
          <p:cNvSpPr txBox="1"/>
          <p:nvPr/>
        </p:nvSpPr>
        <p:spPr>
          <a:xfrm>
            <a:off x="596662" y="2366010"/>
            <a:ext cx="3737700" cy="1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0" spcFirstLastPara="1" rIns="0" wrap="square" tIns="190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fr" sz="900" u="none" cap="none" strike="noStrike">
                <a:solidFill>
                  <a:srgbClr val="B7791F"/>
                </a:solidFill>
                <a:latin typeface="Calibri"/>
                <a:ea typeface="Calibri"/>
                <a:cs typeface="Calibri"/>
                <a:sym typeface="Calibri"/>
              </a:rPr>
              <a:t>Vigilance : cohérence des deux stores (TTL vs persistance)</a:t>
            </a:r>
            <a:endParaRPr sz="1100"/>
          </a:p>
        </p:txBody>
      </p:sp>
      <p:sp>
        <p:nvSpPr>
          <p:cNvPr id="2281" name="Google Shape;2281;p92"/>
          <p:cNvSpPr/>
          <p:nvPr/>
        </p:nvSpPr>
        <p:spPr>
          <a:xfrm>
            <a:off x="4766436" y="994410"/>
            <a:ext cx="4149000" cy="1797000"/>
          </a:xfrm>
          <a:prstGeom prst="roundRect">
            <a:avLst>
              <a:gd fmla="val 6000" name="adj"/>
            </a:avLst>
          </a:prstGeom>
          <a:solidFill>
            <a:srgbClr val="0E9C8A">
              <a:alpha val="7999"/>
            </a:srgbClr>
          </a:solidFill>
          <a:ln cap="flat" cmpd="sng" w="7150">
            <a:solidFill>
              <a:srgbClr val="0E9C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2" name="Google Shape;2282;p92"/>
          <p:cNvSpPr/>
          <p:nvPr/>
        </p:nvSpPr>
        <p:spPr>
          <a:xfrm>
            <a:off x="4972182" y="1186434"/>
            <a:ext cx="342900" cy="342900"/>
          </a:xfrm>
          <a:prstGeom prst="ellipse">
            <a:avLst/>
          </a:prstGeom>
          <a:noFill/>
          <a:ln cap="flat" cmpd="sng" w="9525">
            <a:solidFill>
              <a:srgbClr val="0E9C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fr" sz="1100" u="none" cap="none" strike="noStrike">
                <a:solidFill>
                  <a:srgbClr val="0E9C8A"/>
                </a:solidFill>
                <a:latin typeface="Cambria"/>
                <a:ea typeface="Cambria"/>
                <a:cs typeface="Cambria"/>
                <a:sym typeface="Cambria"/>
              </a:rPr>
              <a:t>2</a:t>
            </a:r>
            <a:endParaRPr sz="1100">
              <a:solidFill>
                <a:srgbClr val="0E9C8A"/>
              </a:solidFill>
            </a:endParaRPr>
          </a:p>
        </p:txBody>
      </p:sp>
      <p:sp>
        <p:nvSpPr>
          <p:cNvPr id="2283" name="Google Shape;2283;p92"/>
          <p:cNvSpPr txBox="1"/>
          <p:nvPr/>
        </p:nvSpPr>
        <p:spPr>
          <a:xfrm>
            <a:off x="5452255" y="1145286"/>
            <a:ext cx="3291900" cy="1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0" spcFirstLastPara="1" rIns="0" wrap="square" tIns="190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fr" sz="900" u="none" cap="none" strike="noStrike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Géo : requêtes rayon / distance natives</a:t>
            </a:r>
            <a:endParaRPr sz="1100">
              <a:solidFill>
                <a:srgbClr val="9CA3AF"/>
              </a:solidFill>
            </a:endParaRPr>
          </a:p>
        </p:txBody>
      </p:sp>
      <p:sp>
        <p:nvSpPr>
          <p:cNvPr id="2284" name="Google Shape;2284;p92"/>
          <p:cNvSpPr txBox="1"/>
          <p:nvPr/>
        </p:nvSpPr>
        <p:spPr>
          <a:xfrm>
            <a:off x="5452255" y="1392173"/>
            <a:ext cx="32919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0" spcFirstLastPara="1" rIns="0" wrap="square" tIns="190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fr" sz="1400" u="none" cap="none" strike="noStrike">
                <a:solidFill>
                  <a:srgbClr val="0E9C8A"/>
                </a:solidFill>
                <a:latin typeface="Cambria"/>
                <a:ea typeface="Cambria"/>
                <a:cs typeface="Cambria"/>
                <a:sym typeface="Cambria"/>
              </a:rPr>
              <a:t>PostGIS</a:t>
            </a:r>
            <a:endParaRPr sz="1100"/>
          </a:p>
        </p:txBody>
      </p:sp>
      <p:sp>
        <p:nvSpPr>
          <p:cNvPr id="2285" name="Google Shape;2285;p92"/>
          <p:cNvSpPr txBox="1"/>
          <p:nvPr/>
        </p:nvSpPr>
        <p:spPr>
          <a:xfrm>
            <a:off x="4985899" y="1899666"/>
            <a:ext cx="3737700" cy="1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0" spcFirstLastPara="1" rIns="0" wrap="square" tIns="190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fr" sz="900" u="none" cap="none" strike="noStrike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Critère décisif </a:t>
            </a:r>
            <a:r>
              <a:rPr b="1" lang="fr" sz="900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-</a:t>
            </a:r>
            <a:r>
              <a:rPr b="1" i="0" lang="fr" sz="900" u="none" cap="none" strike="noStrike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0" i="0" lang="fr" sz="900" u="none" cap="none" strike="noStrike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Pousser le calcul géo dans la base, pas dans l'application</a:t>
            </a:r>
            <a:endParaRPr sz="1100">
              <a:solidFill>
                <a:srgbClr val="9CA3AF"/>
              </a:solidFill>
            </a:endParaRPr>
          </a:p>
        </p:txBody>
      </p:sp>
      <p:sp>
        <p:nvSpPr>
          <p:cNvPr id="2286" name="Google Shape;2286;p92"/>
          <p:cNvSpPr txBox="1"/>
          <p:nvPr/>
        </p:nvSpPr>
        <p:spPr>
          <a:xfrm>
            <a:off x="4985899" y="2366010"/>
            <a:ext cx="3737700" cy="1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0" spcFirstLastPara="1" rIns="0" wrap="square" tIns="190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fr" sz="900" u="none" cap="none" strike="noStrike">
                <a:solidFill>
                  <a:srgbClr val="B7791F"/>
                </a:solidFill>
                <a:latin typeface="Calibri"/>
                <a:ea typeface="Calibri"/>
                <a:cs typeface="Calibri"/>
                <a:sym typeface="Calibri"/>
              </a:rPr>
              <a:t>Vigilance : indexation spatiale GIST à prévoir</a:t>
            </a:r>
            <a:endParaRPr sz="1100"/>
          </a:p>
        </p:txBody>
      </p:sp>
      <p:sp>
        <p:nvSpPr>
          <p:cNvPr id="2287" name="Google Shape;2287;p92"/>
          <p:cNvSpPr/>
          <p:nvPr/>
        </p:nvSpPr>
        <p:spPr>
          <a:xfrm>
            <a:off x="377200" y="2983230"/>
            <a:ext cx="4149000" cy="1797000"/>
          </a:xfrm>
          <a:prstGeom prst="roundRect">
            <a:avLst>
              <a:gd fmla="val 6000" name="adj"/>
            </a:avLst>
          </a:prstGeom>
          <a:solidFill>
            <a:srgbClr val="0E9C8A">
              <a:alpha val="7999"/>
            </a:srgbClr>
          </a:solidFill>
          <a:ln cap="flat" cmpd="sng" w="7150">
            <a:solidFill>
              <a:srgbClr val="0E9C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8" name="Google Shape;2288;p92"/>
          <p:cNvSpPr/>
          <p:nvPr/>
        </p:nvSpPr>
        <p:spPr>
          <a:xfrm>
            <a:off x="582946" y="3175254"/>
            <a:ext cx="342900" cy="342900"/>
          </a:xfrm>
          <a:prstGeom prst="ellipse">
            <a:avLst/>
          </a:prstGeom>
          <a:noFill/>
          <a:ln cap="flat" cmpd="sng" w="9525">
            <a:solidFill>
              <a:srgbClr val="0E9C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fr" sz="1100" u="none" cap="none" strike="noStrike">
                <a:solidFill>
                  <a:srgbClr val="0E9C8A"/>
                </a:solidFill>
                <a:latin typeface="Cambria"/>
                <a:ea typeface="Cambria"/>
                <a:cs typeface="Cambria"/>
                <a:sym typeface="Cambria"/>
              </a:rPr>
              <a:t>3</a:t>
            </a:r>
            <a:endParaRPr sz="1100">
              <a:solidFill>
                <a:srgbClr val="0E9C8A"/>
              </a:solidFill>
            </a:endParaRPr>
          </a:p>
        </p:txBody>
      </p:sp>
      <p:sp>
        <p:nvSpPr>
          <p:cNvPr id="2289" name="Google Shape;2289;p92"/>
          <p:cNvSpPr txBox="1"/>
          <p:nvPr/>
        </p:nvSpPr>
        <p:spPr>
          <a:xfrm>
            <a:off x="1063018" y="3134106"/>
            <a:ext cx="3291900" cy="1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0" spcFirstLastPara="1" rIns="0" wrap="square" tIns="190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fr" sz="900" u="none" cap="none" strike="noStrike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Web : compléter le RAG sur l'actualité</a:t>
            </a:r>
            <a:endParaRPr sz="1100">
              <a:solidFill>
                <a:srgbClr val="9CA3AF"/>
              </a:solidFill>
            </a:endParaRPr>
          </a:p>
        </p:txBody>
      </p:sp>
      <p:sp>
        <p:nvSpPr>
          <p:cNvPr id="2290" name="Google Shape;2290;p92"/>
          <p:cNvSpPr txBox="1"/>
          <p:nvPr/>
        </p:nvSpPr>
        <p:spPr>
          <a:xfrm>
            <a:off x="1063018" y="3380994"/>
            <a:ext cx="32919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0" spcFirstLastPara="1" rIns="0" wrap="square" tIns="190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fr" sz="1400" u="none" cap="none" strike="noStrike">
                <a:solidFill>
                  <a:srgbClr val="0E9C8A"/>
                </a:solidFill>
                <a:latin typeface="Cambria"/>
                <a:ea typeface="Cambria"/>
                <a:cs typeface="Cambria"/>
                <a:sym typeface="Cambria"/>
              </a:rPr>
              <a:t>smolagents + Tavily</a:t>
            </a:r>
            <a:endParaRPr sz="1100"/>
          </a:p>
        </p:txBody>
      </p:sp>
      <p:sp>
        <p:nvSpPr>
          <p:cNvPr id="2291" name="Google Shape;2291;p92"/>
          <p:cNvSpPr txBox="1"/>
          <p:nvPr/>
        </p:nvSpPr>
        <p:spPr>
          <a:xfrm>
            <a:off x="596662" y="3888486"/>
            <a:ext cx="3737700" cy="3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0" spcFirstLastPara="1" rIns="0" wrap="square" tIns="190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fr" sz="900" u="none" cap="none" strike="noStrike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Critère décisif </a:t>
            </a:r>
            <a:r>
              <a:rPr b="1" lang="fr" sz="900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-</a:t>
            </a:r>
            <a:r>
              <a:rPr b="1" i="0" lang="fr" sz="900" u="none" cap="none" strike="noStrike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0" i="0" lang="fr" sz="900" u="none" cap="none" strike="noStrike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Orchestration agentique légère + search pensé pour LLM (piste du brief)</a:t>
            </a:r>
            <a:endParaRPr sz="1100">
              <a:solidFill>
                <a:srgbClr val="9CA3AF"/>
              </a:solidFill>
            </a:endParaRPr>
          </a:p>
        </p:txBody>
      </p:sp>
      <p:sp>
        <p:nvSpPr>
          <p:cNvPr id="2292" name="Google Shape;2292;p92"/>
          <p:cNvSpPr txBox="1"/>
          <p:nvPr/>
        </p:nvSpPr>
        <p:spPr>
          <a:xfrm>
            <a:off x="596662" y="4354830"/>
            <a:ext cx="3737700" cy="1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0" spcFirstLastPara="1" rIns="0" wrap="square" tIns="190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fr" sz="900" u="none" cap="none" strike="noStrike">
                <a:solidFill>
                  <a:srgbClr val="B7791F"/>
                </a:solidFill>
                <a:latin typeface="Calibri"/>
                <a:ea typeface="Calibri"/>
                <a:cs typeface="Calibri"/>
                <a:sym typeface="Calibri"/>
              </a:rPr>
              <a:t>Vigilance : coût par requête et latence ajoutée</a:t>
            </a:r>
            <a:endParaRPr sz="1100"/>
          </a:p>
        </p:txBody>
      </p:sp>
      <p:sp>
        <p:nvSpPr>
          <p:cNvPr id="2293" name="Google Shape;2293;p92"/>
          <p:cNvSpPr/>
          <p:nvPr/>
        </p:nvSpPr>
        <p:spPr>
          <a:xfrm>
            <a:off x="4766436" y="2983230"/>
            <a:ext cx="4149000" cy="1797000"/>
          </a:xfrm>
          <a:prstGeom prst="roundRect">
            <a:avLst>
              <a:gd fmla="val 6000" name="adj"/>
            </a:avLst>
          </a:prstGeom>
          <a:solidFill>
            <a:srgbClr val="0E9C8A">
              <a:alpha val="7999"/>
            </a:srgbClr>
          </a:solidFill>
          <a:ln cap="flat" cmpd="sng" w="7150">
            <a:solidFill>
              <a:srgbClr val="0E9C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4" name="Google Shape;2294;p92"/>
          <p:cNvSpPr/>
          <p:nvPr/>
        </p:nvSpPr>
        <p:spPr>
          <a:xfrm>
            <a:off x="4972182" y="3175254"/>
            <a:ext cx="342900" cy="342900"/>
          </a:xfrm>
          <a:prstGeom prst="ellipse">
            <a:avLst/>
          </a:prstGeom>
          <a:noFill/>
          <a:ln cap="flat" cmpd="sng" w="9525">
            <a:solidFill>
              <a:srgbClr val="0E9C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fr" sz="1100" u="none" cap="none" strike="noStrike">
                <a:solidFill>
                  <a:srgbClr val="0E9C8A"/>
                </a:solidFill>
                <a:latin typeface="Cambria"/>
                <a:ea typeface="Cambria"/>
                <a:cs typeface="Cambria"/>
                <a:sym typeface="Cambria"/>
              </a:rPr>
              <a:t>4</a:t>
            </a:r>
            <a:endParaRPr sz="1100">
              <a:solidFill>
                <a:srgbClr val="0E9C8A"/>
              </a:solidFill>
            </a:endParaRPr>
          </a:p>
        </p:txBody>
      </p:sp>
      <p:sp>
        <p:nvSpPr>
          <p:cNvPr id="2295" name="Google Shape;2295;p92"/>
          <p:cNvSpPr txBox="1"/>
          <p:nvPr/>
        </p:nvSpPr>
        <p:spPr>
          <a:xfrm>
            <a:off x="5452255" y="3134106"/>
            <a:ext cx="3291900" cy="1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0" spcFirstLastPara="1" rIns="0" wrap="square" tIns="190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fr" sz="900" u="none" cap="none" strike="noStrike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Monitoring : qualité, coût, satisfaction</a:t>
            </a:r>
            <a:endParaRPr sz="1100">
              <a:solidFill>
                <a:srgbClr val="9CA3AF"/>
              </a:solidFill>
            </a:endParaRPr>
          </a:p>
        </p:txBody>
      </p:sp>
      <p:sp>
        <p:nvSpPr>
          <p:cNvPr id="2296" name="Google Shape;2296;p92"/>
          <p:cNvSpPr txBox="1"/>
          <p:nvPr/>
        </p:nvSpPr>
        <p:spPr>
          <a:xfrm>
            <a:off x="5452255" y="3380994"/>
            <a:ext cx="32919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0" spcFirstLastPara="1" rIns="0" wrap="square" tIns="190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fr" sz="1400" u="none" cap="none" strike="noStrike">
                <a:solidFill>
                  <a:srgbClr val="0E9C8A"/>
                </a:solidFill>
                <a:latin typeface="Cambria"/>
                <a:ea typeface="Cambria"/>
                <a:cs typeface="Cambria"/>
                <a:sym typeface="Cambria"/>
              </a:rPr>
              <a:t>Langfuse + Cockpit</a:t>
            </a:r>
            <a:endParaRPr sz="1100"/>
          </a:p>
        </p:txBody>
      </p:sp>
      <p:sp>
        <p:nvSpPr>
          <p:cNvPr id="2297" name="Google Shape;2297;p92"/>
          <p:cNvSpPr txBox="1"/>
          <p:nvPr/>
        </p:nvSpPr>
        <p:spPr>
          <a:xfrm>
            <a:off x="4985899" y="3888486"/>
            <a:ext cx="3737700" cy="3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0" spcFirstLastPara="1" rIns="0" wrap="square" tIns="190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fr" sz="900" u="none" cap="none" strike="noStrike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Critère décisif </a:t>
            </a:r>
            <a:r>
              <a:rPr b="1" lang="fr" sz="900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-</a:t>
            </a:r>
            <a:r>
              <a:rPr b="1" i="0" lang="fr" sz="900" u="none" cap="none" strike="noStrike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0" i="0" lang="fr" sz="900" u="none" cap="none" strike="noStrike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Observabilité LLM-native (traces, coût, eval) + souveraineté/gratuité</a:t>
            </a:r>
            <a:endParaRPr sz="1100">
              <a:solidFill>
                <a:srgbClr val="9CA3AF"/>
              </a:solidFill>
            </a:endParaRPr>
          </a:p>
        </p:txBody>
      </p:sp>
      <p:sp>
        <p:nvSpPr>
          <p:cNvPr id="2298" name="Google Shape;2298;p92"/>
          <p:cNvSpPr txBox="1"/>
          <p:nvPr/>
        </p:nvSpPr>
        <p:spPr>
          <a:xfrm>
            <a:off x="4985899" y="4354830"/>
            <a:ext cx="3737700" cy="1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0" spcFirstLastPara="1" rIns="0" wrap="square" tIns="190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fr" sz="900" u="none" cap="none" strike="noStrike">
                <a:solidFill>
                  <a:srgbClr val="B7791F"/>
                </a:solidFill>
                <a:latin typeface="Calibri"/>
                <a:ea typeface="Calibri"/>
                <a:cs typeface="Calibri"/>
                <a:sym typeface="Calibri"/>
              </a:rPr>
              <a:t>Vigilance : définir les métriques tracées dès le départ</a:t>
            </a:r>
            <a:endParaRPr sz="1100"/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03" name="Shape 2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4" name="Google Shape;2304;p93"/>
          <p:cNvSpPr txBox="1"/>
          <p:nvPr/>
        </p:nvSpPr>
        <p:spPr>
          <a:xfrm>
            <a:off x="377200" y="233175"/>
            <a:ext cx="2286900" cy="45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9050" lIns="0" spcFirstLastPara="1" rIns="0" wrap="square" tIns="190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1800">
                <a:solidFill>
                  <a:srgbClr val="0E9C8A"/>
                </a:solidFill>
                <a:latin typeface="Calibri"/>
                <a:ea typeface="Calibri"/>
                <a:cs typeface="Calibri"/>
                <a:sym typeface="Calibri"/>
              </a:rPr>
              <a:t>Justification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5" name="Google Shape;2305;p93"/>
          <p:cNvSpPr txBox="1"/>
          <p:nvPr/>
        </p:nvSpPr>
        <p:spPr>
          <a:xfrm>
            <a:off x="377200" y="675550"/>
            <a:ext cx="23910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9050" lIns="0" spcFirstLastPara="1" rIns="0" wrap="square" tIns="190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1100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Arbitrages structurants &amp; socle hérité</a:t>
            </a:r>
            <a:endParaRPr b="1" sz="1100">
              <a:solidFill>
                <a:srgbClr val="9CA3A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6" name="Google Shape;2306;p93"/>
          <p:cNvSpPr txBox="1"/>
          <p:nvPr/>
        </p:nvSpPr>
        <p:spPr>
          <a:xfrm>
            <a:off x="377200" y="4945850"/>
            <a:ext cx="999000" cy="166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700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MVP RAG Puls-Events</a:t>
            </a:r>
            <a:endParaRPr sz="700">
              <a:solidFill>
                <a:srgbClr val="9CA3A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11" name="Shape 2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2" name="Google Shape;2312;p94"/>
          <p:cNvSpPr txBox="1"/>
          <p:nvPr/>
        </p:nvSpPr>
        <p:spPr>
          <a:xfrm>
            <a:off x="377200" y="233175"/>
            <a:ext cx="2286900" cy="45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9050" lIns="0" spcFirstLastPara="1" rIns="0" wrap="square" tIns="190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1800">
                <a:solidFill>
                  <a:srgbClr val="0E9C8A"/>
                </a:solidFill>
                <a:latin typeface="Calibri"/>
                <a:ea typeface="Calibri"/>
                <a:cs typeface="Calibri"/>
                <a:sym typeface="Calibri"/>
              </a:rPr>
              <a:t>Justification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3" name="Google Shape;2313;p94"/>
          <p:cNvSpPr txBox="1"/>
          <p:nvPr/>
        </p:nvSpPr>
        <p:spPr>
          <a:xfrm>
            <a:off x="377200" y="675550"/>
            <a:ext cx="23910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9050" lIns="0" spcFirstLastPara="1" rIns="0" wrap="square" tIns="190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1100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Arbitrages structurants &amp; socle hérité</a:t>
            </a:r>
            <a:endParaRPr b="1" sz="1100">
              <a:solidFill>
                <a:srgbClr val="9CA3A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4" name="Google Shape;2314;p94"/>
          <p:cNvSpPr txBox="1"/>
          <p:nvPr/>
        </p:nvSpPr>
        <p:spPr>
          <a:xfrm>
            <a:off x="377200" y="4945850"/>
            <a:ext cx="999000" cy="166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700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MVP RAG Puls-Events</a:t>
            </a:r>
            <a:endParaRPr sz="700">
              <a:solidFill>
                <a:srgbClr val="9CA3A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5" name="Google Shape;2315;p94"/>
          <p:cNvSpPr/>
          <p:nvPr/>
        </p:nvSpPr>
        <p:spPr>
          <a:xfrm>
            <a:off x="377200" y="1028700"/>
            <a:ext cx="2633400" cy="2400300"/>
          </a:xfrm>
          <a:prstGeom prst="roundRect">
            <a:avLst>
              <a:gd fmla="val 6000" name="adj"/>
            </a:avLst>
          </a:prstGeom>
          <a:solidFill>
            <a:srgbClr val="0E9C8A">
              <a:alpha val="7999"/>
            </a:srgbClr>
          </a:solidFill>
          <a:ln cap="flat" cmpd="sng" w="7150">
            <a:solidFill>
              <a:srgbClr val="0E9C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6" name="Google Shape;2316;p94"/>
          <p:cNvSpPr txBox="1"/>
          <p:nvPr/>
        </p:nvSpPr>
        <p:spPr>
          <a:xfrm>
            <a:off x="582946" y="1207008"/>
            <a:ext cx="2222100" cy="1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0" spcFirstLastPara="1" rIns="0" wrap="square" tIns="190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fr" sz="900" u="none" cap="none" strike="noStrike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VECTOR STORE</a:t>
            </a:r>
            <a:endParaRPr sz="1100">
              <a:solidFill>
                <a:srgbClr val="9CA3AF"/>
              </a:solidFill>
            </a:endParaRPr>
          </a:p>
        </p:txBody>
      </p:sp>
      <p:sp>
        <p:nvSpPr>
          <p:cNvPr id="2317" name="Google Shape;2317;p94"/>
          <p:cNvSpPr txBox="1"/>
          <p:nvPr/>
        </p:nvSpPr>
        <p:spPr>
          <a:xfrm>
            <a:off x="582946" y="1481328"/>
            <a:ext cx="2222100" cy="1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0" spcFirstLastPara="1" rIns="0" wrap="square" tIns="190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fr" sz="900" u="none" cap="none" strike="noStrike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écarté : FAISS · Qdrant</a:t>
            </a:r>
            <a:endParaRPr sz="1100">
              <a:solidFill>
                <a:srgbClr val="9CA3AF"/>
              </a:solidFill>
            </a:endParaRPr>
          </a:p>
        </p:txBody>
      </p:sp>
      <p:sp>
        <p:nvSpPr>
          <p:cNvPr id="2318" name="Google Shape;2318;p94"/>
          <p:cNvSpPr txBox="1"/>
          <p:nvPr/>
        </p:nvSpPr>
        <p:spPr>
          <a:xfrm>
            <a:off x="582946" y="1837943"/>
            <a:ext cx="2222100" cy="3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0" spcFirstLastPara="1" rIns="0" wrap="square" tIns="190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fr" sz="1700" u="none" cap="none" strike="noStrike">
                <a:solidFill>
                  <a:srgbClr val="0E9C8A"/>
                </a:solidFill>
                <a:latin typeface="Cambria"/>
                <a:ea typeface="Cambria"/>
                <a:cs typeface="Cambria"/>
                <a:sym typeface="Cambria"/>
              </a:rPr>
              <a:t>pgvector</a:t>
            </a:r>
            <a:endParaRPr sz="1100"/>
          </a:p>
        </p:txBody>
      </p:sp>
      <p:sp>
        <p:nvSpPr>
          <p:cNvPr id="2319" name="Google Shape;2319;p94"/>
          <p:cNvSpPr txBox="1"/>
          <p:nvPr/>
        </p:nvSpPr>
        <p:spPr>
          <a:xfrm>
            <a:off x="582946" y="2366010"/>
            <a:ext cx="2222100" cy="3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0" spcFirstLastPara="1" rIns="0" wrap="square" tIns="190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fr" sz="900" u="none" cap="none" strike="noStrike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Unifie vecteurs + géo + relationnel dans une seule base, moins d'ops pour un MVP.</a:t>
            </a:r>
            <a:endParaRPr sz="1100">
              <a:solidFill>
                <a:srgbClr val="9CA3AF"/>
              </a:solidFill>
            </a:endParaRPr>
          </a:p>
        </p:txBody>
      </p:sp>
      <p:sp>
        <p:nvSpPr>
          <p:cNvPr id="2320" name="Google Shape;2320;p94"/>
          <p:cNvSpPr txBox="1"/>
          <p:nvPr/>
        </p:nvSpPr>
        <p:spPr>
          <a:xfrm>
            <a:off x="582946" y="3003804"/>
            <a:ext cx="2222100" cy="1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0" spcFirstLastPara="1" rIns="0" wrap="square" tIns="190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fr" sz="900" u="none" cap="none" strike="noStrike">
                <a:solidFill>
                  <a:srgbClr val="B7791F"/>
                </a:solidFill>
                <a:latin typeface="Calibri"/>
                <a:ea typeface="Calibri"/>
                <a:cs typeface="Calibri"/>
                <a:sym typeface="Calibri"/>
              </a:rPr>
              <a:t>Qdrant = plan B si la charge explose.</a:t>
            </a:r>
            <a:endParaRPr sz="1100"/>
          </a:p>
        </p:txBody>
      </p:sp>
      <p:sp>
        <p:nvSpPr>
          <p:cNvPr id="2321" name="Google Shape;2321;p94"/>
          <p:cNvSpPr/>
          <p:nvPr/>
        </p:nvSpPr>
        <p:spPr>
          <a:xfrm>
            <a:off x="3254208" y="1028700"/>
            <a:ext cx="2633400" cy="2400300"/>
          </a:xfrm>
          <a:prstGeom prst="roundRect">
            <a:avLst>
              <a:gd fmla="val 6000" name="adj"/>
            </a:avLst>
          </a:prstGeom>
          <a:solidFill>
            <a:srgbClr val="0E9C8A">
              <a:alpha val="7999"/>
            </a:srgbClr>
          </a:solidFill>
          <a:ln cap="flat" cmpd="sng" w="7150">
            <a:solidFill>
              <a:srgbClr val="0E9C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2" name="Google Shape;2322;p94"/>
          <p:cNvSpPr txBox="1"/>
          <p:nvPr/>
        </p:nvSpPr>
        <p:spPr>
          <a:xfrm>
            <a:off x="3459953" y="1207008"/>
            <a:ext cx="2222100" cy="1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0" spcFirstLastPara="1" rIns="0" wrap="square" tIns="190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fr" sz="900" u="none" cap="none" strike="noStrike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CLOUD</a:t>
            </a:r>
            <a:endParaRPr sz="1100">
              <a:solidFill>
                <a:srgbClr val="9CA3AF"/>
              </a:solidFill>
            </a:endParaRPr>
          </a:p>
        </p:txBody>
      </p:sp>
      <p:sp>
        <p:nvSpPr>
          <p:cNvPr id="2323" name="Google Shape;2323;p94"/>
          <p:cNvSpPr txBox="1"/>
          <p:nvPr/>
        </p:nvSpPr>
        <p:spPr>
          <a:xfrm>
            <a:off x="3459953" y="1481328"/>
            <a:ext cx="2222100" cy="1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0" spcFirstLastPara="1" rIns="0" wrap="square" tIns="190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fr" sz="900" u="none" cap="none" strike="noStrike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écarté : GCP · AWS · OVHcloud</a:t>
            </a:r>
            <a:endParaRPr sz="1100">
              <a:solidFill>
                <a:srgbClr val="9CA3AF"/>
              </a:solidFill>
            </a:endParaRPr>
          </a:p>
        </p:txBody>
      </p:sp>
      <p:sp>
        <p:nvSpPr>
          <p:cNvPr id="2324" name="Google Shape;2324;p94"/>
          <p:cNvSpPr txBox="1"/>
          <p:nvPr/>
        </p:nvSpPr>
        <p:spPr>
          <a:xfrm>
            <a:off x="3459953" y="1837943"/>
            <a:ext cx="2222100" cy="3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0" spcFirstLastPara="1" rIns="0" wrap="square" tIns="190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fr" sz="1700" u="none" cap="none" strike="noStrike">
                <a:solidFill>
                  <a:srgbClr val="0E9C8A"/>
                </a:solidFill>
                <a:latin typeface="Cambria"/>
                <a:ea typeface="Cambria"/>
                <a:cs typeface="Cambria"/>
                <a:sym typeface="Cambria"/>
              </a:rPr>
              <a:t>Scaleway</a:t>
            </a:r>
            <a:endParaRPr sz="1100"/>
          </a:p>
        </p:txBody>
      </p:sp>
      <p:sp>
        <p:nvSpPr>
          <p:cNvPr id="2325" name="Google Shape;2325;p94"/>
          <p:cNvSpPr txBox="1"/>
          <p:nvPr/>
        </p:nvSpPr>
        <p:spPr>
          <a:xfrm>
            <a:off x="3459953" y="2366010"/>
            <a:ext cx="2222100" cy="3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0" spcFirstLastPara="1" rIns="0" wrap="square" tIns="190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fr" sz="900" u="none" cap="none" strike="noStrike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Souveraineté FR/RGPD, juridiction UE, cohérent avec Mistral (FR).</a:t>
            </a:r>
            <a:endParaRPr sz="1100">
              <a:solidFill>
                <a:srgbClr val="9CA3AF"/>
              </a:solidFill>
            </a:endParaRPr>
          </a:p>
        </p:txBody>
      </p:sp>
      <p:sp>
        <p:nvSpPr>
          <p:cNvPr id="2326" name="Google Shape;2326;p94"/>
          <p:cNvSpPr txBox="1"/>
          <p:nvPr/>
        </p:nvSpPr>
        <p:spPr>
          <a:xfrm>
            <a:off x="3459953" y="3003804"/>
            <a:ext cx="2222100" cy="3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0" spcFirstLastPara="1" rIns="0" wrap="square" tIns="190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fr" sz="900" u="none" cap="none" strike="noStrike">
                <a:solidFill>
                  <a:srgbClr val="B7791F"/>
                </a:solidFill>
                <a:latin typeface="Calibri"/>
                <a:ea typeface="Calibri"/>
                <a:cs typeface="Calibri"/>
                <a:sym typeface="Calibri"/>
              </a:rPr>
              <a:t>Pas le moins cher : critère = souveraineté, assumé.</a:t>
            </a:r>
            <a:endParaRPr sz="1100"/>
          </a:p>
        </p:txBody>
      </p:sp>
      <p:sp>
        <p:nvSpPr>
          <p:cNvPr id="2327" name="Google Shape;2327;p94"/>
          <p:cNvSpPr/>
          <p:nvPr/>
        </p:nvSpPr>
        <p:spPr>
          <a:xfrm>
            <a:off x="6131215" y="1028700"/>
            <a:ext cx="2633400" cy="2400300"/>
          </a:xfrm>
          <a:prstGeom prst="roundRect">
            <a:avLst>
              <a:gd fmla="val 6000" name="adj"/>
            </a:avLst>
          </a:prstGeom>
          <a:solidFill>
            <a:srgbClr val="0E9C8A">
              <a:alpha val="7999"/>
            </a:srgbClr>
          </a:solidFill>
          <a:ln cap="flat" cmpd="sng" w="7150">
            <a:solidFill>
              <a:srgbClr val="0E9C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8" name="Google Shape;2328;p94"/>
          <p:cNvSpPr txBox="1"/>
          <p:nvPr/>
        </p:nvSpPr>
        <p:spPr>
          <a:xfrm>
            <a:off x="6336961" y="1207008"/>
            <a:ext cx="2222100" cy="1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0" spcFirstLastPara="1" rIns="0" wrap="square" tIns="190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fr" sz="900" u="none" cap="none" strike="noStrike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LLM + EMBEDDINGS</a:t>
            </a:r>
            <a:endParaRPr sz="1100">
              <a:solidFill>
                <a:srgbClr val="9CA3AF"/>
              </a:solidFill>
            </a:endParaRPr>
          </a:p>
        </p:txBody>
      </p:sp>
      <p:sp>
        <p:nvSpPr>
          <p:cNvPr id="2329" name="Google Shape;2329;p94"/>
          <p:cNvSpPr txBox="1"/>
          <p:nvPr/>
        </p:nvSpPr>
        <p:spPr>
          <a:xfrm>
            <a:off x="6336961" y="1481328"/>
            <a:ext cx="2222100" cy="1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0" spcFirstLastPara="1" rIns="0" wrap="square" tIns="190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fr" sz="900" u="none" cap="none" strike="noStrike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écarté : OpenAI · self-hosted</a:t>
            </a:r>
            <a:endParaRPr sz="1100">
              <a:solidFill>
                <a:srgbClr val="9CA3AF"/>
              </a:solidFill>
            </a:endParaRPr>
          </a:p>
        </p:txBody>
      </p:sp>
      <p:sp>
        <p:nvSpPr>
          <p:cNvPr id="2330" name="Google Shape;2330;p94"/>
          <p:cNvSpPr txBox="1"/>
          <p:nvPr/>
        </p:nvSpPr>
        <p:spPr>
          <a:xfrm>
            <a:off x="6336961" y="1837943"/>
            <a:ext cx="2222100" cy="3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0" spcFirstLastPara="1" rIns="0" wrap="square" tIns="190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fr" sz="1700" u="none" cap="none" strike="noStrike">
                <a:solidFill>
                  <a:srgbClr val="0E9C8A"/>
                </a:solidFill>
                <a:latin typeface="Cambria"/>
                <a:ea typeface="Cambria"/>
                <a:cs typeface="Cambria"/>
                <a:sym typeface="Cambria"/>
              </a:rPr>
              <a:t>Mistral</a:t>
            </a:r>
            <a:endParaRPr sz="1100"/>
          </a:p>
        </p:txBody>
      </p:sp>
      <p:sp>
        <p:nvSpPr>
          <p:cNvPr id="2331" name="Google Shape;2331;p94"/>
          <p:cNvSpPr txBox="1"/>
          <p:nvPr/>
        </p:nvSpPr>
        <p:spPr>
          <a:xfrm>
            <a:off x="6336950" y="2366000"/>
            <a:ext cx="2286900" cy="3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0" spcFirstLastPara="1" rIns="0" wrap="square" tIns="190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fr" sz="900" u="none" cap="none" strike="noStrike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Hérité et validé en </a:t>
            </a:r>
            <a:r>
              <a:rPr lang="fr" sz="900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RAG Puls-Events,</a:t>
            </a:r>
            <a:r>
              <a:rPr b="0" i="0" lang="fr" sz="900" u="none" cap="none" strike="noStrike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 FR/RGPD, abstrait via LangChain.</a:t>
            </a:r>
            <a:endParaRPr sz="1100">
              <a:solidFill>
                <a:srgbClr val="9CA3AF"/>
              </a:solidFill>
            </a:endParaRPr>
          </a:p>
        </p:txBody>
      </p:sp>
      <p:sp>
        <p:nvSpPr>
          <p:cNvPr id="2332" name="Google Shape;2332;p94"/>
          <p:cNvSpPr txBox="1"/>
          <p:nvPr/>
        </p:nvSpPr>
        <p:spPr>
          <a:xfrm>
            <a:off x="6336961" y="3003804"/>
            <a:ext cx="2222100" cy="1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0" spcFirstLastPara="1" rIns="0" wrap="square" tIns="190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fr" sz="900" u="none" cap="none" strike="noStrike">
                <a:solidFill>
                  <a:srgbClr val="B7791F"/>
                </a:solidFill>
                <a:latin typeface="Calibri"/>
                <a:ea typeface="Calibri"/>
                <a:cs typeface="Calibri"/>
                <a:sym typeface="Calibri"/>
              </a:rPr>
              <a:t>Remplaçable sans réécrire le RAG.</a:t>
            </a:r>
            <a:endParaRPr sz="1100"/>
          </a:p>
        </p:txBody>
      </p:sp>
      <p:sp>
        <p:nvSpPr>
          <p:cNvPr id="2333" name="Google Shape;2333;p94"/>
          <p:cNvSpPr/>
          <p:nvPr/>
        </p:nvSpPr>
        <p:spPr>
          <a:xfrm>
            <a:off x="270575" y="883450"/>
            <a:ext cx="8609700" cy="2745000"/>
          </a:xfrm>
          <a:prstGeom prst="rect">
            <a:avLst/>
          </a:prstGeom>
          <a:solidFill>
            <a:srgbClr val="111113">
              <a:alpha val="69999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38" name="Shape 2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9" name="Google Shape;2339;p95"/>
          <p:cNvSpPr txBox="1"/>
          <p:nvPr/>
        </p:nvSpPr>
        <p:spPr>
          <a:xfrm>
            <a:off x="377200" y="233175"/>
            <a:ext cx="2286900" cy="45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9050" lIns="0" spcFirstLastPara="1" rIns="0" wrap="square" tIns="190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1800">
                <a:solidFill>
                  <a:srgbClr val="0E9C8A"/>
                </a:solidFill>
                <a:latin typeface="Calibri"/>
                <a:ea typeface="Calibri"/>
                <a:cs typeface="Calibri"/>
                <a:sym typeface="Calibri"/>
              </a:rPr>
              <a:t>Justification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0" name="Google Shape;2340;p95"/>
          <p:cNvSpPr txBox="1"/>
          <p:nvPr/>
        </p:nvSpPr>
        <p:spPr>
          <a:xfrm>
            <a:off x="377200" y="675550"/>
            <a:ext cx="23910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9050" lIns="0" spcFirstLastPara="1" rIns="0" wrap="square" tIns="190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1100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Arbitrages structurants &amp; socle hérité</a:t>
            </a:r>
            <a:endParaRPr b="1" sz="1100">
              <a:solidFill>
                <a:srgbClr val="9CA3A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1" name="Google Shape;2341;p95"/>
          <p:cNvSpPr txBox="1"/>
          <p:nvPr/>
        </p:nvSpPr>
        <p:spPr>
          <a:xfrm>
            <a:off x="377200" y="4945850"/>
            <a:ext cx="999000" cy="166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700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MVP RAG Puls-Events</a:t>
            </a:r>
            <a:endParaRPr sz="700">
              <a:solidFill>
                <a:srgbClr val="9CA3A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2" name="Google Shape;2342;p95"/>
          <p:cNvSpPr/>
          <p:nvPr/>
        </p:nvSpPr>
        <p:spPr>
          <a:xfrm>
            <a:off x="377200" y="1028700"/>
            <a:ext cx="2633400" cy="2400300"/>
          </a:xfrm>
          <a:prstGeom prst="roundRect">
            <a:avLst>
              <a:gd fmla="val 6000" name="adj"/>
            </a:avLst>
          </a:prstGeom>
          <a:solidFill>
            <a:srgbClr val="0E9C8A">
              <a:alpha val="7999"/>
            </a:srgbClr>
          </a:solidFill>
          <a:ln cap="flat" cmpd="sng" w="7150">
            <a:solidFill>
              <a:srgbClr val="0E9C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3" name="Google Shape;2343;p95"/>
          <p:cNvSpPr txBox="1"/>
          <p:nvPr/>
        </p:nvSpPr>
        <p:spPr>
          <a:xfrm>
            <a:off x="582946" y="1207008"/>
            <a:ext cx="2222100" cy="1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0" spcFirstLastPara="1" rIns="0" wrap="square" tIns="190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fr" sz="900" u="none" cap="none" strike="noStrike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VECTOR STORE</a:t>
            </a:r>
            <a:endParaRPr sz="1100">
              <a:solidFill>
                <a:srgbClr val="9CA3AF"/>
              </a:solidFill>
            </a:endParaRPr>
          </a:p>
        </p:txBody>
      </p:sp>
      <p:sp>
        <p:nvSpPr>
          <p:cNvPr id="2344" name="Google Shape;2344;p95"/>
          <p:cNvSpPr txBox="1"/>
          <p:nvPr/>
        </p:nvSpPr>
        <p:spPr>
          <a:xfrm>
            <a:off x="582946" y="1481328"/>
            <a:ext cx="2222100" cy="1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0" spcFirstLastPara="1" rIns="0" wrap="square" tIns="190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fr" sz="900" u="none" cap="none" strike="noStrike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écarté : FAISS · Qdrant</a:t>
            </a:r>
            <a:endParaRPr sz="1100">
              <a:solidFill>
                <a:srgbClr val="9CA3AF"/>
              </a:solidFill>
            </a:endParaRPr>
          </a:p>
        </p:txBody>
      </p:sp>
      <p:sp>
        <p:nvSpPr>
          <p:cNvPr id="2345" name="Google Shape;2345;p95"/>
          <p:cNvSpPr txBox="1"/>
          <p:nvPr/>
        </p:nvSpPr>
        <p:spPr>
          <a:xfrm>
            <a:off x="582946" y="1837943"/>
            <a:ext cx="2222100" cy="3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0" spcFirstLastPara="1" rIns="0" wrap="square" tIns="190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fr" sz="1700" u="none" cap="none" strike="noStrike">
                <a:solidFill>
                  <a:srgbClr val="0E9C8A"/>
                </a:solidFill>
                <a:latin typeface="Cambria"/>
                <a:ea typeface="Cambria"/>
                <a:cs typeface="Cambria"/>
                <a:sym typeface="Cambria"/>
              </a:rPr>
              <a:t>pgvector</a:t>
            </a:r>
            <a:endParaRPr sz="1100"/>
          </a:p>
        </p:txBody>
      </p:sp>
      <p:sp>
        <p:nvSpPr>
          <p:cNvPr id="2346" name="Google Shape;2346;p95"/>
          <p:cNvSpPr txBox="1"/>
          <p:nvPr/>
        </p:nvSpPr>
        <p:spPr>
          <a:xfrm>
            <a:off x="582946" y="2366010"/>
            <a:ext cx="2222100" cy="3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0" spcFirstLastPara="1" rIns="0" wrap="square" tIns="190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fr" sz="900" u="none" cap="none" strike="noStrike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Unifie vecteurs + géo + relationnel dans une seule base, moins d'ops pour un MVP.</a:t>
            </a:r>
            <a:endParaRPr sz="1100">
              <a:solidFill>
                <a:srgbClr val="9CA3AF"/>
              </a:solidFill>
            </a:endParaRPr>
          </a:p>
        </p:txBody>
      </p:sp>
      <p:sp>
        <p:nvSpPr>
          <p:cNvPr id="2347" name="Google Shape;2347;p95"/>
          <p:cNvSpPr txBox="1"/>
          <p:nvPr/>
        </p:nvSpPr>
        <p:spPr>
          <a:xfrm>
            <a:off x="582946" y="3003804"/>
            <a:ext cx="2222100" cy="1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0" spcFirstLastPara="1" rIns="0" wrap="square" tIns="190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fr" sz="900" u="none" cap="none" strike="noStrike">
                <a:solidFill>
                  <a:srgbClr val="B7791F"/>
                </a:solidFill>
                <a:latin typeface="Calibri"/>
                <a:ea typeface="Calibri"/>
                <a:cs typeface="Calibri"/>
                <a:sym typeface="Calibri"/>
              </a:rPr>
              <a:t>Qdrant = plan B si la charge explose.</a:t>
            </a:r>
            <a:endParaRPr sz="1100"/>
          </a:p>
        </p:txBody>
      </p:sp>
      <p:sp>
        <p:nvSpPr>
          <p:cNvPr id="2348" name="Google Shape;2348;p95"/>
          <p:cNvSpPr/>
          <p:nvPr/>
        </p:nvSpPr>
        <p:spPr>
          <a:xfrm>
            <a:off x="3254208" y="1028700"/>
            <a:ext cx="2633400" cy="2400300"/>
          </a:xfrm>
          <a:prstGeom prst="roundRect">
            <a:avLst>
              <a:gd fmla="val 6000" name="adj"/>
            </a:avLst>
          </a:prstGeom>
          <a:solidFill>
            <a:srgbClr val="0E9C8A">
              <a:alpha val="7999"/>
            </a:srgbClr>
          </a:solidFill>
          <a:ln cap="flat" cmpd="sng" w="7150">
            <a:solidFill>
              <a:srgbClr val="0E9C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9" name="Google Shape;2349;p95"/>
          <p:cNvSpPr txBox="1"/>
          <p:nvPr/>
        </p:nvSpPr>
        <p:spPr>
          <a:xfrm>
            <a:off x="3459953" y="1207008"/>
            <a:ext cx="2222100" cy="1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0" spcFirstLastPara="1" rIns="0" wrap="square" tIns="190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fr" sz="900" u="none" cap="none" strike="noStrike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CLOUD</a:t>
            </a:r>
            <a:endParaRPr sz="1100">
              <a:solidFill>
                <a:srgbClr val="9CA3AF"/>
              </a:solidFill>
            </a:endParaRPr>
          </a:p>
        </p:txBody>
      </p:sp>
      <p:sp>
        <p:nvSpPr>
          <p:cNvPr id="2350" name="Google Shape;2350;p95"/>
          <p:cNvSpPr txBox="1"/>
          <p:nvPr/>
        </p:nvSpPr>
        <p:spPr>
          <a:xfrm>
            <a:off x="3459953" y="1481328"/>
            <a:ext cx="2222100" cy="1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0" spcFirstLastPara="1" rIns="0" wrap="square" tIns="190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fr" sz="900" u="none" cap="none" strike="noStrike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écarté : GCP · AWS · OVHcloud</a:t>
            </a:r>
            <a:endParaRPr sz="1100">
              <a:solidFill>
                <a:srgbClr val="9CA3AF"/>
              </a:solidFill>
            </a:endParaRPr>
          </a:p>
        </p:txBody>
      </p:sp>
      <p:sp>
        <p:nvSpPr>
          <p:cNvPr id="2351" name="Google Shape;2351;p95"/>
          <p:cNvSpPr txBox="1"/>
          <p:nvPr/>
        </p:nvSpPr>
        <p:spPr>
          <a:xfrm>
            <a:off x="3459953" y="1837943"/>
            <a:ext cx="2222100" cy="3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0" spcFirstLastPara="1" rIns="0" wrap="square" tIns="190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fr" sz="1700" u="none" cap="none" strike="noStrike">
                <a:solidFill>
                  <a:srgbClr val="0E9C8A"/>
                </a:solidFill>
                <a:latin typeface="Cambria"/>
                <a:ea typeface="Cambria"/>
                <a:cs typeface="Cambria"/>
                <a:sym typeface="Cambria"/>
              </a:rPr>
              <a:t>Scaleway</a:t>
            </a:r>
            <a:endParaRPr sz="1100"/>
          </a:p>
        </p:txBody>
      </p:sp>
      <p:sp>
        <p:nvSpPr>
          <p:cNvPr id="2352" name="Google Shape;2352;p95"/>
          <p:cNvSpPr txBox="1"/>
          <p:nvPr/>
        </p:nvSpPr>
        <p:spPr>
          <a:xfrm>
            <a:off x="3459953" y="2366010"/>
            <a:ext cx="2222100" cy="3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0" spcFirstLastPara="1" rIns="0" wrap="square" tIns="190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fr" sz="900" u="none" cap="none" strike="noStrike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Souveraineté FR/RGPD, juridiction UE, cohérent avec Mistral (FR).</a:t>
            </a:r>
            <a:endParaRPr sz="1100">
              <a:solidFill>
                <a:srgbClr val="9CA3AF"/>
              </a:solidFill>
            </a:endParaRPr>
          </a:p>
        </p:txBody>
      </p:sp>
      <p:sp>
        <p:nvSpPr>
          <p:cNvPr id="2353" name="Google Shape;2353;p95"/>
          <p:cNvSpPr txBox="1"/>
          <p:nvPr/>
        </p:nvSpPr>
        <p:spPr>
          <a:xfrm>
            <a:off x="3459953" y="3003804"/>
            <a:ext cx="2222100" cy="3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0" spcFirstLastPara="1" rIns="0" wrap="square" tIns="190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fr" sz="900" u="none" cap="none" strike="noStrike">
                <a:solidFill>
                  <a:srgbClr val="B7791F"/>
                </a:solidFill>
                <a:latin typeface="Calibri"/>
                <a:ea typeface="Calibri"/>
                <a:cs typeface="Calibri"/>
                <a:sym typeface="Calibri"/>
              </a:rPr>
              <a:t>Pas le moins cher : critère = souveraineté, assumé.</a:t>
            </a:r>
            <a:endParaRPr sz="1100"/>
          </a:p>
        </p:txBody>
      </p:sp>
      <p:sp>
        <p:nvSpPr>
          <p:cNvPr id="2354" name="Google Shape;2354;p95"/>
          <p:cNvSpPr/>
          <p:nvPr/>
        </p:nvSpPr>
        <p:spPr>
          <a:xfrm>
            <a:off x="6131215" y="1028700"/>
            <a:ext cx="2633400" cy="2400300"/>
          </a:xfrm>
          <a:prstGeom prst="roundRect">
            <a:avLst>
              <a:gd fmla="val 6000" name="adj"/>
            </a:avLst>
          </a:prstGeom>
          <a:solidFill>
            <a:srgbClr val="0E9C8A">
              <a:alpha val="7999"/>
            </a:srgbClr>
          </a:solidFill>
          <a:ln cap="flat" cmpd="sng" w="7150">
            <a:solidFill>
              <a:srgbClr val="0E9C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5" name="Google Shape;2355;p95"/>
          <p:cNvSpPr txBox="1"/>
          <p:nvPr/>
        </p:nvSpPr>
        <p:spPr>
          <a:xfrm>
            <a:off x="6336961" y="1207008"/>
            <a:ext cx="2222100" cy="1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0" spcFirstLastPara="1" rIns="0" wrap="square" tIns="190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fr" sz="900" u="none" cap="none" strike="noStrike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LLM + EMBEDDINGS</a:t>
            </a:r>
            <a:endParaRPr sz="1100">
              <a:solidFill>
                <a:srgbClr val="9CA3AF"/>
              </a:solidFill>
            </a:endParaRPr>
          </a:p>
        </p:txBody>
      </p:sp>
      <p:sp>
        <p:nvSpPr>
          <p:cNvPr id="2356" name="Google Shape;2356;p95"/>
          <p:cNvSpPr txBox="1"/>
          <p:nvPr/>
        </p:nvSpPr>
        <p:spPr>
          <a:xfrm>
            <a:off x="6336961" y="1481328"/>
            <a:ext cx="2222100" cy="1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0" spcFirstLastPara="1" rIns="0" wrap="square" tIns="190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fr" sz="900" u="none" cap="none" strike="noStrike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écarté : OpenAI · self-hosted</a:t>
            </a:r>
            <a:endParaRPr sz="1100">
              <a:solidFill>
                <a:srgbClr val="9CA3AF"/>
              </a:solidFill>
            </a:endParaRPr>
          </a:p>
        </p:txBody>
      </p:sp>
      <p:sp>
        <p:nvSpPr>
          <p:cNvPr id="2357" name="Google Shape;2357;p95"/>
          <p:cNvSpPr txBox="1"/>
          <p:nvPr/>
        </p:nvSpPr>
        <p:spPr>
          <a:xfrm>
            <a:off x="6336961" y="1837943"/>
            <a:ext cx="2222100" cy="3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0" spcFirstLastPara="1" rIns="0" wrap="square" tIns="190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fr" sz="1700" u="none" cap="none" strike="noStrike">
                <a:solidFill>
                  <a:srgbClr val="0E9C8A"/>
                </a:solidFill>
                <a:latin typeface="Cambria"/>
                <a:ea typeface="Cambria"/>
                <a:cs typeface="Cambria"/>
                <a:sym typeface="Cambria"/>
              </a:rPr>
              <a:t>Mistral</a:t>
            </a:r>
            <a:endParaRPr sz="1100"/>
          </a:p>
        </p:txBody>
      </p:sp>
      <p:sp>
        <p:nvSpPr>
          <p:cNvPr id="2358" name="Google Shape;2358;p95"/>
          <p:cNvSpPr txBox="1"/>
          <p:nvPr/>
        </p:nvSpPr>
        <p:spPr>
          <a:xfrm>
            <a:off x="6336950" y="2366000"/>
            <a:ext cx="2286900" cy="3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0" spcFirstLastPara="1" rIns="0" wrap="square" tIns="190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fr" sz="900" u="none" cap="none" strike="noStrike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Hérité et validé en </a:t>
            </a:r>
            <a:r>
              <a:rPr lang="fr" sz="900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RAG Puls-Events,</a:t>
            </a:r>
            <a:r>
              <a:rPr b="0" i="0" lang="fr" sz="900" u="none" cap="none" strike="noStrike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 FR/RGPD, abstrait via LangChain.</a:t>
            </a:r>
            <a:endParaRPr sz="1100">
              <a:solidFill>
                <a:srgbClr val="9CA3AF"/>
              </a:solidFill>
            </a:endParaRPr>
          </a:p>
        </p:txBody>
      </p:sp>
      <p:sp>
        <p:nvSpPr>
          <p:cNvPr id="2359" name="Google Shape;2359;p95"/>
          <p:cNvSpPr txBox="1"/>
          <p:nvPr/>
        </p:nvSpPr>
        <p:spPr>
          <a:xfrm>
            <a:off x="6336961" y="3003804"/>
            <a:ext cx="2222100" cy="1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0" spcFirstLastPara="1" rIns="0" wrap="square" tIns="190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fr" sz="900" u="none" cap="none" strike="noStrike">
                <a:solidFill>
                  <a:srgbClr val="B7791F"/>
                </a:solidFill>
                <a:latin typeface="Calibri"/>
                <a:ea typeface="Calibri"/>
                <a:cs typeface="Calibri"/>
                <a:sym typeface="Calibri"/>
              </a:rPr>
              <a:t>Remplaçable sans réécrire le RAG.</a:t>
            </a:r>
            <a:endParaRPr sz="1100"/>
          </a:p>
        </p:txBody>
      </p:sp>
      <p:sp>
        <p:nvSpPr>
          <p:cNvPr id="2360" name="Google Shape;2360;p95"/>
          <p:cNvSpPr/>
          <p:nvPr/>
        </p:nvSpPr>
        <p:spPr>
          <a:xfrm>
            <a:off x="3177500" y="883450"/>
            <a:ext cx="5702700" cy="2745000"/>
          </a:xfrm>
          <a:prstGeom prst="rect">
            <a:avLst/>
          </a:prstGeom>
          <a:solidFill>
            <a:srgbClr val="111113">
              <a:alpha val="69999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65" name="Shape 2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6" name="Google Shape;2366;p96"/>
          <p:cNvSpPr txBox="1"/>
          <p:nvPr/>
        </p:nvSpPr>
        <p:spPr>
          <a:xfrm>
            <a:off x="377200" y="233175"/>
            <a:ext cx="2286900" cy="45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9050" lIns="0" spcFirstLastPara="1" rIns="0" wrap="square" tIns="190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1800">
                <a:solidFill>
                  <a:srgbClr val="0E9C8A"/>
                </a:solidFill>
                <a:latin typeface="Calibri"/>
                <a:ea typeface="Calibri"/>
                <a:cs typeface="Calibri"/>
                <a:sym typeface="Calibri"/>
              </a:rPr>
              <a:t>Justification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7" name="Google Shape;2367;p96"/>
          <p:cNvSpPr txBox="1"/>
          <p:nvPr/>
        </p:nvSpPr>
        <p:spPr>
          <a:xfrm>
            <a:off x="377200" y="675550"/>
            <a:ext cx="23910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9050" lIns="0" spcFirstLastPara="1" rIns="0" wrap="square" tIns="190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1100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Arbitrages structurants &amp; socle hérité</a:t>
            </a:r>
            <a:endParaRPr b="1" sz="1100">
              <a:solidFill>
                <a:srgbClr val="9CA3A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8" name="Google Shape;2368;p96"/>
          <p:cNvSpPr txBox="1"/>
          <p:nvPr/>
        </p:nvSpPr>
        <p:spPr>
          <a:xfrm>
            <a:off x="377200" y="4945850"/>
            <a:ext cx="999000" cy="166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700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MVP RAG Puls-Events</a:t>
            </a:r>
            <a:endParaRPr sz="700">
              <a:solidFill>
                <a:srgbClr val="9CA3A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9" name="Google Shape;2369;p96"/>
          <p:cNvSpPr/>
          <p:nvPr/>
        </p:nvSpPr>
        <p:spPr>
          <a:xfrm>
            <a:off x="377200" y="1028700"/>
            <a:ext cx="2633400" cy="2400300"/>
          </a:xfrm>
          <a:prstGeom prst="roundRect">
            <a:avLst>
              <a:gd fmla="val 6000" name="adj"/>
            </a:avLst>
          </a:prstGeom>
          <a:solidFill>
            <a:srgbClr val="0E9C8A">
              <a:alpha val="7999"/>
            </a:srgbClr>
          </a:solidFill>
          <a:ln cap="flat" cmpd="sng" w="7150">
            <a:solidFill>
              <a:srgbClr val="0E9C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0" name="Google Shape;2370;p96"/>
          <p:cNvSpPr txBox="1"/>
          <p:nvPr/>
        </p:nvSpPr>
        <p:spPr>
          <a:xfrm>
            <a:off x="582946" y="1207008"/>
            <a:ext cx="2222100" cy="1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0" spcFirstLastPara="1" rIns="0" wrap="square" tIns="190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fr" sz="900" u="none" cap="none" strike="noStrike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VECTOR STORE</a:t>
            </a:r>
            <a:endParaRPr sz="1100">
              <a:solidFill>
                <a:srgbClr val="9CA3AF"/>
              </a:solidFill>
            </a:endParaRPr>
          </a:p>
        </p:txBody>
      </p:sp>
      <p:sp>
        <p:nvSpPr>
          <p:cNvPr id="2371" name="Google Shape;2371;p96"/>
          <p:cNvSpPr txBox="1"/>
          <p:nvPr/>
        </p:nvSpPr>
        <p:spPr>
          <a:xfrm>
            <a:off x="582946" y="1481328"/>
            <a:ext cx="2222100" cy="1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0" spcFirstLastPara="1" rIns="0" wrap="square" tIns="190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fr" sz="900" u="none" cap="none" strike="noStrike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écarté : FAISS · Qdrant</a:t>
            </a:r>
            <a:endParaRPr sz="1100">
              <a:solidFill>
                <a:srgbClr val="9CA3AF"/>
              </a:solidFill>
            </a:endParaRPr>
          </a:p>
        </p:txBody>
      </p:sp>
      <p:sp>
        <p:nvSpPr>
          <p:cNvPr id="2372" name="Google Shape;2372;p96"/>
          <p:cNvSpPr txBox="1"/>
          <p:nvPr/>
        </p:nvSpPr>
        <p:spPr>
          <a:xfrm>
            <a:off x="582946" y="1837943"/>
            <a:ext cx="2222100" cy="3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0" spcFirstLastPara="1" rIns="0" wrap="square" tIns="190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fr" sz="1700" u="none" cap="none" strike="noStrike">
                <a:solidFill>
                  <a:srgbClr val="0E9C8A"/>
                </a:solidFill>
                <a:latin typeface="Cambria"/>
                <a:ea typeface="Cambria"/>
                <a:cs typeface="Cambria"/>
                <a:sym typeface="Cambria"/>
              </a:rPr>
              <a:t>pgvector</a:t>
            </a:r>
            <a:endParaRPr sz="1100"/>
          </a:p>
        </p:txBody>
      </p:sp>
      <p:sp>
        <p:nvSpPr>
          <p:cNvPr id="2373" name="Google Shape;2373;p96"/>
          <p:cNvSpPr txBox="1"/>
          <p:nvPr/>
        </p:nvSpPr>
        <p:spPr>
          <a:xfrm>
            <a:off x="582946" y="2366010"/>
            <a:ext cx="2222100" cy="3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0" spcFirstLastPara="1" rIns="0" wrap="square" tIns="190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fr" sz="900" u="none" cap="none" strike="noStrike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Unifie vecteurs + géo + relationnel dans une seule base, moins d'ops pour un MVP.</a:t>
            </a:r>
            <a:endParaRPr sz="1100">
              <a:solidFill>
                <a:srgbClr val="9CA3AF"/>
              </a:solidFill>
            </a:endParaRPr>
          </a:p>
        </p:txBody>
      </p:sp>
      <p:sp>
        <p:nvSpPr>
          <p:cNvPr id="2374" name="Google Shape;2374;p96"/>
          <p:cNvSpPr txBox="1"/>
          <p:nvPr/>
        </p:nvSpPr>
        <p:spPr>
          <a:xfrm>
            <a:off x="582946" y="3003804"/>
            <a:ext cx="2222100" cy="1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0" spcFirstLastPara="1" rIns="0" wrap="square" tIns="190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fr" sz="900" u="none" cap="none" strike="noStrike">
                <a:solidFill>
                  <a:srgbClr val="B7791F"/>
                </a:solidFill>
                <a:latin typeface="Calibri"/>
                <a:ea typeface="Calibri"/>
                <a:cs typeface="Calibri"/>
                <a:sym typeface="Calibri"/>
              </a:rPr>
              <a:t>Qdrant = plan B si la charge explose.</a:t>
            </a:r>
            <a:endParaRPr sz="1100"/>
          </a:p>
        </p:txBody>
      </p:sp>
      <p:sp>
        <p:nvSpPr>
          <p:cNvPr id="2375" name="Google Shape;2375;p96"/>
          <p:cNvSpPr/>
          <p:nvPr/>
        </p:nvSpPr>
        <p:spPr>
          <a:xfrm>
            <a:off x="3254208" y="1028700"/>
            <a:ext cx="2633400" cy="2400300"/>
          </a:xfrm>
          <a:prstGeom prst="roundRect">
            <a:avLst>
              <a:gd fmla="val 6000" name="adj"/>
            </a:avLst>
          </a:prstGeom>
          <a:solidFill>
            <a:srgbClr val="0E9C8A">
              <a:alpha val="7999"/>
            </a:srgbClr>
          </a:solidFill>
          <a:ln cap="flat" cmpd="sng" w="7150">
            <a:solidFill>
              <a:srgbClr val="0E9C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6" name="Google Shape;2376;p96"/>
          <p:cNvSpPr txBox="1"/>
          <p:nvPr/>
        </p:nvSpPr>
        <p:spPr>
          <a:xfrm>
            <a:off x="3459953" y="1207008"/>
            <a:ext cx="2222100" cy="1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0" spcFirstLastPara="1" rIns="0" wrap="square" tIns="190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fr" sz="900" u="none" cap="none" strike="noStrike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CLOUD</a:t>
            </a:r>
            <a:endParaRPr sz="1100">
              <a:solidFill>
                <a:srgbClr val="9CA3AF"/>
              </a:solidFill>
            </a:endParaRPr>
          </a:p>
        </p:txBody>
      </p:sp>
      <p:sp>
        <p:nvSpPr>
          <p:cNvPr id="2377" name="Google Shape;2377;p96"/>
          <p:cNvSpPr txBox="1"/>
          <p:nvPr/>
        </p:nvSpPr>
        <p:spPr>
          <a:xfrm>
            <a:off x="3459953" y="1481328"/>
            <a:ext cx="2222100" cy="1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0" spcFirstLastPara="1" rIns="0" wrap="square" tIns="190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fr" sz="900" u="none" cap="none" strike="noStrike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écarté : GCP · AWS · OVHcloud</a:t>
            </a:r>
            <a:endParaRPr sz="1100">
              <a:solidFill>
                <a:srgbClr val="9CA3AF"/>
              </a:solidFill>
            </a:endParaRPr>
          </a:p>
        </p:txBody>
      </p:sp>
      <p:sp>
        <p:nvSpPr>
          <p:cNvPr id="2378" name="Google Shape;2378;p96"/>
          <p:cNvSpPr txBox="1"/>
          <p:nvPr/>
        </p:nvSpPr>
        <p:spPr>
          <a:xfrm>
            <a:off x="3459953" y="1837943"/>
            <a:ext cx="2222100" cy="3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0" spcFirstLastPara="1" rIns="0" wrap="square" tIns="190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fr" sz="1700" u="none" cap="none" strike="noStrike">
                <a:solidFill>
                  <a:srgbClr val="0E9C8A"/>
                </a:solidFill>
                <a:latin typeface="Cambria"/>
                <a:ea typeface="Cambria"/>
                <a:cs typeface="Cambria"/>
                <a:sym typeface="Cambria"/>
              </a:rPr>
              <a:t>Scaleway</a:t>
            </a:r>
            <a:endParaRPr sz="1100"/>
          </a:p>
        </p:txBody>
      </p:sp>
      <p:sp>
        <p:nvSpPr>
          <p:cNvPr id="2379" name="Google Shape;2379;p96"/>
          <p:cNvSpPr txBox="1"/>
          <p:nvPr/>
        </p:nvSpPr>
        <p:spPr>
          <a:xfrm>
            <a:off x="3459953" y="2366010"/>
            <a:ext cx="2222100" cy="3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0" spcFirstLastPara="1" rIns="0" wrap="square" tIns="190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fr" sz="900" u="none" cap="none" strike="noStrike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Souveraineté FR/RGPD, juridiction UE, cohérent avec Mistral (FR).</a:t>
            </a:r>
            <a:endParaRPr sz="1100">
              <a:solidFill>
                <a:srgbClr val="9CA3AF"/>
              </a:solidFill>
            </a:endParaRPr>
          </a:p>
        </p:txBody>
      </p:sp>
      <p:sp>
        <p:nvSpPr>
          <p:cNvPr id="2380" name="Google Shape;2380;p96"/>
          <p:cNvSpPr txBox="1"/>
          <p:nvPr/>
        </p:nvSpPr>
        <p:spPr>
          <a:xfrm>
            <a:off x="3459953" y="3003804"/>
            <a:ext cx="2222100" cy="3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0" spcFirstLastPara="1" rIns="0" wrap="square" tIns="190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fr" sz="900" u="none" cap="none" strike="noStrike">
                <a:solidFill>
                  <a:srgbClr val="B7791F"/>
                </a:solidFill>
                <a:latin typeface="Calibri"/>
                <a:ea typeface="Calibri"/>
                <a:cs typeface="Calibri"/>
                <a:sym typeface="Calibri"/>
              </a:rPr>
              <a:t>Pas le moins cher : critère = souveraineté, assumé.</a:t>
            </a:r>
            <a:endParaRPr sz="1100"/>
          </a:p>
        </p:txBody>
      </p:sp>
      <p:sp>
        <p:nvSpPr>
          <p:cNvPr id="2381" name="Google Shape;2381;p96"/>
          <p:cNvSpPr/>
          <p:nvPr/>
        </p:nvSpPr>
        <p:spPr>
          <a:xfrm>
            <a:off x="6131215" y="1028700"/>
            <a:ext cx="2633400" cy="2400300"/>
          </a:xfrm>
          <a:prstGeom prst="roundRect">
            <a:avLst>
              <a:gd fmla="val 6000" name="adj"/>
            </a:avLst>
          </a:prstGeom>
          <a:solidFill>
            <a:srgbClr val="0E9C8A">
              <a:alpha val="7999"/>
            </a:srgbClr>
          </a:solidFill>
          <a:ln cap="flat" cmpd="sng" w="7150">
            <a:solidFill>
              <a:srgbClr val="0E9C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2" name="Google Shape;2382;p96"/>
          <p:cNvSpPr txBox="1"/>
          <p:nvPr/>
        </p:nvSpPr>
        <p:spPr>
          <a:xfrm>
            <a:off x="6336961" y="1207008"/>
            <a:ext cx="2222100" cy="1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0" spcFirstLastPara="1" rIns="0" wrap="square" tIns="190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fr" sz="900" u="none" cap="none" strike="noStrike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LLM + EMBEDDINGS</a:t>
            </a:r>
            <a:endParaRPr sz="1100">
              <a:solidFill>
                <a:srgbClr val="9CA3AF"/>
              </a:solidFill>
            </a:endParaRPr>
          </a:p>
        </p:txBody>
      </p:sp>
      <p:sp>
        <p:nvSpPr>
          <p:cNvPr id="2383" name="Google Shape;2383;p96"/>
          <p:cNvSpPr txBox="1"/>
          <p:nvPr/>
        </p:nvSpPr>
        <p:spPr>
          <a:xfrm>
            <a:off x="6336961" y="1481328"/>
            <a:ext cx="2222100" cy="1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0" spcFirstLastPara="1" rIns="0" wrap="square" tIns="190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fr" sz="900" u="none" cap="none" strike="noStrike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écarté : OpenAI · self-hosted</a:t>
            </a:r>
            <a:endParaRPr sz="1100">
              <a:solidFill>
                <a:srgbClr val="9CA3AF"/>
              </a:solidFill>
            </a:endParaRPr>
          </a:p>
        </p:txBody>
      </p:sp>
      <p:sp>
        <p:nvSpPr>
          <p:cNvPr id="2384" name="Google Shape;2384;p96"/>
          <p:cNvSpPr txBox="1"/>
          <p:nvPr/>
        </p:nvSpPr>
        <p:spPr>
          <a:xfrm>
            <a:off x="6336961" y="1837943"/>
            <a:ext cx="2222100" cy="3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0" spcFirstLastPara="1" rIns="0" wrap="square" tIns="190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fr" sz="1700" u="none" cap="none" strike="noStrike">
                <a:solidFill>
                  <a:srgbClr val="0E9C8A"/>
                </a:solidFill>
                <a:latin typeface="Cambria"/>
                <a:ea typeface="Cambria"/>
                <a:cs typeface="Cambria"/>
                <a:sym typeface="Cambria"/>
              </a:rPr>
              <a:t>Mistral</a:t>
            </a:r>
            <a:endParaRPr sz="1100"/>
          </a:p>
        </p:txBody>
      </p:sp>
      <p:sp>
        <p:nvSpPr>
          <p:cNvPr id="2385" name="Google Shape;2385;p96"/>
          <p:cNvSpPr txBox="1"/>
          <p:nvPr/>
        </p:nvSpPr>
        <p:spPr>
          <a:xfrm>
            <a:off x="6336950" y="2366000"/>
            <a:ext cx="2286900" cy="3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0" spcFirstLastPara="1" rIns="0" wrap="square" tIns="190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fr" sz="900" u="none" cap="none" strike="noStrike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Hérité et validé en </a:t>
            </a:r>
            <a:r>
              <a:rPr lang="fr" sz="900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RAG Puls-Events,</a:t>
            </a:r>
            <a:r>
              <a:rPr b="0" i="0" lang="fr" sz="900" u="none" cap="none" strike="noStrike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 FR/RGPD, abstrait via LangChain.</a:t>
            </a:r>
            <a:endParaRPr sz="1100">
              <a:solidFill>
                <a:srgbClr val="9CA3AF"/>
              </a:solidFill>
            </a:endParaRPr>
          </a:p>
        </p:txBody>
      </p:sp>
      <p:sp>
        <p:nvSpPr>
          <p:cNvPr id="2386" name="Google Shape;2386;p96"/>
          <p:cNvSpPr txBox="1"/>
          <p:nvPr/>
        </p:nvSpPr>
        <p:spPr>
          <a:xfrm>
            <a:off x="6336961" y="3003804"/>
            <a:ext cx="2222100" cy="1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0" spcFirstLastPara="1" rIns="0" wrap="square" tIns="190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fr" sz="900" u="none" cap="none" strike="noStrike">
                <a:solidFill>
                  <a:srgbClr val="B7791F"/>
                </a:solidFill>
                <a:latin typeface="Calibri"/>
                <a:ea typeface="Calibri"/>
                <a:cs typeface="Calibri"/>
                <a:sym typeface="Calibri"/>
              </a:rPr>
              <a:t>Remplaçable sans réécrire le RAG.</a:t>
            </a:r>
            <a:endParaRPr sz="1100"/>
          </a:p>
        </p:txBody>
      </p:sp>
      <p:sp>
        <p:nvSpPr>
          <p:cNvPr id="2387" name="Google Shape;2387;p96"/>
          <p:cNvSpPr/>
          <p:nvPr/>
        </p:nvSpPr>
        <p:spPr>
          <a:xfrm>
            <a:off x="6049750" y="883450"/>
            <a:ext cx="2830500" cy="2745000"/>
          </a:xfrm>
          <a:prstGeom prst="rect">
            <a:avLst/>
          </a:prstGeom>
          <a:solidFill>
            <a:srgbClr val="111113">
              <a:alpha val="69999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88" name="Google Shape;2388;p96"/>
          <p:cNvSpPr/>
          <p:nvPr/>
        </p:nvSpPr>
        <p:spPr>
          <a:xfrm>
            <a:off x="278750" y="917925"/>
            <a:ext cx="2830500" cy="2745000"/>
          </a:xfrm>
          <a:prstGeom prst="rect">
            <a:avLst/>
          </a:prstGeom>
          <a:solidFill>
            <a:srgbClr val="111113">
              <a:alpha val="69999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93" name="Shape 2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4" name="Google Shape;2394;p97"/>
          <p:cNvSpPr txBox="1"/>
          <p:nvPr/>
        </p:nvSpPr>
        <p:spPr>
          <a:xfrm>
            <a:off x="377200" y="233175"/>
            <a:ext cx="2286900" cy="45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9050" lIns="0" spcFirstLastPara="1" rIns="0" wrap="square" tIns="190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1800">
                <a:solidFill>
                  <a:srgbClr val="0E9C8A"/>
                </a:solidFill>
                <a:latin typeface="Calibri"/>
                <a:ea typeface="Calibri"/>
                <a:cs typeface="Calibri"/>
                <a:sym typeface="Calibri"/>
              </a:rPr>
              <a:t>Justification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5" name="Google Shape;2395;p97"/>
          <p:cNvSpPr txBox="1"/>
          <p:nvPr/>
        </p:nvSpPr>
        <p:spPr>
          <a:xfrm>
            <a:off x="377200" y="675550"/>
            <a:ext cx="23910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9050" lIns="0" spcFirstLastPara="1" rIns="0" wrap="square" tIns="190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1100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Arbitrages structurants &amp; socle hérité</a:t>
            </a:r>
            <a:endParaRPr b="1" sz="1100">
              <a:solidFill>
                <a:srgbClr val="9CA3A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6" name="Google Shape;2396;p97"/>
          <p:cNvSpPr txBox="1"/>
          <p:nvPr/>
        </p:nvSpPr>
        <p:spPr>
          <a:xfrm>
            <a:off x="377200" y="4945850"/>
            <a:ext cx="999000" cy="166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700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MVP RAG Puls-Events</a:t>
            </a:r>
            <a:endParaRPr sz="700">
              <a:solidFill>
                <a:srgbClr val="9CA3A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7" name="Google Shape;2397;p97"/>
          <p:cNvSpPr/>
          <p:nvPr/>
        </p:nvSpPr>
        <p:spPr>
          <a:xfrm>
            <a:off x="377200" y="1028700"/>
            <a:ext cx="2633400" cy="2400300"/>
          </a:xfrm>
          <a:prstGeom prst="roundRect">
            <a:avLst>
              <a:gd fmla="val 6000" name="adj"/>
            </a:avLst>
          </a:prstGeom>
          <a:solidFill>
            <a:srgbClr val="0E9C8A">
              <a:alpha val="7999"/>
            </a:srgbClr>
          </a:solidFill>
          <a:ln cap="flat" cmpd="sng" w="7150">
            <a:solidFill>
              <a:srgbClr val="0E9C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8" name="Google Shape;2398;p97"/>
          <p:cNvSpPr txBox="1"/>
          <p:nvPr/>
        </p:nvSpPr>
        <p:spPr>
          <a:xfrm>
            <a:off x="582946" y="1207008"/>
            <a:ext cx="2222100" cy="1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0" spcFirstLastPara="1" rIns="0" wrap="square" tIns="190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fr" sz="900" u="none" cap="none" strike="noStrike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VECTOR STORE</a:t>
            </a:r>
            <a:endParaRPr sz="1100">
              <a:solidFill>
                <a:srgbClr val="9CA3AF"/>
              </a:solidFill>
            </a:endParaRPr>
          </a:p>
        </p:txBody>
      </p:sp>
      <p:sp>
        <p:nvSpPr>
          <p:cNvPr id="2399" name="Google Shape;2399;p97"/>
          <p:cNvSpPr txBox="1"/>
          <p:nvPr/>
        </p:nvSpPr>
        <p:spPr>
          <a:xfrm>
            <a:off x="582946" y="1481328"/>
            <a:ext cx="2222100" cy="1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0" spcFirstLastPara="1" rIns="0" wrap="square" tIns="190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fr" sz="900" u="none" cap="none" strike="noStrike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écarté : FAISS · Qdrant</a:t>
            </a:r>
            <a:endParaRPr sz="1100">
              <a:solidFill>
                <a:srgbClr val="9CA3AF"/>
              </a:solidFill>
            </a:endParaRPr>
          </a:p>
        </p:txBody>
      </p:sp>
      <p:sp>
        <p:nvSpPr>
          <p:cNvPr id="2400" name="Google Shape;2400;p97"/>
          <p:cNvSpPr txBox="1"/>
          <p:nvPr/>
        </p:nvSpPr>
        <p:spPr>
          <a:xfrm>
            <a:off x="582946" y="1837943"/>
            <a:ext cx="2222100" cy="3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0" spcFirstLastPara="1" rIns="0" wrap="square" tIns="190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fr" sz="1700" u="none" cap="none" strike="noStrike">
                <a:solidFill>
                  <a:srgbClr val="0E9C8A"/>
                </a:solidFill>
                <a:latin typeface="Cambria"/>
                <a:ea typeface="Cambria"/>
                <a:cs typeface="Cambria"/>
                <a:sym typeface="Cambria"/>
              </a:rPr>
              <a:t>pgvector</a:t>
            </a:r>
            <a:endParaRPr sz="1100"/>
          </a:p>
        </p:txBody>
      </p:sp>
      <p:sp>
        <p:nvSpPr>
          <p:cNvPr id="2401" name="Google Shape;2401;p97"/>
          <p:cNvSpPr txBox="1"/>
          <p:nvPr/>
        </p:nvSpPr>
        <p:spPr>
          <a:xfrm>
            <a:off x="582946" y="2366010"/>
            <a:ext cx="2222100" cy="3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0" spcFirstLastPara="1" rIns="0" wrap="square" tIns="190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fr" sz="900" u="none" cap="none" strike="noStrike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Unifie vecteurs + géo + relationnel dans une seule base, moins d'ops pour un MVP.</a:t>
            </a:r>
            <a:endParaRPr sz="1100">
              <a:solidFill>
                <a:srgbClr val="9CA3AF"/>
              </a:solidFill>
            </a:endParaRPr>
          </a:p>
        </p:txBody>
      </p:sp>
      <p:sp>
        <p:nvSpPr>
          <p:cNvPr id="2402" name="Google Shape;2402;p97"/>
          <p:cNvSpPr txBox="1"/>
          <p:nvPr/>
        </p:nvSpPr>
        <p:spPr>
          <a:xfrm>
            <a:off x="582946" y="3003804"/>
            <a:ext cx="2222100" cy="1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0" spcFirstLastPara="1" rIns="0" wrap="square" tIns="190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fr" sz="900" u="none" cap="none" strike="noStrike">
                <a:solidFill>
                  <a:srgbClr val="B7791F"/>
                </a:solidFill>
                <a:latin typeface="Calibri"/>
                <a:ea typeface="Calibri"/>
                <a:cs typeface="Calibri"/>
                <a:sym typeface="Calibri"/>
              </a:rPr>
              <a:t>Qdrant = plan B si la charge explose.</a:t>
            </a:r>
            <a:endParaRPr sz="1100"/>
          </a:p>
        </p:txBody>
      </p:sp>
      <p:sp>
        <p:nvSpPr>
          <p:cNvPr id="2403" name="Google Shape;2403;p97"/>
          <p:cNvSpPr/>
          <p:nvPr/>
        </p:nvSpPr>
        <p:spPr>
          <a:xfrm>
            <a:off x="3255300" y="1028700"/>
            <a:ext cx="2633400" cy="2400300"/>
          </a:xfrm>
          <a:prstGeom prst="roundRect">
            <a:avLst>
              <a:gd fmla="val 6000" name="adj"/>
            </a:avLst>
          </a:prstGeom>
          <a:solidFill>
            <a:srgbClr val="0E9C8A">
              <a:alpha val="7999"/>
            </a:srgbClr>
          </a:solidFill>
          <a:ln cap="flat" cmpd="sng" w="7150">
            <a:solidFill>
              <a:srgbClr val="0E9C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4" name="Google Shape;2404;p97"/>
          <p:cNvSpPr txBox="1"/>
          <p:nvPr/>
        </p:nvSpPr>
        <p:spPr>
          <a:xfrm>
            <a:off x="3459953" y="1207008"/>
            <a:ext cx="2222100" cy="1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0" spcFirstLastPara="1" rIns="0" wrap="square" tIns="190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fr" sz="900" u="none" cap="none" strike="noStrike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CLOUD</a:t>
            </a:r>
            <a:endParaRPr sz="1100">
              <a:solidFill>
                <a:srgbClr val="9CA3AF"/>
              </a:solidFill>
            </a:endParaRPr>
          </a:p>
        </p:txBody>
      </p:sp>
      <p:sp>
        <p:nvSpPr>
          <p:cNvPr id="2405" name="Google Shape;2405;p97"/>
          <p:cNvSpPr txBox="1"/>
          <p:nvPr/>
        </p:nvSpPr>
        <p:spPr>
          <a:xfrm>
            <a:off x="3459953" y="1481328"/>
            <a:ext cx="2222100" cy="1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0" spcFirstLastPara="1" rIns="0" wrap="square" tIns="190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fr" sz="900" u="none" cap="none" strike="noStrike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écarté : GCP · AWS · OVHcloud</a:t>
            </a:r>
            <a:endParaRPr sz="1100">
              <a:solidFill>
                <a:srgbClr val="9CA3AF"/>
              </a:solidFill>
            </a:endParaRPr>
          </a:p>
        </p:txBody>
      </p:sp>
      <p:sp>
        <p:nvSpPr>
          <p:cNvPr id="2406" name="Google Shape;2406;p97"/>
          <p:cNvSpPr txBox="1"/>
          <p:nvPr/>
        </p:nvSpPr>
        <p:spPr>
          <a:xfrm>
            <a:off x="3459953" y="1837943"/>
            <a:ext cx="2222100" cy="3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0" spcFirstLastPara="1" rIns="0" wrap="square" tIns="190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fr" sz="1700" u="none" cap="none" strike="noStrike">
                <a:solidFill>
                  <a:srgbClr val="0E9C8A"/>
                </a:solidFill>
                <a:latin typeface="Cambria"/>
                <a:ea typeface="Cambria"/>
                <a:cs typeface="Cambria"/>
                <a:sym typeface="Cambria"/>
              </a:rPr>
              <a:t>Scaleway</a:t>
            </a:r>
            <a:endParaRPr sz="1100"/>
          </a:p>
        </p:txBody>
      </p:sp>
      <p:sp>
        <p:nvSpPr>
          <p:cNvPr id="2407" name="Google Shape;2407;p97"/>
          <p:cNvSpPr txBox="1"/>
          <p:nvPr/>
        </p:nvSpPr>
        <p:spPr>
          <a:xfrm>
            <a:off x="3459953" y="2366010"/>
            <a:ext cx="2222100" cy="3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0" spcFirstLastPara="1" rIns="0" wrap="square" tIns="190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fr" sz="900" u="none" cap="none" strike="noStrike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Souveraineté FR/RGPD, juridiction UE, cohérent avec Mistral (FR).</a:t>
            </a:r>
            <a:endParaRPr sz="1100">
              <a:solidFill>
                <a:srgbClr val="9CA3AF"/>
              </a:solidFill>
            </a:endParaRPr>
          </a:p>
        </p:txBody>
      </p:sp>
      <p:sp>
        <p:nvSpPr>
          <p:cNvPr id="2408" name="Google Shape;2408;p97"/>
          <p:cNvSpPr txBox="1"/>
          <p:nvPr/>
        </p:nvSpPr>
        <p:spPr>
          <a:xfrm>
            <a:off x="3459953" y="3003804"/>
            <a:ext cx="2222100" cy="3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0" spcFirstLastPara="1" rIns="0" wrap="square" tIns="190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fr" sz="900" u="none" cap="none" strike="noStrike">
                <a:solidFill>
                  <a:srgbClr val="B7791F"/>
                </a:solidFill>
                <a:latin typeface="Calibri"/>
                <a:ea typeface="Calibri"/>
                <a:cs typeface="Calibri"/>
                <a:sym typeface="Calibri"/>
              </a:rPr>
              <a:t>Pas le moins cher : critère = souveraineté, assumé.</a:t>
            </a:r>
            <a:endParaRPr sz="1100"/>
          </a:p>
        </p:txBody>
      </p:sp>
      <p:sp>
        <p:nvSpPr>
          <p:cNvPr id="2409" name="Google Shape;2409;p97"/>
          <p:cNvSpPr/>
          <p:nvPr/>
        </p:nvSpPr>
        <p:spPr>
          <a:xfrm>
            <a:off x="6131215" y="1028700"/>
            <a:ext cx="2633400" cy="2400300"/>
          </a:xfrm>
          <a:prstGeom prst="roundRect">
            <a:avLst>
              <a:gd fmla="val 6000" name="adj"/>
            </a:avLst>
          </a:prstGeom>
          <a:solidFill>
            <a:srgbClr val="0E9C8A">
              <a:alpha val="7999"/>
            </a:srgbClr>
          </a:solidFill>
          <a:ln cap="flat" cmpd="sng" w="7150">
            <a:solidFill>
              <a:srgbClr val="0E9C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0" name="Google Shape;2410;p97"/>
          <p:cNvSpPr txBox="1"/>
          <p:nvPr/>
        </p:nvSpPr>
        <p:spPr>
          <a:xfrm>
            <a:off x="6336961" y="1207008"/>
            <a:ext cx="2222100" cy="1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0" spcFirstLastPara="1" rIns="0" wrap="square" tIns="190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fr" sz="900" u="none" cap="none" strike="noStrike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LLM + EMBEDDINGS</a:t>
            </a:r>
            <a:endParaRPr sz="1100">
              <a:solidFill>
                <a:srgbClr val="9CA3AF"/>
              </a:solidFill>
            </a:endParaRPr>
          </a:p>
        </p:txBody>
      </p:sp>
      <p:sp>
        <p:nvSpPr>
          <p:cNvPr id="2411" name="Google Shape;2411;p97"/>
          <p:cNvSpPr txBox="1"/>
          <p:nvPr/>
        </p:nvSpPr>
        <p:spPr>
          <a:xfrm>
            <a:off x="6336961" y="1481328"/>
            <a:ext cx="2222100" cy="1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0" spcFirstLastPara="1" rIns="0" wrap="square" tIns="190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fr" sz="900" u="none" cap="none" strike="noStrike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écarté : OpenAI · self-hosted</a:t>
            </a:r>
            <a:endParaRPr sz="1100">
              <a:solidFill>
                <a:srgbClr val="9CA3AF"/>
              </a:solidFill>
            </a:endParaRPr>
          </a:p>
        </p:txBody>
      </p:sp>
      <p:sp>
        <p:nvSpPr>
          <p:cNvPr id="2412" name="Google Shape;2412;p97"/>
          <p:cNvSpPr txBox="1"/>
          <p:nvPr/>
        </p:nvSpPr>
        <p:spPr>
          <a:xfrm>
            <a:off x="6336961" y="1837943"/>
            <a:ext cx="2222100" cy="3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0" spcFirstLastPara="1" rIns="0" wrap="square" tIns="190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fr" sz="1700" u="none" cap="none" strike="noStrike">
                <a:solidFill>
                  <a:srgbClr val="0E9C8A"/>
                </a:solidFill>
                <a:latin typeface="Cambria"/>
                <a:ea typeface="Cambria"/>
                <a:cs typeface="Cambria"/>
                <a:sym typeface="Cambria"/>
              </a:rPr>
              <a:t>Mistral</a:t>
            </a:r>
            <a:endParaRPr sz="1100"/>
          </a:p>
        </p:txBody>
      </p:sp>
      <p:sp>
        <p:nvSpPr>
          <p:cNvPr id="2413" name="Google Shape;2413;p97"/>
          <p:cNvSpPr txBox="1"/>
          <p:nvPr/>
        </p:nvSpPr>
        <p:spPr>
          <a:xfrm>
            <a:off x="6336950" y="2366000"/>
            <a:ext cx="2286900" cy="3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0" spcFirstLastPara="1" rIns="0" wrap="square" tIns="190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fr" sz="900" u="none" cap="none" strike="noStrike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Hérité et validé en </a:t>
            </a:r>
            <a:r>
              <a:rPr lang="fr" sz="900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RAG Puls-Events,</a:t>
            </a:r>
            <a:r>
              <a:rPr b="0" i="0" lang="fr" sz="900" u="none" cap="none" strike="noStrike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 FR/RGPD, abstrait via LangChain.</a:t>
            </a:r>
            <a:endParaRPr sz="1100">
              <a:solidFill>
                <a:srgbClr val="9CA3AF"/>
              </a:solidFill>
            </a:endParaRPr>
          </a:p>
        </p:txBody>
      </p:sp>
      <p:sp>
        <p:nvSpPr>
          <p:cNvPr id="2414" name="Google Shape;2414;p97"/>
          <p:cNvSpPr txBox="1"/>
          <p:nvPr/>
        </p:nvSpPr>
        <p:spPr>
          <a:xfrm>
            <a:off x="6336961" y="3003804"/>
            <a:ext cx="2222100" cy="1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0" spcFirstLastPara="1" rIns="0" wrap="square" tIns="190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fr" sz="900" u="none" cap="none" strike="noStrike">
                <a:solidFill>
                  <a:srgbClr val="B7791F"/>
                </a:solidFill>
                <a:latin typeface="Calibri"/>
                <a:ea typeface="Calibri"/>
                <a:cs typeface="Calibri"/>
                <a:sym typeface="Calibri"/>
              </a:rPr>
              <a:t>Remplaçable sans réécrire le RAG.</a:t>
            </a:r>
            <a:endParaRPr sz="1100"/>
          </a:p>
        </p:txBody>
      </p:sp>
      <p:sp>
        <p:nvSpPr>
          <p:cNvPr id="2415" name="Google Shape;2415;p97"/>
          <p:cNvSpPr/>
          <p:nvPr/>
        </p:nvSpPr>
        <p:spPr>
          <a:xfrm>
            <a:off x="6049750" y="883450"/>
            <a:ext cx="2830500" cy="2745000"/>
          </a:xfrm>
          <a:prstGeom prst="rect">
            <a:avLst/>
          </a:prstGeom>
          <a:solidFill>
            <a:srgbClr val="111113">
              <a:alpha val="69999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16" name="Google Shape;2416;p97"/>
          <p:cNvSpPr/>
          <p:nvPr/>
        </p:nvSpPr>
        <p:spPr>
          <a:xfrm>
            <a:off x="278750" y="917925"/>
            <a:ext cx="2830500" cy="2745000"/>
          </a:xfrm>
          <a:prstGeom prst="rect">
            <a:avLst/>
          </a:prstGeom>
          <a:solidFill>
            <a:srgbClr val="111113">
              <a:alpha val="69999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17" name="Google Shape;2417;p97"/>
          <p:cNvSpPr/>
          <p:nvPr/>
        </p:nvSpPr>
        <p:spPr>
          <a:xfrm>
            <a:off x="1055750" y="3555575"/>
            <a:ext cx="1276500" cy="300300"/>
          </a:xfrm>
          <a:prstGeom prst="roundRect">
            <a:avLst>
              <a:gd fmla="val 16667" name="adj"/>
            </a:avLst>
          </a:prstGeom>
          <a:solidFill>
            <a:srgbClr val="0E9C8A">
              <a:alpha val="7999"/>
            </a:srgbClr>
          </a:solidFill>
          <a:ln cap="flat" cmpd="sng" w="5825">
            <a:solidFill>
              <a:srgbClr val="0E9C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 sz="800">
                <a:solidFill>
                  <a:srgbClr val="0E9C8A"/>
                </a:solidFill>
                <a:latin typeface="Calibri"/>
                <a:ea typeface="Calibri"/>
                <a:cs typeface="Calibri"/>
                <a:sym typeface="Calibri"/>
              </a:rPr>
              <a:t>Managed PostgreSQL</a:t>
            </a:r>
            <a:endParaRPr sz="800">
              <a:solidFill>
                <a:srgbClr val="0E9C8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418" name="Google Shape;2418;p9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39662" y="3793276"/>
            <a:ext cx="908675" cy="1025990"/>
          </a:xfrm>
          <a:prstGeom prst="rect">
            <a:avLst/>
          </a:prstGeom>
          <a:noFill/>
          <a:ln cap="flat" cmpd="sng" w="5825">
            <a:solidFill>
              <a:srgbClr val="0E9C8A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2419" name="Google Shape;2419;p97"/>
          <p:cNvSpPr/>
          <p:nvPr/>
        </p:nvSpPr>
        <p:spPr>
          <a:xfrm>
            <a:off x="3933750" y="3532625"/>
            <a:ext cx="1276500" cy="300300"/>
          </a:xfrm>
          <a:prstGeom prst="roundRect">
            <a:avLst>
              <a:gd fmla="val 16667" name="adj"/>
            </a:avLst>
          </a:prstGeom>
          <a:solidFill>
            <a:srgbClr val="0E9C8A">
              <a:alpha val="7999"/>
            </a:srgbClr>
          </a:solidFill>
          <a:ln cap="flat" cmpd="sng" w="5825">
            <a:solidFill>
              <a:srgbClr val="0E9C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 sz="800">
                <a:solidFill>
                  <a:srgbClr val="0E9C8A"/>
                </a:solidFill>
                <a:latin typeface="Calibri"/>
                <a:ea typeface="Calibri"/>
                <a:cs typeface="Calibri"/>
                <a:sym typeface="Calibri"/>
              </a:rPr>
              <a:t>Managed Redis</a:t>
            </a:r>
            <a:endParaRPr sz="800">
              <a:solidFill>
                <a:srgbClr val="0E9C8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420" name="Google Shape;2420;p9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020246" y="3771007"/>
            <a:ext cx="1103519" cy="1025982"/>
          </a:xfrm>
          <a:prstGeom prst="rect">
            <a:avLst/>
          </a:prstGeom>
          <a:noFill/>
          <a:ln>
            <a:noFill/>
          </a:ln>
        </p:spPr>
      </p:pic>
      <p:sp>
        <p:nvSpPr>
          <p:cNvPr id="2421" name="Google Shape;2421;p97"/>
          <p:cNvSpPr/>
          <p:nvPr/>
        </p:nvSpPr>
        <p:spPr>
          <a:xfrm>
            <a:off x="6809675" y="3532613"/>
            <a:ext cx="1276500" cy="300300"/>
          </a:xfrm>
          <a:prstGeom prst="roundRect">
            <a:avLst>
              <a:gd fmla="val 16667" name="adj"/>
            </a:avLst>
          </a:prstGeom>
          <a:solidFill>
            <a:srgbClr val="0E9C8A">
              <a:alpha val="7999"/>
            </a:srgbClr>
          </a:solidFill>
          <a:ln cap="flat" cmpd="sng" w="5825">
            <a:solidFill>
              <a:srgbClr val="0E9C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 sz="800">
                <a:solidFill>
                  <a:srgbClr val="0E9C8A"/>
                </a:solidFill>
                <a:latin typeface="Calibri"/>
                <a:ea typeface="Calibri"/>
                <a:cs typeface="Calibri"/>
                <a:sym typeface="Calibri"/>
              </a:rPr>
              <a:t>Cockpit</a:t>
            </a:r>
            <a:endParaRPr sz="800">
              <a:solidFill>
                <a:srgbClr val="0E9C8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422" name="Google Shape;2422;p9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689035" y="3768838"/>
            <a:ext cx="1517788" cy="102598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27" name="Shape 24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8" name="Google Shape;2428;p98"/>
          <p:cNvSpPr txBox="1"/>
          <p:nvPr/>
        </p:nvSpPr>
        <p:spPr>
          <a:xfrm>
            <a:off x="377200" y="233175"/>
            <a:ext cx="2286900" cy="45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9050" lIns="0" spcFirstLastPara="1" rIns="0" wrap="square" tIns="190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1800">
                <a:solidFill>
                  <a:srgbClr val="0E9C8A"/>
                </a:solidFill>
                <a:latin typeface="Calibri"/>
                <a:ea typeface="Calibri"/>
                <a:cs typeface="Calibri"/>
                <a:sym typeface="Calibri"/>
              </a:rPr>
              <a:t>Justification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9" name="Google Shape;2429;p98"/>
          <p:cNvSpPr txBox="1"/>
          <p:nvPr/>
        </p:nvSpPr>
        <p:spPr>
          <a:xfrm>
            <a:off x="377200" y="675550"/>
            <a:ext cx="23910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9050" lIns="0" spcFirstLastPara="1" rIns="0" wrap="square" tIns="190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1100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Arbitrages structurants &amp; socle hérité</a:t>
            </a:r>
            <a:endParaRPr b="1" sz="1100">
              <a:solidFill>
                <a:srgbClr val="9CA3A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0" name="Google Shape;2430;p98"/>
          <p:cNvSpPr txBox="1"/>
          <p:nvPr/>
        </p:nvSpPr>
        <p:spPr>
          <a:xfrm>
            <a:off x="377200" y="4945850"/>
            <a:ext cx="999000" cy="166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700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MVP RAG Puls-Events</a:t>
            </a:r>
            <a:endParaRPr sz="700">
              <a:solidFill>
                <a:srgbClr val="9CA3A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1" name="Google Shape;2431;p98"/>
          <p:cNvSpPr/>
          <p:nvPr/>
        </p:nvSpPr>
        <p:spPr>
          <a:xfrm>
            <a:off x="377200" y="1028700"/>
            <a:ext cx="2633400" cy="2400300"/>
          </a:xfrm>
          <a:prstGeom prst="roundRect">
            <a:avLst>
              <a:gd fmla="val 6000" name="adj"/>
            </a:avLst>
          </a:prstGeom>
          <a:solidFill>
            <a:srgbClr val="0E9C8A">
              <a:alpha val="7999"/>
            </a:srgbClr>
          </a:solidFill>
          <a:ln cap="flat" cmpd="sng" w="7150">
            <a:solidFill>
              <a:srgbClr val="0E9C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2" name="Google Shape;2432;p98"/>
          <p:cNvSpPr txBox="1"/>
          <p:nvPr/>
        </p:nvSpPr>
        <p:spPr>
          <a:xfrm>
            <a:off x="582946" y="1207008"/>
            <a:ext cx="2222100" cy="1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0" spcFirstLastPara="1" rIns="0" wrap="square" tIns="190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fr" sz="900" u="none" cap="none" strike="noStrike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VECTOR STORE</a:t>
            </a:r>
            <a:endParaRPr sz="1100">
              <a:solidFill>
                <a:srgbClr val="9CA3AF"/>
              </a:solidFill>
            </a:endParaRPr>
          </a:p>
        </p:txBody>
      </p:sp>
      <p:sp>
        <p:nvSpPr>
          <p:cNvPr id="2433" name="Google Shape;2433;p98"/>
          <p:cNvSpPr txBox="1"/>
          <p:nvPr/>
        </p:nvSpPr>
        <p:spPr>
          <a:xfrm>
            <a:off x="582946" y="1481328"/>
            <a:ext cx="2222100" cy="1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0" spcFirstLastPara="1" rIns="0" wrap="square" tIns="190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fr" sz="900" u="none" cap="none" strike="noStrike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écarté : FAISS · Qdrant</a:t>
            </a:r>
            <a:endParaRPr sz="1100">
              <a:solidFill>
                <a:srgbClr val="9CA3AF"/>
              </a:solidFill>
            </a:endParaRPr>
          </a:p>
        </p:txBody>
      </p:sp>
      <p:sp>
        <p:nvSpPr>
          <p:cNvPr id="2434" name="Google Shape;2434;p98"/>
          <p:cNvSpPr txBox="1"/>
          <p:nvPr/>
        </p:nvSpPr>
        <p:spPr>
          <a:xfrm>
            <a:off x="582946" y="1837943"/>
            <a:ext cx="2222100" cy="3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0" spcFirstLastPara="1" rIns="0" wrap="square" tIns="190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fr" sz="1700" u="none" cap="none" strike="noStrike">
                <a:solidFill>
                  <a:srgbClr val="0E9C8A"/>
                </a:solidFill>
                <a:latin typeface="Cambria"/>
                <a:ea typeface="Cambria"/>
                <a:cs typeface="Cambria"/>
                <a:sym typeface="Cambria"/>
              </a:rPr>
              <a:t>pgvector</a:t>
            </a:r>
            <a:endParaRPr sz="1100"/>
          </a:p>
        </p:txBody>
      </p:sp>
      <p:sp>
        <p:nvSpPr>
          <p:cNvPr id="2435" name="Google Shape;2435;p98"/>
          <p:cNvSpPr txBox="1"/>
          <p:nvPr/>
        </p:nvSpPr>
        <p:spPr>
          <a:xfrm>
            <a:off x="582946" y="2366010"/>
            <a:ext cx="2222100" cy="3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0" spcFirstLastPara="1" rIns="0" wrap="square" tIns="190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fr" sz="900" u="none" cap="none" strike="noStrike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Unifie vecteurs + géo + relationnel dans une seule base, moins d'ops pour un MVP.</a:t>
            </a:r>
            <a:endParaRPr sz="1100">
              <a:solidFill>
                <a:srgbClr val="9CA3AF"/>
              </a:solidFill>
            </a:endParaRPr>
          </a:p>
        </p:txBody>
      </p:sp>
      <p:sp>
        <p:nvSpPr>
          <p:cNvPr id="2436" name="Google Shape;2436;p98"/>
          <p:cNvSpPr txBox="1"/>
          <p:nvPr/>
        </p:nvSpPr>
        <p:spPr>
          <a:xfrm>
            <a:off x="582946" y="3003804"/>
            <a:ext cx="2222100" cy="1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0" spcFirstLastPara="1" rIns="0" wrap="square" tIns="190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fr" sz="900" u="none" cap="none" strike="noStrike">
                <a:solidFill>
                  <a:srgbClr val="B7791F"/>
                </a:solidFill>
                <a:latin typeface="Calibri"/>
                <a:ea typeface="Calibri"/>
                <a:cs typeface="Calibri"/>
                <a:sym typeface="Calibri"/>
              </a:rPr>
              <a:t>Qdrant = plan B si la charge explose.</a:t>
            </a:r>
            <a:endParaRPr sz="1100"/>
          </a:p>
        </p:txBody>
      </p:sp>
      <p:sp>
        <p:nvSpPr>
          <p:cNvPr id="2437" name="Google Shape;2437;p98"/>
          <p:cNvSpPr/>
          <p:nvPr/>
        </p:nvSpPr>
        <p:spPr>
          <a:xfrm>
            <a:off x="3254208" y="1028700"/>
            <a:ext cx="2633400" cy="2400300"/>
          </a:xfrm>
          <a:prstGeom prst="roundRect">
            <a:avLst>
              <a:gd fmla="val 6000" name="adj"/>
            </a:avLst>
          </a:prstGeom>
          <a:solidFill>
            <a:srgbClr val="0E9C8A">
              <a:alpha val="7999"/>
            </a:srgbClr>
          </a:solidFill>
          <a:ln cap="flat" cmpd="sng" w="7150">
            <a:solidFill>
              <a:srgbClr val="0E9C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8" name="Google Shape;2438;p98"/>
          <p:cNvSpPr txBox="1"/>
          <p:nvPr/>
        </p:nvSpPr>
        <p:spPr>
          <a:xfrm>
            <a:off x="3459953" y="1207008"/>
            <a:ext cx="2222100" cy="1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0" spcFirstLastPara="1" rIns="0" wrap="square" tIns="190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fr" sz="900" u="none" cap="none" strike="noStrike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CLOUD</a:t>
            </a:r>
            <a:endParaRPr sz="1100">
              <a:solidFill>
                <a:srgbClr val="9CA3AF"/>
              </a:solidFill>
            </a:endParaRPr>
          </a:p>
        </p:txBody>
      </p:sp>
      <p:sp>
        <p:nvSpPr>
          <p:cNvPr id="2439" name="Google Shape;2439;p98"/>
          <p:cNvSpPr txBox="1"/>
          <p:nvPr/>
        </p:nvSpPr>
        <p:spPr>
          <a:xfrm>
            <a:off x="3459953" y="1481328"/>
            <a:ext cx="2222100" cy="1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0" spcFirstLastPara="1" rIns="0" wrap="square" tIns="190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fr" sz="900" u="none" cap="none" strike="noStrike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écarté : GCP · AWS · OVHcloud</a:t>
            </a:r>
            <a:endParaRPr sz="1100">
              <a:solidFill>
                <a:srgbClr val="9CA3AF"/>
              </a:solidFill>
            </a:endParaRPr>
          </a:p>
        </p:txBody>
      </p:sp>
      <p:sp>
        <p:nvSpPr>
          <p:cNvPr id="2440" name="Google Shape;2440;p98"/>
          <p:cNvSpPr txBox="1"/>
          <p:nvPr/>
        </p:nvSpPr>
        <p:spPr>
          <a:xfrm>
            <a:off x="3459953" y="1837943"/>
            <a:ext cx="2222100" cy="3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0" spcFirstLastPara="1" rIns="0" wrap="square" tIns="190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fr" sz="1700" u="none" cap="none" strike="noStrike">
                <a:solidFill>
                  <a:srgbClr val="0E9C8A"/>
                </a:solidFill>
                <a:latin typeface="Cambria"/>
                <a:ea typeface="Cambria"/>
                <a:cs typeface="Cambria"/>
                <a:sym typeface="Cambria"/>
              </a:rPr>
              <a:t>Scaleway</a:t>
            </a:r>
            <a:endParaRPr sz="1100"/>
          </a:p>
        </p:txBody>
      </p:sp>
      <p:sp>
        <p:nvSpPr>
          <p:cNvPr id="2441" name="Google Shape;2441;p98"/>
          <p:cNvSpPr txBox="1"/>
          <p:nvPr/>
        </p:nvSpPr>
        <p:spPr>
          <a:xfrm>
            <a:off x="3459953" y="2366010"/>
            <a:ext cx="2222100" cy="3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0" spcFirstLastPara="1" rIns="0" wrap="square" tIns="190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fr" sz="900" u="none" cap="none" strike="noStrike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Souveraineté FR/RGPD, juridiction UE, cohérent avec Mistral (FR).</a:t>
            </a:r>
            <a:endParaRPr sz="1100">
              <a:solidFill>
                <a:srgbClr val="9CA3AF"/>
              </a:solidFill>
            </a:endParaRPr>
          </a:p>
        </p:txBody>
      </p:sp>
      <p:sp>
        <p:nvSpPr>
          <p:cNvPr id="2442" name="Google Shape;2442;p98"/>
          <p:cNvSpPr txBox="1"/>
          <p:nvPr/>
        </p:nvSpPr>
        <p:spPr>
          <a:xfrm>
            <a:off x="3459953" y="3003804"/>
            <a:ext cx="2222100" cy="3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0" spcFirstLastPara="1" rIns="0" wrap="square" tIns="190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fr" sz="900" u="none" cap="none" strike="noStrike">
                <a:solidFill>
                  <a:srgbClr val="B7791F"/>
                </a:solidFill>
                <a:latin typeface="Calibri"/>
                <a:ea typeface="Calibri"/>
                <a:cs typeface="Calibri"/>
                <a:sym typeface="Calibri"/>
              </a:rPr>
              <a:t>Pas le moins cher : critère = souveraineté, assumé.</a:t>
            </a:r>
            <a:endParaRPr sz="1100"/>
          </a:p>
        </p:txBody>
      </p:sp>
      <p:sp>
        <p:nvSpPr>
          <p:cNvPr id="2443" name="Google Shape;2443;p98"/>
          <p:cNvSpPr/>
          <p:nvPr/>
        </p:nvSpPr>
        <p:spPr>
          <a:xfrm>
            <a:off x="6131215" y="1028700"/>
            <a:ext cx="2633400" cy="2400300"/>
          </a:xfrm>
          <a:prstGeom prst="roundRect">
            <a:avLst>
              <a:gd fmla="val 6000" name="adj"/>
            </a:avLst>
          </a:prstGeom>
          <a:solidFill>
            <a:srgbClr val="0E9C8A">
              <a:alpha val="7999"/>
            </a:srgbClr>
          </a:solidFill>
          <a:ln cap="flat" cmpd="sng" w="7150">
            <a:solidFill>
              <a:srgbClr val="0E9C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4" name="Google Shape;2444;p98"/>
          <p:cNvSpPr txBox="1"/>
          <p:nvPr/>
        </p:nvSpPr>
        <p:spPr>
          <a:xfrm>
            <a:off x="6336961" y="1207008"/>
            <a:ext cx="2222100" cy="1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0" spcFirstLastPara="1" rIns="0" wrap="square" tIns="190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fr" sz="900" u="none" cap="none" strike="noStrike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LLM + EMBEDDINGS</a:t>
            </a:r>
            <a:endParaRPr sz="1100">
              <a:solidFill>
                <a:srgbClr val="9CA3AF"/>
              </a:solidFill>
            </a:endParaRPr>
          </a:p>
        </p:txBody>
      </p:sp>
      <p:sp>
        <p:nvSpPr>
          <p:cNvPr id="2445" name="Google Shape;2445;p98"/>
          <p:cNvSpPr txBox="1"/>
          <p:nvPr/>
        </p:nvSpPr>
        <p:spPr>
          <a:xfrm>
            <a:off x="6336961" y="1481328"/>
            <a:ext cx="2222100" cy="1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0" spcFirstLastPara="1" rIns="0" wrap="square" tIns="190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fr" sz="900" u="none" cap="none" strike="noStrike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écarté : OpenAI · self-hosted</a:t>
            </a:r>
            <a:endParaRPr sz="1100">
              <a:solidFill>
                <a:srgbClr val="9CA3AF"/>
              </a:solidFill>
            </a:endParaRPr>
          </a:p>
        </p:txBody>
      </p:sp>
      <p:sp>
        <p:nvSpPr>
          <p:cNvPr id="2446" name="Google Shape;2446;p98"/>
          <p:cNvSpPr txBox="1"/>
          <p:nvPr/>
        </p:nvSpPr>
        <p:spPr>
          <a:xfrm>
            <a:off x="6336961" y="1837943"/>
            <a:ext cx="2222100" cy="3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0" spcFirstLastPara="1" rIns="0" wrap="square" tIns="190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fr" sz="1700" u="none" cap="none" strike="noStrike">
                <a:solidFill>
                  <a:srgbClr val="0E9C8A"/>
                </a:solidFill>
                <a:latin typeface="Cambria"/>
                <a:ea typeface="Cambria"/>
                <a:cs typeface="Cambria"/>
                <a:sym typeface="Cambria"/>
              </a:rPr>
              <a:t>Mistral</a:t>
            </a:r>
            <a:endParaRPr sz="1100"/>
          </a:p>
        </p:txBody>
      </p:sp>
      <p:sp>
        <p:nvSpPr>
          <p:cNvPr id="2447" name="Google Shape;2447;p98"/>
          <p:cNvSpPr txBox="1"/>
          <p:nvPr/>
        </p:nvSpPr>
        <p:spPr>
          <a:xfrm>
            <a:off x="6336950" y="2366000"/>
            <a:ext cx="2286900" cy="3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0" spcFirstLastPara="1" rIns="0" wrap="square" tIns="190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fr" sz="900" u="none" cap="none" strike="noStrike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Hérité et validé en </a:t>
            </a:r>
            <a:r>
              <a:rPr lang="fr" sz="900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RAG Puls-Events,</a:t>
            </a:r>
            <a:r>
              <a:rPr b="0" i="0" lang="fr" sz="900" u="none" cap="none" strike="noStrike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 FR/RGPD, abstrait via LangChain.</a:t>
            </a:r>
            <a:endParaRPr sz="1100">
              <a:solidFill>
                <a:srgbClr val="9CA3AF"/>
              </a:solidFill>
            </a:endParaRPr>
          </a:p>
        </p:txBody>
      </p:sp>
      <p:sp>
        <p:nvSpPr>
          <p:cNvPr id="2448" name="Google Shape;2448;p98"/>
          <p:cNvSpPr txBox="1"/>
          <p:nvPr/>
        </p:nvSpPr>
        <p:spPr>
          <a:xfrm>
            <a:off x="6336961" y="3003804"/>
            <a:ext cx="2222100" cy="1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0" spcFirstLastPara="1" rIns="0" wrap="square" tIns="190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fr" sz="900" u="none" cap="none" strike="noStrike">
                <a:solidFill>
                  <a:srgbClr val="B7791F"/>
                </a:solidFill>
                <a:latin typeface="Calibri"/>
                <a:ea typeface="Calibri"/>
                <a:cs typeface="Calibri"/>
                <a:sym typeface="Calibri"/>
              </a:rPr>
              <a:t>Remplaçable sans réécrire le RAG.</a:t>
            </a:r>
            <a:endParaRPr sz="1100"/>
          </a:p>
        </p:txBody>
      </p:sp>
      <p:sp>
        <p:nvSpPr>
          <p:cNvPr id="2449" name="Google Shape;2449;p98"/>
          <p:cNvSpPr/>
          <p:nvPr/>
        </p:nvSpPr>
        <p:spPr>
          <a:xfrm>
            <a:off x="319150" y="883450"/>
            <a:ext cx="5675100" cy="2745000"/>
          </a:xfrm>
          <a:prstGeom prst="rect">
            <a:avLst/>
          </a:prstGeom>
          <a:solidFill>
            <a:srgbClr val="111113">
              <a:alpha val="69999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54" name="Shape 24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5" name="Google Shape;2455;p99"/>
          <p:cNvSpPr txBox="1"/>
          <p:nvPr/>
        </p:nvSpPr>
        <p:spPr>
          <a:xfrm>
            <a:off x="377200" y="233175"/>
            <a:ext cx="2286900" cy="45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9050" lIns="0" spcFirstLastPara="1" rIns="0" wrap="square" tIns="190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1800">
                <a:solidFill>
                  <a:srgbClr val="0E9C8A"/>
                </a:solidFill>
                <a:latin typeface="Calibri"/>
                <a:ea typeface="Calibri"/>
                <a:cs typeface="Calibri"/>
                <a:sym typeface="Calibri"/>
              </a:rPr>
              <a:t>Justification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6" name="Google Shape;2456;p99"/>
          <p:cNvSpPr txBox="1"/>
          <p:nvPr/>
        </p:nvSpPr>
        <p:spPr>
          <a:xfrm>
            <a:off x="377200" y="675550"/>
            <a:ext cx="23910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9050" lIns="0" spcFirstLastPara="1" rIns="0" wrap="square" tIns="190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1100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Arbitrages structurants &amp; socle hérité</a:t>
            </a:r>
            <a:endParaRPr b="1" sz="1100">
              <a:solidFill>
                <a:srgbClr val="9CA3A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7" name="Google Shape;2457;p99"/>
          <p:cNvSpPr txBox="1"/>
          <p:nvPr/>
        </p:nvSpPr>
        <p:spPr>
          <a:xfrm>
            <a:off x="377200" y="4945850"/>
            <a:ext cx="999000" cy="166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700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MVP RAG Puls-Events</a:t>
            </a:r>
            <a:endParaRPr sz="700">
              <a:solidFill>
                <a:srgbClr val="9CA3A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8" name="Google Shape;2458;p99"/>
          <p:cNvSpPr/>
          <p:nvPr/>
        </p:nvSpPr>
        <p:spPr>
          <a:xfrm>
            <a:off x="377200" y="1028700"/>
            <a:ext cx="2633400" cy="2400300"/>
          </a:xfrm>
          <a:prstGeom prst="roundRect">
            <a:avLst>
              <a:gd fmla="val 6000" name="adj"/>
            </a:avLst>
          </a:prstGeom>
          <a:solidFill>
            <a:srgbClr val="0E9C8A">
              <a:alpha val="7999"/>
            </a:srgbClr>
          </a:solidFill>
          <a:ln cap="flat" cmpd="sng" w="7150">
            <a:solidFill>
              <a:srgbClr val="0E9C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9" name="Google Shape;2459;p99"/>
          <p:cNvSpPr txBox="1"/>
          <p:nvPr/>
        </p:nvSpPr>
        <p:spPr>
          <a:xfrm>
            <a:off x="582946" y="1207008"/>
            <a:ext cx="2222100" cy="1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0" spcFirstLastPara="1" rIns="0" wrap="square" tIns="190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fr" sz="900" u="none" cap="none" strike="noStrike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VECTOR STORE</a:t>
            </a:r>
            <a:endParaRPr sz="1100">
              <a:solidFill>
                <a:srgbClr val="9CA3AF"/>
              </a:solidFill>
            </a:endParaRPr>
          </a:p>
        </p:txBody>
      </p:sp>
      <p:sp>
        <p:nvSpPr>
          <p:cNvPr id="2460" name="Google Shape;2460;p99"/>
          <p:cNvSpPr txBox="1"/>
          <p:nvPr/>
        </p:nvSpPr>
        <p:spPr>
          <a:xfrm>
            <a:off x="582946" y="1481328"/>
            <a:ext cx="2222100" cy="1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0" spcFirstLastPara="1" rIns="0" wrap="square" tIns="190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fr" sz="900" u="none" cap="none" strike="noStrike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écarté : FAISS · Qdrant</a:t>
            </a:r>
            <a:endParaRPr sz="1100">
              <a:solidFill>
                <a:srgbClr val="9CA3AF"/>
              </a:solidFill>
            </a:endParaRPr>
          </a:p>
        </p:txBody>
      </p:sp>
      <p:sp>
        <p:nvSpPr>
          <p:cNvPr id="2461" name="Google Shape;2461;p99"/>
          <p:cNvSpPr txBox="1"/>
          <p:nvPr/>
        </p:nvSpPr>
        <p:spPr>
          <a:xfrm>
            <a:off x="582946" y="1837943"/>
            <a:ext cx="2222100" cy="3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0" spcFirstLastPara="1" rIns="0" wrap="square" tIns="190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fr" sz="1700" u="none" cap="none" strike="noStrike">
                <a:solidFill>
                  <a:srgbClr val="0E9C8A"/>
                </a:solidFill>
                <a:latin typeface="Cambria"/>
                <a:ea typeface="Cambria"/>
                <a:cs typeface="Cambria"/>
                <a:sym typeface="Cambria"/>
              </a:rPr>
              <a:t>pgvector</a:t>
            </a:r>
            <a:endParaRPr sz="1100"/>
          </a:p>
        </p:txBody>
      </p:sp>
      <p:sp>
        <p:nvSpPr>
          <p:cNvPr id="2462" name="Google Shape;2462;p99"/>
          <p:cNvSpPr txBox="1"/>
          <p:nvPr/>
        </p:nvSpPr>
        <p:spPr>
          <a:xfrm>
            <a:off x="582946" y="2366010"/>
            <a:ext cx="2222100" cy="3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0" spcFirstLastPara="1" rIns="0" wrap="square" tIns="190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fr" sz="900" u="none" cap="none" strike="noStrike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Unifie vecteurs + géo + relationnel dans une seule base, moins d'ops pour un MVP.</a:t>
            </a:r>
            <a:endParaRPr sz="1100">
              <a:solidFill>
                <a:srgbClr val="9CA3AF"/>
              </a:solidFill>
            </a:endParaRPr>
          </a:p>
        </p:txBody>
      </p:sp>
      <p:sp>
        <p:nvSpPr>
          <p:cNvPr id="2463" name="Google Shape;2463;p99"/>
          <p:cNvSpPr txBox="1"/>
          <p:nvPr/>
        </p:nvSpPr>
        <p:spPr>
          <a:xfrm>
            <a:off x="582946" y="3003804"/>
            <a:ext cx="2222100" cy="1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0" spcFirstLastPara="1" rIns="0" wrap="square" tIns="190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fr" sz="900" u="none" cap="none" strike="noStrike">
                <a:solidFill>
                  <a:srgbClr val="B7791F"/>
                </a:solidFill>
                <a:latin typeface="Calibri"/>
                <a:ea typeface="Calibri"/>
                <a:cs typeface="Calibri"/>
                <a:sym typeface="Calibri"/>
              </a:rPr>
              <a:t>Qdrant = plan B si la charge explose.</a:t>
            </a:r>
            <a:endParaRPr sz="1100"/>
          </a:p>
        </p:txBody>
      </p:sp>
      <p:sp>
        <p:nvSpPr>
          <p:cNvPr id="2464" name="Google Shape;2464;p99"/>
          <p:cNvSpPr/>
          <p:nvPr/>
        </p:nvSpPr>
        <p:spPr>
          <a:xfrm>
            <a:off x="3254208" y="1028700"/>
            <a:ext cx="2633400" cy="2400300"/>
          </a:xfrm>
          <a:prstGeom prst="roundRect">
            <a:avLst>
              <a:gd fmla="val 6000" name="adj"/>
            </a:avLst>
          </a:prstGeom>
          <a:solidFill>
            <a:srgbClr val="0E9C8A">
              <a:alpha val="7999"/>
            </a:srgbClr>
          </a:solidFill>
          <a:ln cap="flat" cmpd="sng" w="7150">
            <a:solidFill>
              <a:srgbClr val="0E9C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5" name="Google Shape;2465;p99"/>
          <p:cNvSpPr txBox="1"/>
          <p:nvPr/>
        </p:nvSpPr>
        <p:spPr>
          <a:xfrm>
            <a:off x="3459953" y="1207008"/>
            <a:ext cx="2222100" cy="1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0" spcFirstLastPara="1" rIns="0" wrap="square" tIns="190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fr" sz="900" u="none" cap="none" strike="noStrike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CLOUD</a:t>
            </a:r>
            <a:endParaRPr sz="1100">
              <a:solidFill>
                <a:srgbClr val="9CA3AF"/>
              </a:solidFill>
            </a:endParaRPr>
          </a:p>
        </p:txBody>
      </p:sp>
      <p:sp>
        <p:nvSpPr>
          <p:cNvPr id="2466" name="Google Shape;2466;p99"/>
          <p:cNvSpPr txBox="1"/>
          <p:nvPr/>
        </p:nvSpPr>
        <p:spPr>
          <a:xfrm>
            <a:off x="3459953" y="1481328"/>
            <a:ext cx="2222100" cy="1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0" spcFirstLastPara="1" rIns="0" wrap="square" tIns="190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fr" sz="900" u="none" cap="none" strike="noStrike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écarté : GCP · AWS · OVHcloud</a:t>
            </a:r>
            <a:endParaRPr sz="1100">
              <a:solidFill>
                <a:srgbClr val="9CA3AF"/>
              </a:solidFill>
            </a:endParaRPr>
          </a:p>
        </p:txBody>
      </p:sp>
      <p:sp>
        <p:nvSpPr>
          <p:cNvPr id="2467" name="Google Shape;2467;p99"/>
          <p:cNvSpPr txBox="1"/>
          <p:nvPr/>
        </p:nvSpPr>
        <p:spPr>
          <a:xfrm>
            <a:off x="3459953" y="1837943"/>
            <a:ext cx="2222100" cy="3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0" spcFirstLastPara="1" rIns="0" wrap="square" tIns="190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fr" sz="1700" u="none" cap="none" strike="noStrike">
                <a:solidFill>
                  <a:srgbClr val="0E9C8A"/>
                </a:solidFill>
                <a:latin typeface="Cambria"/>
                <a:ea typeface="Cambria"/>
                <a:cs typeface="Cambria"/>
                <a:sym typeface="Cambria"/>
              </a:rPr>
              <a:t>Scaleway</a:t>
            </a:r>
            <a:endParaRPr sz="1100"/>
          </a:p>
        </p:txBody>
      </p:sp>
      <p:sp>
        <p:nvSpPr>
          <p:cNvPr id="2468" name="Google Shape;2468;p99"/>
          <p:cNvSpPr txBox="1"/>
          <p:nvPr/>
        </p:nvSpPr>
        <p:spPr>
          <a:xfrm>
            <a:off x="3459953" y="2366010"/>
            <a:ext cx="2222100" cy="3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0" spcFirstLastPara="1" rIns="0" wrap="square" tIns="190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fr" sz="900" u="none" cap="none" strike="noStrike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Souveraineté FR/RGPD, juridiction UE, cohérent avec Mistral (FR).</a:t>
            </a:r>
            <a:endParaRPr sz="1100">
              <a:solidFill>
                <a:srgbClr val="9CA3AF"/>
              </a:solidFill>
            </a:endParaRPr>
          </a:p>
        </p:txBody>
      </p:sp>
      <p:sp>
        <p:nvSpPr>
          <p:cNvPr id="2469" name="Google Shape;2469;p99"/>
          <p:cNvSpPr txBox="1"/>
          <p:nvPr/>
        </p:nvSpPr>
        <p:spPr>
          <a:xfrm>
            <a:off x="3459953" y="3003804"/>
            <a:ext cx="2222100" cy="3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0" spcFirstLastPara="1" rIns="0" wrap="square" tIns="190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fr" sz="900" u="none" cap="none" strike="noStrike">
                <a:solidFill>
                  <a:srgbClr val="B7791F"/>
                </a:solidFill>
                <a:latin typeface="Calibri"/>
                <a:ea typeface="Calibri"/>
                <a:cs typeface="Calibri"/>
                <a:sym typeface="Calibri"/>
              </a:rPr>
              <a:t>Pas le moins cher : critère = souveraineté, assumé.</a:t>
            </a:r>
            <a:endParaRPr sz="1100"/>
          </a:p>
        </p:txBody>
      </p:sp>
      <p:sp>
        <p:nvSpPr>
          <p:cNvPr id="2470" name="Google Shape;2470;p99"/>
          <p:cNvSpPr/>
          <p:nvPr/>
        </p:nvSpPr>
        <p:spPr>
          <a:xfrm>
            <a:off x="6131215" y="1028700"/>
            <a:ext cx="2633400" cy="2400300"/>
          </a:xfrm>
          <a:prstGeom prst="roundRect">
            <a:avLst>
              <a:gd fmla="val 6000" name="adj"/>
            </a:avLst>
          </a:prstGeom>
          <a:solidFill>
            <a:srgbClr val="0E9C8A">
              <a:alpha val="7999"/>
            </a:srgbClr>
          </a:solidFill>
          <a:ln cap="flat" cmpd="sng" w="7150">
            <a:solidFill>
              <a:srgbClr val="0E9C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1" name="Google Shape;2471;p99"/>
          <p:cNvSpPr txBox="1"/>
          <p:nvPr/>
        </p:nvSpPr>
        <p:spPr>
          <a:xfrm>
            <a:off x="6336961" y="1207008"/>
            <a:ext cx="2222100" cy="1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0" spcFirstLastPara="1" rIns="0" wrap="square" tIns="190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fr" sz="900" u="none" cap="none" strike="noStrike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LLM + EMBEDDINGS</a:t>
            </a:r>
            <a:endParaRPr sz="1100">
              <a:solidFill>
                <a:srgbClr val="9CA3AF"/>
              </a:solidFill>
            </a:endParaRPr>
          </a:p>
        </p:txBody>
      </p:sp>
      <p:sp>
        <p:nvSpPr>
          <p:cNvPr id="2472" name="Google Shape;2472;p99"/>
          <p:cNvSpPr txBox="1"/>
          <p:nvPr/>
        </p:nvSpPr>
        <p:spPr>
          <a:xfrm>
            <a:off x="6336961" y="1481328"/>
            <a:ext cx="2222100" cy="1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0" spcFirstLastPara="1" rIns="0" wrap="square" tIns="190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fr" sz="900" u="none" cap="none" strike="noStrike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écarté : OpenAI · self-hosted</a:t>
            </a:r>
            <a:endParaRPr sz="1100">
              <a:solidFill>
                <a:srgbClr val="9CA3AF"/>
              </a:solidFill>
            </a:endParaRPr>
          </a:p>
        </p:txBody>
      </p:sp>
      <p:sp>
        <p:nvSpPr>
          <p:cNvPr id="2473" name="Google Shape;2473;p99"/>
          <p:cNvSpPr txBox="1"/>
          <p:nvPr/>
        </p:nvSpPr>
        <p:spPr>
          <a:xfrm>
            <a:off x="6336961" y="1837943"/>
            <a:ext cx="2222100" cy="3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0" spcFirstLastPara="1" rIns="0" wrap="square" tIns="190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fr" sz="1700" u="none" cap="none" strike="noStrike">
                <a:solidFill>
                  <a:srgbClr val="0E9C8A"/>
                </a:solidFill>
                <a:latin typeface="Cambria"/>
                <a:ea typeface="Cambria"/>
                <a:cs typeface="Cambria"/>
                <a:sym typeface="Cambria"/>
              </a:rPr>
              <a:t>Mistral</a:t>
            </a:r>
            <a:endParaRPr sz="1100"/>
          </a:p>
        </p:txBody>
      </p:sp>
      <p:sp>
        <p:nvSpPr>
          <p:cNvPr id="2474" name="Google Shape;2474;p99"/>
          <p:cNvSpPr txBox="1"/>
          <p:nvPr/>
        </p:nvSpPr>
        <p:spPr>
          <a:xfrm>
            <a:off x="6336950" y="2366000"/>
            <a:ext cx="2286900" cy="3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0" spcFirstLastPara="1" rIns="0" wrap="square" tIns="190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fr" sz="900" u="none" cap="none" strike="noStrike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Hérité et validé en </a:t>
            </a:r>
            <a:r>
              <a:rPr lang="fr" sz="900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RAG Puls-Events,</a:t>
            </a:r>
            <a:r>
              <a:rPr b="0" i="0" lang="fr" sz="900" u="none" cap="none" strike="noStrike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 FR/RGPD, abstrait via LangChain.</a:t>
            </a:r>
            <a:endParaRPr sz="1100">
              <a:solidFill>
                <a:srgbClr val="9CA3AF"/>
              </a:solidFill>
            </a:endParaRPr>
          </a:p>
        </p:txBody>
      </p:sp>
      <p:sp>
        <p:nvSpPr>
          <p:cNvPr id="2475" name="Google Shape;2475;p99"/>
          <p:cNvSpPr txBox="1"/>
          <p:nvPr/>
        </p:nvSpPr>
        <p:spPr>
          <a:xfrm>
            <a:off x="6336961" y="3003804"/>
            <a:ext cx="2222100" cy="1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0" spcFirstLastPara="1" rIns="0" wrap="square" tIns="190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fr" sz="900" u="none" cap="none" strike="noStrike">
                <a:solidFill>
                  <a:srgbClr val="B7791F"/>
                </a:solidFill>
                <a:latin typeface="Calibri"/>
                <a:ea typeface="Calibri"/>
                <a:cs typeface="Calibri"/>
                <a:sym typeface="Calibri"/>
              </a:rPr>
              <a:t>Remplaçable sans réécrire le RAG.</a:t>
            </a:r>
            <a:endParaRPr sz="1100"/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80" name="Shape 24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1" name="Google Shape;2481;p100"/>
          <p:cNvSpPr txBox="1"/>
          <p:nvPr/>
        </p:nvSpPr>
        <p:spPr>
          <a:xfrm>
            <a:off x="377200" y="233175"/>
            <a:ext cx="2286900" cy="45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9050" lIns="0" spcFirstLastPara="1" rIns="0" wrap="square" tIns="190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1800">
                <a:solidFill>
                  <a:srgbClr val="0E9C8A"/>
                </a:solidFill>
                <a:latin typeface="Calibri"/>
                <a:ea typeface="Calibri"/>
                <a:cs typeface="Calibri"/>
                <a:sym typeface="Calibri"/>
              </a:rPr>
              <a:t>Justification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2" name="Google Shape;2482;p100"/>
          <p:cNvSpPr txBox="1"/>
          <p:nvPr/>
        </p:nvSpPr>
        <p:spPr>
          <a:xfrm>
            <a:off x="377200" y="675550"/>
            <a:ext cx="23910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9050" lIns="0" spcFirstLastPara="1" rIns="0" wrap="square" tIns="190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1100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Arbitrages structurants &amp; socle hérité</a:t>
            </a:r>
            <a:endParaRPr b="1" sz="1100">
              <a:solidFill>
                <a:srgbClr val="9CA3A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3" name="Google Shape;2483;p100"/>
          <p:cNvSpPr txBox="1"/>
          <p:nvPr/>
        </p:nvSpPr>
        <p:spPr>
          <a:xfrm>
            <a:off x="377200" y="4945850"/>
            <a:ext cx="999000" cy="166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700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MVP RAG Puls-Events</a:t>
            </a:r>
            <a:endParaRPr sz="700">
              <a:solidFill>
                <a:srgbClr val="9CA3A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4" name="Google Shape;2484;p100"/>
          <p:cNvSpPr/>
          <p:nvPr/>
        </p:nvSpPr>
        <p:spPr>
          <a:xfrm>
            <a:off x="377200" y="1028700"/>
            <a:ext cx="2633400" cy="2400300"/>
          </a:xfrm>
          <a:prstGeom prst="roundRect">
            <a:avLst>
              <a:gd fmla="val 6000" name="adj"/>
            </a:avLst>
          </a:prstGeom>
          <a:solidFill>
            <a:srgbClr val="0E9C8A">
              <a:alpha val="7999"/>
            </a:srgbClr>
          </a:solidFill>
          <a:ln cap="flat" cmpd="sng" w="7150">
            <a:solidFill>
              <a:srgbClr val="0E9C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5" name="Google Shape;2485;p100"/>
          <p:cNvSpPr txBox="1"/>
          <p:nvPr/>
        </p:nvSpPr>
        <p:spPr>
          <a:xfrm>
            <a:off x="582946" y="1207008"/>
            <a:ext cx="2222100" cy="1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0" spcFirstLastPara="1" rIns="0" wrap="square" tIns="190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fr" sz="900" u="none" cap="none" strike="noStrike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VECTOR STORE</a:t>
            </a:r>
            <a:endParaRPr sz="1100">
              <a:solidFill>
                <a:srgbClr val="9CA3AF"/>
              </a:solidFill>
            </a:endParaRPr>
          </a:p>
        </p:txBody>
      </p:sp>
      <p:sp>
        <p:nvSpPr>
          <p:cNvPr id="2486" name="Google Shape;2486;p100"/>
          <p:cNvSpPr txBox="1"/>
          <p:nvPr/>
        </p:nvSpPr>
        <p:spPr>
          <a:xfrm>
            <a:off x="582946" y="1481328"/>
            <a:ext cx="2222100" cy="1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0" spcFirstLastPara="1" rIns="0" wrap="square" tIns="190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fr" sz="900" u="none" cap="none" strike="noStrike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écarté : FAISS · Qdrant</a:t>
            </a:r>
            <a:endParaRPr sz="1100">
              <a:solidFill>
                <a:srgbClr val="9CA3AF"/>
              </a:solidFill>
            </a:endParaRPr>
          </a:p>
        </p:txBody>
      </p:sp>
      <p:sp>
        <p:nvSpPr>
          <p:cNvPr id="2487" name="Google Shape;2487;p100"/>
          <p:cNvSpPr txBox="1"/>
          <p:nvPr/>
        </p:nvSpPr>
        <p:spPr>
          <a:xfrm>
            <a:off x="582946" y="1837943"/>
            <a:ext cx="2222100" cy="3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0" spcFirstLastPara="1" rIns="0" wrap="square" tIns="190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fr" sz="1700" u="none" cap="none" strike="noStrike">
                <a:solidFill>
                  <a:srgbClr val="0E9C8A"/>
                </a:solidFill>
                <a:latin typeface="Cambria"/>
                <a:ea typeface="Cambria"/>
                <a:cs typeface="Cambria"/>
                <a:sym typeface="Cambria"/>
              </a:rPr>
              <a:t>pgvector</a:t>
            </a:r>
            <a:endParaRPr sz="1100"/>
          </a:p>
        </p:txBody>
      </p:sp>
      <p:sp>
        <p:nvSpPr>
          <p:cNvPr id="2488" name="Google Shape;2488;p100"/>
          <p:cNvSpPr txBox="1"/>
          <p:nvPr/>
        </p:nvSpPr>
        <p:spPr>
          <a:xfrm>
            <a:off x="582946" y="2366010"/>
            <a:ext cx="2222100" cy="3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0" spcFirstLastPara="1" rIns="0" wrap="square" tIns="190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fr" sz="900" u="none" cap="none" strike="noStrike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Unifie vecteurs + géo + relationnel dans une seule base, moins d'ops pour un MVP.</a:t>
            </a:r>
            <a:endParaRPr sz="1100">
              <a:solidFill>
                <a:srgbClr val="9CA3AF"/>
              </a:solidFill>
            </a:endParaRPr>
          </a:p>
        </p:txBody>
      </p:sp>
      <p:sp>
        <p:nvSpPr>
          <p:cNvPr id="2489" name="Google Shape;2489;p100"/>
          <p:cNvSpPr txBox="1"/>
          <p:nvPr/>
        </p:nvSpPr>
        <p:spPr>
          <a:xfrm>
            <a:off x="582946" y="3003804"/>
            <a:ext cx="2222100" cy="1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0" spcFirstLastPara="1" rIns="0" wrap="square" tIns="190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fr" sz="900" u="none" cap="none" strike="noStrike">
                <a:solidFill>
                  <a:srgbClr val="B7791F"/>
                </a:solidFill>
                <a:latin typeface="Calibri"/>
                <a:ea typeface="Calibri"/>
                <a:cs typeface="Calibri"/>
                <a:sym typeface="Calibri"/>
              </a:rPr>
              <a:t>Qdrant = plan B si la charge explose.</a:t>
            </a:r>
            <a:endParaRPr sz="1100"/>
          </a:p>
        </p:txBody>
      </p:sp>
      <p:sp>
        <p:nvSpPr>
          <p:cNvPr id="2490" name="Google Shape;2490;p100"/>
          <p:cNvSpPr/>
          <p:nvPr/>
        </p:nvSpPr>
        <p:spPr>
          <a:xfrm>
            <a:off x="3254208" y="1028700"/>
            <a:ext cx="2633400" cy="2400300"/>
          </a:xfrm>
          <a:prstGeom prst="roundRect">
            <a:avLst>
              <a:gd fmla="val 6000" name="adj"/>
            </a:avLst>
          </a:prstGeom>
          <a:solidFill>
            <a:srgbClr val="0E9C8A">
              <a:alpha val="7999"/>
            </a:srgbClr>
          </a:solidFill>
          <a:ln cap="flat" cmpd="sng" w="7150">
            <a:solidFill>
              <a:srgbClr val="0E9C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1" name="Google Shape;2491;p100"/>
          <p:cNvSpPr txBox="1"/>
          <p:nvPr/>
        </p:nvSpPr>
        <p:spPr>
          <a:xfrm>
            <a:off x="3459953" y="1207008"/>
            <a:ext cx="2222100" cy="1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0" spcFirstLastPara="1" rIns="0" wrap="square" tIns="190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fr" sz="900" u="none" cap="none" strike="noStrike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CLOUD</a:t>
            </a:r>
            <a:endParaRPr sz="1100">
              <a:solidFill>
                <a:srgbClr val="9CA3AF"/>
              </a:solidFill>
            </a:endParaRPr>
          </a:p>
        </p:txBody>
      </p:sp>
      <p:sp>
        <p:nvSpPr>
          <p:cNvPr id="2492" name="Google Shape;2492;p100"/>
          <p:cNvSpPr txBox="1"/>
          <p:nvPr/>
        </p:nvSpPr>
        <p:spPr>
          <a:xfrm>
            <a:off x="3459953" y="1481328"/>
            <a:ext cx="2222100" cy="1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0" spcFirstLastPara="1" rIns="0" wrap="square" tIns="190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fr" sz="900" u="none" cap="none" strike="noStrike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écarté : GCP · AWS · OVHcloud</a:t>
            </a:r>
            <a:endParaRPr sz="1100">
              <a:solidFill>
                <a:srgbClr val="9CA3AF"/>
              </a:solidFill>
            </a:endParaRPr>
          </a:p>
        </p:txBody>
      </p:sp>
      <p:sp>
        <p:nvSpPr>
          <p:cNvPr id="2493" name="Google Shape;2493;p100"/>
          <p:cNvSpPr txBox="1"/>
          <p:nvPr/>
        </p:nvSpPr>
        <p:spPr>
          <a:xfrm>
            <a:off x="3459953" y="1837943"/>
            <a:ext cx="2222100" cy="3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0" spcFirstLastPara="1" rIns="0" wrap="square" tIns="190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fr" sz="1700" u="none" cap="none" strike="noStrike">
                <a:solidFill>
                  <a:srgbClr val="0E9C8A"/>
                </a:solidFill>
                <a:latin typeface="Cambria"/>
                <a:ea typeface="Cambria"/>
                <a:cs typeface="Cambria"/>
                <a:sym typeface="Cambria"/>
              </a:rPr>
              <a:t>Scaleway</a:t>
            </a:r>
            <a:endParaRPr sz="1100"/>
          </a:p>
        </p:txBody>
      </p:sp>
      <p:sp>
        <p:nvSpPr>
          <p:cNvPr id="2494" name="Google Shape;2494;p100"/>
          <p:cNvSpPr txBox="1"/>
          <p:nvPr/>
        </p:nvSpPr>
        <p:spPr>
          <a:xfrm>
            <a:off x="3459953" y="2366010"/>
            <a:ext cx="2222100" cy="3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0" spcFirstLastPara="1" rIns="0" wrap="square" tIns="190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fr" sz="900" u="none" cap="none" strike="noStrike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Souveraineté FR/RGPD, juridiction UE, cohérent avec Mistral (FR).</a:t>
            </a:r>
            <a:endParaRPr sz="1100">
              <a:solidFill>
                <a:srgbClr val="9CA3AF"/>
              </a:solidFill>
            </a:endParaRPr>
          </a:p>
        </p:txBody>
      </p:sp>
      <p:sp>
        <p:nvSpPr>
          <p:cNvPr id="2495" name="Google Shape;2495;p100"/>
          <p:cNvSpPr txBox="1"/>
          <p:nvPr/>
        </p:nvSpPr>
        <p:spPr>
          <a:xfrm>
            <a:off x="3459953" y="3003804"/>
            <a:ext cx="2222100" cy="3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0" spcFirstLastPara="1" rIns="0" wrap="square" tIns="190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fr" sz="900" u="none" cap="none" strike="noStrike">
                <a:solidFill>
                  <a:srgbClr val="B7791F"/>
                </a:solidFill>
                <a:latin typeface="Calibri"/>
                <a:ea typeface="Calibri"/>
                <a:cs typeface="Calibri"/>
                <a:sym typeface="Calibri"/>
              </a:rPr>
              <a:t>Pas le moins cher : critère = souveraineté, assumé.</a:t>
            </a:r>
            <a:endParaRPr sz="1100"/>
          </a:p>
        </p:txBody>
      </p:sp>
      <p:sp>
        <p:nvSpPr>
          <p:cNvPr id="2496" name="Google Shape;2496;p100"/>
          <p:cNvSpPr/>
          <p:nvPr/>
        </p:nvSpPr>
        <p:spPr>
          <a:xfrm>
            <a:off x="6131215" y="1028700"/>
            <a:ext cx="2633400" cy="2400300"/>
          </a:xfrm>
          <a:prstGeom prst="roundRect">
            <a:avLst>
              <a:gd fmla="val 6000" name="adj"/>
            </a:avLst>
          </a:prstGeom>
          <a:solidFill>
            <a:srgbClr val="0E9C8A">
              <a:alpha val="7999"/>
            </a:srgbClr>
          </a:solidFill>
          <a:ln cap="flat" cmpd="sng" w="7150">
            <a:solidFill>
              <a:srgbClr val="0E9C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7" name="Google Shape;2497;p100"/>
          <p:cNvSpPr txBox="1"/>
          <p:nvPr/>
        </p:nvSpPr>
        <p:spPr>
          <a:xfrm>
            <a:off x="6336961" y="1207008"/>
            <a:ext cx="2222100" cy="1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0" spcFirstLastPara="1" rIns="0" wrap="square" tIns="190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fr" sz="900" u="none" cap="none" strike="noStrike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LLM + EMBEDDINGS</a:t>
            </a:r>
            <a:endParaRPr sz="1100">
              <a:solidFill>
                <a:srgbClr val="9CA3AF"/>
              </a:solidFill>
            </a:endParaRPr>
          </a:p>
        </p:txBody>
      </p:sp>
      <p:sp>
        <p:nvSpPr>
          <p:cNvPr id="2498" name="Google Shape;2498;p100"/>
          <p:cNvSpPr txBox="1"/>
          <p:nvPr/>
        </p:nvSpPr>
        <p:spPr>
          <a:xfrm>
            <a:off x="6336961" y="1481328"/>
            <a:ext cx="2222100" cy="1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0" spcFirstLastPara="1" rIns="0" wrap="square" tIns="190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fr" sz="900" u="none" cap="none" strike="noStrike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écarté : OpenAI · self-hosted</a:t>
            </a:r>
            <a:endParaRPr sz="1100">
              <a:solidFill>
                <a:srgbClr val="9CA3AF"/>
              </a:solidFill>
            </a:endParaRPr>
          </a:p>
        </p:txBody>
      </p:sp>
      <p:sp>
        <p:nvSpPr>
          <p:cNvPr id="2499" name="Google Shape;2499;p100"/>
          <p:cNvSpPr txBox="1"/>
          <p:nvPr/>
        </p:nvSpPr>
        <p:spPr>
          <a:xfrm>
            <a:off x="6336961" y="1837943"/>
            <a:ext cx="2222100" cy="3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0" spcFirstLastPara="1" rIns="0" wrap="square" tIns="190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fr" sz="1700" u="none" cap="none" strike="noStrike">
                <a:solidFill>
                  <a:srgbClr val="0E9C8A"/>
                </a:solidFill>
                <a:latin typeface="Cambria"/>
                <a:ea typeface="Cambria"/>
                <a:cs typeface="Cambria"/>
                <a:sym typeface="Cambria"/>
              </a:rPr>
              <a:t>Mistral</a:t>
            </a:r>
            <a:endParaRPr sz="1100"/>
          </a:p>
        </p:txBody>
      </p:sp>
      <p:sp>
        <p:nvSpPr>
          <p:cNvPr id="2500" name="Google Shape;2500;p100"/>
          <p:cNvSpPr txBox="1"/>
          <p:nvPr/>
        </p:nvSpPr>
        <p:spPr>
          <a:xfrm>
            <a:off x="6336950" y="2366000"/>
            <a:ext cx="2286900" cy="3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0" spcFirstLastPara="1" rIns="0" wrap="square" tIns="190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fr" sz="900" u="none" cap="none" strike="noStrike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Hérité et validé en </a:t>
            </a:r>
            <a:r>
              <a:rPr lang="fr" sz="900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RAG Puls-Events,</a:t>
            </a:r>
            <a:r>
              <a:rPr b="0" i="0" lang="fr" sz="900" u="none" cap="none" strike="noStrike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 FR/RGPD, abstrait via LangChain.</a:t>
            </a:r>
            <a:endParaRPr sz="1100">
              <a:solidFill>
                <a:srgbClr val="9CA3AF"/>
              </a:solidFill>
            </a:endParaRPr>
          </a:p>
        </p:txBody>
      </p:sp>
      <p:sp>
        <p:nvSpPr>
          <p:cNvPr id="2501" name="Google Shape;2501;p100"/>
          <p:cNvSpPr txBox="1"/>
          <p:nvPr/>
        </p:nvSpPr>
        <p:spPr>
          <a:xfrm>
            <a:off x="6336961" y="3003804"/>
            <a:ext cx="2222100" cy="1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0" spcFirstLastPara="1" rIns="0" wrap="square" tIns="190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fr" sz="900" u="none" cap="none" strike="noStrike">
                <a:solidFill>
                  <a:srgbClr val="B7791F"/>
                </a:solidFill>
                <a:latin typeface="Calibri"/>
                <a:ea typeface="Calibri"/>
                <a:cs typeface="Calibri"/>
                <a:sym typeface="Calibri"/>
              </a:rPr>
              <a:t>Remplaçable sans réécrire le RAG.</a:t>
            </a:r>
            <a:endParaRPr sz="1100"/>
          </a:p>
        </p:txBody>
      </p:sp>
      <p:sp>
        <p:nvSpPr>
          <p:cNvPr id="2502" name="Google Shape;2502;p100"/>
          <p:cNvSpPr/>
          <p:nvPr/>
        </p:nvSpPr>
        <p:spPr>
          <a:xfrm>
            <a:off x="377200" y="3998225"/>
            <a:ext cx="8538300" cy="630900"/>
          </a:xfrm>
          <a:prstGeom prst="roundRect">
            <a:avLst>
              <a:gd fmla="val 6000" name="adj"/>
            </a:avLst>
          </a:prstGeom>
          <a:solidFill>
            <a:srgbClr val="4F46E5">
              <a:alpha val="7999"/>
            </a:srgbClr>
          </a:solidFill>
          <a:ln cap="flat" cmpd="sng" w="9525">
            <a:solidFill>
              <a:srgbClr val="4F46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1000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Socle hérité — sans arbitrage</a:t>
            </a:r>
            <a:endParaRPr sz="1100">
              <a:solidFill>
                <a:srgbClr val="9CA3AF"/>
              </a:solidFill>
            </a:endParaRPr>
          </a:p>
          <a:p>
            <a:pPr indent="0" lvl="0" marL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1" lang="fr" sz="1100">
                <a:solidFill>
                  <a:srgbClr val="4F46E5"/>
                </a:solidFill>
                <a:latin typeface="Calibri"/>
                <a:ea typeface="Calibri"/>
                <a:cs typeface="Calibri"/>
                <a:sym typeface="Calibri"/>
              </a:rPr>
              <a:t>FastAPI (async + SSE)      LangChain (RAG hybride réutilisé)      Kestra (ingestion, maîtrisé)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07" name="Shape 25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8" name="Google Shape;2508;p101"/>
          <p:cNvSpPr txBox="1"/>
          <p:nvPr/>
        </p:nvSpPr>
        <p:spPr>
          <a:xfrm>
            <a:off x="377200" y="233175"/>
            <a:ext cx="2286900" cy="45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9050" lIns="0" spcFirstLastPara="1" rIns="0" wrap="square" tIns="190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1800">
                <a:solidFill>
                  <a:srgbClr val="0E9C8A"/>
                </a:solidFill>
                <a:latin typeface="Calibri"/>
                <a:ea typeface="Calibri"/>
                <a:cs typeface="Calibri"/>
                <a:sym typeface="Calibri"/>
              </a:rPr>
              <a:t>Monitoring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9" name="Google Shape;2509;p101"/>
          <p:cNvSpPr txBox="1"/>
          <p:nvPr/>
        </p:nvSpPr>
        <p:spPr>
          <a:xfrm>
            <a:off x="377200" y="675550"/>
            <a:ext cx="23910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9050" lIns="0" spcFirstLastPara="1" rIns="0" wrap="square" tIns="190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1100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Quelles métriques, et où les mesurer</a:t>
            </a:r>
            <a:endParaRPr b="1" sz="1100">
              <a:solidFill>
                <a:srgbClr val="9CA3A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0" name="Google Shape;2510;p101"/>
          <p:cNvSpPr txBox="1"/>
          <p:nvPr/>
        </p:nvSpPr>
        <p:spPr>
          <a:xfrm>
            <a:off x="377200" y="4945850"/>
            <a:ext cx="999000" cy="166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700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MVP RAG Puls-Events</a:t>
            </a:r>
            <a:endParaRPr sz="700">
              <a:solidFill>
                <a:srgbClr val="9CA3A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15" name="Shape 25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6" name="Google Shape;2516;p102"/>
          <p:cNvSpPr txBox="1"/>
          <p:nvPr/>
        </p:nvSpPr>
        <p:spPr>
          <a:xfrm>
            <a:off x="377200" y="233175"/>
            <a:ext cx="2286900" cy="45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9050" lIns="0" spcFirstLastPara="1" rIns="0" wrap="square" tIns="190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1800">
                <a:solidFill>
                  <a:srgbClr val="0E9C8A"/>
                </a:solidFill>
                <a:latin typeface="Calibri"/>
                <a:ea typeface="Calibri"/>
                <a:cs typeface="Calibri"/>
                <a:sym typeface="Calibri"/>
              </a:rPr>
              <a:t>Monitoring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7" name="Google Shape;2517;p102"/>
          <p:cNvSpPr txBox="1"/>
          <p:nvPr/>
        </p:nvSpPr>
        <p:spPr>
          <a:xfrm>
            <a:off x="377200" y="675550"/>
            <a:ext cx="23910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9050" lIns="0" spcFirstLastPara="1" rIns="0" wrap="square" tIns="190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1100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Quelles métriques, et où les mesurer</a:t>
            </a:r>
            <a:endParaRPr b="1" sz="1100">
              <a:solidFill>
                <a:srgbClr val="9CA3A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8" name="Google Shape;2518;p102"/>
          <p:cNvSpPr txBox="1"/>
          <p:nvPr/>
        </p:nvSpPr>
        <p:spPr>
          <a:xfrm>
            <a:off x="377200" y="4945850"/>
            <a:ext cx="999000" cy="166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700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MVP RAG Puls-Events</a:t>
            </a:r>
            <a:endParaRPr sz="700">
              <a:solidFill>
                <a:srgbClr val="9CA3A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9" name="Google Shape;2519;p102"/>
          <p:cNvSpPr/>
          <p:nvPr/>
        </p:nvSpPr>
        <p:spPr>
          <a:xfrm>
            <a:off x="381583" y="1028700"/>
            <a:ext cx="1941000" cy="2400300"/>
          </a:xfrm>
          <a:prstGeom prst="roundRect">
            <a:avLst>
              <a:gd fmla="val 6000" name="adj"/>
            </a:avLst>
          </a:prstGeom>
          <a:solidFill>
            <a:srgbClr val="0E9C8A">
              <a:alpha val="7999"/>
            </a:srgbClr>
          </a:solidFill>
          <a:ln cap="flat" cmpd="sng" w="7150">
            <a:solidFill>
              <a:srgbClr val="0E9C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0" name="Google Shape;2520;p102"/>
          <p:cNvSpPr txBox="1"/>
          <p:nvPr/>
        </p:nvSpPr>
        <p:spPr>
          <a:xfrm>
            <a:off x="546180" y="1179576"/>
            <a:ext cx="16323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0" spcFirstLastPara="1" rIns="0" wrap="square" tIns="190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fr" sz="1100" u="none" cap="none" strike="noStrike">
                <a:solidFill>
                  <a:srgbClr val="0E9C8A"/>
                </a:solidFill>
                <a:latin typeface="Cambria"/>
                <a:ea typeface="Cambria"/>
                <a:cs typeface="Cambria"/>
                <a:sym typeface="Cambria"/>
              </a:rPr>
              <a:t>Qualité du RAG</a:t>
            </a:r>
            <a:endParaRPr sz="1100"/>
          </a:p>
        </p:txBody>
      </p:sp>
      <p:sp>
        <p:nvSpPr>
          <p:cNvPr id="2521" name="Google Shape;2521;p102"/>
          <p:cNvSpPr txBox="1"/>
          <p:nvPr/>
        </p:nvSpPr>
        <p:spPr>
          <a:xfrm>
            <a:off x="546180" y="1591056"/>
            <a:ext cx="1632300" cy="3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0" spcFirstLastPara="1" rIns="0" wrap="square" tIns="190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fr" sz="900" u="none" cap="none" strike="noStrike">
                <a:solidFill>
                  <a:srgbClr val="DDDEE6"/>
                </a:solidFill>
                <a:latin typeface="Calibri"/>
                <a:ea typeface="Calibri"/>
                <a:cs typeface="Calibri"/>
                <a:sym typeface="Calibri"/>
              </a:rPr>
              <a:t>Faithfulness</a:t>
            </a:r>
            <a:endParaRPr sz="1100">
              <a:solidFill>
                <a:srgbClr val="DDDEE6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fr" sz="8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LLM-juge, échantillonné</a:t>
            </a:r>
            <a:endParaRPr sz="1100"/>
          </a:p>
        </p:txBody>
      </p:sp>
      <p:sp>
        <p:nvSpPr>
          <p:cNvPr id="2522" name="Google Shape;2522;p102"/>
          <p:cNvSpPr txBox="1"/>
          <p:nvPr/>
        </p:nvSpPr>
        <p:spPr>
          <a:xfrm>
            <a:off x="546180" y="2043684"/>
            <a:ext cx="1632300" cy="3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0" spcFirstLastPara="1" rIns="0" wrap="square" tIns="190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fr" sz="900" u="none" cap="none" strike="noStrike">
                <a:solidFill>
                  <a:srgbClr val="DDDEE6"/>
                </a:solidFill>
                <a:latin typeface="Calibri"/>
                <a:ea typeface="Calibri"/>
                <a:cs typeface="Calibri"/>
                <a:sym typeface="Calibri"/>
              </a:rPr>
              <a:t>Answer relevancy</a:t>
            </a:r>
            <a:endParaRPr sz="1100">
              <a:solidFill>
                <a:srgbClr val="DDDEE6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fr" sz="8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pertinence réponse</a:t>
            </a:r>
            <a:endParaRPr sz="1100"/>
          </a:p>
        </p:txBody>
      </p:sp>
      <p:sp>
        <p:nvSpPr>
          <p:cNvPr id="2523" name="Google Shape;2523;p102"/>
          <p:cNvSpPr txBox="1"/>
          <p:nvPr/>
        </p:nvSpPr>
        <p:spPr>
          <a:xfrm>
            <a:off x="546180" y="2496312"/>
            <a:ext cx="1632300" cy="3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0" spcFirstLastPara="1" rIns="0" wrap="square" tIns="190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fr" sz="900" u="none" cap="none" strike="noStrike">
                <a:solidFill>
                  <a:srgbClr val="DDDEE6"/>
                </a:solidFill>
                <a:latin typeface="Calibri"/>
                <a:ea typeface="Calibri"/>
                <a:cs typeface="Calibri"/>
                <a:sym typeface="Calibri"/>
              </a:rPr>
              <a:t>Recall@k / MRR</a:t>
            </a:r>
            <a:endParaRPr sz="1100">
              <a:solidFill>
                <a:srgbClr val="DDDEE6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fr" sz="8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offline, déjà outillé</a:t>
            </a:r>
            <a:endParaRPr sz="1100"/>
          </a:p>
        </p:txBody>
      </p:sp>
      <p:sp>
        <p:nvSpPr>
          <p:cNvPr id="2524" name="Google Shape;2524;p102"/>
          <p:cNvSpPr txBox="1"/>
          <p:nvPr/>
        </p:nvSpPr>
        <p:spPr>
          <a:xfrm>
            <a:off x="546180" y="2948940"/>
            <a:ext cx="1632300" cy="3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0" spcFirstLastPara="1" rIns="0" wrap="square" tIns="190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fr" sz="900" u="none" cap="none" strike="noStrike">
                <a:solidFill>
                  <a:srgbClr val="DDDEE6"/>
                </a:solidFill>
                <a:latin typeface="Calibri"/>
                <a:ea typeface="Calibri"/>
                <a:cs typeface="Calibri"/>
                <a:sym typeface="Calibri"/>
              </a:rPr>
              <a:t>Taux de « je ne sais pas »</a:t>
            </a:r>
            <a:endParaRPr sz="1100">
              <a:solidFill>
                <a:srgbClr val="DDDEE6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fr" sz="8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comptage simple</a:t>
            </a:r>
            <a:endParaRPr sz="1100"/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29" name="Shape 25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0" name="Google Shape;2530;p103"/>
          <p:cNvSpPr txBox="1"/>
          <p:nvPr/>
        </p:nvSpPr>
        <p:spPr>
          <a:xfrm>
            <a:off x="377200" y="233175"/>
            <a:ext cx="2286900" cy="45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9050" lIns="0" spcFirstLastPara="1" rIns="0" wrap="square" tIns="190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1800">
                <a:solidFill>
                  <a:srgbClr val="0E9C8A"/>
                </a:solidFill>
                <a:latin typeface="Calibri"/>
                <a:ea typeface="Calibri"/>
                <a:cs typeface="Calibri"/>
                <a:sym typeface="Calibri"/>
              </a:rPr>
              <a:t>Monitoring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1" name="Google Shape;2531;p103"/>
          <p:cNvSpPr txBox="1"/>
          <p:nvPr/>
        </p:nvSpPr>
        <p:spPr>
          <a:xfrm>
            <a:off x="377200" y="675550"/>
            <a:ext cx="23910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9050" lIns="0" spcFirstLastPara="1" rIns="0" wrap="square" tIns="190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1100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Quelles métriques, et où les mesurer</a:t>
            </a:r>
            <a:endParaRPr b="1" sz="1100">
              <a:solidFill>
                <a:srgbClr val="9CA3A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2" name="Google Shape;2532;p103"/>
          <p:cNvSpPr txBox="1"/>
          <p:nvPr/>
        </p:nvSpPr>
        <p:spPr>
          <a:xfrm>
            <a:off x="377200" y="4945850"/>
            <a:ext cx="999000" cy="166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700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MVP RAG Puls-Events</a:t>
            </a:r>
            <a:endParaRPr sz="700">
              <a:solidFill>
                <a:srgbClr val="9CA3A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3" name="Google Shape;2533;p103"/>
          <p:cNvSpPr/>
          <p:nvPr/>
        </p:nvSpPr>
        <p:spPr>
          <a:xfrm>
            <a:off x="381583" y="1028700"/>
            <a:ext cx="1941000" cy="2400300"/>
          </a:xfrm>
          <a:prstGeom prst="roundRect">
            <a:avLst>
              <a:gd fmla="val 6000" name="adj"/>
            </a:avLst>
          </a:prstGeom>
          <a:solidFill>
            <a:srgbClr val="0E9C8A">
              <a:alpha val="7999"/>
            </a:srgbClr>
          </a:solidFill>
          <a:ln cap="flat" cmpd="sng" w="7150">
            <a:solidFill>
              <a:srgbClr val="0E9C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4" name="Google Shape;2534;p103"/>
          <p:cNvSpPr txBox="1"/>
          <p:nvPr/>
        </p:nvSpPr>
        <p:spPr>
          <a:xfrm>
            <a:off x="546180" y="1179576"/>
            <a:ext cx="16323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0" spcFirstLastPara="1" rIns="0" wrap="square" tIns="190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fr" sz="1100" u="none" cap="none" strike="noStrike">
                <a:solidFill>
                  <a:srgbClr val="0E9C8A"/>
                </a:solidFill>
                <a:latin typeface="Cambria"/>
                <a:ea typeface="Cambria"/>
                <a:cs typeface="Cambria"/>
                <a:sym typeface="Cambria"/>
              </a:rPr>
              <a:t>Qualité du RAG</a:t>
            </a:r>
            <a:endParaRPr sz="1100"/>
          </a:p>
        </p:txBody>
      </p:sp>
      <p:sp>
        <p:nvSpPr>
          <p:cNvPr id="2535" name="Google Shape;2535;p103"/>
          <p:cNvSpPr txBox="1"/>
          <p:nvPr/>
        </p:nvSpPr>
        <p:spPr>
          <a:xfrm>
            <a:off x="546180" y="1591056"/>
            <a:ext cx="1632300" cy="3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0" spcFirstLastPara="1" rIns="0" wrap="square" tIns="190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fr" sz="900" u="none" cap="none" strike="noStrike">
                <a:solidFill>
                  <a:srgbClr val="DDDEE6"/>
                </a:solidFill>
                <a:latin typeface="Calibri"/>
                <a:ea typeface="Calibri"/>
                <a:cs typeface="Calibri"/>
                <a:sym typeface="Calibri"/>
              </a:rPr>
              <a:t>Faithfulness</a:t>
            </a:r>
            <a:endParaRPr sz="1100">
              <a:solidFill>
                <a:srgbClr val="DDDEE6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fr" sz="8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LLM-juge, échantillonné</a:t>
            </a:r>
            <a:endParaRPr sz="1100"/>
          </a:p>
        </p:txBody>
      </p:sp>
      <p:sp>
        <p:nvSpPr>
          <p:cNvPr id="2536" name="Google Shape;2536;p103"/>
          <p:cNvSpPr txBox="1"/>
          <p:nvPr/>
        </p:nvSpPr>
        <p:spPr>
          <a:xfrm>
            <a:off x="546180" y="2043684"/>
            <a:ext cx="1632300" cy="3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0" spcFirstLastPara="1" rIns="0" wrap="square" tIns="190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fr" sz="900" u="none" cap="none" strike="noStrike">
                <a:solidFill>
                  <a:srgbClr val="DDDEE6"/>
                </a:solidFill>
                <a:latin typeface="Calibri"/>
                <a:ea typeface="Calibri"/>
                <a:cs typeface="Calibri"/>
                <a:sym typeface="Calibri"/>
              </a:rPr>
              <a:t>Answer relevancy</a:t>
            </a:r>
            <a:endParaRPr sz="1100">
              <a:solidFill>
                <a:srgbClr val="DDDEE6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fr" sz="8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pertinence réponse</a:t>
            </a:r>
            <a:endParaRPr sz="1100"/>
          </a:p>
        </p:txBody>
      </p:sp>
      <p:sp>
        <p:nvSpPr>
          <p:cNvPr id="2537" name="Google Shape;2537;p103"/>
          <p:cNvSpPr txBox="1"/>
          <p:nvPr/>
        </p:nvSpPr>
        <p:spPr>
          <a:xfrm>
            <a:off x="546180" y="2496312"/>
            <a:ext cx="1632300" cy="3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0" spcFirstLastPara="1" rIns="0" wrap="square" tIns="190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fr" sz="900" u="none" cap="none" strike="noStrike">
                <a:solidFill>
                  <a:srgbClr val="DDDEE6"/>
                </a:solidFill>
                <a:latin typeface="Calibri"/>
                <a:ea typeface="Calibri"/>
                <a:cs typeface="Calibri"/>
                <a:sym typeface="Calibri"/>
              </a:rPr>
              <a:t>Recall@k / MRR</a:t>
            </a:r>
            <a:endParaRPr sz="1100">
              <a:solidFill>
                <a:srgbClr val="DDDEE6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fr" sz="8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offline, déjà outillé</a:t>
            </a:r>
            <a:endParaRPr sz="1100"/>
          </a:p>
        </p:txBody>
      </p:sp>
      <p:sp>
        <p:nvSpPr>
          <p:cNvPr id="2538" name="Google Shape;2538;p103"/>
          <p:cNvSpPr txBox="1"/>
          <p:nvPr/>
        </p:nvSpPr>
        <p:spPr>
          <a:xfrm>
            <a:off x="546180" y="2948940"/>
            <a:ext cx="1632300" cy="3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0" spcFirstLastPara="1" rIns="0" wrap="square" tIns="190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fr" sz="900" u="none" cap="none" strike="noStrike">
                <a:solidFill>
                  <a:srgbClr val="DDDEE6"/>
                </a:solidFill>
                <a:latin typeface="Calibri"/>
                <a:ea typeface="Calibri"/>
                <a:cs typeface="Calibri"/>
                <a:sym typeface="Calibri"/>
              </a:rPr>
              <a:t>Taux de « je ne sais pas »</a:t>
            </a:r>
            <a:endParaRPr sz="1100">
              <a:solidFill>
                <a:srgbClr val="DDDEE6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fr" sz="8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comptage simple</a:t>
            </a:r>
            <a:endParaRPr sz="1100"/>
          </a:p>
        </p:txBody>
      </p:sp>
      <p:sp>
        <p:nvSpPr>
          <p:cNvPr id="2539" name="Google Shape;2539;p103"/>
          <p:cNvSpPr/>
          <p:nvPr/>
        </p:nvSpPr>
        <p:spPr>
          <a:xfrm>
            <a:off x="2528194" y="1028700"/>
            <a:ext cx="1941000" cy="2400300"/>
          </a:xfrm>
          <a:prstGeom prst="roundRect">
            <a:avLst>
              <a:gd fmla="val 6000" name="adj"/>
            </a:avLst>
          </a:prstGeom>
          <a:solidFill>
            <a:srgbClr val="0E9C8A">
              <a:alpha val="7999"/>
            </a:srgbClr>
          </a:solidFill>
          <a:ln cap="flat" cmpd="sng" w="7150">
            <a:solidFill>
              <a:srgbClr val="0E9C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0" name="Google Shape;2540;p103"/>
          <p:cNvSpPr txBox="1"/>
          <p:nvPr/>
        </p:nvSpPr>
        <p:spPr>
          <a:xfrm>
            <a:off x="2692791" y="1179576"/>
            <a:ext cx="16323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0" spcFirstLastPara="1" rIns="0" wrap="square" tIns="190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fr" sz="1100" u="none" cap="none" strike="noStrike">
                <a:solidFill>
                  <a:srgbClr val="0E9C8A"/>
                </a:solidFill>
                <a:latin typeface="Cambria"/>
                <a:ea typeface="Cambria"/>
                <a:cs typeface="Cambria"/>
                <a:sym typeface="Cambria"/>
              </a:rPr>
              <a:t>Coût</a:t>
            </a:r>
            <a:endParaRPr sz="1100"/>
          </a:p>
        </p:txBody>
      </p:sp>
      <p:sp>
        <p:nvSpPr>
          <p:cNvPr id="2541" name="Google Shape;2541;p103"/>
          <p:cNvSpPr txBox="1"/>
          <p:nvPr/>
        </p:nvSpPr>
        <p:spPr>
          <a:xfrm>
            <a:off x="2692791" y="1591056"/>
            <a:ext cx="1632300" cy="3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0" spcFirstLastPara="1" rIns="0" wrap="square" tIns="190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fr" sz="900" u="none" cap="none" strike="noStrike">
                <a:solidFill>
                  <a:srgbClr val="DDDEE6"/>
                </a:solidFill>
                <a:latin typeface="Calibri"/>
                <a:ea typeface="Calibri"/>
                <a:cs typeface="Calibri"/>
                <a:sym typeface="Calibri"/>
              </a:rPr>
              <a:t>€ par requête</a:t>
            </a:r>
            <a:endParaRPr sz="1100">
              <a:solidFill>
                <a:srgbClr val="DDDEE6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fr" sz="8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le chiffre clé</a:t>
            </a:r>
            <a:endParaRPr sz="1100"/>
          </a:p>
        </p:txBody>
      </p:sp>
      <p:sp>
        <p:nvSpPr>
          <p:cNvPr id="2542" name="Google Shape;2542;p103"/>
          <p:cNvSpPr txBox="1"/>
          <p:nvPr/>
        </p:nvSpPr>
        <p:spPr>
          <a:xfrm>
            <a:off x="2692791" y="2043684"/>
            <a:ext cx="1632300" cy="3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0" spcFirstLastPara="1" rIns="0" wrap="square" tIns="190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fr" sz="900" u="none" cap="none" strike="noStrike">
                <a:solidFill>
                  <a:srgbClr val="DDDEE6"/>
                </a:solidFill>
                <a:latin typeface="Calibri"/>
                <a:ea typeface="Calibri"/>
                <a:cs typeface="Calibri"/>
                <a:sym typeface="Calibri"/>
              </a:rPr>
              <a:t>Tokens in / out</a:t>
            </a:r>
            <a:endParaRPr sz="1100">
              <a:solidFill>
                <a:srgbClr val="DDDEE6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fr" sz="8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décompose le coût</a:t>
            </a:r>
            <a:endParaRPr sz="1100"/>
          </a:p>
        </p:txBody>
      </p:sp>
      <p:sp>
        <p:nvSpPr>
          <p:cNvPr id="2543" name="Google Shape;2543;p103"/>
          <p:cNvSpPr txBox="1"/>
          <p:nvPr/>
        </p:nvSpPr>
        <p:spPr>
          <a:xfrm>
            <a:off x="2692791" y="2496312"/>
            <a:ext cx="1632300" cy="3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0" spcFirstLastPara="1" rIns="0" wrap="square" tIns="190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fr" sz="900" u="none" cap="none" strike="noStrike">
                <a:solidFill>
                  <a:srgbClr val="DDDEE6"/>
                </a:solidFill>
                <a:latin typeface="Calibri"/>
                <a:ea typeface="Calibri"/>
                <a:cs typeface="Calibri"/>
                <a:sym typeface="Calibri"/>
              </a:rPr>
              <a:t>Coût / jour &amp; / user</a:t>
            </a:r>
            <a:endParaRPr sz="1100">
              <a:solidFill>
                <a:srgbClr val="DDDEE6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fr" sz="8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projection à l'échelle</a:t>
            </a:r>
            <a:endParaRPr sz="1100"/>
          </a:p>
        </p:txBody>
      </p:sp>
      <p:sp>
        <p:nvSpPr>
          <p:cNvPr id="2544" name="Google Shape;2544;p103"/>
          <p:cNvSpPr txBox="1"/>
          <p:nvPr/>
        </p:nvSpPr>
        <p:spPr>
          <a:xfrm>
            <a:off x="2692791" y="2948940"/>
            <a:ext cx="1632300" cy="3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0" spcFirstLastPara="1" rIns="0" wrap="square" tIns="190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fr" sz="900" u="none" cap="none" strike="noStrike">
                <a:solidFill>
                  <a:srgbClr val="DDDEE6"/>
                </a:solidFill>
                <a:latin typeface="Calibri"/>
                <a:ea typeface="Calibri"/>
                <a:cs typeface="Calibri"/>
                <a:sym typeface="Calibri"/>
              </a:rPr>
              <a:t>LLM / embed / web</a:t>
            </a:r>
            <a:endParaRPr sz="1100">
              <a:solidFill>
                <a:srgbClr val="DDDEE6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fr" sz="8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répartition</a:t>
            </a:r>
            <a:endParaRPr sz="1100"/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49" name="Shape 25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0" name="Google Shape;2550;p104"/>
          <p:cNvSpPr txBox="1"/>
          <p:nvPr/>
        </p:nvSpPr>
        <p:spPr>
          <a:xfrm>
            <a:off x="377200" y="233175"/>
            <a:ext cx="2286900" cy="45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9050" lIns="0" spcFirstLastPara="1" rIns="0" wrap="square" tIns="190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1800">
                <a:solidFill>
                  <a:srgbClr val="0E9C8A"/>
                </a:solidFill>
                <a:latin typeface="Calibri"/>
                <a:ea typeface="Calibri"/>
                <a:cs typeface="Calibri"/>
                <a:sym typeface="Calibri"/>
              </a:rPr>
              <a:t>Monitoring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1" name="Google Shape;2551;p104"/>
          <p:cNvSpPr txBox="1"/>
          <p:nvPr/>
        </p:nvSpPr>
        <p:spPr>
          <a:xfrm>
            <a:off x="377200" y="675550"/>
            <a:ext cx="23910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9050" lIns="0" spcFirstLastPara="1" rIns="0" wrap="square" tIns="190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1100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Quelles métriques, et où les mesurer</a:t>
            </a:r>
            <a:endParaRPr b="1" sz="1100">
              <a:solidFill>
                <a:srgbClr val="9CA3A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2" name="Google Shape;2552;p104"/>
          <p:cNvSpPr txBox="1"/>
          <p:nvPr/>
        </p:nvSpPr>
        <p:spPr>
          <a:xfrm>
            <a:off x="377200" y="4945850"/>
            <a:ext cx="999000" cy="166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700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MVP RAG Puls-Events</a:t>
            </a:r>
            <a:endParaRPr sz="700">
              <a:solidFill>
                <a:srgbClr val="9CA3A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3" name="Google Shape;2553;p104"/>
          <p:cNvSpPr/>
          <p:nvPr/>
        </p:nvSpPr>
        <p:spPr>
          <a:xfrm>
            <a:off x="381583" y="1028700"/>
            <a:ext cx="1941000" cy="2400300"/>
          </a:xfrm>
          <a:prstGeom prst="roundRect">
            <a:avLst>
              <a:gd fmla="val 6000" name="adj"/>
            </a:avLst>
          </a:prstGeom>
          <a:solidFill>
            <a:srgbClr val="0E9C8A">
              <a:alpha val="7999"/>
            </a:srgbClr>
          </a:solidFill>
          <a:ln cap="flat" cmpd="sng" w="7150">
            <a:solidFill>
              <a:srgbClr val="0E9C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4" name="Google Shape;2554;p104"/>
          <p:cNvSpPr txBox="1"/>
          <p:nvPr/>
        </p:nvSpPr>
        <p:spPr>
          <a:xfrm>
            <a:off x="546180" y="1179576"/>
            <a:ext cx="16323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0" spcFirstLastPara="1" rIns="0" wrap="square" tIns="190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fr" sz="1100" u="none" cap="none" strike="noStrike">
                <a:solidFill>
                  <a:srgbClr val="0E9C8A"/>
                </a:solidFill>
                <a:latin typeface="Cambria"/>
                <a:ea typeface="Cambria"/>
                <a:cs typeface="Cambria"/>
                <a:sym typeface="Cambria"/>
              </a:rPr>
              <a:t>Qualité du RAG</a:t>
            </a:r>
            <a:endParaRPr sz="1100"/>
          </a:p>
        </p:txBody>
      </p:sp>
      <p:sp>
        <p:nvSpPr>
          <p:cNvPr id="2555" name="Google Shape;2555;p104"/>
          <p:cNvSpPr txBox="1"/>
          <p:nvPr/>
        </p:nvSpPr>
        <p:spPr>
          <a:xfrm>
            <a:off x="546180" y="1591056"/>
            <a:ext cx="1632300" cy="3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0" spcFirstLastPara="1" rIns="0" wrap="square" tIns="190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fr" sz="900" u="none" cap="none" strike="noStrike">
                <a:solidFill>
                  <a:srgbClr val="DDDEE6"/>
                </a:solidFill>
                <a:latin typeface="Calibri"/>
                <a:ea typeface="Calibri"/>
                <a:cs typeface="Calibri"/>
                <a:sym typeface="Calibri"/>
              </a:rPr>
              <a:t>Faithfulness</a:t>
            </a:r>
            <a:endParaRPr sz="1100">
              <a:solidFill>
                <a:srgbClr val="DDDEE6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fr" sz="8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LLM-juge, échantillonné</a:t>
            </a:r>
            <a:endParaRPr sz="1100"/>
          </a:p>
        </p:txBody>
      </p:sp>
      <p:sp>
        <p:nvSpPr>
          <p:cNvPr id="2556" name="Google Shape;2556;p104"/>
          <p:cNvSpPr txBox="1"/>
          <p:nvPr/>
        </p:nvSpPr>
        <p:spPr>
          <a:xfrm>
            <a:off x="546180" y="2043684"/>
            <a:ext cx="1632300" cy="3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0" spcFirstLastPara="1" rIns="0" wrap="square" tIns="190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fr" sz="900" u="none" cap="none" strike="noStrike">
                <a:solidFill>
                  <a:srgbClr val="DDDEE6"/>
                </a:solidFill>
                <a:latin typeface="Calibri"/>
                <a:ea typeface="Calibri"/>
                <a:cs typeface="Calibri"/>
                <a:sym typeface="Calibri"/>
              </a:rPr>
              <a:t>Answer relevancy</a:t>
            </a:r>
            <a:endParaRPr sz="1100">
              <a:solidFill>
                <a:srgbClr val="DDDEE6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fr" sz="8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pertinence réponse</a:t>
            </a:r>
            <a:endParaRPr sz="1100"/>
          </a:p>
        </p:txBody>
      </p:sp>
      <p:sp>
        <p:nvSpPr>
          <p:cNvPr id="2557" name="Google Shape;2557;p104"/>
          <p:cNvSpPr txBox="1"/>
          <p:nvPr/>
        </p:nvSpPr>
        <p:spPr>
          <a:xfrm>
            <a:off x="546180" y="2496312"/>
            <a:ext cx="1632300" cy="3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0" spcFirstLastPara="1" rIns="0" wrap="square" tIns="190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fr" sz="900" u="none" cap="none" strike="noStrike">
                <a:solidFill>
                  <a:srgbClr val="DDDEE6"/>
                </a:solidFill>
                <a:latin typeface="Calibri"/>
                <a:ea typeface="Calibri"/>
                <a:cs typeface="Calibri"/>
                <a:sym typeface="Calibri"/>
              </a:rPr>
              <a:t>Recall@k / MRR</a:t>
            </a:r>
            <a:endParaRPr sz="1100">
              <a:solidFill>
                <a:srgbClr val="DDDEE6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fr" sz="8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offline, déjà outillé</a:t>
            </a:r>
            <a:endParaRPr sz="1100"/>
          </a:p>
        </p:txBody>
      </p:sp>
      <p:sp>
        <p:nvSpPr>
          <p:cNvPr id="2558" name="Google Shape;2558;p104"/>
          <p:cNvSpPr txBox="1"/>
          <p:nvPr/>
        </p:nvSpPr>
        <p:spPr>
          <a:xfrm>
            <a:off x="546180" y="2948940"/>
            <a:ext cx="1632300" cy="3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0" spcFirstLastPara="1" rIns="0" wrap="square" tIns="190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fr" sz="900" u="none" cap="none" strike="noStrike">
                <a:solidFill>
                  <a:srgbClr val="DDDEE6"/>
                </a:solidFill>
                <a:latin typeface="Calibri"/>
                <a:ea typeface="Calibri"/>
                <a:cs typeface="Calibri"/>
                <a:sym typeface="Calibri"/>
              </a:rPr>
              <a:t>Taux de « je ne sais pas »</a:t>
            </a:r>
            <a:endParaRPr sz="1100">
              <a:solidFill>
                <a:srgbClr val="DDDEE6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fr" sz="8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comptage simple</a:t>
            </a:r>
            <a:endParaRPr sz="1100"/>
          </a:p>
        </p:txBody>
      </p:sp>
      <p:sp>
        <p:nvSpPr>
          <p:cNvPr id="2559" name="Google Shape;2559;p104"/>
          <p:cNvSpPr/>
          <p:nvPr/>
        </p:nvSpPr>
        <p:spPr>
          <a:xfrm>
            <a:off x="2528194" y="1028700"/>
            <a:ext cx="1941000" cy="2400300"/>
          </a:xfrm>
          <a:prstGeom prst="roundRect">
            <a:avLst>
              <a:gd fmla="val 6000" name="adj"/>
            </a:avLst>
          </a:prstGeom>
          <a:solidFill>
            <a:srgbClr val="0E9C8A">
              <a:alpha val="7999"/>
            </a:srgbClr>
          </a:solidFill>
          <a:ln cap="flat" cmpd="sng" w="7150">
            <a:solidFill>
              <a:srgbClr val="0E9C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0" name="Google Shape;2560;p104"/>
          <p:cNvSpPr txBox="1"/>
          <p:nvPr/>
        </p:nvSpPr>
        <p:spPr>
          <a:xfrm>
            <a:off x="2692791" y="1179576"/>
            <a:ext cx="16323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0" spcFirstLastPara="1" rIns="0" wrap="square" tIns="190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fr" sz="1100" u="none" cap="none" strike="noStrike">
                <a:solidFill>
                  <a:srgbClr val="0E9C8A"/>
                </a:solidFill>
                <a:latin typeface="Cambria"/>
                <a:ea typeface="Cambria"/>
                <a:cs typeface="Cambria"/>
                <a:sym typeface="Cambria"/>
              </a:rPr>
              <a:t>Coût</a:t>
            </a:r>
            <a:endParaRPr sz="1100"/>
          </a:p>
        </p:txBody>
      </p:sp>
      <p:sp>
        <p:nvSpPr>
          <p:cNvPr id="2561" name="Google Shape;2561;p104"/>
          <p:cNvSpPr txBox="1"/>
          <p:nvPr/>
        </p:nvSpPr>
        <p:spPr>
          <a:xfrm>
            <a:off x="2692791" y="1591056"/>
            <a:ext cx="1632300" cy="3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0" spcFirstLastPara="1" rIns="0" wrap="square" tIns="190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fr" sz="900" u="none" cap="none" strike="noStrike">
                <a:solidFill>
                  <a:srgbClr val="DDDEE6"/>
                </a:solidFill>
                <a:latin typeface="Calibri"/>
                <a:ea typeface="Calibri"/>
                <a:cs typeface="Calibri"/>
                <a:sym typeface="Calibri"/>
              </a:rPr>
              <a:t>€ par requête</a:t>
            </a:r>
            <a:endParaRPr sz="1100">
              <a:solidFill>
                <a:srgbClr val="DDDEE6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fr" sz="8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le chiffre clé</a:t>
            </a:r>
            <a:endParaRPr sz="1100"/>
          </a:p>
        </p:txBody>
      </p:sp>
      <p:sp>
        <p:nvSpPr>
          <p:cNvPr id="2562" name="Google Shape;2562;p104"/>
          <p:cNvSpPr txBox="1"/>
          <p:nvPr/>
        </p:nvSpPr>
        <p:spPr>
          <a:xfrm>
            <a:off x="2692791" y="2043684"/>
            <a:ext cx="1632300" cy="3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0" spcFirstLastPara="1" rIns="0" wrap="square" tIns="190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fr" sz="900" u="none" cap="none" strike="noStrike">
                <a:solidFill>
                  <a:srgbClr val="DDDEE6"/>
                </a:solidFill>
                <a:latin typeface="Calibri"/>
                <a:ea typeface="Calibri"/>
                <a:cs typeface="Calibri"/>
                <a:sym typeface="Calibri"/>
              </a:rPr>
              <a:t>Tokens in / out</a:t>
            </a:r>
            <a:endParaRPr sz="1100">
              <a:solidFill>
                <a:srgbClr val="DDDEE6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fr" sz="8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décompose le coût</a:t>
            </a:r>
            <a:endParaRPr sz="1100"/>
          </a:p>
        </p:txBody>
      </p:sp>
      <p:sp>
        <p:nvSpPr>
          <p:cNvPr id="2563" name="Google Shape;2563;p104"/>
          <p:cNvSpPr txBox="1"/>
          <p:nvPr/>
        </p:nvSpPr>
        <p:spPr>
          <a:xfrm>
            <a:off x="2692791" y="2496312"/>
            <a:ext cx="1632300" cy="3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0" spcFirstLastPara="1" rIns="0" wrap="square" tIns="190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fr" sz="900" u="none" cap="none" strike="noStrike">
                <a:solidFill>
                  <a:srgbClr val="DDDEE6"/>
                </a:solidFill>
                <a:latin typeface="Calibri"/>
                <a:ea typeface="Calibri"/>
                <a:cs typeface="Calibri"/>
                <a:sym typeface="Calibri"/>
              </a:rPr>
              <a:t>Coût / jour &amp; / user</a:t>
            </a:r>
            <a:endParaRPr sz="1100">
              <a:solidFill>
                <a:srgbClr val="DDDEE6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fr" sz="8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projection à l'échelle</a:t>
            </a:r>
            <a:endParaRPr sz="1100"/>
          </a:p>
        </p:txBody>
      </p:sp>
      <p:sp>
        <p:nvSpPr>
          <p:cNvPr id="2564" name="Google Shape;2564;p104"/>
          <p:cNvSpPr txBox="1"/>
          <p:nvPr/>
        </p:nvSpPr>
        <p:spPr>
          <a:xfrm>
            <a:off x="2692791" y="2948940"/>
            <a:ext cx="1632300" cy="3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0" spcFirstLastPara="1" rIns="0" wrap="square" tIns="190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fr" sz="900" u="none" cap="none" strike="noStrike">
                <a:solidFill>
                  <a:srgbClr val="DDDEE6"/>
                </a:solidFill>
                <a:latin typeface="Calibri"/>
                <a:ea typeface="Calibri"/>
                <a:cs typeface="Calibri"/>
                <a:sym typeface="Calibri"/>
              </a:rPr>
              <a:t>LLM / embed / web</a:t>
            </a:r>
            <a:endParaRPr sz="1100">
              <a:solidFill>
                <a:srgbClr val="DDDEE6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fr" sz="8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répartition</a:t>
            </a:r>
            <a:endParaRPr sz="1100"/>
          </a:p>
        </p:txBody>
      </p:sp>
      <p:sp>
        <p:nvSpPr>
          <p:cNvPr id="2565" name="Google Shape;2565;p104"/>
          <p:cNvSpPr/>
          <p:nvPr/>
        </p:nvSpPr>
        <p:spPr>
          <a:xfrm>
            <a:off x="4674806" y="1028700"/>
            <a:ext cx="1941000" cy="2400300"/>
          </a:xfrm>
          <a:prstGeom prst="roundRect">
            <a:avLst>
              <a:gd fmla="val 6000" name="adj"/>
            </a:avLst>
          </a:prstGeom>
          <a:solidFill>
            <a:srgbClr val="0E9C8A">
              <a:alpha val="7999"/>
            </a:srgbClr>
          </a:solidFill>
          <a:ln cap="flat" cmpd="sng" w="7150">
            <a:solidFill>
              <a:srgbClr val="0E9C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6" name="Google Shape;2566;p104"/>
          <p:cNvSpPr txBox="1"/>
          <p:nvPr/>
        </p:nvSpPr>
        <p:spPr>
          <a:xfrm>
            <a:off x="4839402" y="1179576"/>
            <a:ext cx="16323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0" spcFirstLastPara="1" rIns="0" wrap="square" tIns="190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fr" sz="1100" u="none" cap="none" strike="noStrike">
                <a:solidFill>
                  <a:srgbClr val="0E9C8A"/>
                </a:solidFill>
                <a:latin typeface="Cambria"/>
                <a:ea typeface="Cambria"/>
                <a:cs typeface="Cambria"/>
                <a:sym typeface="Cambria"/>
              </a:rPr>
              <a:t>Satisfaction</a:t>
            </a:r>
            <a:endParaRPr sz="1100"/>
          </a:p>
        </p:txBody>
      </p:sp>
      <p:sp>
        <p:nvSpPr>
          <p:cNvPr id="2567" name="Google Shape;2567;p104"/>
          <p:cNvSpPr txBox="1"/>
          <p:nvPr/>
        </p:nvSpPr>
        <p:spPr>
          <a:xfrm>
            <a:off x="4839402" y="1591056"/>
            <a:ext cx="1632300" cy="3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0" spcFirstLastPara="1" rIns="0" wrap="square" tIns="190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fr" sz="900" u="none" cap="none" strike="noStrike">
                <a:solidFill>
                  <a:srgbClr val="DDDEE6"/>
                </a:solidFill>
                <a:latin typeface="Calibri"/>
                <a:ea typeface="Calibri"/>
                <a:cs typeface="Calibri"/>
                <a:sym typeface="Calibri"/>
              </a:rPr>
              <a:t>Feedback + / −</a:t>
            </a:r>
            <a:endParaRPr sz="1100">
              <a:solidFill>
                <a:srgbClr val="DDDEE6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fr" sz="8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explicite (pouce)</a:t>
            </a:r>
            <a:endParaRPr sz="1100"/>
          </a:p>
        </p:txBody>
      </p:sp>
      <p:sp>
        <p:nvSpPr>
          <p:cNvPr id="2568" name="Google Shape;2568;p104"/>
          <p:cNvSpPr txBox="1"/>
          <p:nvPr/>
        </p:nvSpPr>
        <p:spPr>
          <a:xfrm>
            <a:off x="4839402" y="2043684"/>
            <a:ext cx="1632300" cy="3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0" spcFirstLastPara="1" rIns="0" wrap="square" tIns="190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fr" sz="900" u="none" cap="none" strike="noStrike">
                <a:solidFill>
                  <a:srgbClr val="DDDEE6"/>
                </a:solidFill>
                <a:latin typeface="Calibri"/>
                <a:ea typeface="Calibri"/>
                <a:cs typeface="Calibri"/>
                <a:sym typeface="Calibri"/>
              </a:rPr>
              <a:t>Clic sur sources</a:t>
            </a:r>
            <a:endParaRPr sz="1100">
              <a:solidFill>
                <a:srgbClr val="DDDEE6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fr" sz="8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confiance</a:t>
            </a:r>
            <a:endParaRPr sz="1100"/>
          </a:p>
        </p:txBody>
      </p:sp>
      <p:sp>
        <p:nvSpPr>
          <p:cNvPr id="2569" name="Google Shape;2569;p104"/>
          <p:cNvSpPr txBox="1"/>
          <p:nvPr/>
        </p:nvSpPr>
        <p:spPr>
          <a:xfrm>
            <a:off x="4839402" y="2496312"/>
            <a:ext cx="1632300" cy="3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0" spcFirstLastPara="1" rIns="0" wrap="square" tIns="190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fr" sz="900" u="none" cap="none" strike="noStrike">
                <a:solidFill>
                  <a:srgbClr val="DDDEE6"/>
                </a:solidFill>
                <a:latin typeface="Calibri"/>
                <a:ea typeface="Calibri"/>
                <a:cs typeface="Calibri"/>
                <a:sym typeface="Calibri"/>
              </a:rPr>
              <a:t>Reformulations</a:t>
            </a:r>
            <a:endParaRPr sz="1100">
              <a:solidFill>
                <a:srgbClr val="DDDEE6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fr" sz="8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signal implicite</a:t>
            </a:r>
            <a:endParaRPr sz="1100"/>
          </a:p>
        </p:txBody>
      </p:sp>
      <p:sp>
        <p:nvSpPr>
          <p:cNvPr id="2570" name="Google Shape;2570;p104"/>
          <p:cNvSpPr txBox="1"/>
          <p:nvPr/>
        </p:nvSpPr>
        <p:spPr>
          <a:xfrm>
            <a:off x="4839402" y="2948940"/>
            <a:ext cx="1632300" cy="3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0" spcFirstLastPara="1" rIns="0" wrap="square" tIns="190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fr" sz="900" u="none" cap="none" strike="noStrike">
                <a:solidFill>
                  <a:srgbClr val="DDDEE6"/>
                </a:solidFill>
                <a:latin typeface="Calibri"/>
                <a:ea typeface="Calibri"/>
                <a:cs typeface="Calibri"/>
                <a:sym typeface="Calibri"/>
              </a:rPr>
              <a:t>Abandon / durée</a:t>
            </a:r>
            <a:endParaRPr sz="1100">
              <a:solidFill>
                <a:srgbClr val="DDDEE6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fr" sz="8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engagement</a:t>
            </a:r>
            <a:endParaRPr sz="1100"/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75" name="Shape 25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6" name="Google Shape;2576;p105"/>
          <p:cNvSpPr txBox="1"/>
          <p:nvPr/>
        </p:nvSpPr>
        <p:spPr>
          <a:xfrm>
            <a:off x="377200" y="233175"/>
            <a:ext cx="2286900" cy="45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9050" lIns="0" spcFirstLastPara="1" rIns="0" wrap="square" tIns="190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1800">
                <a:solidFill>
                  <a:srgbClr val="0E9C8A"/>
                </a:solidFill>
                <a:latin typeface="Calibri"/>
                <a:ea typeface="Calibri"/>
                <a:cs typeface="Calibri"/>
                <a:sym typeface="Calibri"/>
              </a:rPr>
              <a:t>Monitoring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7" name="Google Shape;2577;p105"/>
          <p:cNvSpPr txBox="1"/>
          <p:nvPr/>
        </p:nvSpPr>
        <p:spPr>
          <a:xfrm>
            <a:off x="377200" y="675550"/>
            <a:ext cx="23910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9050" lIns="0" spcFirstLastPara="1" rIns="0" wrap="square" tIns="190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1100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Quelles métriques, et où les mesurer</a:t>
            </a:r>
            <a:endParaRPr b="1" sz="1100">
              <a:solidFill>
                <a:srgbClr val="9CA3A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8" name="Google Shape;2578;p105"/>
          <p:cNvSpPr txBox="1"/>
          <p:nvPr/>
        </p:nvSpPr>
        <p:spPr>
          <a:xfrm>
            <a:off x="377200" y="4945850"/>
            <a:ext cx="999000" cy="166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700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MVP RAG Puls-Events</a:t>
            </a:r>
            <a:endParaRPr sz="700">
              <a:solidFill>
                <a:srgbClr val="9CA3A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9" name="Google Shape;2579;p105"/>
          <p:cNvSpPr/>
          <p:nvPr/>
        </p:nvSpPr>
        <p:spPr>
          <a:xfrm>
            <a:off x="381583" y="1028700"/>
            <a:ext cx="1941000" cy="2400300"/>
          </a:xfrm>
          <a:prstGeom prst="roundRect">
            <a:avLst>
              <a:gd fmla="val 6000" name="adj"/>
            </a:avLst>
          </a:prstGeom>
          <a:solidFill>
            <a:srgbClr val="0E9C8A">
              <a:alpha val="7999"/>
            </a:srgbClr>
          </a:solidFill>
          <a:ln cap="flat" cmpd="sng" w="7150">
            <a:solidFill>
              <a:srgbClr val="0E9C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0" name="Google Shape;2580;p105"/>
          <p:cNvSpPr txBox="1"/>
          <p:nvPr/>
        </p:nvSpPr>
        <p:spPr>
          <a:xfrm>
            <a:off x="546180" y="1179576"/>
            <a:ext cx="16323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0" spcFirstLastPara="1" rIns="0" wrap="square" tIns="190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fr" sz="1100" u="none" cap="none" strike="noStrike">
                <a:solidFill>
                  <a:srgbClr val="0E9C8A"/>
                </a:solidFill>
                <a:latin typeface="Cambria"/>
                <a:ea typeface="Cambria"/>
                <a:cs typeface="Cambria"/>
                <a:sym typeface="Cambria"/>
              </a:rPr>
              <a:t>Qualité du RAG</a:t>
            </a:r>
            <a:endParaRPr sz="1100"/>
          </a:p>
        </p:txBody>
      </p:sp>
      <p:sp>
        <p:nvSpPr>
          <p:cNvPr id="2581" name="Google Shape;2581;p105"/>
          <p:cNvSpPr txBox="1"/>
          <p:nvPr/>
        </p:nvSpPr>
        <p:spPr>
          <a:xfrm>
            <a:off x="546180" y="1591056"/>
            <a:ext cx="1632300" cy="3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0" spcFirstLastPara="1" rIns="0" wrap="square" tIns="190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fr" sz="900" u="none" cap="none" strike="noStrike">
                <a:solidFill>
                  <a:srgbClr val="DDDEE6"/>
                </a:solidFill>
                <a:latin typeface="Calibri"/>
                <a:ea typeface="Calibri"/>
                <a:cs typeface="Calibri"/>
                <a:sym typeface="Calibri"/>
              </a:rPr>
              <a:t>Faithfulness</a:t>
            </a:r>
            <a:endParaRPr sz="1100">
              <a:solidFill>
                <a:srgbClr val="DDDEE6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fr" sz="8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LLM-juge, échantillonné</a:t>
            </a:r>
            <a:endParaRPr sz="1100"/>
          </a:p>
        </p:txBody>
      </p:sp>
      <p:sp>
        <p:nvSpPr>
          <p:cNvPr id="2582" name="Google Shape;2582;p105"/>
          <p:cNvSpPr txBox="1"/>
          <p:nvPr/>
        </p:nvSpPr>
        <p:spPr>
          <a:xfrm>
            <a:off x="546180" y="2043684"/>
            <a:ext cx="1632300" cy="3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0" spcFirstLastPara="1" rIns="0" wrap="square" tIns="190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fr" sz="900" u="none" cap="none" strike="noStrike">
                <a:solidFill>
                  <a:srgbClr val="DDDEE6"/>
                </a:solidFill>
                <a:latin typeface="Calibri"/>
                <a:ea typeface="Calibri"/>
                <a:cs typeface="Calibri"/>
                <a:sym typeface="Calibri"/>
              </a:rPr>
              <a:t>Answer relevancy</a:t>
            </a:r>
            <a:endParaRPr sz="1100">
              <a:solidFill>
                <a:srgbClr val="DDDEE6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fr" sz="8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pertinence réponse</a:t>
            </a:r>
            <a:endParaRPr sz="1100"/>
          </a:p>
        </p:txBody>
      </p:sp>
      <p:sp>
        <p:nvSpPr>
          <p:cNvPr id="2583" name="Google Shape;2583;p105"/>
          <p:cNvSpPr txBox="1"/>
          <p:nvPr/>
        </p:nvSpPr>
        <p:spPr>
          <a:xfrm>
            <a:off x="546180" y="2496312"/>
            <a:ext cx="1632300" cy="3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0" spcFirstLastPara="1" rIns="0" wrap="square" tIns="190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fr" sz="900" u="none" cap="none" strike="noStrike">
                <a:solidFill>
                  <a:srgbClr val="DDDEE6"/>
                </a:solidFill>
                <a:latin typeface="Calibri"/>
                <a:ea typeface="Calibri"/>
                <a:cs typeface="Calibri"/>
                <a:sym typeface="Calibri"/>
              </a:rPr>
              <a:t>Recall@k / MRR</a:t>
            </a:r>
            <a:endParaRPr sz="1100">
              <a:solidFill>
                <a:srgbClr val="DDDEE6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fr" sz="8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offline, déjà outillé</a:t>
            </a:r>
            <a:endParaRPr sz="1100"/>
          </a:p>
        </p:txBody>
      </p:sp>
      <p:sp>
        <p:nvSpPr>
          <p:cNvPr id="2584" name="Google Shape;2584;p105"/>
          <p:cNvSpPr txBox="1"/>
          <p:nvPr/>
        </p:nvSpPr>
        <p:spPr>
          <a:xfrm>
            <a:off x="546180" y="2948940"/>
            <a:ext cx="1632300" cy="3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0" spcFirstLastPara="1" rIns="0" wrap="square" tIns="190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fr" sz="900" u="none" cap="none" strike="noStrike">
                <a:solidFill>
                  <a:srgbClr val="DDDEE6"/>
                </a:solidFill>
                <a:latin typeface="Calibri"/>
                <a:ea typeface="Calibri"/>
                <a:cs typeface="Calibri"/>
                <a:sym typeface="Calibri"/>
              </a:rPr>
              <a:t>Taux de « je ne sais pas »</a:t>
            </a:r>
            <a:endParaRPr sz="1100">
              <a:solidFill>
                <a:srgbClr val="DDDEE6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fr" sz="8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comptage simple</a:t>
            </a:r>
            <a:endParaRPr sz="1100"/>
          </a:p>
        </p:txBody>
      </p:sp>
      <p:sp>
        <p:nvSpPr>
          <p:cNvPr id="2585" name="Google Shape;2585;p105"/>
          <p:cNvSpPr/>
          <p:nvPr/>
        </p:nvSpPr>
        <p:spPr>
          <a:xfrm>
            <a:off x="2528194" y="1028700"/>
            <a:ext cx="1941000" cy="2400300"/>
          </a:xfrm>
          <a:prstGeom prst="roundRect">
            <a:avLst>
              <a:gd fmla="val 6000" name="adj"/>
            </a:avLst>
          </a:prstGeom>
          <a:solidFill>
            <a:srgbClr val="0E9C8A">
              <a:alpha val="7999"/>
            </a:srgbClr>
          </a:solidFill>
          <a:ln cap="flat" cmpd="sng" w="7150">
            <a:solidFill>
              <a:srgbClr val="0E9C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6" name="Google Shape;2586;p105"/>
          <p:cNvSpPr txBox="1"/>
          <p:nvPr/>
        </p:nvSpPr>
        <p:spPr>
          <a:xfrm>
            <a:off x="2692791" y="1179576"/>
            <a:ext cx="16323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0" spcFirstLastPara="1" rIns="0" wrap="square" tIns="190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fr" sz="1100" u="none" cap="none" strike="noStrike">
                <a:solidFill>
                  <a:srgbClr val="0E9C8A"/>
                </a:solidFill>
                <a:latin typeface="Cambria"/>
                <a:ea typeface="Cambria"/>
                <a:cs typeface="Cambria"/>
                <a:sym typeface="Cambria"/>
              </a:rPr>
              <a:t>Coût</a:t>
            </a:r>
            <a:endParaRPr sz="1100"/>
          </a:p>
        </p:txBody>
      </p:sp>
      <p:sp>
        <p:nvSpPr>
          <p:cNvPr id="2587" name="Google Shape;2587;p105"/>
          <p:cNvSpPr txBox="1"/>
          <p:nvPr/>
        </p:nvSpPr>
        <p:spPr>
          <a:xfrm>
            <a:off x="2692791" y="1591056"/>
            <a:ext cx="1632300" cy="3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0" spcFirstLastPara="1" rIns="0" wrap="square" tIns="190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fr" sz="900" u="none" cap="none" strike="noStrike">
                <a:solidFill>
                  <a:srgbClr val="DDDEE6"/>
                </a:solidFill>
                <a:latin typeface="Calibri"/>
                <a:ea typeface="Calibri"/>
                <a:cs typeface="Calibri"/>
                <a:sym typeface="Calibri"/>
              </a:rPr>
              <a:t>€ par requête</a:t>
            </a:r>
            <a:endParaRPr sz="1100">
              <a:solidFill>
                <a:srgbClr val="DDDEE6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fr" sz="8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le chiffre clé</a:t>
            </a:r>
            <a:endParaRPr sz="1100"/>
          </a:p>
        </p:txBody>
      </p:sp>
      <p:sp>
        <p:nvSpPr>
          <p:cNvPr id="2588" name="Google Shape;2588;p105"/>
          <p:cNvSpPr txBox="1"/>
          <p:nvPr/>
        </p:nvSpPr>
        <p:spPr>
          <a:xfrm>
            <a:off x="2692791" y="2043684"/>
            <a:ext cx="1632300" cy="3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0" spcFirstLastPara="1" rIns="0" wrap="square" tIns="190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fr" sz="900" u="none" cap="none" strike="noStrike">
                <a:solidFill>
                  <a:srgbClr val="DDDEE6"/>
                </a:solidFill>
                <a:latin typeface="Calibri"/>
                <a:ea typeface="Calibri"/>
                <a:cs typeface="Calibri"/>
                <a:sym typeface="Calibri"/>
              </a:rPr>
              <a:t>Tokens in / out</a:t>
            </a:r>
            <a:endParaRPr sz="1100">
              <a:solidFill>
                <a:srgbClr val="DDDEE6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fr" sz="8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décompose le coût</a:t>
            </a:r>
            <a:endParaRPr sz="1100"/>
          </a:p>
        </p:txBody>
      </p:sp>
      <p:sp>
        <p:nvSpPr>
          <p:cNvPr id="2589" name="Google Shape;2589;p105"/>
          <p:cNvSpPr txBox="1"/>
          <p:nvPr/>
        </p:nvSpPr>
        <p:spPr>
          <a:xfrm>
            <a:off x="2692791" y="2496312"/>
            <a:ext cx="1632300" cy="3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0" spcFirstLastPara="1" rIns="0" wrap="square" tIns="190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fr" sz="900" u="none" cap="none" strike="noStrike">
                <a:solidFill>
                  <a:srgbClr val="DDDEE6"/>
                </a:solidFill>
                <a:latin typeface="Calibri"/>
                <a:ea typeface="Calibri"/>
                <a:cs typeface="Calibri"/>
                <a:sym typeface="Calibri"/>
              </a:rPr>
              <a:t>Coût / jour &amp; / user</a:t>
            </a:r>
            <a:endParaRPr sz="1100">
              <a:solidFill>
                <a:srgbClr val="DDDEE6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fr" sz="8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projection à l'échelle</a:t>
            </a:r>
            <a:endParaRPr sz="1100"/>
          </a:p>
        </p:txBody>
      </p:sp>
      <p:sp>
        <p:nvSpPr>
          <p:cNvPr id="2590" name="Google Shape;2590;p105"/>
          <p:cNvSpPr txBox="1"/>
          <p:nvPr/>
        </p:nvSpPr>
        <p:spPr>
          <a:xfrm>
            <a:off x="2692791" y="2948940"/>
            <a:ext cx="1632300" cy="3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0" spcFirstLastPara="1" rIns="0" wrap="square" tIns="190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fr" sz="900" u="none" cap="none" strike="noStrike">
                <a:solidFill>
                  <a:srgbClr val="DDDEE6"/>
                </a:solidFill>
                <a:latin typeface="Calibri"/>
                <a:ea typeface="Calibri"/>
                <a:cs typeface="Calibri"/>
                <a:sym typeface="Calibri"/>
              </a:rPr>
              <a:t>LLM / embed / web</a:t>
            </a:r>
            <a:endParaRPr sz="1100">
              <a:solidFill>
                <a:srgbClr val="DDDEE6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fr" sz="8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répartition</a:t>
            </a:r>
            <a:endParaRPr sz="1100"/>
          </a:p>
        </p:txBody>
      </p:sp>
      <p:sp>
        <p:nvSpPr>
          <p:cNvPr id="2591" name="Google Shape;2591;p105"/>
          <p:cNvSpPr/>
          <p:nvPr/>
        </p:nvSpPr>
        <p:spPr>
          <a:xfrm>
            <a:off x="4674806" y="1028700"/>
            <a:ext cx="1941000" cy="2400300"/>
          </a:xfrm>
          <a:prstGeom prst="roundRect">
            <a:avLst>
              <a:gd fmla="val 6000" name="adj"/>
            </a:avLst>
          </a:prstGeom>
          <a:solidFill>
            <a:srgbClr val="0E9C8A">
              <a:alpha val="7999"/>
            </a:srgbClr>
          </a:solidFill>
          <a:ln cap="flat" cmpd="sng" w="7150">
            <a:solidFill>
              <a:srgbClr val="0E9C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2" name="Google Shape;2592;p105"/>
          <p:cNvSpPr txBox="1"/>
          <p:nvPr/>
        </p:nvSpPr>
        <p:spPr>
          <a:xfrm>
            <a:off x="4839402" y="1179576"/>
            <a:ext cx="16323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0" spcFirstLastPara="1" rIns="0" wrap="square" tIns="190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fr" sz="1100" u="none" cap="none" strike="noStrike">
                <a:solidFill>
                  <a:srgbClr val="0E9C8A"/>
                </a:solidFill>
                <a:latin typeface="Cambria"/>
                <a:ea typeface="Cambria"/>
                <a:cs typeface="Cambria"/>
                <a:sym typeface="Cambria"/>
              </a:rPr>
              <a:t>Satisfaction</a:t>
            </a:r>
            <a:endParaRPr sz="1100"/>
          </a:p>
        </p:txBody>
      </p:sp>
      <p:sp>
        <p:nvSpPr>
          <p:cNvPr id="2593" name="Google Shape;2593;p105"/>
          <p:cNvSpPr txBox="1"/>
          <p:nvPr/>
        </p:nvSpPr>
        <p:spPr>
          <a:xfrm>
            <a:off x="4839402" y="1591056"/>
            <a:ext cx="1632300" cy="3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0" spcFirstLastPara="1" rIns="0" wrap="square" tIns="190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fr" sz="900" u="none" cap="none" strike="noStrike">
                <a:solidFill>
                  <a:srgbClr val="DDDEE6"/>
                </a:solidFill>
                <a:latin typeface="Calibri"/>
                <a:ea typeface="Calibri"/>
                <a:cs typeface="Calibri"/>
                <a:sym typeface="Calibri"/>
              </a:rPr>
              <a:t>Feedback + / −</a:t>
            </a:r>
            <a:endParaRPr sz="1100">
              <a:solidFill>
                <a:srgbClr val="DDDEE6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fr" sz="8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explicite (pouce)</a:t>
            </a:r>
            <a:endParaRPr sz="1100"/>
          </a:p>
        </p:txBody>
      </p:sp>
      <p:sp>
        <p:nvSpPr>
          <p:cNvPr id="2594" name="Google Shape;2594;p105"/>
          <p:cNvSpPr txBox="1"/>
          <p:nvPr/>
        </p:nvSpPr>
        <p:spPr>
          <a:xfrm>
            <a:off x="4839402" y="2043684"/>
            <a:ext cx="1632300" cy="3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0" spcFirstLastPara="1" rIns="0" wrap="square" tIns="190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fr" sz="900" u="none" cap="none" strike="noStrike">
                <a:solidFill>
                  <a:srgbClr val="DDDEE6"/>
                </a:solidFill>
                <a:latin typeface="Calibri"/>
                <a:ea typeface="Calibri"/>
                <a:cs typeface="Calibri"/>
                <a:sym typeface="Calibri"/>
              </a:rPr>
              <a:t>Clic sur sources</a:t>
            </a:r>
            <a:endParaRPr sz="1100">
              <a:solidFill>
                <a:srgbClr val="DDDEE6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fr" sz="8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confiance</a:t>
            </a:r>
            <a:endParaRPr sz="1100"/>
          </a:p>
        </p:txBody>
      </p:sp>
      <p:sp>
        <p:nvSpPr>
          <p:cNvPr id="2595" name="Google Shape;2595;p105"/>
          <p:cNvSpPr txBox="1"/>
          <p:nvPr/>
        </p:nvSpPr>
        <p:spPr>
          <a:xfrm>
            <a:off x="4839402" y="2496312"/>
            <a:ext cx="1632300" cy="3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0" spcFirstLastPara="1" rIns="0" wrap="square" tIns="190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fr" sz="900" u="none" cap="none" strike="noStrike">
                <a:solidFill>
                  <a:srgbClr val="DDDEE6"/>
                </a:solidFill>
                <a:latin typeface="Calibri"/>
                <a:ea typeface="Calibri"/>
                <a:cs typeface="Calibri"/>
                <a:sym typeface="Calibri"/>
              </a:rPr>
              <a:t>Reformulations</a:t>
            </a:r>
            <a:endParaRPr sz="1100">
              <a:solidFill>
                <a:srgbClr val="DDDEE6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fr" sz="8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signal implicite</a:t>
            </a:r>
            <a:endParaRPr sz="1100"/>
          </a:p>
        </p:txBody>
      </p:sp>
      <p:sp>
        <p:nvSpPr>
          <p:cNvPr id="2596" name="Google Shape;2596;p105"/>
          <p:cNvSpPr txBox="1"/>
          <p:nvPr/>
        </p:nvSpPr>
        <p:spPr>
          <a:xfrm>
            <a:off x="4839402" y="2948940"/>
            <a:ext cx="1632300" cy="3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0" spcFirstLastPara="1" rIns="0" wrap="square" tIns="190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fr" sz="900" u="none" cap="none" strike="noStrike">
                <a:solidFill>
                  <a:srgbClr val="DDDEE6"/>
                </a:solidFill>
                <a:latin typeface="Calibri"/>
                <a:ea typeface="Calibri"/>
                <a:cs typeface="Calibri"/>
                <a:sym typeface="Calibri"/>
              </a:rPr>
              <a:t>Abandon / durée</a:t>
            </a:r>
            <a:endParaRPr sz="1100">
              <a:solidFill>
                <a:srgbClr val="DDDEE6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fr" sz="8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engagement</a:t>
            </a:r>
            <a:endParaRPr sz="1100"/>
          </a:p>
        </p:txBody>
      </p:sp>
      <p:sp>
        <p:nvSpPr>
          <p:cNvPr id="2597" name="Google Shape;2597;p105"/>
          <p:cNvSpPr/>
          <p:nvPr/>
        </p:nvSpPr>
        <p:spPr>
          <a:xfrm>
            <a:off x="6821417" y="1028700"/>
            <a:ext cx="1941000" cy="2400300"/>
          </a:xfrm>
          <a:prstGeom prst="roundRect">
            <a:avLst>
              <a:gd fmla="val 6000" name="adj"/>
            </a:avLst>
          </a:prstGeom>
          <a:solidFill>
            <a:srgbClr val="0E9C8A">
              <a:alpha val="7999"/>
            </a:srgbClr>
          </a:solidFill>
          <a:ln cap="flat" cmpd="sng" w="7150">
            <a:solidFill>
              <a:srgbClr val="0E9C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8" name="Google Shape;2598;p105"/>
          <p:cNvSpPr txBox="1"/>
          <p:nvPr/>
        </p:nvSpPr>
        <p:spPr>
          <a:xfrm>
            <a:off x="6986013" y="1179576"/>
            <a:ext cx="16323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0" spcFirstLastPara="1" rIns="0" wrap="square" tIns="190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fr" sz="1100" u="none" cap="none" strike="noStrike">
                <a:solidFill>
                  <a:srgbClr val="0E9C8A"/>
                </a:solidFill>
                <a:latin typeface="Cambria"/>
                <a:ea typeface="Cambria"/>
                <a:cs typeface="Cambria"/>
                <a:sym typeface="Cambria"/>
              </a:rPr>
              <a:t>Technique</a:t>
            </a:r>
            <a:endParaRPr sz="1100"/>
          </a:p>
        </p:txBody>
      </p:sp>
      <p:sp>
        <p:nvSpPr>
          <p:cNvPr id="2599" name="Google Shape;2599;p105"/>
          <p:cNvSpPr txBox="1"/>
          <p:nvPr/>
        </p:nvSpPr>
        <p:spPr>
          <a:xfrm>
            <a:off x="6986013" y="1591056"/>
            <a:ext cx="1632300" cy="3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0" spcFirstLastPara="1" rIns="0" wrap="square" tIns="190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fr" sz="900" u="none" cap="none" strike="noStrike">
                <a:solidFill>
                  <a:srgbClr val="DDDEE6"/>
                </a:solidFill>
                <a:latin typeface="Calibri"/>
                <a:ea typeface="Calibri"/>
                <a:cs typeface="Calibri"/>
                <a:sym typeface="Calibri"/>
              </a:rPr>
              <a:t>Time-to-first-token</a:t>
            </a:r>
            <a:endParaRPr sz="1100">
              <a:solidFill>
                <a:srgbClr val="DDDEE6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fr" sz="8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latence perçue (SSE)</a:t>
            </a:r>
            <a:endParaRPr sz="1100"/>
          </a:p>
        </p:txBody>
      </p:sp>
      <p:sp>
        <p:nvSpPr>
          <p:cNvPr id="2600" name="Google Shape;2600;p105"/>
          <p:cNvSpPr txBox="1"/>
          <p:nvPr/>
        </p:nvSpPr>
        <p:spPr>
          <a:xfrm>
            <a:off x="6986013" y="2043684"/>
            <a:ext cx="1632300" cy="3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0" spcFirstLastPara="1" rIns="0" wrap="square" tIns="190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fr" sz="900" u="none" cap="none" strike="noStrike">
                <a:solidFill>
                  <a:srgbClr val="DDDEE6"/>
                </a:solidFill>
                <a:latin typeface="Calibri"/>
                <a:ea typeface="Calibri"/>
                <a:cs typeface="Calibri"/>
                <a:sym typeface="Calibri"/>
              </a:rPr>
              <a:t>Latence p50 / p95</a:t>
            </a:r>
            <a:endParaRPr sz="1100">
              <a:solidFill>
                <a:srgbClr val="DDDEE6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fr" sz="8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la queue = pannes</a:t>
            </a:r>
            <a:endParaRPr sz="1100"/>
          </a:p>
        </p:txBody>
      </p:sp>
      <p:sp>
        <p:nvSpPr>
          <p:cNvPr id="2601" name="Google Shape;2601;p105"/>
          <p:cNvSpPr txBox="1"/>
          <p:nvPr/>
        </p:nvSpPr>
        <p:spPr>
          <a:xfrm>
            <a:off x="6986013" y="2496312"/>
            <a:ext cx="1632300" cy="3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0" spcFirstLastPara="1" rIns="0" wrap="square" tIns="190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fr" sz="900" u="none" cap="none" strike="noStrike">
                <a:solidFill>
                  <a:srgbClr val="DDDEE6"/>
                </a:solidFill>
                <a:latin typeface="Calibri"/>
                <a:ea typeface="Calibri"/>
                <a:cs typeface="Calibri"/>
                <a:sym typeface="Calibri"/>
              </a:rPr>
              <a:t>Taux d'erreur</a:t>
            </a:r>
            <a:endParaRPr sz="1100">
              <a:solidFill>
                <a:srgbClr val="DDDEE6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fr" sz="8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5xx, timeouts LLM</a:t>
            </a:r>
            <a:endParaRPr sz="1100"/>
          </a:p>
        </p:txBody>
      </p:sp>
      <p:sp>
        <p:nvSpPr>
          <p:cNvPr id="2602" name="Google Shape;2602;p105"/>
          <p:cNvSpPr txBox="1"/>
          <p:nvPr/>
        </p:nvSpPr>
        <p:spPr>
          <a:xfrm>
            <a:off x="6986013" y="2948940"/>
            <a:ext cx="1632300" cy="3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0" spcFirstLastPara="1" rIns="0" wrap="square" tIns="190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fr" sz="900" u="none" cap="none" strike="noStrike">
                <a:solidFill>
                  <a:srgbClr val="DDDEE6"/>
                </a:solidFill>
                <a:latin typeface="Calibri"/>
                <a:ea typeface="Calibri"/>
                <a:cs typeface="Calibri"/>
                <a:sym typeface="Calibri"/>
              </a:rPr>
              <a:t>Infra (Cockpit)</a:t>
            </a:r>
            <a:endParaRPr sz="1100">
              <a:solidFill>
                <a:srgbClr val="DDDEE6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fr" sz="8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CPU/RAM, Redis, PG</a:t>
            </a:r>
            <a:endParaRPr sz="1100"/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07" name="Shape 26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8" name="Google Shape;2608;p106"/>
          <p:cNvSpPr txBox="1"/>
          <p:nvPr/>
        </p:nvSpPr>
        <p:spPr>
          <a:xfrm>
            <a:off x="377200" y="233175"/>
            <a:ext cx="2286900" cy="45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9050" lIns="0" spcFirstLastPara="1" rIns="0" wrap="square" tIns="190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1800">
                <a:solidFill>
                  <a:srgbClr val="0E9C8A"/>
                </a:solidFill>
                <a:latin typeface="Calibri"/>
                <a:ea typeface="Calibri"/>
                <a:cs typeface="Calibri"/>
                <a:sym typeface="Calibri"/>
              </a:rPr>
              <a:t>Monitoring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9" name="Google Shape;2609;p106"/>
          <p:cNvSpPr txBox="1"/>
          <p:nvPr/>
        </p:nvSpPr>
        <p:spPr>
          <a:xfrm>
            <a:off x="377200" y="675550"/>
            <a:ext cx="23910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9050" lIns="0" spcFirstLastPara="1" rIns="0" wrap="square" tIns="190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1100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Quelles métriques, et où les mesurer</a:t>
            </a:r>
            <a:endParaRPr b="1" sz="1100">
              <a:solidFill>
                <a:srgbClr val="9CA3A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0" name="Google Shape;2610;p106"/>
          <p:cNvSpPr txBox="1"/>
          <p:nvPr/>
        </p:nvSpPr>
        <p:spPr>
          <a:xfrm>
            <a:off x="377200" y="4945850"/>
            <a:ext cx="999000" cy="166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700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MVP RAG Puls-Events</a:t>
            </a:r>
            <a:endParaRPr sz="700">
              <a:solidFill>
                <a:srgbClr val="9CA3A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1" name="Google Shape;2611;p106"/>
          <p:cNvSpPr/>
          <p:nvPr/>
        </p:nvSpPr>
        <p:spPr>
          <a:xfrm>
            <a:off x="381583" y="1028700"/>
            <a:ext cx="1941000" cy="2400300"/>
          </a:xfrm>
          <a:prstGeom prst="roundRect">
            <a:avLst>
              <a:gd fmla="val 6000" name="adj"/>
            </a:avLst>
          </a:prstGeom>
          <a:solidFill>
            <a:srgbClr val="0E9C8A">
              <a:alpha val="7999"/>
            </a:srgbClr>
          </a:solidFill>
          <a:ln cap="flat" cmpd="sng" w="7150">
            <a:solidFill>
              <a:srgbClr val="0E9C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2" name="Google Shape;2612;p106"/>
          <p:cNvSpPr txBox="1"/>
          <p:nvPr/>
        </p:nvSpPr>
        <p:spPr>
          <a:xfrm>
            <a:off x="546180" y="1179576"/>
            <a:ext cx="16323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0" spcFirstLastPara="1" rIns="0" wrap="square" tIns="190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fr" sz="1100" u="none" cap="none" strike="noStrike">
                <a:solidFill>
                  <a:srgbClr val="0E9C8A"/>
                </a:solidFill>
                <a:latin typeface="Cambria"/>
                <a:ea typeface="Cambria"/>
                <a:cs typeface="Cambria"/>
                <a:sym typeface="Cambria"/>
              </a:rPr>
              <a:t>Qualité du RAG</a:t>
            </a:r>
            <a:endParaRPr sz="1100"/>
          </a:p>
        </p:txBody>
      </p:sp>
      <p:sp>
        <p:nvSpPr>
          <p:cNvPr id="2613" name="Google Shape;2613;p106"/>
          <p:cNvSpPr txBox="1"/>
          <p:nvPr/>
        </p:nvSpPr>
        <p:spPr>
          <a:xfrm>
            <a:off x="546180" y="1591056"/>
            <a:ext cx="1632300" cy="3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0" spcFirstLastPara="1" rIns="0" wrap="square" tIns="190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fr" sz="900" u="none" cap="none" strike="noStrike">
                <a:solidFill>
                  <a:srgbClr val="DDDEE6"/>
                </a:solidFill>
                <a:latin typeface="Calibri"/>
                <a:ea typeface="Calibri"/>
                <a:cs typeface="Calibri"/>
                <a:sym typeface="Calibri"/>
              </a:rPr>
              <a:t>Faithfulness</a:t>
            </a:r>
            <a:endParaRPr sz="1100">
              <a:solidFill>
                <a:srgbClr val="DDDEE6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fr" sz="8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LLM-juge, échantillonné</a:t>
            </a:r>
            <a:endParaRPr sz="1100"/>
          </a:p>
        </p:txBody>
      </p:sp>
      <p:sp>
        <p:nvSpPr>
          <p:cNvPr id="2614" name="Google Shape;2614;p106"/>
          <p:cNvSpPr txBox="1"/>
          <p:nvPr/>
        </p:nvSpPr>
        <p:spPr>
          <a:xfrm>
            <a:off x="546180" y="2043684"/>
            <a:ext cx="1632300" cy="3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0" spcFirstLastPara="1" rIns="0" wrap="square" tIns="190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fr" sz="900" u="none" cap="none" strike="noStrike">
                <a:solidFill>
                  <a:srgbClr val="DDDEE6"/>
                </a:solidFill>
                <a:latin typeface="Calibri"/>
                <a:ea typeface="Calibri"/>
                <a:cs typeface="Calibri"/>
                <a:sym typeface="Calibri"/>
              </a:rPr>
              <a:t>Answer relevancy</a:t>
            </a:r>
            <a:endParaRPr sz="1100">
              <a:solidFill>
                <a:srgbClr val="DDDEE6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fr" sz="8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pertinence réponse</a:t>
            </a:r>
            <a:endParaRPr sz="1100"/>
          </a:p>
        </p:txBody>
      </p:sp>
      <p:sp>
        <p:nvSpPr>
          <p:cNvPr id="2615" name="Google Shape;2615;p106"/>
          <p:cNvSpPr txBox="1"/>
          <p:nvPr/>
        </p:nvSpPr>
        <p:spPr>
          <a:xfrm>
            <a:off x="546180" y="2496312"/>
            <a:ext cx="1632300" cy="3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0" spcFirstLastPara="1" rIns="0" wrap="square" tIns="190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fr" sz="900" u="none" cap="none" strike="noStrike">
                <a:solidFill>
                  <a:srgbClr val="DDDEE6"/>
                </a:solidFill>
                <a:latin typeface="Calibri"/>
                <a:ea typeface="Calibri"/>
                <a:cs typeface="Calibri"/>
                <a:sym typeface="Calibri"/>
              </a:rPr>
              <a:t>Recall@k / MRR</a:t>
            </a:r>
            <a:endParaRPr sz="1100">
              <a:solidFill>
                <a:srgbClr val="DDDEE6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fr" sz="8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offline, déjà outillé</a:t>
            </a:r>
            <a:endParaRPr sz="1100"/>
          </a:p>
        </p:txBody>
      </p:sp>
      <p:sp>
        <p:nvSpPr>
          <p:cNvPr id="2616" name="Google Shape;2616;p106"/>
          <p:cNvSpPr txBox="1"/>
          <p:nvPr/>
        </p:nvSpPr>
        <p:spPr>
          <a:xfrm>
            <a:off x="546180" y="2948940"/>
            <a:ext cx="1632300" cy="3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0" spcFirstLastPara="1" rIns="0" wrap="square" tIns="190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fr" sz="900" u="none" cap="none" strike="noStrike">
                <a:solidFill>
                  <a:srgbClr val="DDDEE6"/>
                </a:solidFill>
                <a:latin typeface="Calibri"/>
                <a:ea typeface="Calibri"/>
                <a:cs typeface="Calibri"/>
                <a:sym typeface="Calibri"/>
              </a:rPr>
              <a:t>Taux de « je ne sais pas »</a:t>
            </a:r>
            <a:endParaRPr sz="1100">
              <a:solidFill>
                <a:srgbClr val="DDDEE6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fr" sz="8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comptage simple</a:t>
            </a:r>
            <a:endParaRPr sz="1100"/>
          </a:p>
        </p:txBody>
      </p:sp>
      <p:sp>
        <p:nvSpPr>
          <p:cNvPr id="2617" name="Google Shape;2617;p106"/>
          <p:cNvSpPr/>
          <p:nvPr/>
        </p:nvSpPr>
        <p:spPr>
          <a:xfrm>
            <a:off x="2528194" y="1028700"/>
            <a:ext cx="1941000" cy="2400300"/>
          </a:xfrm>
          <a:prstGeom prst="roundRect">
            <a:avLst>
              <a:gd fmla="val 6000" name="adj"/>
            </a:avLst>
          </a:prstGeom>
          <a:solidFill>
            <a:srgbClr val="0E9C8A">
              <a:alpha val="7999"/>
            </a:srgbClr>
          </a:solidFill>
          <a:ln cap="flat" cmpd="sng" w="7150">
            <a:solidFill>
              <a:srgbClr val="0E9C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8" name="Google Shape;2618;p106"/>
          <p:cNvSpPr txBox="1"/>
          <p:nvPr/>
        </p:nvSpPr>
        <p:spPr>
          <a:xfrm>
            <a:off x="2692791" y="1179576"/>
            <a:ext cx="16323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0" spcFirstLastPara="1" rIns="0" wrap="square" tIns="190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fr" sz="1100" u="none" cap="none" strike="noStrike">
                <a:solidFill>
                  <a:srgbClr val="0E9C8A"/>
                </a:solidFill>
                <a:latin typeface="Cambria"/>
                <a:ea typeface="Cambria"/>
                <a:cs typeface="Cambria"/>
                <a:sym typeface="Cambria"/>
              </a:rPr>
              <a:t>Coût</a:t>
            </a:r>
            <a:endParaRPr sz="1100"/>
          </a:p>
        </p:txBody>
      </p:sp>
      <p:sp>
        <p:nvSpPr>
          <p:cNvPr id="2619" name="Google Shape;2619;p106"/>
          <p:cNvSpPr txBox="1"/>
          <p:nvPr/>
        </p:nvSpPr>
        <p:spPr>
          <a:xfrm>
            <a:off x="2692791" y="1591056"/>
            <a:ext cx="1632300" cy="3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0" spcFirstLastPara="1" rIns="0" wrap="square" tIns="190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fr" sz="900" u="none" cap="none" strike="noStrike">
                <a:solidFill>
                  <a:srgbClr val="DDDEE6"/>
                </a:solidFill>
                <a:latin typeface="Calibri"/>
                <a:ea typeface="Calibri"/>
                <a:cs typeface="Calibri"/>
                <a:sym typeface="Calibri"/>
              </a:rPr>
              <a:t>€ par requête</a:t>
            </a:r>
            <a:endParaRPr sz="1100">
              <a:solidFill>
                <a:srgbClr val="DDDEE6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fr" sz="8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le chiffre clé</a:t>
            </a:r>
            <a:endParaRPr sz="1100"/>
          </a:p>
        </p:txBody>
      </p:sp>
      <p:sp>
        <p:nvSpPr>
          <p:cNvPr id="2620" name="Google Shape;2620;p106"/>
          <p:cNvSpPr txBox="1"/>
          <p:nvPr/>
        </p:nvSpPr>
        <p:spPr>
          <a:xfrm>
            <a:off x="2692791" y="2043684"/>
            <a:ext cx="1632300" cy="3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0" spcFirstLastPara="1" rIns="0" wrap="square" tIns="190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fr" sz="900" u="none" cap="none" strike="noStrike">
                <a:solidFill>
                  <a:srgbClr val="DDDEE6"/>
                </a:solidFill>
                <a:latin typeface="Calibri"/>
                <a:ea typeface="Calibri"/>
                <a:cs typeface="Calibri"/>
                <a:sym typeface="Calibri"/>
              </a:rPr>
              <a:t>Tokens in / out</a:t>
            </a:r>
            <a:endParaRPr sz="1100">
              <a:solidFill>
                <a:srgbClr val="DDDEE6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fr" sz="8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décompose le coût</a:t>
            </a:r>
            <a:endParaRPr sz="1100"/>
          </a:p>
        </p:txBody>
      </p:sp>
      <p:sp>
        <p:nvSpPr>
          <p:cNvPr id="2621" name="Google Shape;2621;p106"/>
          <p:cNvSpPr txBox="1"/>
          <p:nvPr/>
        </p:nvSpPr>
        <p:spPr>
          <a:xfrm>
            <a:off x="2692791" y="2496312"/>
            <a:ext cx="1632300" cy="3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0" spcFirstLastPara="1" rIns="0" wrap="square" tIns="190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fr" sz="900" u="none" cap="none" strike="noStrike">
                <a:solidFill>
                  <a:srgbClr val="DDDEE6"/>
                </a:solidFill>
                <a:latin typeface="Calibri"/>
                <a:ea typeface="Calibri"/>
                <a:cs typeface="Calibri"/>
                <a:sym typeface="Calibri"/>
              </a:rPr>
              <a:t>Coût / jour &amp; / user</a:t>
            </a:r>
            <a:endParaRPr sz="1100">
              <a:solidFill>
                <a:srgbClr val="DDDEE6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fr" sz="8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projection à l'échelle</a:t>
            </a:r>
            <a:endParaRPr sz="1100"/>
          </a:p>
        </p:txBody>
      </p:sp>
      <p:sp>
        <p:nvSpPr>
          <p:cNvPr id="2622" name="Google Shape;2622;p106"/>
          <p:cNvSpPr txBox="1"/>
          <p:nvPr/>
        </p:nvSpPr>
        <p:spPr>
          <a:xfrm>
            <a:off x="2692791" y="2948940"/>
            <a:ext cx="1632300" cy="3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0" spcFirstLastPara="1" rIns="0" wrap="square" tIns="190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fr" sz="900" u="none" cap="none" strike="noStrike">
                <a:solidFill>
                  <a:srgbClr val="DDDEE6"/>
                </a:solidFill>
                <a:latin typeface="Calibri"/>
                <a:ea typeface="Calibri"/>
                <a:cs typeface="Calibri"/>
                <a:sym typeface="Calibri"/>
              </a:rPr>
              <a:t>LLM / embed / web</a:t>
            </a:r>
            <a:endParaRPr sz="1100">
              <a:solidFill>
                <a:srgbClr val="DDDEE6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fr" sz="8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répartition</a:t>
            </a:r>
            <a:endParaRPr sz="1100"/>
          </a:p>
        </p:txBody>
      </p:sp>
      <p:sp>
        <p:nvSpPr>
          <p:cNvPr id="2623" name="Google Shape;2623;p106"/>
          <p:cNvSpPr/>
          <p:nvPr/>
        </p:nvSpPr>
        <p:spPr>
          <a:xfrm>
            <a:off x="4674806" y="1028700"/>
            <a:ext cx="1941000" cy="2400300"/>
          </a:xfrm>
          <a:prstGeom prst="roundRect">
            <a:avLst>
              <a:gd fmla="val 6000" name="adj"/>
            </a:avLst>
          </a:prstGeom>
          <a:solidFill>
            <a:srgbClr val="0E9C8A">
              <a:alpha val="7999"/>
            </a:srgbClr>
          </a:solidFill>
          <a:ln cap="flat" cmpd="sng" w="7150">
            <a:solidFill>
              <a:srgbClr val="0E9C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4" name="Google Shape;2624;p106"/>
          <p:cNvSpPr txBox="1"/>
          <p:nvPr/>
        </p:nvSpPr>
        <p:spPr>
          <a:xfrm>
            <a:off x="4839402" y="1179576"/>
            <a:ext cx="16323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0" spcFirstLastPara="1" rIns="0" wrap="square" tIns="190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fr" sz="1100" u="none" cap="none" strike="noStrike">
                <a:solidFill>
                  <a:srgbClr val="0E9C8A"/>
                </a:solidFill>
                <a:latin typeface="Cambria"/>
                <a:ea typeface="Cambria"/>
                <a:cs typeface="Cambria"/>
                <a:sym typeface="Cambria"/>
              </a:rPr>
              <a:t>Satisfaction</a:t>
            </a:r>
            <a:endParaRPr sz="1100"/>
          </a:p>
        </p:txBody>
      </p:sp>
      <p:sp>
        <p:nvSpPr>
          <p:cNvPr id="2625" name="Google Shape;2625;p106"/>
          <p:cNvSpPr txBox="1"/>
          <p:nvPr/>
        </p:nvSpPr>
        <p:spPr>
          <a:xfrm>
            <a:off x="4839402" y="1591056"/>
            <a:ext cx="1632300" cy="3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0" spcFirstLastPara="1" rIns="0" wrap="square" tIns="190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fr" sz="900" u="none" cap="none" strike="noStrike">
                <a:solidFill>
                  <a:srgbClr val="DDDEE6"/>
                </a:solidFill>
                <a:latin typeface="Calibri"/>
                <a:ea typeface="Calibri"/>
                <a:cs typeface="Calibri"/>
                <a:sym typeface="Calibri"/>
              </a:rPr>
              <a:t>Feedback + / −</a:t>
            </a:r>
            <a:endParaRPr sz="1100">
              <a:solidFill>
                <a:srgbClr val="DDDEE6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fr" sz="8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explicite (pouce)</a:t>
            </a:r>
            <a:endParaRPr sz="1100"/>
          </a:p>
        </p:txBody>
      </p:sp>
      <p:sp>
        <p:nvSpPr>
          <p:cNvPr id="2626" name="Google Shape;2626;p106"/>
          <p:cNvSpPr txBox="1"/>
          <p:nvPr/>
        </p:nvSpPr>
        <p:spPr>
          <a:xfrm>
            <a:off x="4839402" y="2043684"/>
            <a:ext cx="1632300" cy="3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0" spcFirstLastPara="1" rIns="0" wrap="square" tIns="190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fr" sz="900" u="none" cap="none" strike="noStrike">
                <a:solidFill>
                  <a:srgbClr val="DDDEE6"/>
                </a:solidFill>
                <a:latin typeface="Calibri"/>
                <a:ea typeface="Calibri"/>
                <a:cs typeface="Calibri"/>
                <a:sym typeface="Calibri"/>
              </a:rPr>
              <a:t>Clic sur sources</a:t>
            </a:r>
            <a:endParaRPr sz="1100">
              <a:solidFill>
                <a:srgbClr val="DDDEE6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fr" sz="8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confiance</a:t>
            </a:r>
            <a:endParaRPr sz="1100"/>
          </a:p>
        </p:txBody>
      </p:sp>
      <p:sp>
        <p:nvSpPr>
          <p:cNvPr id="2627" name="Google Shape;2627;p106"/>
          <p:cNvSpPr txBox="1"/>
          <p:nvPr/>
        </p:nvSpPr>
        <p:spPr>
          <a:xfrm>
            <a:off x="4839402" y="2496312"/>
            <a:ext cx="1632300" cy="3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0" spcFirstLastPara="1" rIns="0" wrap="square" tIns="190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fr" sz="900" u="none" cap="none" strike="noStrike">
                <a:solidFill>
                  <a:srgbClr val="DDDEE6"/>
                </a:solidFill>
                <a:latin typeface="Calibri"/>
                <a:ea typeface="Calibri"/>
                <a:cs typeface="Calibri"/>
                <a:sym typeface="Calibri"/>
              </a:rPr>
              <a:t>Reformulations</a:t>
            </a:r>
            <a:endParaRPr sz="1100">
              <a:solidFill>
                <a:srgbClr val="DDDEE6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fr" sz="8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signal implicite</a:t>
            </a:r>
            <a:endParaRPr sz="1100"/>
          </a:p>
        </p:txBody>
      </p:sp>
      <p:sp>
        <p:nvSpPr>
          <p:cNvPr id="2628" name="Google Shape;2628;p106"/>
          <p:cNvSpPr txBox="1"/>
          <p:nvPr/>
        </p:nvSpPr>
        <p:spPr>
          <a:xfrm>
            <a:off x="4839402" y="2948940"/>
            <a:ext cx="1632300" cy="3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0" spcFirstLastPara="1" rIns="0" wrap="square" tIns="190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fr" sz="900" u="none" cap="none" strike="noStrike">
                <a:solidFill>
                  <a:srgbClr val="DDDEE6"/>
                </a:solidFill>
                <a:latin typeface="Calibri"/>
                <a:ea typeface="Calibri"/>
                <a:cs typeface="Calibri"/>
                <a:sym typeface="Calibri"/>
              </a:rPr>
              <a:t>Abandon / durée</a:t>
            </a:r>
            <a:endParaRPr sz="1100">
              <a:solidFill>
                <a:srgbClr val="DDDEE6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fr" sz="8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engagement</a:t>
            </a:r>
            <a:endParaRPr sz="1100"/>
          </a:p>
        </p:txBody>
      </p:sp>
      <p:sp>
        <p:nvSpPr>
          <p:cNvPr id="2629" name="Google Shape;2629;p106"/>
          <p:cNvSpPr/>
          <p:nvPr/>
        </p:nvSpPr>
        <p:spPr>
          <a:xfrm>
            <a:off x="6821417" y="1028700"/>
            <a:ext cx="1941000" cy="2400300"/>
          </a:xfrm>
          <a:prstGeom prst="roundRect">
            <a:avLst>
              <a:gd fmla="val 6000" name="adj"/>
            </a:avLst>
          </a:prstGeom>
          <a:solidFill>
            <a:srgbClr val="0E9C8A">
              <a:alpha val="7999"/>
            </a:srgbClr>
          </a:solidFill>
          <a:ln cap="flat" cmpd="sng" w="7150">
            <a:solidFill>
              <a:srgbClr val="0E9C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0" name="Google Shape;2630;p106"/>
          <p:cNvSpPr txBox="1"/>
          <p:nvPr/>
        </p:nvSpPr>
        <p:spPr>
          <a:xfrm>
            <a:off x="6986013" y="1179576"/>
            <a:ext cx="16323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0" spcFirstLastPara="1" rIns="0" wrap="square" tIns="190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fr" sz="1100" u="none" cap="none" strike="noStrike">
                <a:solidFill>
                  <a:srgbClr val="0E9C8A"/>
                </a:solidFill>
                <a:latin typeface="Cambria"/>
                <a:ea typeface="Cambria"/>
                <a:cs typeface="Cambria"/>
                <a:sym typeface="Cambria"/>
              </a:rPr>
              <a:t>Technique</a:t>
            </a:r>
            <a:endParaRPr sz="1100"/>
          </a:p>
        </p:txBody>
      </p:sp>
      <p:sp>
        <p:nvSpPr>
          <p:cNvPr id="2631" name="Google Shape;2631;p106"/>
          <p:cNvSpPr txBox="1"/>
          <p:nvPr/>
        </p:nvSpPr>
        <p:spPr>
          <a:xfrm>
            <a:off x="6986013" y="1591056"/>
            <a:ext cx="1632300" cy="3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0" spcFirstLastPara="1" rIns="0" wrap="square" tIns="190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fr" sz="900" u="none" cap="none" strike="noStrike">
                <a:solidFill>
                  <a:srgbClr val="DDDEE6"/>
                </a:solidFill>
                <a:latin typeface="Calibri"/>
                <a:ea typeface="Calibri"/>
                <a:cs typeface="Calibri"/>
                <a:sym typeface="Calibri"/>
              </a:rPr>
              <a:t>Time-to-first-token</a:t>
            </a:r>
            <a:endParaRPr sz="1100">
              <a:solidFill>
                <a:srgbClr val="DDDEE6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fr" sz="8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latence perçue (SSE)</a:t>
            </a:r>
            <a:endParaRPr sz="1100"/>
          </a:p>
        </p:txBody>
      </p:sp>
      <p:sp>
        <p:nvSpPr>
          <p:cNvPr id="2632" name="Google Shape;2632;p106"/>
          <p:cNvSpPr txBox="1"/>
          <p:nvPr/>
        </p:nvSpPr>
        <p:spPr>
          <a:xfrm>
            <a:off x="6986013" y="2043684"/>
            <a:ext cx="1632300" cy="3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0" spcFirstLastPara="1" rIns="0" wrap="square" tIns="190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fr" sz="900" u="none" cap="none" strike="noStrike">
                <a:solidFill>
                  <a:srgbClr val="DDDEE6"/>
                </a:solidFill>
                <a:latin typeface="Calibri"/>
                <a:ea typeface="Calibri"/>
                <a:cs typeface="Calibri"/>
                <a:sym typeface="Calibri"/>
              </a:rPr>
              <a:t>Latence p50 / p95</a:t>
            </a:r>
            <a:endParaRPr sz="1100">
              <a:solidFill>
                <a:srgbClr val="DDDEE6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fr" sz="8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la queue = pannes</a:t>
            </a:r>
            <a:endParaRPr sz="1100"/>
          </a:p>
        </p:txBody>
      </p:sp>
      <p:sp>
        <p:nvSpPr>
          <p:cNvPr id="2633" name="Google Shape;2633;p106"/>
          <p:cNvSpPr txBox="1"/>
          <p:nvPr/>
        </p:nvSpPr>
        <p:spPr>
          <a:xfrm>
            <a:off x="6986013" y="2496312"/>
            <a:ext cx="1632300" cy="3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0" spcFirstLastPara="1" rIns="0" wrap="square" tIns="190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fr" sz="900" u="none" cap="none" strike="noStrike">
                <a:solidFill>
                  <a:srgbClr val="DDDEE6"/>
                </a:solidFill>
                <a:latin typeface="Calibri"/>
                <a:ea typeface="Calibri"/>
                <a:cs typeface="Calibri"/>
                <a:sym typeface="Calibri"/>
              </a:rPr>
              <a:t>Taux d'erreur</a:t>
            </a:r>
            <a:endParaRPr sz="1100">
              <a:solidFill>
                <a:srgbClr val="DDDEE6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fr" sz="8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5xx, timeouts LLM</a:t>
            </a:r>
            <a:endParaRPr sz="1100"/>
          </a:p>
        </p:txBody>
      </p:sp>
      <p:sp>
        <p:nvSpPr>
          <p:cNvPr id="2634" name="Google Shape;2634;p106"/>
          <p:cNvSpPr txBox="1"/>
          <p:nvPr/>
        </p:nvSpPr>
        <p:spPr>
          <a:xfrm>
            <a:off x="6986013" y="2948940"/>
            <a:ext cx="1632300" cy="3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0" spcFirstLastPara="1" rIns="0" wrap="square" tIns="190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fr" sz="900" u="none" cap="none" strike="noStrike">
                <a:solidFill>
                  <a:srgbClr val="DDDEE6"/>
                </a:solidFill>
                <a:latin typeface="Calibri"/>
                <a:ea typeface="Calibri"/>
                <a:cs typeface="Calibri"/>
                <a:sym typeface="Calibri"/>
              </a:rPr>
              <a:t>Infra (Cockpit)</a:t>
            </a:r>
            <a:endParaRPr sz="1100">
              <a:solidFill>
                <a:srgbClr val="DDDEE6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fr" sz="8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CPU/RAM, Redis, PG</a:t>
            </a:r>
            <a:endParaRPr sz="1100"/>
          </a:p>
        </p:txBody>
      </p:sp>
      <p:sp>
        <p:nvSpPr>
          <p:cNvPr id="2635" name="Google Shape;2635;p106"/>
          <p:cNvSpPr txBox="1"/>
          <p:nvPr/>
        </p:nvSpPr>
        <p:spPr>
          <a:xfrm>
            <a:off x="377200" y="3566150"/>
            <a:ext cx="5457600" cy="1923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0" spcFirstLastPara="1" rIns="0" wrap="square" tIns="190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fr" sz="1000" u="none" cap="none" strike="noStrike">
                <a:solidFill>
                  <a:srgbClr val="0B6F62"/>
                </a:solidFill>
                <a:latin typeface="Calibri"/>
                <a:ea typeface="Calibri"/>
                <a:cs typeface="Calibri"/>
                <a:sym typeface="Calibri"/>
              </a:rPr>
              <a:t>Langfuse</a:t>
            </a:r>
            <a:r>
              <a:rPr b="0" i="0" lang="fr" sz="9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  →  qualité · coût · feedback (LLM / RAG)         </a:t>
            </a:r>
            <a:r>
              <a:rPr b="0" i="0" lang="fr" sz="900" u="none" cap="none" strike="noStrike">
                <a:solidFill>
                  <a:srgbClr val="4F46E5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1" i="0" lang="fr" sz="1000" u="none" cap="none" strike="noStrike">
                <a:solidFill>
                  <a:srgbClr val="4F46E5"/>
                </a:solidFill>
                <a:latin typeface="Calibri"/>
                <a:ea typeface="Calibri"/>
                <a:cs typeface="Calibri"/>
                <a:sym typeface="Calibri"/>
              </a:rPr>
              <a:t>Cockpit</a:t>
            </a:r>
            <a:r>
              <a:rPr b="0" i="0" lang="fr" sz="9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  →  infra Scaleway (conteneurs, ressources)</a:t>
            </a:r>
            <a:endParaRPr sz="1100"/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40" name="Shape 26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1" name="Google Shape;2641;p107"/>
          <p:cNvSpPr/>
          <p:nvPr/>
        </p:nvSpPr>
        <p:spPr>
          <a:xfrm>
            <a:off x="302850" y="3998225"/>
            <a:ext cx="8538300" cy="885900"/>
          </a:xfrm>
          <a:prstGeom prst="roundRect">
            <a:avLst>
              <a:gd fmla="val 6000" name="adj"/>
            </a:avLst>
          </a:prstGeom>
          <a:solidFill>
            <a:srgbClr val="4F46E5">
              <a:alpha val="7999"/>
            </a:srgbClr>
          </a:solidFill>
          <a:ln cap="flat" cmpd="sng" w="9525">
            <a:solidFill>
              <a:srgbClr val="4F46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1000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Starter MVP — 6 métriques à instrumenter dès la Phase 3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2" name="Google Shape;2642;p107"/>
          <p:cNvSpPr txBox="1"/>
          <p:nvPr/>
        </p:nvSpPr>
        <p:spPr>
          <a:xfrm>
            <a:off x="377200" y="233175"/>
            <a:ext cx="2286900" cy="45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9050" lIns="0" spcFirstLastPara="1" rIns="0" wrap="square" tIns="190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1800">
                <a:solidFill>
                  <a:srgbClr val="0E9C8A"/>
                </a:solidFill>
                <a:latin typeface="Calibri"/>
                <a:ea typeface="Calibri"/>
                <a:cs typeface="Calibri"/>
                <a:sym typeface="Calibri"/>
              </a:rPr>
              <a:t>Monitoring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3" name="Google Shape;2643;p107"/>
          <p:cNvSpPr txBox="1"/>
          <p:nvPr/>
        </p:nvSpPr>
        <p:spPr>
          <a:xfrm>
            <a:off x="377200" y="675550"/>
            <a:ext cx="23910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9050" lIns="0" spcFirstLastPara="1" rIns="0" wrap="square" tIns="190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1100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Quelles métriques, et où les mesurer</a:t>
            </a:r>
            <a:endParaRPr b="1" sz="1100">
              <a:solidFill>
                <a:srgbClr val="9CA3A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4" name="Google Shape;2644;p107"/>
          <p:cNvSpPr txBox="1"/>
          <p:nvPr/>
        </p:nvSpPr>
        <p:spPr>
          <a:xfrm>
            <a:off x="377200" y="4945850"/>
            <a:ext cx="999000" cy="166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700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MVP RAG Puls-Events</a:t>
            </a:r>
            <a:endParaRPr sz="700">
              <a:solidFill>
                <a:srgbClr val="9CA3A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5" name="Google Shape;2645;p107"/>
          <p:cNvSpPr/>
          <p:nvPr/>
        </p:nvSpPr>
        <p:spPr>
          <a:xfrm>
            <a:off x="381583" y="1028700"/>
            <a:ext cx="1941000" cy="2400300"/>
          </a:xfrm>
          <a:prstGeom prst="roundRect">
            <a:avLst>
              <a:gd fmla="val 6000" name="adj"/>
            </a:avLst>
          </a:prstGeom>
          <a:solidFill>
            <a:srgbClr val="0E9C8A">
              <a:alpha val="7999"/>
            </a:srgbClr>
          </a:solidFill>
          <a:ln cap="flat" cmpd="sng" w="7150">
            <a:solidFill>
              <a:srgbClr val="0E9C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6" name="Google Shape;2646;p107"/>
          <p:cNvSpPr txBox="1"/>
          <p:nvPr/>
        </p:nvSpPr>
        <p:spPr>
          <a:xfrm>
            <a:off x="546180" y="1179576"/>
            <a:ext cx="16323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0" spcFirstLastPara="1" rIns="0" wrap="square" tIns="190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fr" sz="1100" u="none" cap="none" strike="noStrike">
                <a:solidFill>
                  <a:srgbClr val="0E9C8A"/>
                </a:solidFill>
                <a:latin typeface="Cambria"/>
                <a:ea typeface="Cambria"/>
                <a:cs typeface="Cambria"/>
                <a:sym typeface="Cambria"/>
              </a:rPr>
              <a:t>Qualité du RAG</a:t>
            </a:r>
            <a:endParaRPr sz="1100"/>
          </a:p>
        </p:txBody>
      </p:sp>
      <p:sp>
        <p:nvSpPr>
          <p:cNvPr id="2647" name="Google Shape;2647;p107"/>
          <p:cNvSpPr txBox="1"/>
          <p:nvPr/>
        </p:nvSpPr>
        <p:spPr>
          <a:xfrm>
            <a:off x="546180" y="1591056"/>
            <a:ext cx="1632300" cy="3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0" spcFirstLastPara="1" rIns="0" wrap="square" tIns="190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fr" sz="900" u="none" cap="none" strike="noStrike">
                <a:solidFill>
                  <a:srgbClr val="DDDEE6"/>
                </a:solidFill>
                <a:latin typeface="Calibri"/>
                <a:ea typeface="Calibri"/>
                <a:cs typeface="Calibri"/>
                <a:sym typeface="Calibri"/>
              </a:rPr>
              <a:t>Faithfulness</a:t>
            </a:r>
            <a:endParaRPr sz="1100">
              <a:solidFill>
                <a:srgbClr val="DDDEE6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fr" sz="8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LLM-juge, échantillonné</a:t>
            </a:r>
            <a:endParaRPr sz="1100"/>
          </a:p>
        </p:txBody>
      </p:sp>
      <p:sp>
        <p:nvSpPr>
          <p:cNvPr id="2648" name="Google Shape;2648;p107"/>
          <p:cNvSpPr txBox="1"/>
          <p:nvPr/>
        </p:nvSpPr>
        <p:spPr>
          <a:xfrm>
            <a:off x="546180" y="2043684"/>
            <a:ext cx="1632300" cy="3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0" spcFirstLastPara="1" rIns="0" wrap="square" tIns="190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fr" sz="900" u="none" cap="none" strike="noStrike">
                <a:solidFill>
                  <a:srgbClr val="DDDEE6"/>
                </a:solidFill>
                <a:latin typeface="Calibri"/>
                <a:ea typeface="Calibri"/>
                <a:cs typeface="Calibri"/>
                <a:sym typeface="Calibri"/>
              </a:rPr>
              <a:t>Answer relevancy</a:t>
            </a:r>
            <a:endParaRPr sz="1100">
              <a:solidFill>
                <a:srgbClr val="DDDEE6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fr" sz="8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pertinence réponse</a:t>
            </a:r>
            <a:endParaRPr sz="1100"/>
          </a:p>
        </p:txBody>
      </p:sp>
      <p:sp>
        <p:nvSpPr>
          <p:cNvPr id="2649" name="Google Shape;2649;p107"/>
          <p:cNvSpPr txBox="1"/>
          <p:nvPr/>
        </p:nvSpPr>
        <p:spPr>
          <a:xfrm>
            <a:off x="546180" y="2496312"/>
            <a:ext cx="1632300" cy="3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0" spcFirstLastPara="1" rIns="0" wrap="square" tIns="190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fr" sz="900" u="none" cap="none" strike="noStrike">
                <a:solidFill>
                  <a:srgbClr val="DDDEE6"/>
                </a:solidFill>
                <a:latin typeface="Calibri"/>
                <a:ea typeface="Calibri"/>
                <a:cs typeface="Calibri"/>
                <a:sym typeface="Calibri"/>
              </a:rPr>
              <a:t>Recall@k / MRR</a:t>
            </a:r>
            <a:endParaRPr sz="1100">
              <a:solidFill>
                <a:srgbClr val="DDDEE6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fr" sz="8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offline, déjà outillé</a:t>
            </a:r>
            <a:endParaRPr sz="1100"/>
          </a:p>
        </p:txBody>
      </p:sp>
      <p:sp>
        <p:nvSpPr>
          <p:cNvPr id="2650" name="Google Shape;2650;p107"/>
          <p:cNvSpPr txBox="1"/>
          <p:nvPr/>
        </p:nvSpPr>
        <p:spPr>
          <a:xfrm>
            <a:off x="546180" y="2948940"/>
            <a:ext cx="1632300" cy="3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0" spcFirstLastPara="1" rIns="0" wrap="square" tIns="190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fr" sz="900" u="none" cap="none" strike="noStrike">
                <a:solidFill>
                  <a:srgbClr val="DDDEE6"/>
                </a:solidFill>
                <a:latin typeface="Calibri"/>
                <a:ea typeface="Calibri"/>
                <a:cs typeface="Calibri"/>
                <a:sym typeface="Calibri"/>
              </a:rPr>
              <a:t>Taux de « je ne sais pas »</a:t>
            </a:r>
            <a:endParaRPr sz="1100">
              <a:solidFill>
                <a:srgbClr val="DDDEE6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fr" sz="8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comptage simple</a:t>
            </a:r>
            <a:endParaRPr sz="1100"/>
          </a:p>
        </p:txBody>
      </p:sp>
      <p:sp>
        <p:nvSpPr>
          <p:cNvPr id="2651" name="Google Shape;2651;p107"/>
          <p:cNvSpPr/>
          <p:nvPr/>
        </p:nvSpPr>
        <p:spPr>
          <a:xfrm>
            <a:off x="2528194" y="1028700"/>
            <a:ext cx="1941000" cy="2400300"/>
          </a:xfrm>
          <a:prstGeom prst="roundRect">
            <a:avLst>
              <a:gd fmla="val 6000" name="adj"/>
            </a:avLst>
          </a:prstGeom>
          <a:solidFill>
            <a:srgbClr val="0E9C8A">
              <a:alpha val="7999"/>
            </a:srgbClr>
          </a:solidFill>
          <a:ln cap="flat" cmpd="sng" w="7150">
            <a:solidFill>
              <a:srgbClr val="0E9C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2" name="Google Shape;2652;p107"/>
          <p:cNvSpPr txBox="1"/>
          <p:nvPr/>
        </p:nvSpPr>
        <p:spPr>
          <a:xfrm>
            <a:off x="2692791" y="1179576"/>
            <a:ext cx="16323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0" spcFirstLastPara="1" rIns="0" wrap="square" tIns="190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fr" sz="1100" u="none" cap="none" strike="noStrike">
                <a:solidFill>
                  <a:srgbClr val="0E9C8A"/>
                </a:solidFill>
                <a:latin typeface="Cambria"/>
                <a:ea typeface="Cambria"/>
                <a:cs typeface="Cambria"/>
                <a:sym typeface="Cambria"/>
              </a:rPr>
              <a:t>Coût</a:t>
            </a:r>
            <a:endParaRPr sz="1100"/>
          </a:p>
        </p:txBody>
      </p:sp>
      <p:sp>
        <p:nvSpPr>
          <p:cNvPr id="2653" name="Google Shape;2653;p107"/>
          <p:cNvSpPr txBox="1"/>
          <p:nvPr/>
        </p:nvSpPr>
        <p:spPr>
          <a:xfrm>
            <a:off x="2692791" y="1591056"/>
            <a:ext cx="1632300" cy="3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0" spcFirstLastPara="1" rIns="0" wrap="square" tIns="190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fr" sz="900" u="none" cap="none" strike="noStrike">
                <a:solidFill>
                  <a:srgbClr val="DDDEE6"/>
                </a:solidFill>
                <a:latin typeface="Calibri"/>
                <a:ea typeface="Calibri"/>
                <a:cs typeface="Calibri"/>
                <a:sym typeface="Calibri"/>
              </a:rPr>
              <a:t>€ par requête</a:t>
            </a:r>
            <a:endParaRPr sz="1100">
              <a:solidFill>
                <a:srgbClr val="DDDEE6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fr" sz="8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le chiffre clé</a:t>
            </a:r>
            <a:endParaRPr sz="1100"/>
          </a:p>
        </p:txBody>
      </p:sp>
      <p:sp>
        <p:nvSpPr>
          <p:cNvPr id="2654" name="Google Shape;2654;p107"/>
          <p:cNvSpPr txBox="1"/>
          <p:nvPr/>
        </p:nvSpPr>
        <p:spPr>
          <a:xfrm>
            <a:off x="2692791" y="2043684"/>
            <a:ext cx="1632300" cy="3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0" spcFirstLastPara="1" rIns="0" wrap="square" tIns="190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fr" sz="900" u="none" cap="none" strike="noStrike">
                <a:solidFill>
                  <a:srgbClr val="DDDEE6"/>
                </a:solidFill>
                <a:latin typeface="Calibri"/>
                <a:ea typeface="Calibri"/>
                <a:cs typeface="Calibri"/>
                <a:sym typeface="Calibri"/>
              </a:rPr>
              <a:t>Tokens in / out</a:t>
            </a:r>
            <a:endParaRPr sz="1100">
              <a:solidFill>
                <a:srgbClr val="DDDEE6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fr" sz="8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décompose le coût</a:t>
            </a:r>
            <a:endParaRPr sz="1100"/>
          </a:p>
        </p:txBody>
      </p:sp>
      <p:sp>
        <p:nvSpPr>
          <p:cNvPr id="2655" name="Google Shape;2655;p107"/>
          <p:cNvSpPr txBox="1"/>
          <p:nvPr/>
        </p:nvSpPr>
        <p:spPr>
          <a:xfrm>
            <a:off x="2692791" y="2496312"/>
            <a:ext cx="1632300" cy="3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0" spcFirstLastPara="1" rIns="0" wrap="square" tIns="190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fr" sz="900" u="none" cap="none" strike="noStrike">
                <a:solidFill>
                  <a:srgbClr val="DDDEE6"/>
                </a:solidFill>
                <a:latin typeface="Calibri"/>
                <a:ea typeface="Calibri"/>
                <a:cs typeface="Calibri"/>
                <a:sym typeface="Calibri"/>
              </a:rPr>
              <a:t>Coût / jour &amp; / user</a:t>
            </a:r>
            <a:endParaRPr sz="1100">
              <a:solidFill>
                <a:srgbClr val="DDDEE6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fr" sz="8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projection à l'échelle</a:t>
            </a:r>
            <a:endParaRPr sz="1100"/>
          </a:p>
        </p:txBody>
      </p:sp>
      <p:sp>
        <p:nvSpPr>
          <p:cNvPr id="2656" name="Google Shape;2656;p107"/>
          <p:cNvSpPr txBox="1"/>
          <p:nvPr/>
        </p:nvSpPr>
        <p:spPr>
          <a:xfrm>
            <a:off x="2692791" y="2948940"/>
            <a:ext cx="1632300" cy="3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0" spcFirstLastPara="1" rIns="0" wrap="square" tIns="190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fr" sz="900" u="none" cap="none" strike="noStrike">
                <a:solidFill>
                  <a:srgbClr val="DDDEE6"/>
                </a:solidFill>
                <a:latin typeface="Calibri"/>
                <a:ea typeface="Calibri"/>
                <a:cs typeface="Calibri"/>
                <a:sym typeface="Calibri"/>
              </a:rPr>
              <a:t>LLM / embed / web</a:t>
            </a:r>
            <a:endParaRPr sz="1100">
              <a:solidFill>
                <a:srgbClr val="DDDEE6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fr" sz="8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répartition</a:t>
            </a:r>
            <a:endParaRPr sz="1100"/>
          </a:p>
        </p:txBody>
      </p:sp>
      <p:sp>
        <p:nvSpPr>
          <p:cNvPr id="2657" name="Google Shape;2657;p107"/>
          <p:cNvSpPr/>
          <p:nvPr/>
        </p:nvSpPr>
        <p:spPr>
          <a:xfrm>
            <a:off x="4674806" y="1028700"/>
            <a:ext cx="1941000" cy="2400300"/>
          </a:xfrm>
          <a:prstGeom prst="roundRect">
            <a:avLst>
              <a:gd fmla="val 6000" name="adj"/>
            </a:avLst>
          </a:prstGeom>
          <a:solidFill>
            <a:srgbClr val="0E9C8A">
              <a:alpha val="7999"/>
            </a:srgbClr>
          </a:solidFill>
          <a:ln cap="flat" cmpd="sng" w="7150">
            <a:solidFill>
              <a:srgbClr val="0E9C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8" name="Google Shape;2658;p107"/>
          <p:cNvSpPr txBox="1"/>
          <p:nvPr/>
        </p:nvSpPr>
        <p:spPr>
          <a:xfrm>
            <a:off x="4839402" y="1179576"/>
            <a:ext cx="16323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0" spcFirstLastPara="1" rIns="0" wrap="square" tIns="190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fr" sz="1100" u="none" cap="none" strike="noStrike">
                <a:solidFill>
                  <a:srgbClr val="0E9C8A"/>
                </a:solidFill>
                <a:latin typeface="Cambria"/>
                <a:ea typeface="Cambria"/>
                <a:cs typeface="Cambria"/>
                <a:sym typeface="Cambria"/>
              </a:rPr>
              <a:t>Satisfaction</a:t>
            </a:r>
            <a:endParaRPr sz="1100"/>
          </a:p>
        </p:txBody>
      </p:sp>
      <p:sp>
        <p:nvSpPr>
          <p:cNvPr id="2659" name="Google Shape;2659;p107"/>
          <p:cNvSpPr txBox="1"/>
          <p:nvPr/>
        </p:nvSpPr>
        <p:spPr>
          <a:xfrm>
            <a:off x="4839402" y="1591056"/>
            <a:ext cx="1632300" cy="3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0" spcFirstLastPara="1" rIns="0" wrap="square" tIns="190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fr" sz="900" u="none" cap="none" strike="noStrike">
                <a:solidFill>
                  <a:srgbClr val="DDDEE6"/>
                </a:solidFill>
                <a:latin typeface="Calibri"/>
                <a:ea typeface="Calibri"/>
                <a:cs typeface="Calibri"/>
                <a:sym typeface="Calibri"/>
              </a:rPr>
              <a:t>Feedback + / −</a:t>
            </a:r>
            <a:endParaRPr sz="1100">
              <a:solidFill>
                <a:srgbClr val="DDDEE6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fr" sz="8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explicite (pouce)</a:t>
            </a:r>
            <a:endParaRPr sz="1100"/>
          </a:p>
        </p:txBody>
      </p:sp>
      <p:sp>
        <p:nvSpPr>
          <p:cNvPr id="2660" name="Google Shape;2660;p107"/>
          <p:cNvSpPr txBox="1"/>
          <p:nvPr/>
        </p:nvSpPr>
        <p:spPr>
          <a:xfrm>
            <a:off x="4839402" y="2043684"/>
            <a:ext cx="1632300" cy="3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0" spcFirstLastPara="1" rIns="0" wrap="square" tIns="190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fr" sz="900" u="none" cap="none" strike="noStrike">
                <a:solidFill>
                  <a:srgbClr val="DDDEE6"/>
                </a:solidFill>
                <a:latin typeface="Calibri"/>
                <a:ea typeface="Calibri"/>
                <a:cs typeface="Calibri"/>
                <a:sym typeface="Calibri"/>
              </a:rPr>
              <a:t>Clic sur sources</a:t>
            </a:r>
            <a:endParaRPr sz="1100">
              <a:solidFill>
                <a:srgbClr val="DDDEE6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fr" sz="8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confiance</a:t>
            </a:r>
            <a:endParaRPr sz="1100"/>
          </a:p>
        </p:txBody>
      </p:sp>
      <p:sp>
        <p:nvSpPr>
          <p:cNvPr id="2661" name="Google Shape;2661;p107"/>
          <p:cNvSpPr txBox="1"/>
          <p:nvPr/>
        </p:nvSpPr>
        <p:spPr>
          <a:xfrm>
            <a:off x="4839402" y="2496312"/>
            <a:ext cx="1632300" cy="3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0" spcFirstLastPara="1" rIns="0" wrap="square" tIns="190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fr" sz="900" u="none" cap="none" strike="noStrike">
                <a:solidFill>
                  <a:srgbClr val="DDDEE6"/>
                </a:solidFill>
                <a:latin typeface="Calibri"/>
                <a:ea typeface="Calibri"/>
                <a:cs typeface="Calibri"/>
                <a:sym typeface="Calibri"/>
              </a:rPr>
              <a:t>Reformulations</a:t>
            </a:r>
            <a:endParaRPr sz="1100">
              <a:solidFill>
                <a:srgbClr val="DDDEE6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fr" sz="8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signal implicite</a:t>
            </a:r>
            <a:endParaRPr sz="1100"/>
          </a:p>
        </p:txBody>
      </p:sp>
      <p:sp>
        <p:nvSpPr>
          <p:cNvPr id="2662" name="Google Shape;2662;p107"/>
          <p:cNvSpPr txBox="1"/>
          <p:nvPr/>
        </p:nvSpPr>
        <p:spPr>
          <a:xfrm>
            <a:off x="4839402" y="2948940"/>
            <a:ext cx="1632300" cy="3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0" spcFirstLastPara="1" rIns="0" wrap="square" tIns="190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fr" sz="900" u="none" cap="none" strike="noStrike">
                <a:solidFill>
                  <a:srgbClr val="DDDEE6"/>
                </a:solidFill>
                <a:latin typeface="Calibri"/>
                <a:ea typeface="Calibri"/>
                <a:cs typeface="Calibri"/>
                <a:sym typeface="Calibri"/>
              </a:rPr>
              <a:t>Abandon / durée</a:t>
            </a:r>
            <a:endParaRPr sz="1100">
              <a:solidFill>
                <a:srgbClr val="DDDEE6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fr" sz="8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engagement</a:t>
            </a:r>
            <a:endParaRPr sz="1100"/>
          </a:p>
        </p:txBody>
      </p:sp>
      <p:sp>
        <p:nvSpPr>
          <p:cNvPr id="2663" name="Google Shape;2663;p107"/>
          <p:cNvSpPr/>
          <p:nvPr/>
        </p:nvSpPr>
        <p:spPr>
          <a:xfrm>
            <a:off x="6821417" y="1028700"/>
            <a:ext cx="1941000" cy="2400300"/>
          </a:xfrm>
          <a:prstGeom prst="roundRect">
            <a:avLst>
              <a:gd fmla="val 6000" name="adj"/>
            </a:avLst>
          </a:prstGeom>
          <a:solidFill>
            <a:srgbClr val="0E9C8A">
              <a:alpha val="7999"/>
            </a:srgbClr>
          </a:solidFill>
          <a:ln cap="flat" cmpd="sng" w="7150">
            <a:solidFill>
              <a:srgbClr val="0E9C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4" name="Google Shape;2664;p107"/>
          <p:cNvSpPr txBox="1"/>
          <p:nvPr/>
        </p:nvSpPr>
        <p:spPr>
          <a:xfrm>
            <a:off x="6986013" y="1179576"/>
            <a:ext cx="16323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0" spcFirstLastPara="1" rIns="0" wrap="square" tIns="190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fr" sz="1100" u="none" cap="none" strike="noStrike">
                <a:solidFill>
                  <a:srgbClr val="0E9C8A"/>
                </a:solidFill>
                <a:latin typeface="Cambria"/>
                <a:ea typeface="Cambria"/>
                <a:cs typeface="Cambria"/>
                <a:sym typeface="Cambria"/>
              </a:rPr>
              <a:t>Technique</a:t>
            </a:r>
            <a:endParaRPr sz="1100"/>
          </a:p>
        </p:txBody>
      </p:sp>
      <p:sp>
        <p:nvSpPr>
          <p:cNvPr id="2665" name="Google Shape;2665;p107"/>
          <p:cNvSpPr txBox="1"/>
          <p:nvPr/>
        </p:nvSpPr>
        <p:spPr>
          <a:xfrm>
            <a:off x="6986013" y="1591056"/>
            <a:ext cx="1632300" cy="3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0" spcFirstLastPara="1" rIns="0" wrap="square" tIns="190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fr" sz="900" u="none" cap="none" strike="noStrike">
                <a:solidFill>
                  <a:srgbClr val="DDDEE6"/>
                </a:solidFill>
                <a:latin typeface="Calibri"/>
                <a:ea typeface="Calibri"/>
                <a:cs typeface="Calibri"/>
                <a:sym typeface="Calibri"/>
              </a:rPr>
              <a:t>Time-to-first-token</a:t>
            </a:r>
            <a:endParaRPr sz="1100">
              <a:solidFill>
                <a:srgbClr val="DDDEE6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fr" sz="8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latence perçue (SSE)</a:t>
            </a:r>
            <a:endParaRPr sz="1100"/>
          </a:p>
        </p:txBody>
      </p:sp>
      <p:sp>
        <p:nvSpPr>
          <p:cNvPr id="2666" name="Google Shape;2666;p107"/>
          <p:cNvSpPr txBox="1"/>
          <p:nvPr/>
        </p:nvSpPr>
        <p:spPr>
          <a:xfrm>
            <a:off x="6986013" y="2043684"/>
            <a:ext cx="1632300" cy="3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0" spcFirstLastPara="1" rIns="0" wrap="square" tIns="190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fr" sz="900" u="none" cap="none" strike="noStrike">
                <a:solidFill>
                  <a:srgbClr val="DDDEE6"/>
                </a:solidFill>
                <a:latin typeface="Calibri"/>
                <a:ea typeface="Calibri"/>
                <a:cs typeface="Calibri"/>
                <a:sym typeface="Calibri"/>
              </a:rPr>
              <a:t>Latence p50 / p95</a:t>
            </a:r>
            <a:endParaRPr sz="1100">
              <a:solidFill>
                <a:srgbClr val="DDDEE6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fr" sz="8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la queue = pannes</a:t>
            </a:r>
            <a:endParaRPr sz="1100"/>
          </a:p>
        </p:txBody>
      </p:sp>
      <p:sp>
        <p:nvSpPr>
          <p:cNvPr id="2667" name="Google Shape;2667;p107"/>
          <p:cNvSpPr txBox="1"/>
          <p:nvPr/>
        </p:nvSpPr>
        <p:spPr>
          <a:xfrm>
            <a:off x="6986013" y="2496312"/>
            <a:ext cx="1632300" cy="3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0" spcFirstLastPara="1" rIns="0" wrap="square" tIns="190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fr" sz="900" u="none" cap="none" strike="noStrike">
                <a:solidFill>
                  <a:srgbClr val="DDDEE6"/>
                </a:solidFill>
                <a:latin typeface="Calibri"/>
                <a:ea typeface="Calibri"/>
                <a:cs typeface="Calibri"/>
                <a:sym typeface="Calibri"/>
              </a:rPr>
              <a:t>Taux d'erreur</a:t>
            </a:r>
            <a:endParaRPr sz="1100">
              <a:solidFill>
                <a:srgbClr val="DDDEE6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fr" sz="8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5xx, timeouts LLM</a:t>
            </a:r>
            <a:endParaRPr sz="1100"/>
          </a:p>
        </p:txBody>
      </p:sp>
      <p:sp>
        <p:nvSpPr>
          <p:cNvPr id="2668" name="Google Shape;2668;p107"/>
          <p:cNvSpPr txBox="1"/>
          <p:nvPr/>
        </p:nvSpPr>
        <p:spPr>
          <a:xfrm>
            <a:off x="6986013" y="2948940"/>
            <a:ext cx="1632300" cy="3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0" spcFirstLastPara="1" rIns="0" wrap="square" tIns="190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fr" sz="900" u="none" cap="none" strike="noStrike">
                <a:solidFill>
                  <a:srgbClr val="DDDEE6"/>
                </a:solidFill>
                <a:latin typeface="Calibri"/>
                <a:ea typeface="Calibri"/>
                <a:cs typeface="Calibri"/>
                <a:sym typeface="Calibri"/>
              </a:rPr>
              <a:t>Infra (Cockpit)</a:t>
            </a:r>
            <a:endParaRPr sz="1100">
              <a:solidFill>
                <a:srgbClr val="DDDEE6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fr" sz="8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CPU/RAM, Redis, PG</a:t>
            </a:r>
            <a:endParaRPr sz="1100"/>
          </a:p>
        </p:txBody>
      </p:sp>
      <p:sp>
        <p:nvSpPr>
          <p:cNvPr id="2669" name="Google Shape;2669;p107"/>
          <p:cNvSpPr txBox="1"/>
          <p:nvPr/>
        </p:nvSpPr>
        <p:spPr>
          <a:xfrm>
            <a:off x="377200" y="3566150"/>
            <a:ext cx="5457600" cy="1923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0" spcFirstLastPara="1" rIns="0" wrap="square" tIns="190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fr" sz="1000" u="none" cap="none" strike="noStrike">
                <a:solidFill>
                  <a:srgbClr val="0B6F62"/>
                </a:solidFill>
                <a:latin typeface="Calibri"/>
                <a:ea typeface="Calibri"/>
                <a:cs typeface="Calibri"/>
                <a:sym typeface="Calibri"/>
              </a:rPr>
              <a:t>Langfuse</a:t>
            </a:r>
            <a:r>
              <a:rPr b="0" i="0" lang="fr" sz="9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  →  qualité · coût · feedback (LLM / RAG)         </a:t>
            </a:r>
            <a:r>
              <a:rPr b="0" i="0" lang="fr" sz="900" u="none" cap="none" strike="noStrike">
                <a:solidFill>
                  <a:srgbClr val="4F46E5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1" i="0" lang="fr" sz="1000" u="none" cap="none" strike="noStrike">
                <a:solidFill>
                  <a:srgbClr val="4F46E5"/>
                </a:solidFill>
                <a:latin typeface="Calibri"/>
                <a:ea typeface="Calibri"/>
                <a:cs typeface="Calibri"/>
                <a:sym typeface="Calibri"/>
              </a:rPr>
              <a:t>Cockpit</a:t>
            </a:r>
            <a:r>
              <a:rPr b="0" i="0" lang="fr" sz="9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  →  infra Scaleway (conteneurs, ressources)</a:t>
            </a:r>
            <a:endParaRPr sz="1100"/>
          </a:p>
        </p:txBody>
      </p:sp>
      <p:sp>
        <p:nvSpPr>
          <p:cNvPr id="2670" name="Google Shape;2670;p107"/>
          <p:cNvSpPr/>
          <p:nvPr/>
        </p:nvSpPr>
        <p:spPr>
          <a:xfrm>
            <a:off x="958330" y="4409455"/>
            <a:ext cx="1039200" cy="288000"/>
          </a:xfrm>
          <a:prstGeom prst="roundRect">
            <a:avLst>
              <a:gd fmla="val 50000" name="adj"/>
            </a:avLst>
          </a:prstGeom>
          <a:solidFill>
            <a:srgbClr val="4F46E5">
              <a:alpha val="7999"/>
            </a:srgbClr>
          </a:solidFill>
          <a:ln cap="flat" cmpd="sng" w="9525">
            <a:solidFill>
              <a:srgbClr val="4F46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1" name="Google Shape;2671;p107"/>
          <p:cNvSpPr txBox="1"/>
          <p:nvPr/>
        </p:nvSpPr>
        <p:spPr>
          <a:xfrm>
            <a:off x="958330" y="4465555"/>
            <a:ext cx="1039200" cy="17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9050" lIns="0" spcFirstLastPara="1" rIns="0" wrap="square" tIns="1905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fr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€ / requête</a:t>
            </a:r>
            <a:endParaRPr sz="1100"/>
          </a:p>
        </p:txBody>
      </p:sp>
      <p:sp>
        <p:nvSpPr>
          <p:cNvPr id="2672" name="Google Shape;2672;p107"/>
          <p:cNvSpPr/>
          <p:nvPr/>
        </p:nvSpPr>
        <p:spPr>
          <a:xfrm>
            <a:off x="2148225" y="4409455"/>
            <a:ext cx="1039200" cy="288000"/>
          </a:xfrm>
          <a:prstGeom prst="roundRect">
            <a:avLst>
              <a:gd fmla="val 50000" name="adj"/>
            </a:avLst>
          </a:prstGeom>
          <a:solidFill>
            <a:srgbClr val="4F46E5">
              <a:alpha val="7999"/>
            </a:srgbClr>
          </a:solidFill>
          <a:ln cap="flat" cmpd="sng" w="9525">
            <a:solidFill>
              <a:srgbClr val="4F46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3" name="Google Shape;2673;p107"/>
          <p:cNvSpPr txBox="1"/>
          <p:nvPr/>
        </p:nvSpPr>
        <p:spPr>
          <a:xfrm>
            <a:off x="2148225" y="4465555"/>
            <a:ext cx="1039200" cy="17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9050" lIns="0" spcFirstLastPara="1" rIns="0" wrap="square" tIns="1905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fr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Latence p95</a:t>
            </a:r>
            <a:endParaRPr sz="1100"/>
          </a:p>
        </p:txBody>
      </p:sp>
      <p:sp>
        <p:nvSpPr>
          <p:cNvPr id="2674" name="Google Shape;2674;p107"/>
          <p:cNvSpPr/>
          <p:nvPr/>
        </p:nvSpPr>
        <p:spPr>
          <a:xfrm>
            <a:off x="3338120" y="4409455"/>
            <a:ext cx="1183200" cy="288000"/>
          </a:xfrm>
          <a:prstGeom prst="roundRect">
            <a:avLst>
              <a:gd fmla="val 50000" name="adj"/>
            </a:avLst>
          </a:prstGeom>
          <a:solidFill>
            <a:srgbClr val="4F46E5">
              <a:alpha val="7999"/>
            </a:srgbClr>
          </a:solidFill>
          <a:ln cap="flat" cmpd="sng" w="9525">
            <a:solidFill>
              <a:srgbClr val="4F46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5" name="Google Shape;2675;p107"/>
          <p:cNvSpPr txBox="1"/>
          <p:nvPr/>
        </p:nvSpPr>
        <p:spPr>
          <a:xfrm>
            <a:off x="3338120" y="4465555"/>
            <a:ext cx="1183200" cy="17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9050" lIns="0" spcFirstLastPara="1" rIns="0" wrap="square" tIns="1905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fr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Taux d'erreur</a:t>
            </a:r>
            <a:endParaRPr sz="1100"/>
          </a:p>
        </p:txBody>
      </p:sp>
      <p:sp>
        <p:nvSpPr>
          <p:cNvPr id="2676" name="Google Shape;2676;p107"/>
          <p:cNvSpPr/>
          <p:nvPr/>
        </p:nvSpPr>
        <p:spPr>
          <a:xfrm>
            <a:off x="4672036" y="4409455"/>
            <a:ext cx="1111200" cy="288000"/>
          </a:xfrm>
          <a:prstGeom prst="roundRect">
            <a:avLst>
              <a:gd fmla="val 50000" name="adj"/>
            </a:avLst>
          </a:prstGeom>
          <a:solidFill>
            <a:srgbClr val="4F46E5">
              <a:alpha val="7999"/>
            </a:srgbClr>
          </a:solidFill>
          <a:ln cap="flat" cmpd="sng" w="9525">
            <a:solidFill>
              <a:srgbClr val="4F46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7" name="Google Shape;2677;p107"/>
          <p:cNvSpPr txBox="1"/>
          <p:nvPr/>
        </p:nvSpPr>
        <p:spPr>
          <a:xfrm>
            <a:off x="4672049" y="4465555"/>
            <a:ext cx="1111200" cy="17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9050" lIns="0" spcFirstLastPara="1" rIns="0" wrap="square" tIns="1905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fr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Faithfulness</a:t>
            </a:r>
            <a:endParaRPr sz="1100"/>
          </a:p>
        </p:txBody>
      </p:sp>
      <p:sp>
        <p:nvSpPr>
          <p:cNvPr id="2678" name="Google Shape;2678;p107"/>
          <p:cNvSpPr/>
          <p:nvPr/>
        </p:nvSpPr>
        <p:spPr>
          <a:xfrm>
            <a:off x="5933942" y="4409455"/>
            <a:ext cx="1255200" cy="288000"/>
          </a:xfrm>
          <a:prstGeom prst="roundRect">
            <a:avLst>
              <a:gd fmla="val 50000" name="adj"/>
            </a:avLst>
          </a:prstGeom>
          <a:noFill/>
          <a:ln cap="flat" cmpd="sng" w="9525">
            <a:solidFill>
              <a:srgbClr val="4F46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9" name="Google Shape;2679;p107"/>
          <p:cNvSpPr txBox="1"/>
          <p:nvPr/>
        </p:nvSpPr>
        <p:spPr>
          <a:xfrm>
            <a:off x="5933942" y="4465555"/>
            <a:ext cx="1255200" cy="177000"/>
          </a:xfrm>
          <a:prstGeom prst="rect">
            <a:avLst/>
          </a:prstGeom>
          <a:solidFill>
            <a:srgbClr val="4F46E5">
              <a:alpha val="7999"/>
            </a:srgbClr>
          </a:solidFill>
          <a:ln>
            <a:noFill/>
          </a:ln>
        </p:spPr>
        <p:txBody>
          <a:bodyPr anchorCtr="0" anchor="ctr" bIns="19050" lIns="0" spcFirstLastPara="1" rIns="0" wrap="square" tIns="1905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fr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Feedback + / −</a:t>
            </a:r>
            <a:endParaRPr sz="1100"/>
          </a:p>
        </p:txBody>
      </p:sp>
      <p:sp>
        <p:nvSpPr>
          <p:cNvPr id="2680" name="Google Shape;2680;p107"/>
          <p:cNvSpPr/>
          <p:nvPr/>
        </p:nvSpPr>
        <p:spPr>
          <a:xfrm>
            <a:off x="7339870" y="4409455"/>
            <a:ext cx="823200" cy="288000"/>
          </a:xfrm>
          <a:prstGeom prst="roundRect">
            <a:avLst>
              <a:gd fmla="val 50000" name="adj"/>
            </a:avLst>
          </a:prstGeom>
          <a:solidFill>
            <a:srgbClr val="4F46E5">
              <a:alpha val="7999"/>
            </a:srgbClr>
          </a:solidFill>
          <a:ln cap="flat" cmpd="sng" w="9525">
            <a:solidFill>
              <a:srgbClr val="4F46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1" name="Google Shape;2681;p107"/>
          <p:cNvSpPr txBox="1"/>
          <p:nvPr/>
        </p:nvSpPr>
        <p:spPr>
          <a:xfrm>
            <a:off x="7339845" y="4465555"/>
            <a:ext cx="823200" cy="17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9050" lIns="0" spcFirstLastPara="1" rIns="0" wrap="square" tIns="1905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fr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Recall@k</a:t>
            </a:r>
            <a:endParaRPr sz="1100"/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86" name="Shape 26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7" name="Google Shape;2687;p108"/>
          <p:cNvSpPr txBox="1"/>
          <p:nvPr/>
        </p:nvSpPr>
        <p:spPr>
          <a:xfrm>
            <a:off x="377200" y="233175"/>
            <a:ext cx="2286900" cy="45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9050" lIns="0" spcFirstLastPara="1" rIns="0" wrap="square" tIns="190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1800">
                <a:solidFill>
                  <a:srgbClr val="0E9C8A"/>
                </a:solidFill>
                <a:latin typeface="Calibri"/>
                <a:ea typeface="Calibri"/>
                <a:cs typeface="Calibri"/>
                <a:sym typeface="Calibri"/>
              </a:rPr>
              <a:t>Pilotage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8" name="Google Shape;2688;p108"/>
          <p:cNvSpPr txBox="1"/>
          <p:nvPr/>
        </p:nvSpPr>
        <p:spPr>
          <a:xfrm>
            <a:off x="377200" y="675550"/>
            <a:ext cx="23910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9050" lIns="0" spcFirstLastPara="1" rIns="0" wrap="square" tIns="190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1100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Délais &amp; budget</a:t>
            </a:r>
            <a:endParaRPr b="1" sz="1100">
              <a:solidFill>
                <a:srgbClr val="9CA3A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9" name="Google Shape;2689;p108"/>
          <p:cNvSpPr txBox="1"/>
          <p:nvPr/>
        </p:nvSpPr>
        <p:spPr>
          <a:xfrm>
            <a:off x="377200" y="4945850"/>
            <a:ext cx="999000" cy="166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700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MVP RAG Puls-Events</a:t>
            </a:r>
            <a:endParaRPr sz="700">
              <a:solidFill>
                <a:srgbClr val="9CA3A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94" name="Shape 26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5" name="Google Shape;2695;p109"/>
          <p:cNvSpPr txBox="1"/>
          <p:nvPr/>
        </p:nvSpPr>
        <p:spPr>
          <a:xfrm>
            <a:off x="377200" y="233175"/>
            <a:ext cx="2286900" cy="45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9050" lIns="0" spcFirstLastPara="1" rIns="0" wrap="square" tIns="190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1800">
                <a:solidFill>
                  <a:srgbClr val="0E9C8A"/>
                </a:solidFill>
                <a:latin typeface="Calibri"/>
                <a:ea typeface="Calibri"/>
                <a:cs typeface="Calibri"/>
                <a:sym typeface="Calibri"/>
              </a:rPr>
              <a:t>Pilotage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6" name="Google Shape;2696;p109"/>
          <p:cNvSpPr txBox="1"/>
          <p:nvPr/>
        </p:nvSpPr>
        <p:spPr>
          <a:xfrm>
            <a:off x="377200" y="675550"/>
            <a:ext cx="23910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9050" lIns="0" spcFirstLastPara="1" rIns="0" wrap="square" tIns="190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1100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Délais &amp; budget</a:t>
            </a:r>
            <a:endParaRPr b="1" sz="1100">
              <a:solidFill>
                <a:srgbClr val="9CA3A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7" name="Google Shape;2697;p109"/>
          <p:cNvSpPr txBox="1"/>
          <p:nvPr/>
        </p:nvSpPr>
        <p:spPr>
          <a:xfrm>
            <a:off x="377200" y="4945850"/>
            <a:ext cx="999000" cy="166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700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MVP RAG Puls-Events</a:t>
            </a:r>
            <a:endParaRPr sz="700">
              <a:solidFill>
                <a:srgbClr val="9CA3A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8" name="Google Shape;2698;p109"/>
          <p:cNvSpPr txBox="1"/>
          <p:nvPr/>
        </p:nvSpPr>
        <p:spPr>
          <a:xfrm>
            <a:off x="377200" y="1028700"/>
            <a:ext cx="4114800" cy="2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0" spcFirstLastPara="1" rIns="0" wrap="square" tIns="190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fr" sz="1200" u="none" cap="none" strike="noStrike">
                <a:solidFill>
                  <a:srgbClr val="DDDEE6"/>
                </a:solidFill>
                <a:latin typeface="Cambria"/>
                <a:ea typeface="Cambria"/>
                <a:cs typeface="Cambria"/>
                <a:sym typeface="Cambria"/>
              </a:rPr>
              <a:t>Phasage — estimation ~10 semaines</a:t>
            </a:r>
            <a:endParaRPr sz="1100">
              <a:solidFill>
                <a:srgbClr val="DDDEE6"/>
              </a:solidFill>
            </a:endParaRPr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03" name="Shape 27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4" name="Google Shape;2704;p110"/>
          <p:cNvSpPr txBox="1"/>
          <p:nvPr/>
        </p:nvSpPr>
        <p:spPr>
          <a:xfrm>
            <a:off x="377200" y="233175"/>
            <a:ext cx="2286900" cy="45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9050" lIns="0" spcFirstLastPara="1" rIns="0" wrap="square" tIns="190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1800">
                <a:solidFill>
                  <a:srgbClr val="0E9C8A"/>
                </a:solidFill>
                <a:latin typeface="Calibri"/>
                <a:ea typeface="Calibri"/>
                <a:cs typeface="Calibri"/>
                <a:sym typeface="Calibri"/>
              </a:rPr>
              <a:t>Pilotage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5" name="Google Shape;2705;p110"/>
          <p:cNvSpPr txBox="1"/>
          <p:nvPr/>
        </p:nvSpPr>
        <p:spPr>
          <a:xfrm>
            <a:off x="377200" y="675550"/>
            <a:ext cx="23910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9050" lIns="0" spcFirstLastPara="1" rIns="0" wrap="square" tIns="190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1100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Délais &amp; budget</a:t>
            </a:r>
            <a:endParaRPr b="1" sz="1100">
              <a:solidFill>
                <a:srgbClr val="9CA3A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6" name="Google Shape;2706;p110"/>
          <p:cNvSpPr txBox="1"/>
          <p:nvPr/>
        </p:nvSpPr>
        <p:spPr>
          <a:xfrm>
            <a:off x="377200" y="4945850"/>
            <a:ext cx="999000" cy="166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700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MVP RAG Puls-Events</a:t>
            </a:r>
            <a:endParaRPr sz="700">
              <a:solidFill>
                <a:srgbClr val="9CA3A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7" name="Google Shape;2707;p110"/>
          <p:cNvSpPr txBox="1"/>
          <p:nvPr/>
        </p:nvSpPr>
        <p:spPr>
          <a:xfrm>
            <a:off x="377200" y="1028700"/>
            <a:ext cx="4114800" cy="2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0" spcFirstLastPara="1" rIns="0" wrap="square" tIns="190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fr" sz="1200" u="none" cap="none" strike="noStrike">
                <a:solidFill>
                  <a:srgbClr val="DDDEE6"/>
                </a:solidFill>
                <a:latin typeface="Cambria"/>
                <a:ea typeface="Cambria"/>
                <a:cs typeface="Cambria"/>
                <a:sym typeface="Cambria"/>
              </a:rPr>
              <a:t>Phasage — estimation ~10 semaines</a:t>
            </a:r>
            <a:endParaRPr sz="1100">
              <a:solidFill>
                <a:srgbClr val="DDDEE6"/>
              </a:solidFill>
            </a:endParaRPr>
          </a:p>
        </p:txBody>
      </p:sp>
      <p:sp>
        <p:nvSpPr>
          <p:cNvPr id="2708" name="Google Shape;2708;p110"/>
          <p:cNvSpPr/>
          <p:nvPr/>
        </p:nvSpPr>
        <p:spPr>
          <a:xfrm>
            <a:off x="377200" y="1405889"/>
            <a:ext cx="4114800" cy="699600"/>
          </a:xfrm>
          <a:prstGeom prst="roundRect">
            <a:avLst>
              <a:gd fmla="val 6000" name="adj"/>
            </a:avLst>
          </a:prstGeom>
          <a:solidFill>
            <a:srgbClr val="0E9C8A">
              <a:alpha val="31999"/>
            </a:srgbClr>
          </a:solidFill>
          <a:ln cap="flat" cmpd="sng" w="7150">
            <a:solidFill>
              <a:srgbClr val="0E9C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9" name="Google Shape;2709;p110"/>
          <p:cNvSpPr/>
          <p:nvPr/>
        </p:nvSpPr>
        <p:spPr>
          <a:xfrm>
            <a:off x="534938" y="1591056"/>
            <a:ext cx="329100" cy="329100"/>
          </a:xfrm>
          <a:prstGeom prst="ellipse">
            <a:avLst/>
          </a:prstGeom>
          <a:solidFill>
            <a:srgbClr val="0E9C8A">
              <a:alpha val="7999"/>
            </a:srgbClr>
          </a:solidFill>
          <a:ln cap="flat" cmpd="sng" w="9525">
            <a:solidFill>
              <a:srgbClr val="0E9C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fr" sz="1100" u="none" cap="none" strike="noStrike">
                <a:solidFill>
                  <a:srgbClr val="0E9C8A"/>
                </a:solidFill>
                <a:latin typeface="Cambria"/>
                <a:ea typeface="Cambria"/>
                <a:cs typeface="Cambria"/>
                <a:sym typeface="Cambria"/>
              </a:rPr>
              <a:t>0</a:t>
            </a:r>
            <a:endParaRPr sz="1100">
              <a:solidFill>
                <a:srgbClr val="0E9C8A"/>
              </a:solidFill>
            </a:endParaRPr>
          </a:p>
        </p:txBody>
      </p:sp>
      <p:sp>
        <p:nvSpPr>
          <p:cNvPr id="2710" name="Google Shape;2710;p110"/>
          <p:cNvSpPr txBox="1"/>
          <p:nvPr/>
        </p:nvSpPr>
        <p:spPr>
          <a:xfrm>
            <a:off x="994437" y="1495043"/>
            <a:ext cx="2400300" cy="3591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0" spcFirstLastPara="1" rIns="0" wrap="square" tIns="190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fr" sz="1100" u="none" cap="none" strike="noStrike">
                <a:solidFill>
                  <a:srgbClr val="DDDEE6"/>
                </a:solidFill>
                <a:latin typeface="Calibri"/>
                <a:ea typeface="Calibri"/>
                <a:cs typeface="Calibri"/>
                <a:sym typeface="Calibri"/>
              </a:rPr>
              <a:t>Phase 0 </a:t>
            </a:r>
            <a:r>
              <a:rPr b="1" lang="fr" sz="1100">
                <a:solidFill>
                  <a:srgbClr val="DDDEE6"/>
                </a:solidFill>
                <a:latin typeface="Calibri"/>
                <a:ea typeface="Calibri"/>
                <a:cs typeface="Calibri"/>
                <a:sym typeface="Calibri"/>
              </a:rPr>
              <a:t>-</a:t>
            </a:r>
            <a:r>
              <a:rPr b="1" i="0" lang="fr" sz="11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1" i="0" lang="fr" sz="1100" u="none" cap="none" strike="noStrike">
                <a:solidFill>
                  <a:srgbClr val="0E9C8A"/>
                </a:solidFill>
                <a:latin typeface="Calibri"/>
                <a:ea typeface="Calibri"/>
                <a:cs typeface="Calibri"/>
                <a:sym typeface="Calibri"/>
              </a:rPr>
              <a:t>Socle &amp; infra</a:t>
            </a:r>
            <a:endParaRPr sz="1100"/>
          </a:p>
          <a:p>
            <a:pPr indent="0" lvl="0" marL="0" marR="0" rtl="0" algn="l">
              <a:spcBef>
                <a:spcPts val="100"/>
              </a:spcBef>
              <a:spcAft>
                <a:spcPts val="0"/>
              </a:spcAft>
              <a:buNone/>
            </a:pPr>
            <a:r>
              <a:rPr b="0" i="0" lang="fr" sz="9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Docker, Scaleway, Postgres (pgvector + PostGIS)</a:t>
            </a:r>
            <a:endParaRPr sz="1100"/>
          </a:p>
        </p:txBody>
      </p:sp>
      <p:sp>
        <p:nvSpPr>
          <p:cNvPr id="2711" name="Google Shape;2711;p110"/>
          <p:cNvSpPr txBox="1"/>
          <p:nvPr/>
        </p:nvSpPr>
        <p:spPr>
          <a:xfrm>
            <a:off x="3429091" y="1495043"/>
            <a:ext cx="960000" cy="19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9050" lIns="0" spcFirstLastPara="1" rIns="0" wrap="square" tIns="1905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fr" sz="1000" u="none" cap="none" strike="noStrike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~2 sem</a:t>
            </a:r>
            <a:endParaRPr sz="1100">
              <a:solidFill>
                <a:srgbClr val="9CA3AF"/>
              </a:solidFill>
            </a:endParaRPr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16" name="Shape 27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7" name="Google Shape;2717;p111"/>
          <p:cNvSpPr txBox="1"/>
          <p:nvPr/>
        </p:nvSpPr>
        <p:spPr>
          <a:xfrm>
            <a:off x="377200" y="233175"/>
            <a:ext cx="2286900" cy="45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9050" lIns="0" spcFirstLastPara="1" rIns="0" wrap="square" tIns="190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1800">
                <a:solidFill>
                  <a:srgbClr val="0E9C8A"/>
                </a:solidFill>
                <a:latin typeface="Calibri"/>
                <a:ea typeface="Calibri"/>
                <a:cs typeface="Calibri"/>
                <a:sym typeface="Calibri"/>
              </a:rPr>
              <a:t>Pilotage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8" name="Google Shape;2718;p111"/>
          <p:cNvSpPr txBox="1"/>
          <p:nvPr/>
        </p:nvSpPr>
        <p:spPr>
          <a:xfrm>
            <a:off x="377200" y="675550"/>
            <a:ext cx="23910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9050" lIns="0" spcFirstLastPara="1" rIns="0" wrap="square" tIns="190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1100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Délais &amp; budget</a:t>
            </a:r>
            <a:endParaRPr b="1" sz="1100">
              <a:solidFill>
                <a:srgbClr val="9CA3A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9" name="Google Shape;2719;p111"/>
          <p:cNvSpPr txBox="1"/>
          <p:nvPr/>
        </p:nvSpPr>
        <p:spPr>
          <a:xfrm>
            <a:off x="377200" y="4945850"/>
            <a:ext cx="999000" cy="166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700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MVP RAG Puls-Events</a:t>
            </a:r>
            <a:endParaRPr sz="700">
              <a:solidFill>
                <a:srgbClr val="9CA3A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0" name="Google Shape;2720;p111"/>
          <p:cNvSpPr txBox="1"/>
          <p:nvPr/>
        </p:nvSpPr>
        <p:spPr>
          <a:xfrm>
            <a:off x="377200" y="1028700"/>
            <a:ext cx="4114800" cy="2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0" spcFirstLastPara="1" rIns="0" wrap="square" tIns="190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fr" sz="1200" u="none" cap="none" strike="noStrike">
                <a:solidFill>
                  <a:srgbClr val="DDDEE6"/>
                </a:solidFill>
                <a:latin typeface="Cambria"/>
                <a:ea typeface="Cambria"/>
                <a:cs typeface="Cambria"/>
                <a:sym typeface="Cambria"/>
              </a:rPr>
              <a:t>Phasage — estimation ~10 semaines</a:t>
            </a:r>
            <a:endParaRPr sz="1100">
              <a:solidFill>
                <a:srgbClr val="DDDEE6"/>
              </a:solidFill>
            </a:endParaRPr>
          </a:p>
        </p:txBody>
      </p:sp>
      <p:sp>
        <p:nvSpPr>
          <p:cNvPr id="2721" name="Google Shape;2721;p111"/>
          <p:cNvSpPr/>
          <p:nvPr/>
        </p:nvSpPr>
        <p:spPr>
          <a:xfrm>
            <a:off x="377200" y="1405889"/>
            <a:ext cx="4114800" cy="699600"/>
          </a:xfrm>
          <a:prstGeom prst="roundRect">
            <a:avLst>
              <a:gd fmla="val 6000" name="adj"/>
            </a:avLst>
          </a:prstGeom>
          <a:solidFill>
            <a:srgbClr val="0E9C8A">
              <a:alpha val="31999"/>
            </a:srgbClr>
          </a:solidFill>
          <a:ln cap="flat" cmpd="sng" w="7150">
            <a:solidFill>
              <a:srgbClr val="0E9C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2" name="Google Shape;2722;p111"/>
          <p:cNvSpPr/>
          <p:nvPr/>
        </p:nvSpPr>
        <p:spPr>
          <a:xfrm>
            <a:off x="534938" y="1591056"/>
            <a:ext cx="329100" cy="329100"/>
          </a:xfrm>
          <a:prstGeom prst="ellipse">
            <a:avLst/>
          </a:prstGeom>
          <a:solidFill>
            <a:srgbClr val="0E9C8A">
              <a:alpha val="7999"/>
            </a:srgbClr>
          </a:solidFill>
          <a:ln cap="flat" cmpd="sng" w="9525">
            <a:solidFill>
              <a:srgbClr val="0E9C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fr" sz="1100" u="none" cap="none" strike="noStrike">
                <a:solidFill>
                  <a:srgbClr val="0E9C8A"/>
                </a:solidFill>
                <a:latin typeface="Cambria"/>
                <a:ea typeface="Cambria"/>
                <a:cs typeface="Cambria"/>
                <a:sym typeface="Cambria"/>
              </a:rPr>
              <a:t>0</a:t>
            </a:r>
            <a:endParaRPr sz="1100">
              <a:solidFill>
                <a:srgbClr val="0E9C8A"/>
              </a:solidFill>
            </a:endParaRPr>
          </a:p>
        </p:txBody>
      </p:sp>
      <p:sp>
        <p:nvSpPr>
          <p:cNvPr id="2723" name="Google Shape;2723;p111"/>
          <p:cNvSpPr txBox="1"/>
          <p:nvPr/>
        </p:nvSpPr>
        <p:spPr>
          <a:xfrm>
            <a:off x="994437" y="1495043"/>
            <a:ext cx="2400300" cy="3591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0" spcFirstLastPara="1" rIns="0" wrap="square" tIns="190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fr" sz="1100" u="none" cap="none" strike="noStrike">
                <a:solidFill>
                  <a:srgbClr val="DDDEE6"/>
                </a:solidFill>
                <a:latin typeface="Calibri"/>
                <a:ea typeface="Calibri"/>
                <a:cs typeface="Calibri"/>
                <a:sym typeface="Calibri"/>
              </a:rPr>
              <a:t>Phase 0 </a:t>
            </a:r>
            <a:r>
              <a:rPr b="1" lang="fr" sz="1100">
                <a:solidFill>
                  <a:srgbClr val="DDDEE6"/>
                </a:solidFill>
                <a:latin typeface="Calibri"/>
                <a:ea typeface="Calibri"/>
                <a:cs typeface="Calibri"/>
                <a:sym typeface="Calibri"/>
              </a:rPr>
              <a:t>-</a:t>
            </a:r>
            <a:r>
              <a:rPr b="1" i="0" lang="fr" sz="11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1" i="0" lang="fr" sz="1100" u="none" cap="none" strike="noStrike">
                <a:solidFill>
                  <a:srgbClr val="0E9C8A"/>
                </a:solidFill>
                <a:latin typeface="Calibri"/>
                <a:ea typeface="Calibri"/>
                <a:cs typeface="Calibri"/>
                <a:sym typeface="Calibri"/>
              </a:rPr>
              <a:t>Socle &amp; infra</a:t>
            </a:r>
            <a:endParaRPr sz="1100"/>
          </a:p>
          <a:p>
            <a:pPr indent="0" lvl="0" marL="0" marR="0" rtl="0" algn="l">
              <a:spcBef>
                <a:spcPts val="100"/>
              </a:spcBef>
              <a:spcAft>
                <a:spcPts val="0"/>
              </a:spcAft>
              <a:buNone/>
            </a:pPr>
            <a:r>
              <a:rPr b="0" i="0" lang="fr" sz="9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Docker, Scaleway, Postgres (pgvector + PostGIS)</a:t>
            </a:r>
            <a:endParaRPr sz="1100"/>
          </a:p>
        </p:txBody>
      </p:sp>
      <p:sp>
        <p:nvSpPr>
          <p:cNvPr id="2724" name="Google Shape;2724;p111"/>
          <p:cNvSpPr txBox="1"/>
          <p:nvPr/>
        </p:nvSpPr>
        <p:spPr>
          <a:xfrm>
            <a:off x="3429091" y="1495043"/>
            <a:ext cx="960000" cy="19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9050" lIns="0" spcFirstLastPara="1" rIns="0" wrap="square" tIns="1905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fr" sz="1000" u="none" cap="none" strike="noStrike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~2 sem</a:t>
            </a:r>
            <a:endParaRPr sz="1100">
              <a:solidFill>
                <a:srgbClr val="9CA3AF"/>
              </a:solidFill>
            </a:endParaRPr>
          </a:p>
        </p:txBody>
      </p:sp>
      <p:sp>
        <p:nvSpPr>
          <p:cNvPr id="2725" name="Google Shape;2725;p111"/>
          <p:cNvSpPr/>
          <p:nvPr/>
        </p:nvSpPr>
        <p:spPr>
          <a:xfrm>
            <a:off x="377200" y="2173986"/>
            <a:ext cx="4114800" cy="699600"/>
          </a:xfrm>
          <a:prstGeom prst="roundRect">
            <a:avLst>
              <a:gd fmla="val 6000" name="adj"/>
            </a:avLst>
          </a:prstGeom>
          <a:solidFill>
            <a:srgbClr val="0E9C8A">
              <a:alpha val="23999"/>
            </a:srgbClr>
          </a:solidFill>
          <a:ln cap="flat" cmpd="sng" w="7150">
            <a:solidFill>
              <a:srgbClr val="0E9C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6" name="Google Shape;2726;p111"/>
          <p:cNvSpPr/>
          <p:nvPr/>
        </p:nvSpPr>
        <p:spPr>
          <a:xfrm>
            <a:off x="534938" y="2359152"/>
            <a:ext cx="329100" cy="329100"/>
          </a:xfrm>
          <a:prstGeom prst="ellipse">
            <a:avLst/>
          </a:prstGeom>
          <a:solidFill>
            <a:srgbClr val="0E9C8A">
              <a:alpha val="7999"/>
            </a:srgbClr>
          </a:solidFill>
          <a:ln cap="flat" cmpd="sng" w="9525">
            <a:solidFill>
              <a:srgbClr val="0E9C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fr" sz="1100" u="none" cap="none" strike="noStrike">
                <a:solidFill>
                  <a:srgbClr val="0E9C8A"/>
                </a:solidFill>
                <a:latin typeface="Cambria"/>
                <a:ea typeface="Cambria"/>
                <a:cs typeface="Cambria"/>
                <a:sym typeface="Cambria"/>
              </a:rPr>
              <a:t>1</a:t>
            </a:r>
            <a:endParaRPr sz="1100">
              <a:solidFill>
                <a:srgbClr val="0E9C8A"/>
              </a:solidFill>
            </a:endParaRPr>
          </a:p>
        </p:txBody>
      </p:sp>
      <p:sp>
        <p:nvSpPr>
          <p:cNvPr id="2727" name="Google Shape;2727;p111"/>
          <p:cNvSpPr txBox="1"/>
          <p:nvPr/>
        </p:nvSpPr>
        <p:spPr>
          <a:xfrm>
            <a:off x="994437" y="2263140"/>
            <a:ext cx="2400300" cy="3591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0" spcFirstLastPara="1" rIns="0" wrap="square" tIns="190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fr" sz="1100" u="none" cap="none" strike="noStrike">
                <a:solidFill>
                  <a:srgbClr val="DDDEE6"/>
                </a:solidFill>
                <a:latin typeface="Calibri"/>
                <a:ea typeface="Calibri"/>
                <a:cs typeface="Calibri"/>
                <a:sym typeface="Calibri"/>
              </a:rPr>
              <a:t>Phase 1 </a:t>
            </a:r>
            <a:r>
              <a:rPr b="1" lang="fr" sz="1100">
                <a:solidFill>
                  <a:srgbClr val="DDDEE6"/>
                </a:solidFill>
                <a:latin typeface="Calibri"/>
                <a:ea typeface="Calibri"/>
                <a:cs typeface="Calibri"/>
                <a:sym typeface="Calibri"/>
              </a:rPr>
              <a:t>-</a:t>
            </a:r>
            <a:r>
              <a:rPr b="1" i="0" lang="fr" sz="11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1" i="0" lang="fr" sz="1100" u="none" cap="none" strike="noStrike">
                <a:solidFill>
                  <a:srgbClr val="0E9C8A"/>
                </a:solidFill>
                <a:latin typeface="Calibri"/>
                <a:ea typeface="Calibri"/>
                <a:cs typeface="Calibri"/>
                <a:sym typeface="Calibri"/>
              </a:rPr>
              <a:t>Mémoire + Géo</a:t>
            </a:r>
            <a:endParaRPr sz="1100"/>
          </a:p>
          <a:p>
            <a:pPr indent="0" lvl="0" marL="0" marR="0" rtl="0" algn="l">
              <a:spcBef>
                <a:spcPts val="100"/>
              </a:spcBef>
              <a:spcAft>
                <a:spcPts val="0"/>
              </a:spcAft>
              <a:buNone/>
            </a:pPr>
            <a:r>
              <a:rPr b="0" i="0" lang="fr" sz="9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Redis + Postgres LT, requêtes PostGIS</a:t>
            </a:r>
            <a:endParaRPr sz="1100"/>
          </a:p>
        </p:txBody>
      </p:sp>
      <p:sp>
        <p:nvSpPr>
          <p:cNvPr id="2728" name="Google Shape;2728;p111"/>
          <p:cNvSpPr txBox="1"/>
          <p:nvPr/>
        </p:nvSpPr>
        <p:spPr>
          <a:xfrm>
            <a:off x="3429091" y="2263140"/>
            <a:ext cx="960000" cy="19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9050" lIns="0" spcFirstLastPara="1" rIns="0" wrap="square" tIns="1905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fr" sz="1000" u="none" cap="none" strike="noStrike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~3 sem</a:t>
            </a:r>
            <a:endParaRPr sz="1100">
              <a:solidFill>
                <a:srgbClr val="9CA3AF"/>
              </a:solidFill>
            </a:endParaRPr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33" name="Shape 27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4" name="Google Shape;2734;p112"/>
          <p:cNvSpPr txBox="1"/>
          <p:nvPr/>
        </p:nvSpPr>
        <p:spPr>
          <a:xfrm>
            <a:off x="377200" y="233175"/>
            <a:ext cx="2286900" cy="45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9050" lIns="0" spcFirstLastPara="1" rIns="0" wrap="square" tIns="190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1800">
                <a:solidFill>
                  <a:srgbClr val="0E9C8A"/>
                </a:solidFill>
                <a:latin typeface="Calibri"/>
                <a:ea typeface="Calibri"/>
                <a:cs typeface="Calibri"/>
                <a:sym typeface="Calibri"/>
              </a:rPr>
              <a:t>Pilotage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5" name="Google Shape;2735;p112"/>
          <p:cNvSpPr txBox="1"/>
          <p:nvPr/>
        </p:nvSpPr>
        <p:spPr>
          <a:xfrm>
            <a:off x="377200" y="675550"/>
            <a:ext cx="23910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9050" lIns="0" spcFirstLastPara="1" rIns="0" wrap="square" tIns="190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1100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Délais &amp; budget</a:t>
            </a:r>
            <a:endParaRPr b="1" sz="1100">
              <a:solidFill>
                <a:srgbClr val="9CA3A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6" name="Google Shape;2736;p112"/>
          <p:cNvSpPr txBox="1"/>
          <p:nvPr/>
        </p:nvSpPr>
        <p:spPr>
          <a:xfrm>
            <a:off x="377200" y="4945850"/>
            <a:ext cx="999000" cy="166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700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MVP RAG Puls-Events</a:t>
            </a:r>
            <a:endParaRPr sz="700">
              <a:solidFill>
                <a:srgbClr val="9CA3A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7" name="Google Shape;2737;p112"/>
          <p:cNvSpPr txBox="1"/>
          <p:nvPr/>
        </p:nvSpPr>
        <p:spPr>
          <a:xfrm>
            <a:off x="377200" y="1028700"/>
            <a:ext cx="4114800" cy="2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0" spcFirstLastPara="1" rIns="0" wrap="square" tIns="190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fr" sz="1200" u="none" cap="none" strike="noStrike">
                <a:solidFill>
                  <a:srgbClr val="DDDEE6"/>
                </a:solidFill>
                <a:latin typeface="Cambria"/>
                <a:ea typeface="Cambria"/>
                <a:cs typeface="Cambria"/>
                <a:sym typeface="Cambria"/>
              </a:rPr>
              <a:t>Phasage — estimation ~10 semaines</a:t>
            </a:r>
            <a:endParaRPr sz="1100">
              <a:solidFill>
                <a:srgbClr val="DDDEE6"/>
              </a:solidFill>
            </a:endParaRPr>
          </a:p>
        </p:txBody>
      </p:sp>
      <p:sp>
        <p:nvSpPr>
          <p:cNvPr id="2738" name="Google Shape;2738;p112"/>
          <p:cNvSpPr/>
          <p:nvPr/>
        </p:nvSpPr>
        <p:spPr>
          <a:xfrm>
            <a:off x="377200" y="1405889"/>
            <a:ext cx="4114800" cy="699600"/>
          </a:xfrm>
          <a:prstGeom prst="roundRect">
            <a:avLst>
              <a:gd fmla="val 6000" name="adj"/>
            </a:avLst>
          </a:prstGeom>
          <a:solidFill>
            <a:srgbClr val="0E9C8A">
              <a:alpha val="31999"/>
            </a:srgbClr>
          </a:solidFill>
          <a:ln cap="flat" cmpd="sng" w="7150">
            <a:solidFill>
              <a:srgbClr val="0E9C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9" name="Google Shape;2739;p112"/>
          <p:cNvSpPr/>
          <p:nvPr/>
        </p:nvSpPr>
        <p:spPr>
          <a:xfrm>
            <a:off x="534938" y="1591056"/>
            <a:ext cx="329100" cy="329100"/>
          </a:xfrm>
          <a:prstGeom prst="ellipse">
            <a:avLst/>
          </a:prstGeom>
          <a:solidFill>
            <a:srgbClr val="0E9C8A">
              <a:alpha val="7999"/>
            </a:srgbClr>
          </a:solidFill>
          <a:ln cap="flat" cmpd="sng" w="9525">
            <a:solidFill>
              <a:srgbClr val="0E9C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fr" sz="1100" u="none" cap="none" strike="noStrike">
                <a:solidFill>
                  <a:srgbClr val="0E9C8A"/>
                </a:solidFill>
                <a:latin typeface="Cambria"/>
                <a:ea typeface="Cambria"/>
                <a:cs typeface="Cambria"/>
                <a:sym typeface="Cambria"/>
              </a:rPr>
              <a:t>0</a:t>
            </a:r>
            <a:endParaRPr sz="1100">
              <a:solidFill>
                <a:srgbClr val="0E9C8A"/>
              </a:solidFill>
            </a:endParaRPr>
          </a:p>
        </p:txBody>
      </p:sp>
      <p:sp>
        <p:nvSpPr>
          <p:cNvPr id="2740" name="Google Shape;2740;p112"/>
          <p:cNvSpPr txBox="1"/>
          <p:nvPr/>
        </p:nvSpPr>
        <p:spPr>
          <a:xfrm>
            <a:off x="994437" y="1495043"/>
            <a:ext cx="2400300" cy="3591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0" spcFirstLastPara="1" rIns="0" wrap="square" tIns="190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fr" sz="1100" u="none" cap="none" strike="noStrike">
                <a:solidFill>
                  <a:srgbClr val="DDDEE6"/>
                </a:solidFill>
                <a:latin typeface="Calibri"/>
                <a:ea typeface="Calibri"/>
                <a:cs typeface="Calibri"/>
                <a:sym typeface="Calibri"/>
              </a:rPr>
              <a:t>Phase 0 </a:t>
            </a:r>
            <a:r>
              <a:rPr b="1" lang="fr" sz="1100">
                <a:solidFill>
                  <a:srgbClr val="DDDEE6"/>
                </a:solidFill>
                <a:latin typeface="Calibri"/>
                <a:ea typeface="Calibri"/>
                <a:cs typeface="Calibri"/>
                <a:sym typeface="Calibri"/>
              </a:rPr>
              <a:t>-</a:t>
            </a:r>
            <a:r>
              <a:rPr b="1" i="0" lang="fr" sz="11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1" i="0" lang="fr" sz="1100" u="none" cap="none" strike="noStrike">
                <a:solidFill>
                  <a:srgbClr val="0E9C8A"/>
                </a:solidFill>
                <a:latin typeface="Calibri"/>
                <a:ea typeface="Calibri"/>
                <a:cs typeface="Calibri"/>
                <a:sym typeface="Calibri"/>
              </a:rPr>
              <a:t>Socle &amp; infra</a:t>
            </a:r>
            <a:endParaRPr sz="1100"/>
          </a:p>
          <a:p>
            <a:pPr indent="0" lvl="0" marL="0" marR="0" rtl="0" algn="l">
              <a:spcBef>
                <a:spcPts val="100"/>
              </a:spcBef>
              <a:spcAft>
                <a:spcPts val="0"/>
              </a:spcAft>
              <a:buNone/>
            </a:pPr>
            <a:r>
              <a:rPr b="0" i="0" lang="fr" sz="9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Docker, Scaleway, Postgres (pgvector + PostGIS)</a:t>
            </a:r>
            <a:endParaRPr sz="1100"/>
          </a:p>
        </p:txBody>
      </p:sp>
      <p:sp>
        <p:nvSpPr>
          <p:cNvPr id="2741" name="Google Shape;2741;p112"/>
          <p:cNvSpPr txBox="1"/>
          <p:nvPr/>
        </p:nvSpPr>
        <p:spPr>
          <a:xfrm>
            <a:off x="3429091" y="1495043"/>
            <a:ext cx="960000" cy="19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9050" lIns="0" spcFirstLastPara="1" rIns="0" wrap="square" tIns="1905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fr" sz="1000" u="none" cap="none" strike="noStrike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~2 sem</a:t>
            </a:r>
            <a:endParaRPr sz="1100">
              <a:solidFill>
                <a:srgbClr val="9CA3AF"/>
              </a:solidFill>
            </a:endParaRPr>
          </a:p>
        </p:txBody>
      </p:sp>
      <p:sp>
        <p:nvSpPr>
          <p:cNvPr id="2742" name="Google Shape;2742;p112"/>
          <p:cNvSpPr/>
          <p:nvPr/>
        </p:nvSpPr>
        <p:spPr>
          <a:xfrm>
            <a:off x="377200" y="2173986"/>
            <a:ext cx="4114800" cy="699600"/>
          </a:xfrm>
          <a:prstGeom prst="roundRect">
            <a:avLst>
              <a:gd fmla="val 6000" name="adj"/>
            </a:avLst>
          </a:prstGeom>
          <a:solidFill>
            <a:srgbClr val="0E9C8A">
              <a:alpha val="23999"/>
            </a:srgbClr>
          </a:solidFill>
          <a:ln cap="flat" cmpd="sng" w="7150">
            <a:solidFill>
              <a:srgbClr val="0E9C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3" name="Google Shape;2743;p112"/>
          <p:cNvSpPr/>
          <p:nvPr/>
        </p:nvSpPr>
        <p:spPr>
          <a:xfrm>
            <a:off x="534938" y="2359152"/>
            <a:ext cx="329100" cy="329100"/>
          </a:xfrm>
          <a:prstGeom prst="ellipse">
            <a:avLst/>
          </a:prstGeom>
          <a:solidFill>
            <a:srgbClr val="0E9C8A">
              <a:alpha val="7999"/>
            </a:srgbClr>
          </a:solidFill>
          <a:ln cap="flat" cmpd="sng" w="9525">
            <a:solidFill>
              <a:srgbClr val="0E9C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fr" sz="1100" u="none" cap="none" strike="noStrike">
                <a:solidFill>
                  <a:srgbClr val="0E9C8A"/>
                </a:solidFill>
                <a:latin typeface="Cambria"/>
                <a:ea typeface="Cambria"/>
                <a:cs typeface="Cambria"/>
                <a:sym typeface="Cambria"/>
              </a:rPr>
              <a:t>1</a:t>
            </a:r>
            <a:endParaRPr sz="1100">
              <a:solidFill>
                <a:srgbClr val="0E9C8A"/>
              </a:solidFill>
            </a:endParaRPr>
          </a:p>
        </p:txBody>
      </p:sp>
      <p:sp>
        <p:nvSpPr>
          <p:cNvPr id="2744" name="Google Shape;2744;p112"/>
          <p:cNvSpPr txBox="1"/>
          <p:nvPr/>
        </p:nvSpPr>
        <p:spPr>
          <a:xfrm>
            <a:off x="994437" y="2263140"/>
            <a:ext cx="2400300" cy="3591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0" spcFirstLastPara="1" rIns="0" wrap="square" tIns="190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fr" sz="1100" u="none" cap="none" strike="noStrike">
                <a:solidFill>
                  <a:srgbClr val="DDDEE6"/>
                </a:solidFill>
                <a:latin typeface="Calibri"/>
                <a:ea typeface="Calibri"/>
                <a:cs typeface="Calibri"/>
                <a:sym typeface="Calibri"/>
              </a:rPr>
              <a:t>Phase 1 </a:t>
            </a:r>
            <a:r>
              <a:rPr b="1" lang="fr" sz="1100">
                <a:solidFill>
                  <a:srgbClr val="DDDEE6"/>
                </a:solidFill>
                <a:latin typeface="Calibri"/>
                <a:ea typeface="Calibri"/>
                <a:cs typeface="Calibri"/>
                <a:sym typeface="Calibri"/>
              </a:rPr>
              <a:t>-</a:t>
            </a:r>
            <a:r>
              <a:rPr b="1" i="0" lang="fr" sz="11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1" i="0" lang="fr" sz="1100" u="none" cap="none" strike="noStrike">
                <a:solidFill>
                  <a:srgbClr val="0E9C8A"/>
                </a:solidFill>
                <a:latin typeface="Calibri"/>
                <a:ea typeface="Calibri"/>
                <a:cs typeface="Calibri"/>
                <a:sym typeface="Calibri"/>
              </a:rPr>
              <a:t>Mémoire + Géo</a:t>
            </a:r>
            <a:endParaRPr sz="1100"/>
          </a:p>
          <a:p>
            <a:pPr indent="0" lvl="0" marL="0" marR="0" rtl="0" algn="l">
              <a:spcBef>
                <a:spcPts val="100"/>
              </a:spcBef>
              <a:spcAft>
                <a:spcPts val="0"/>
              </a:spcAft>
              <a:buNone/>
            </a:pPr>
            <a:r>
              <a:rPr b="0" i="0" lang="fr" sz="9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Redis + Postgres LT, requêtes PostGIS</a:t>
            </a:r>
            <a:endParaRPr sz="1100"/>
          </a:p>
        </p:txBody>
      </p:sp>
      <p:sp>
        <p:nvSpPr>
          <p:cNvPr id="2745" name="Google Shape;2745;p112"/>
          <p:cNvSpPr txBox="1"/>
          <p:nvPr/>
        </p:nvSpPr>
        <p:spPr>
          <a:xfrm>
            <a:off x="3429091" y="2263140"/>
            <a:ext cx="960000" cy="19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9050" lIns="0" spcFirstLastPara="1" rIns="0" wrap="square" tIns="1905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fr" sz="1000" u="none" cap="none" strike="noStrike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~3 sem</a:t>
            </a:r>
            <a:endParaRPr sz="1100">
              <a:solidFill>
                <a:srgbClr val="9CA3AF"/>
              </a:solidFill>
            </a:endParaRPr>
          </a:p>
        </p:txBody>
      </p:sp>
      <p:sp>
        <p:nvSpPr>
          <p:cNvPr id="2746" name="Google Shape;2746;p112"/>
          <p:cNvSpPr/>
          <p:nvPr/>
        </p:nvSpPr>
        <p:spPr>
          <a:xfrm>
            <a:off x="377200" y="2942082"/>
            <a:ext cx="4114800" cy="699600"/>
          </a:xfrm>
          <a:prstGeom prst="roundRect">
            <a:avLst>
              <a:gd fmla="val 6000" name="adj"/>
            </a:avLst>
          </a:prstGeom>
          <a:solidFill>
            <a:srgbClr val="0E9C8A">
              <a:alpha val="15999"/>
            </a:srgbClr>
          </a:solidFill>
          <a:ln cap="flat" cmpd="sng" w="7150">
            <a:solidFill>
              <a:srgbClr val="0E9C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7" name="Google Shape;2747;p112"/>
          <p:cNvSpPr/>
          <p:nvPr/>
        </p:nvSpPr>
        <p:spPr>
          <a:xfrm>
            <a:off x="534938" y="3127248"/>
            <a:ext cx="329100" cy="329100"/>
          </a:xfrm>
          <a:prstGeom prst="ellipse">
            <a:avLst/>
          </a:prstGeom>
          <a:solidFill>
            <a:srgbClr val="0E9C8A">
              <a:alpha val="7999"/>
            </a:srgbClr>
          </a:solidFill>
          <a:ln cap="flat" cmpd="sng" w="9525">
            <a:solidFill>
              <a:srgbClr val="0E9C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fr" sz="1100" u="none" cap="none" strike="noStrike">
                <a:solidFill>
                  <a:srgbClr val="0E9C8A"/>
                </a:solidFill>
                <a:latin typeface="Cambria"/>
                <a:ea typeface="Cambria"/>
                <a:cs typeface="Cambria"/>
                <a:sym typeface="Cambria"/>
              </a:rPr>
              <a:t>2</a:t>
            </a:r>
            <a:endParaRPr sz="1100">
              <a:solidFill>
                <a:srgbClr val="0E9C8A"/>
              </a:solidFill>
            </a:endParaRPr>
          </a:p>
        </p:txBody>
      </p:sp>
      <p:sp>
        <p:nvSpPr>
          <p:cNvPr id="2748" name="Google Shape;2748;p112"/>
          <p:cNvSpPr txBox="1"/>
          <p:nvPr/>
        </p:nvSpPr>
        <p:spPr>
          <a:xfrm>
            <a:off x="994437" y="3031236"/>
            <a:ext cx="2400300" cy="3591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0" spcFirstLastPara="1" rIns="0" wrap="square" tIns="190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fr" sz="1100" u="none" cap="none" strike="noStrike">
                <a:solidFill>
                  <a:srgbClr val="DDDEE6"/>
                </a:solidFill>
                <a:latin typeface="Calibri"/>
                <a:ea typeface="Calibri"/>
                <a:cs typeface="Calibri"/>
                <a:sym typeface="Calibri"/>
              </a:rPr>
              <a:t>Phase 2 </a:t>
            </a:r>
            <a:r>
              <a:rPr b="1" lang="fr" sz="1100">
                <a:solidFill>
                  <a:srgbClr val="DDDEE6"/>
                </a:solidFill>
                <a:latin typeface="Calibri"/>
                <a:ea typeface="Calibri"/>
                <a:cs typeface="Calibri"/>
                <a:sym typeface="Calibri"/>
              </a:rPr>
              <a:t>-</a:t>
            </a:r>
            <a:r>
              <a:rPr b="1" i="0" lang="fr" sz="11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1" i="0" lang="fr" sz="1100" u="none" cap="none" strike="noStrike">
                <a:solidFill>
                  <a:srgbClr val="0E9C8A"/>
                </a:solidFill>
                <a:latin typeface="Calibri"/>
                <a:ea typeface="Calibri"/>
                <a:cs typeface="Calibri"/>
                <a:sym typeface="Calibri"/>
              </a:rPr>
              <a:t>Web + API</a:t>
            </a:r>
            <a:endParaRPr sz="1100"/>
          </a:p>
          <a:p>
            <a:pPr indent="0" lvl="0" marL="0" marR="0" rtl="0" algn="l">
              <a:spcBef>
                <a:spcPts val="100"/>
              </a:spcBef>
              <a:spcAft>
                <a:spcPts val="0"/>
              </a:spcAft>
              <a:buNone/>
            </a:pPr>
            <a:r>
              <a:rPr b="0" i="0" lang="fr" sz="9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smolagents + Tavily, API FastAPI SSE</a:t>
            </a:r>
            <a:endParaRPr sz="1100"/>
          </a:p>
        </p:txBody>
      </p:sp>
      <p:sp>
        <p:nvSpPr>
          <p:cNvPr id="2749" name="Google Shape;2749;p112"/>
          <p:cNvSpPr txBox="1"/>
          <p:nvPr/>
        </p:nvSpPr>
        <p:spPr>
          <a:xfrm>
            <a:off x="3429091" y="3031236"/>
            <a:ext cx="960000" cy="19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9050" lIns="0" spcFirstLastPara="1" rIns="0" wrap="square" tIns="1905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fr" sz="1000" u="none" cap="none" strike="noStrike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~3 sem</a:t>
            </a:r>
            <a:endParaRPr sz="1100">
              <a:solidFill>
                <a:srgbClr val="9CA3AF"/>
              </a:solidFill>
            </a:endParaRPr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54" name="Shape 27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5" name="Google Shape;2755;p113"/>
          <p:cNvSpPr txBox="1"/>
          <p:nvPr/>
        </p:nvSpPr>
        <p:spPr>
          <a:xfrm>
            <a:off x="377200" y="233175"/>
            <a:ext cx="2286900" cy="45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9050" lIns="0" spcFirstLastPara="1" rIns="0" wrap="square" tIns="190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1800">
                <a:solidFill>
                  <a:srgbClr val="0E9C8A"/>
                </a:solidFill>
                <a:latin typeface="Calibri"/>
                <a:ea typeface="Calibri"/>
                <a:cs typeface="Calibri"/>
                <a:sym typeface="Calibri"/>
              </a:rPr>
              <a:t>Pilotage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6" name="Google Shape;2756;p113"/>
          <p:cNvSpPr txBox="1"/>
          <p:nvPr/>
        </p:nvSpPr>
        <p:spPr>
          <a:xfrm>
            <a:off x="377200" y="675550"/>
            <a:ext cx="23910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9050" lIns="0" spcFirstLastPara="1" rIns="0" wrap="square" tIns="190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1100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Délais &amp; budget</a:t>
            </a:r>
            <a:endParaRPr b="1" sz="1100">
              <a:solidFill>
                <a:srgbClr val="9CA3A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7" name="Google Shape;2757;p113"/>
          <p:cNvSpPr txBox="1"/>
          <p:nvPr/>
        </p:nvSpPr>
        <p:spPr>
          <a:xfrm>
            <a:off x="377200" y="4945850"/>
            <a:ext cx="999000" cy="166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700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MVP RAG Puls-Events</a:t>
            </a:r>
            <a:endParaRPr sz="700">
              <a:solidFill>
                <a:srgbClr val="9CA3A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8" name="Google Shape;2758;p113"/>
          <p:cNvSpPr txBox="1"/>
          <p:nvPr/>
        </p:nvSpPr>
        <p:spPr>
          <a:xfrm>
            <a:off x="377200" y="1028700"/>
            <a:ext cx="4114800" cy="2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0" spcFirstLastPara="1" rIns="0" wrap="square" tIns="190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fr" sz="1200" u="none" cap="none" strike="noStrike">
                <a:solidFill>
                  <a:srgbClr val="DDDEE6"/>
                </a:solidFill>
                <a:latin typeface="Cambria"/>
                <a:ea typeface="Cambria"/>
                <a:cs typeface="Cambria"/>
                <a:sym typeface="Cambria"/>
              </a:rPr>
              <a:t>Phasage — estimation ~10 semaines</a:t>
            </a:r>
            <a:endParaRPr sz="1100">
              <a:solidFill>
                <a:srgbClr val="DDDEE6"/>
              </a:solidFill>
            </a:endParaRPr>
          </a:p>
        </p:txBody>
      </p:sp>
      <p:sp>
        <p:nvSpPr>
          <p:cNvPr id="2759" name="Google Shape;2759;p113"/>
          <p:cNvSpPr/>
          <p:nvPr/>
        </p:nvSpPr>
        <p:spPr>
          <a:xfrm>
            <a:off x="377200" y="1405889"/>
            <a:ext cx="4114800" cy="699600"/>
          </a:xfrm>
          <a:prstGeom prst="roundRect">
            <a:avLst>
              <a:gd fmla="val 6000" name="adj"/>
            </a:avLst>
          </a:prstGeom>
          <a:solidFill>
            <a:srgbClr val="0E9C8A">
              <a:alpha val="31999"/>
            </a:srgbClr>
          </a:solidFill>
          <a:ln cap="flat" cmpd="sng" w="7150">
            <a:solidFill>
              <a:srgbClr val="0E9C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0" name="Google Shape;2760;p113"/>
          <p:cNvSpPr/>
          <p:nvPr/>
        </p:nvSpPr>
        <p:spPr>
          <a:xfrm>
            <a:off x="534938" y="1591056"/>
            <a:ext cx="329100" cy="329100"/>
          </a:xfrm>
          <a:prstGeom prst="ellipse">
            <a:avLst/>
          </a:prstGeom>
          <a:solidFill>
            <a:srgbClr val="0E9C8A">
              <a:alpha val="7999"/>
            </a:srgbClr>
          </a:solidFill>
          <a:ln cap="flat" cmpd="sng" w="9525">
            <a:solidFill>
              <a:srgbClr val="0E9C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fr" sz="1100" u="none" cap="none" strike="noStrike">
                <a:solidFill>
                  <a:srgbClr val="0E9C8A"/>
                </a:solidFill>
                <a:latin typeface="Cambria"/>
                <a:ea typeface="Cambria"/>
                <a:cs typeface="Cambria"/>
                <a:sym typeface="Cambria"/>
              </a:rPr>
              <a:t>0</a:t>
            </a:r>
            <a:endParaRPr sz="1100">
              <a:solidFill>
                <a:srgbClr val="0E9C8A"/>
              </a:solidFill>
            </a:endParaRPr>
          </a:p>
        </p:txBody>
      </p:sp>
      <p:sp>
        <p:nvSpPr>
          <p:cNvPr id="2761" name="Google Shape;2761;p113"/>
          <p:cNvSpPr txBox="1"/>
          <p:nvPr/>
        </p:nvSpPr>
        <p:spPr>
          <a:xfrm>
            <a:off x="994437" y="1495043"/>
            <a:ext cx="2400300" cy="3591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0" spcFirstLastPara="1" rIns="0" wrap="square" tIns="190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fr" sz="1100" u="none" cap="none" strike="noStrike">
                <a:solidFill>
                  <a:srgbClr val="DDDEE6"/>
                </a:solidFill>
                <a:latin typeface="Calibri"/>
                <a:ea typeface="Calibri"/>
                <a:cs typeface="Calibri"/>
                <a:sym typeface="Calibri"/>
              </a:rPr>
              <a:t>Phase 0 </a:t>
            </a:r>
            <a:r>
              <a:rPr b="1" lang="fr" sz="1100">
                <a:solidFill>
                  <a:srgbClr val="DDDEE6"/>
                </a:solidFill>
                <a:latin typeface="Calibri"/>
                <a:ea typeface="Calibri"/>
                <a:cs typeface="Calibri"/>
                <a:sym typeface="Calibri"/>
              </a:rPr>
              <a:t>-</a:t>
            </a:r>
            <a:r>
              <a:rPr b="1" i="0" lang="fr" sz="11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1" i="0" lang="fr" sz="1100" u="none" cap="none" strike="noStrike">
                <a:solidFill>
                  <a:srgbClr val="0E9C8A"/>
                </a:solidFill>
                <a:latin typeface="Calibri"/>
                <a:ea typeface="Calibri"/>
                <a:cs typeface="Calibri"/>
                <a:sym typeface="Calibri"/>
              </a:rPr>
              <a:t>Socle &amp; infra</a:t>
            </a:r>
            <a:endParaRPr sz="1100"/>
          </a:p>
          <a:p>
            <a:pPr indent="0" lvl="0" marL="0" marR="0" rtl="0" algn="l">
              <a:spcBef>
                <a:spcPts val="100"/>
              </a:spcBef>
              <a:spcAft>
                <a:spcPts val="0"/>
              </a:spcAft>
              <a:buNone/>
            </a:pPr>
            <a:r>
              <a:rPr b="0" i="0" lang="fr" sz="9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Docker, Scaleway, Postgres (pgvector + PostGIS)</a:t>
            </a:r>
            <a:endParaRPr sz="1100"/>
          </a:p>
        </p:txBody>
      </p:sp>
      <p:sp>
        <p:nvSpPr>
          <p:cNvPr id="2762" name="Google Shape;2762;p113"/>
          <p:cNvSpPr txBox="1"/>
          <p:nvPr/>
        </p:nvSpPr>
        <p:spPr>
          <a:xfrm>
            <a:off x="3429091" y="1495043"/>
            <a:ext cx="960000" cy="19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9050" lIns="0" spcFirstLastPara="1" rIns="0" wrap="square" tIns="1905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fr" sz="1000" u="none" cap="none" strike="noStrike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~2 sem</a:t>
            </a:r>
            <a:endParaRPr sz="1100">
              <a:solidFill>
                <a:srgbClr val="9CA3AF"/>
              </a:solidFill>
            </a:endParaRPr>
          </a:p>
        </p:txBody>
      </p:sp>
      <p:sp>
        <p:nvSpPr>
          <p:cNvPr id="2763" name="Google Shape;2763;p113"/>
          <p:cNvSpPr/>
          <p:nvPr/>
        </p:nvSpPr>
        <p:spPr>
          <a:xfrm>
            <a:off x="377200" y="2173986"/>
            <a:ext cx="4114800" cy="699600"/>
          </a:xfrm>
          <a:prstGeom prst="roundRect">
            <a:avLst>
              <a:gd fmla="val 6000" name="adj"/>
            </a:avLst>
          </a:prstGeom>
          <a:solidFill>
            <a:srgbClr val="0E9C8A">
              <a:alpha val="23999"/>
            </a:srgbClr>
          </a:solidFill>
          <a:ln cap="flat" cmpd="sng" w="7150">
            <a:solidFill>
              <a:srgbClr val="0E9C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4" name="Google Shape;2764;p113"/>
          <p:cNvSpPr/>
          <p:nvPr/>
        </p:nvSpPr>
        <p:spPr>
          <a:xfrm>
            <a:off x="534938" y="2359152"/>
            <a:ext cx="329100" cy="329100"/>
          </a:xfrm>
          <a:prstGeom prst="ellipse">
            <a:avLst/>
          </a:prstGeom>
          <a:solidFill>
            <a:srgbClr val="0E9C8A">
              <a:alpha val="7999"/>
            </a:srgbClr>
          </a:solidFill>
          <a:ln cap="flat" cmpd="sng" w="9525">
            <a:solidFill>
              <a:srgbClr val="0E9C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fr" sz="1100" u="none" cap="none" strike="noStrike">
                <a:solidFill>
                  <a:srgbClr val="0E9C8A"/>
                </a:solidFill>
                <a:latin typeface="Cambria"/>
                <a:ea typeface="Cambria"/>
                <a:cs typeface="Cambria"/>
                <a:sym typeface="Cambria"/>
              </a:rPr>
              <a:t>1</a:t>
            </a:r>
            <a:endParaRPr sz="1100">
              <a:solidFill>
                <a:srgbClr val="0E9C8A"/>
              </a:solidFill>
            </a:endParaRPr>
          </a:p>
        </p:txBody>
      </p:sp>
      <p:sp>
        <p:nvSpPr>
          <p:cNvPr id="2765" name="Google Shape;2765;p113"/>
          <p:cNvSpPr txBox="1"/>
          <p:nvPr/>
        </p:nvSpPr>
        <p:spPr>
          <a:xfrm>
            <a:off x="994437" y="2263140"/>
            <a:ext cx="2400300" cy="3591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0" spcFirstLastPara="1" rIns="0" wrap="square" tIns="190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fr" sz="1100" u="none" cap="none" strike="noStrike">
                <a:solidFill>
                  <a:srgbClr val="DDDEE6"/>
                </a:solidFill>
                <a:latin typeface="Calibri"/>
                <a:ea typeface="Calibri"/>
                <a:cs typeface="Calibri"/>
                <a:sym typeface="Calibri"/>
              </a:rPr>
              <a:t>Phase 1 </a:t>
            </a:r>
            <a:r>
              <a:rPr b="1" lang="fr" sz="1100">
                <a:solidFill>
                  <a:srgbClr val="DDDEE6"/>
                </a:solidFill>
                <a:latin typeface="Calibri"/>
                <a:ea typeface="Calibri"/>
                <a:cs typeface="Calibri"/>
                <a:sym typeface="Calibri"/>
              </a:rPr>
              <a:t>-</a:t>
            </a:r>
            <a:r>
              <a:rPr b="1" i="0" lang="fr" sz="11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1" i="0" lang="fr" sz="1100" u="none" cap="none" strike="noStrike">
                <a:solidFill>
                  <a:srgbClr val="0E9C8A"/>
                </a:solidFill>
                <a:latin typeface="Calibri"/>
                <a:ea typeface="Calibri"/>
                <a:cs typeface="Calibri"/>
                <a:sym typeface="Calibri"/>
              </a:rPr>
              <a:t>Mémoire + Géo</a:t>
            </a:r>
            <a:endParaRPr sz="1100"/>
          </a:p>
          <a:p>
            <a:pPr indent="0" lvl="0" marL="0" marR="0" rtl="0" algn="l">
              <a:spcBef>
                <a:spcPts val="100"/>
              </a:spcBef>
              <a:spcAft>
                <a:spcPts val="0"/>
              </a:spcAft>
              <a:buNone/>
            </a:pPr>
            <a:r>
              <a:rPr b="0" i="0" lang="fr" sz="9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Redis + Postgres LT, requêtes PostGIS</a:t>
            </a:r>
            <a:endParaRPr sz="1100"/>
          </a:p>
        </p:txBody>
      </p:sp>
      <p:sp>
        <p:nvSpPr>
          <p:cNvPr id="2766" name="Google Shape;2766;p113"/>
          <p:cNvSpPr txBox="1"/>
          <p:nvPr/>
        </p:nvSpPr>
        <p:spPr>
          <a:xfrm>
            <a:off x="3429091" y="2263140"/>
            <a:ext cx="960000" cy="19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9050" lIns="0" spcFirstLastPara="1" rIns="0" wrap="square" tIns="1905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fr" sz="1000" u="none" cap="none" strike="noStrike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~3 sem</a:t>
            </a:r>
            <a:endParaRPr sz="1100">
              <a:solidFill>
                <a:srgbClr val="9CA3AF"/>
              </a:solidFill>
            </a:endParaRPr>
          </a:p>
        </p:txBody>
      </p:sp>
      <p:sp>
        <p:nvSpPr>
          <p:cNvPr id="2767" name="Google Shape;2767;p113"/>
          <p:cNvSpPr/>
          <p:nvPr/>
        </p:nvSpPr>
        <p:spPr>
          <a:xfrm>
            <a:off x="377200" y="2942082"/>
            <a:ext cx="4114800" cy="699600"/>
          </a:xfrm>
          <a:prstGeom prst="roundRect">
            <a:avLst>
              <a:gd fmla="val 6000" name="adj"/>
            </a:avLst>
          </a:prstGeom>
          <a:solidFill>
            <a:srgbClr val="0E9C8A">
              <a:alpha val="15999"/>
            </a:srgbClr>
          </a:solidFill>
          <a:ln cap="flat" cmpd="sng" w="7150">
            <a:solidFill>
              <a:srgbClr val="0E9C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8" name="Google Shape;2768;p113"/>
          <p:cNvSpPr/>
          <p:nvPr/>
        </p:nvSpPr>
        <p:spPr>
          <a:xfrm>
            <a:off x="534938" y="3127248"/>
            <a:ext cx="329100" cy="329100"/>
          </a:xfrm>
          <a:prstGeom prst="ellipse">
            <a:avLst/>
          </a:prstGeom>
          <a:solidFill>
            <a:srgbClr val="0E9C8A">
              <a:alpha val="7999"/>
            </a:srgbClr>
          </a:solidFill>
          <a:ln cap="flat" cmpd="sng" w="9525">
            <a:solidFill>
              <a:srgbClr val="0E9C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fr" sz="1100" u="none" cap="none" strike="noStrike">
                <a:solidFill>
                  <a:srgbClr val="0E9C8A"/>
                </a:solidFill>
                <a:latin typeface="Cambria"/>
                <a:ea typeface="Cambria"/>
                <a:cs typeface="Cambria"/>
                <a:sym typeface="Cambria"/>
              </a:rPr>
              <a:t>2</a:t>
            </a:r>
            <a:endParaRPr sz="1100">
              <a:solidFill>
                <a:srgbClr val="0E9C8A"/>
              </a:solidFill>
            </a:endParaRPr>
          </a:p>
        </p:txBody>
      </p:sp>
      <p:sp>
        <p:nvSpPr>
          <p:cNvPr id="2769" name="Google Shape;2769;p113"/>
          <p:cNvSpPr txBox="1"/>
          <p:nvPr/>
        </p:nvSpPr>
        <p:spPr>
          <a:xfrm>
            <a:off x="994437" y="3031236"/>
            <a:ext cx="2400300" cy="3591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0" spcFirstLastPara="1" rIns="0" wrap="square" tIns="190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fr" sz="1100" u="none" cap="none" strike="noStrike">
                <a:solidFill>
                  <a:srgbClr val="DDDEE6"/>
                </a:solidFill>
                <a:latin typeface="Calibri"/>
                <a:ea typeface="Calibri"/>
                <a:cs typeface="Calibri"/>
                <a:sym typeface="Calibri"/>
              </a:rPr>
              <a:t>Phase 2 </a:t>
            </a:r>
            <a:r>
              <a:rPr b="1" lang="fr" sz="1100">
                <a:solidFill>
                  <a:srgbClr val="DDDEE6"/>
                </a:solidFill>
                <a:latin typeface="Calibri"/>
                <a:ea typeface="Calibri"/>
                <a:cs typeface="Calibri"/>
                <a:sym typeface="Calibri"/>
              </a:rPr>
              <a:t>-</a:t>
            </a:r>
            <a:r>
              <a:rPr b="1" i="0" lang="fr" sz="11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1" i="0" lang="fr" sz="1100" u="none" cap="none" strike="noStrike">
                <a:solidFill>
                  <a:srgbClr val="0E9C8A"/>
                </a:solidFill>
                <a:latin typeface="Calibri"/>
                <a:ea typeface="Calibri"/>
                <a:cs typeface="Calibri"/>
                <a:sym typeface="Calibri"/>
              </a:rPr>
              <a:t>Web + API</a:t>
            </a:r>
            <a:endParaRPr sz="1100"/>
          </a:p>
          <a:p>
            <a:pPr indent="0" lvl="0" marL="0" marR="0" rtl="0" algn="l">
              <a:spcBef>
                <a:spcPts val="100"/>
              </a:spcBef>
              <a:spcAft>
                <a:spcPts val="0"/>
              </a:spcAft>
              <a:buNone/>
            </a:pPr>
            <a:r>
              <a:rPr b="0" i="0" lang="fr" sz="9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smolagents + Tavily, API FastAPI SSE</a:t>
            </a:r>
            <a:endParaRPr sz="1100"/>
          </a:p>
        </p:txBody>
      </p:sp>
      <p:sp>
        <p:nvSpPr>
          <p:cNvPr id="2770" name="Google Shape;2770;p113"/>
          <p:cNvSpPr txBox="1"/>
          <p:nvPr/>
        </p:nvSpPr>
        <p:spPr>
          <a:xfrm>
            <a:off x="3429091" y="3031236"/>
            <a:ext cx="960000" cy="19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9050" lIns="0" spcFirstLastPara="1" rIns="0" wrap="square" tIns="1905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fr" sz="1000" u="none" cap="none" strike="noStrike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~3 sem</a:t>
            </a:r>
            <a:endParaRPr sz="1100">
              <a:solidFill>
                <a:srgbClr val="9CA3AF"/>
              </a:solidFill>
            </a:endParaRPr>
          </a:p>
        </p:txBody>
      </p:sp>
      <p:sp>
        <p:nvSpPr>
          <p:cNvPr id="2771" name="Google Shape;2771;p113"/>
          <p:cNvSpPr/>
          <p:nvPr/>
        </p:nvSpPr>
        <p:spPr>
          <a:xfrm>
            <a:off x="377200" y="3710178"/>
            <a:ext cx="4114800" cy="699600"/>
          </a:xfrm>
          <a:prstGeom prst="roundRect">
            <a:avLst>
              <a:gd fmla="val 6000" name="adj"/>
            </a:avLst>
          </a:prstGeom>
          <a:solidFill>
            <a:srgbClr val="0E9C8A">
              <a:alpha val="7999"/>
            </a:srgbClr>
          </a:solidFill>
          <a:ln cap="flat" cmpd="sng" w="7150">
            <a:solidFill>
              <a:srgbClr val="0E9C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2" name="Google Shape;2772;p113"/>
          <p:cNvSpPr/>
          <p:nvPr/>
        </p:nvSpPr>
        <p:spPr>
          <a:xfrm>
            <a:off x="534938" y="3895344"/>
            <a:ext cx="329100" cy="329100"/>
          </a:xfrm>
          <a:prstGeom prst="ellipse">
            <a:avLst/>
          </a:prstGeom>
          <a:solidFill>
            <a:srgbClr val="0E9C8A">
              <a:alpha val="7999"/>
            </a:srgbClr>
          </a:solidFill>
          <a:ln cap="flat" cmpd="sng" w="9525">
            <a:solidFill>
              <a:srgbClr val="0E9C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fr" sz="1100" u="none" cap="none" strike="noStrike">
                <a:solidFill>
                  <a:srgbClr val="0E9C8A"/>
                </a:solidFill>
                <a:latin typeface="Cambria"/>
                <a:ea typeface="Cambria"/>
                <a:cs typeface="Cambria"/>
                <a:sym typeface="Cambria"/>
              </a:rPr>
              <a:t>3</a:t>
            </a:r>
            <a:endParaRPr sz="1100">
              <a:solidFill>
                <a:srgbClr val="0E9C8A"/>
              </a:solidFill>
            </a:endParaRPr>
          </a:p>
        </p:txBody>
      </p:sp>
      <p:sp>
        <p:nvSpPr>
          <p:cNvPr id="2773" name="Google Shape;2773;p113"/>
          <p:cNvSpPr txBox="1"/>
          <p:nvPr/>
        </p:nvSpPr>
        <p:spPr>
          <a:xfrm>
            <a:off x="994437" y="3799332"/>
            <a:ext cx="2400300" cy="3591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0" spcFirstLastPara="1" rIns="0" wrap="square" tIns="190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fr" sz="1100" u="none" cap="none" strike="noStrike">
                <a:solidFill>
                  <a:srgbClr val="DDDEE6"/>
                </a:solidFill>
                <a:latin typeface="Calibri"/>
                <a:ea typeface="Calibri"/>
                <a:cs typeface="Calibri"/>
                <a:sym typeface="Calibri"/>
              </a:rPr>
              <a:t>Phase 3 </a:t>
            </a:r>
            <a:r>
              <a:rPr b="1" lang="fr" sz="1100">
                <a:solidFill>
                  <a:srgbClr val="DDDEE6"/>
                </a:solidFill>
                <a:latin typeface="Calibri"/>
                <a:ea typeface="Calibri"/>
                <a:cs typeface="Calibri"/>
                <a:sym typeface="Calibri"/>
              </a:rPr>
              <a:t>-</a:t>
            </a:r>
            <a:r>
              <a:rPr b="1" i="0" lang="fr" sz="11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1" i="0" lang="fr" sz="1100" u="none" cap="none" strike="noStrike">
                <a:solidFill>
                  <a:srgbClr val="0E9C8A"/>
                </a:solidFill>
                <a:latin typeface="Calibri"/>
                <a:ea typeface="Calibri"/>
                <a:cs typeface="Calibri"/>
                <a:sym typeface="Calibri"/>
              </a:rPr>
              <a:t>Monitoring</a:t>
            </a:r>
            <a:endParaRPr sz="1100"/>
          </a:p>
          <a:p>
            <a:pPr indent="0" lvl="0" marL="0" marR="0" rtl="0" algn="l">
              <a:spcBef>
                <a:spcPts val="100"/>
              </a:spcBef>
              <a:spcAft>
                <a:spcPts val="0"/>
              </a:spcAft>
              <a:buNone/>
            </a:pPr>
            <a:r>
              <a:rPr b="0" i="0" lang="fr" sz="9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Langfuse, métriques, durcissement</a:t>
            </a:r>
            <a:endParaRPr sz="1100"/>
          </a:p>
        </p:txBody>
      </p:sp>
      <p:sp>
        <p:nvSpPr>
          <p:cNvPr id="2774" name="Google Shape;2774;p113"/>
          <p:cNvSpPr txBox="1"/>
          <p:nvPr/>
        </p:nvSpPr>
        <p:spPr>
          <a:xfrm>
            <a:off x="3429091" y="3799332"/>
            <a:ext cx="960000" cy="19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9050" lIns="0" spcFirstLastPara="1" rIns="0" wrap="square" tIns="1905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fr" sz="1000" u="none" cap="none" strike="noStrike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~2 sem</a:t>
            </a:r>
            <a:endParaRPr sz="1100">
              <a:solidFill>
                <a:srgbClr val="9CA3AF"/>
              </a:solidFill>
            </a:endParaRPr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79" name="Shape 27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0" name="Google Shape;2780;p114"/>
          <p:cNvSpPr txBox="1"/>
          <p:nvPr/>
        </p:nvSpPr>
        <p:spPr>
          <a:xfrm>
            <a:off x="377200" y="233175"/>
            <a:ext cx="2286900" cy="45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9050" lIns="0" spcFirstLastPara="1" rIns="0" wrap="square" tIns="190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1800">
                <a:solidFill>
                  <a:srgbClr val="0E9C8A"/>
                </a:solidFill>
                <a:latin typeface="Calibri"/>
                <a:ea typeface="Calibri"/>
                <a:cs typeface="Calibri"/>
                <a:sym typeface="Calibri"/>
              </a:rPr>
              <a:t>Pilotage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81" name="Google Shape;2781;p114"/>
          <p:cNvSpPr txBox="1"/>
          <p:nvPr/>
        </p:nvSpPr>
        <p:spPr>
          <a:xfrm>
            <a:off x="377200" y="675550"/>
            <a:ext cx="23910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9050" lIns="0" spcFirstLastPara="1" rIns="0" wrap="square" tIns="190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1100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Délais &amp; budget</a:t>
            </a:r>
            <a:endParaRPr b="1" sz="1100">
              <a:solidFill>
                <a:srgbClr val="9CA3A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82" name="Google Shape;2782;p114"/>
          <p:cNvSpPr txBox="1"/>
          <p:nvPr/>
        </p:nvSpPr>
        <p:spPr>
          <a:xfrm>
            <a:off x="377200" y="4945850"/>
            <a:ext cx="999000" cy="166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700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MVP RAG Puls-Events</a:t>
            </a:r>
            <a:endParaRPr sz="700">
              <a:solidFill>
                <a:srgbClr val="9CA3A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83" name="Google Shape;2783;p114"/>
          <p:cNvSpPr txBox="1"/>
          <p:nvPr/>
        </p:nvSpPr>
        <p:spPr>
          <a:xfrm>
            <a:off x="377200" y="1028700"/>
            <a:ext cx="4114800" cy="2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0" spcFirstLastPara="1" rIns="0" wrap="square" tIns="190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fr" sz="1200" u="none" cap="none" strike="noStrike">
                <a:solidFill>
                  <a:srgbClr val="DDDEE6"/>
                </a:solidFill>
                <a:latin typeface="Cambria"/>
                <a:ea typeface="Cambria"/>
                <a:cs typeface="Cambria"/>
                <a:sym typeface="Cambria"/>
              </a:rPr>
              <a:t>Phasage — estimation ~10 semaines</a:t>
            </a:r>
            <a:endParaRPr sz="1100">
              <a:solidFill>
                <a:srgbClr val="DDDEE6"/>
              </a:solidFill>
            </a:endParaRPr>
          </a:p>
        </p:txBody>
      </p:sp>
      <p:sp>
        <p:nvSpPr>
          <p:cNvPr id="2784" name="Google Shape;2784;p114"/>
          <p:cNvSpPr/>
          <p:nvPr/>
        </p:nvSpPr>
        <p:spPr>
          <a:xfrm>
            <a:off x="377200" y="1405889"/>
            <a:ext cx="4114800" cy="699600"/>
          </a:xfrm>
          <a:prstGeom prst="roundRect">
            <a:avLst>
              <a:gd fmla="val 6000" name="adj"/>
            </a:avLst>
          </a:prstGeom>
          <a:solidFill>
            <a:srgbClr val="0E9C8A">
              <a:alpha val="31999"/>
            </a:srgbClr>
          </a:solidFill>
          <a:ln cap="flat" cmpd="sng" w="7150">
            <a:solidFill>
              <a:srgbClr val="0E9C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85" name="Google Shape;2785;p114"/>
          <p:cNvSpPr/>
          <p:nvPr/>
        </p:nvSpPr>
        <p:spPr>
          <a:xfrm>
            <a:off x="534938" y="1591056"/>
            <a:ext cx="329100" cy="329100"/>
          </a:xfrm>
          <a:prstGeom prst="ellipse">
            <a:avLst/>
          </a:prstGeom>
          <a:solidFill>
            <a:srgbClr val="0E9C8A">
              <a:alpha val="7999"/>
            </a:srgbClr>
          </a:solidFill>
          <a:ln cap="flat" cmpd="sng" w="9525">
            <a:solidFill>
              <a:srgbClr val="0E9C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fr" sz="1100" u="none" cap="none" strike="noStrike">
                <a:solidFill>
                  <a:srgbClr val="0E9C8A"/>
                </a:solidFill>
                <a:latin typeface="Cambria"/>
                <a:ea typeface="Cambria"/>
                <a:cs typeface="Cambria"/>
                <a:sym typeface="Cambria"/>
              </a:rPr>
              <a:t>0</a:t>
            </a:r>
            <a:endParaRPr sz="1100">
              <a:solidFill>
                <a:srgbClr val="0E9C8A"/>
              </a:solidFill>
            </a:endParaRPr>
          </a:p>
        </p:txBody>
      </p:sp>
      <p:sp>
        <p:nvSpPr>
          <p:cNvPr id="2786" name="Google Shape;2786;p114"/>
          <p:cNvSpPr txBox="1"/>
          <p:nvPr/>
        </p:nvSpPr>
        <p:spPr>
          <a:xfrm>
            <a:off x="994437" y="1495043"/>
            <a:ext cx="2400300" cy="3591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0" spcFirstLastPara="1" rIns="0" wrap="square" tIns="190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fr" sz="1100" u="none" cap="none" strike="noStrike">
                <a:solidFill>
                  <a:srgbClr val="DDDEE6"/>
                </a:solidFill>
                <a:latin typeface="Calibri"/>
                <a:ea typeface="Calibri"/>
                <a:cs typeface="Calibri"/>
                <a:sym typeface="Calibri"/>
              </a:rPr>
              <a:t>Phase 0 </a:t>
            </a:r>
            <a:r>
              <a:rPr b="1" lang="fr" sz="1100">
                <a:solidFill>
                  <a:srgbClr val="DDDEE6"/>
                </a:solidFill>
                <a:latin typeface="Calibri"/>
                <a:ea typeface="Calibri"/>
                <a:cs typeface="Calibri"/>
                <a:sym typeface="Calibri"/>
              </a:rPr>
              <a:t>-</a:t>
            </a:r>
            <a:r>
              <a:rPr b="1" i="0" lang="fr" sz="11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1" i="0" lang="fr" sz="1100" u="none" cap="none" strike="noStrike">
                <a:solidFill>
                  <a:srgbClr val="0E9C8A"/>
                </a:solidFill>
                <a:latin typeface="Calibri"/>
                <a:ea typeface="Calibri"/>
                <a:cs typeface="Calibri"/>
                <a:sym typeface="Calibri"/>
              </a:rPr>
              <a:t>Socle &amp; infra</a:t>
            </a:r>
            <a:endParaRPr sz="1100"/>
          </a:p>
          <a:p>
            <a:pPr indent="0" lvl="0" marL="0" marR="0" rtl="0" algn="l">
              <a:spcBef>
                <a:spcPts val="100"/>
              </a:spcBef>
              <a:spcAft>
                <a:spcPts val="0"/>
              </a:spcAft>
              <a:buNone/>
            </a:pPr>
            <a:r>
              <a:rPr b="0" i="0" lang="fr" sz="9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Docker, Scaleway, Postgres (pgvector + PostGIS)</a:t>
            </a:r>
            <a:endParaRPr sz="1100"/>
          </a:p>
        </p:txBody>
      </p:sp>
      <p:sp>
        <p:nvSpPr>
          <p:cNvPr id="2787" name="Google Shape;2787;p114"/>
          <p:cNvSpPr txBox="1"/>
          <p:nvPr/>
        </p:nvSpPr>
        <p:spPr>
          <a:xfrm>
            <a:off x="3429091" y="1495043"/>
            <a:ext cx="960000" cy="19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9050" lIns="0" spcFirstLastPara="1" rIns="0" wrap="square" tIns="1905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fr" sz="1000" u="none" cap="none" strike="noStrike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~2 sem</a:t>
            </a:r>
            <a:endParaRPr sz="1100">
              <a:solidFill>
                <a:srgbClr val="9CA3AF"/>
              </a:solidFill>
            </a:endParaRPr>
          </a:p>
        </p:txBody>
      </p:sp>
      <p:sp>
        <p:nvSpPr>
          <p:cNvPr id="2788" name="Google Shape;2788;p114"/>
          <p:cNvSpPr/>
          <p:nvPr/>
        </p:nvSpPr>
        <p:spPr>
          <a:xfrm>
            <a:off x="377200" y="2173986"/>
            <a:ext cx="4114800" cy="699600"/>
          </a:xfrm>
          <a:prstGeom prst="roundRect">
            <a:avLst>
              <a:gd fmla="val 6000" name="adj"/>
            </a:avLst>
          </a:prstGeom>
          <a:solidFill>
            <a:srgbClr val="0E9C8A">
              <a:alpha val="23999"/>
            </a:srgbClr>
          </a:solidFill>
          <a:ln cap="flat" cmpd="sng" w="7150">
            <a:solidFill>
              <a:srgbClr val="0E9C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89" name="Google Shape;2789;p114"/>
          <p:cNvSpPr/>
          <p:nvPr/>
        </p:nvSpPr>
        <p:spPr>
          <a:xfrm>
            <a:off x="534938" y="2359152"/>
            <a:ext cx="329100" cy="329100"/>
          </a:xfrm>
          <a:prstGeom prst="ellipse">
            <a:avLst/>
          </a:prstGeom>
          <a:solidFill>
            <a:srgbClr val="0E9C8A">
              <a:alpha val="7999"/>
            </a:srgbClr>
          </a:solidFill>
          <a:ln cap="flat" cmpd="sng" w="9525">
            <a:solidFill>
              <a:srgbClr val="0E9C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fr" sz="1100" u="none" cap="none" strike="noStrike">
                <a:solidFill>
                  <a:srgbClr val="0E9C8A"/>
                </a:solidFill>
                <a:latin typeface="Cambria"/>
                <a:ea typeface="Cambria"/>
                <a:cs typeface="Cambria"/>
                <a:sym typeface="Cambria"/>
              </a:rPr>
              <a:t>1</a:t>
            </a:r>
            <a:endParaRPr sz="1100">
              <a:solidFill>
                <a:srgbClr val="0E9C8A"/>
              </a:solidFill>
            </a:endParaRPr>
          </a:p>
        </p:txBody>
      </p:sp>
      <p:sp>
        <p:nvSpPr>
          <p:cNvPr id="2790" name="Google Shape;2790;p114"/>
          <p:cNvSpPr txBox="1"/>
          <p:nvPr/>
        </p:nvSpPr>
        <p:spPr>
          <a:xfrm>
            <a:off x="994437" y="2263140"/>
            <a:ext cx="2400300" cy="3591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0" spcFirstLastPara="1" rIns="0" wrap="square" tIns="190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fr" sz="1100" u="none" cap="none" strike="noStrike">
                <a:solidFill>
                  <a:srgbClr val="DDDEE6"/>
                </a:solidFill>
                <a:latin typeface="Calibri"/>
                <a:ea typeface="Calibri"/>
                <a:cs typeface="Calibri"/>
                <a:sym typeface="Calibri"/>
              </a:rPr>
              <a:t>Phase 1 </a:t>
            </a:r>
            <a:r>
              <a:rPr b="1" lang="fr" sz="1100">
                <a:solidFill>
                  <a:srgbClr val="DDDEE6"/>
                </a:solidFill>
                <a:latin typeface="Calibri"/>
                <a:ea typeface="Calibri"/>
                <a:cs typeface="Calibri"/>
                <a:sym typeface="Calibri"/>
              </a:rPr>
              <a:t>-</a:t>
            </a:r>
            <a:r>
              <a:rPr b="1" i="0" lang="fr" sz="11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1" i="0" lang="fr" sz="1100" u="none" cap="none" strike="noStrike">
                <a:solidFill>
                  <a:srgbClr val="0E9C8A"/>
                </a:solidFill>
                <a:latin typeface="Calibri"/>
                <a:ea typeface="Calibri"/>
                <a:cs typeface="Calibri"/>
                <a:sym typeface="Calibri"/>
              </a:rPr>
              <a:t>Mémoire + Géo</a:t>
            </a:r>
            <a:endParaRPr sz="1100"/>
          </a:p>
          <a:p>
            <a:pPr indent="0" lvl="0" marL="0" marR="0" rtl="0" algn="l">
              <a:spcBef>
                <a:spcPts val="100"/>
              </a:spcBef>
              <a:spcAft>
                <a:spcPts val="0"/>
              </a:spcAft>
              <a:buNone/>
            </a:pPr>
            <a:r>
              <a:rPr b="0" i="0" lang="fr" sz="9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Redis + Postgres LT, requêtes PostGIS</a:t>
            </a:r>
            <a:endParaRPr sz="1100"/>
          </a:p>
        </p:txBody>
      </p:sp>
      <p:sp>
        <p:nvSpPr>
          <p:cNvPr id="2791" name="Google Shape;2791;p114"/>
          <p:cNvSpPr txBox="1"/>
          <p:nvPr/>
        </p:nvSpPr>
        <p:spPr>
          <a:xfrm>
            <a:off x="3429091" y="2263140"/>
            <a:ext cx="960000" cy="19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9050" lIns="0" spcFirstLastPara="1" rIns="0" wrap="square" tIns="1905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fr" sz="1000" u="none" cap="none" strike="noStrike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~3 sem</a:t>
            </a:r>
            <a:endParaRPr sz="1100">
              <a:solidFill>
                <a:srgbClr val="9CA3AF"/>
              </a:solidFill>
            </a:endParaRPr>
          </a:p>
        </p:txBody>
      </p:sp>
      <p:sp>
        <p:nvSpPr>
          <p:cNvPr id="2792" name="Google Shape;2792;p114"/>
          <p:cNvSpPr/>
          <p:nvPr/>
        </p:nvSpPr>
        <p:spPr>
          <a:xfrm>
            <a:off x="377200" y="2942082"/>
            <a:ext cx="4114800" cy="699600"/>
          </a:xfrm>
          <a:prstGeom prst="roundRect">
            <a:avLst>
              <a:gd fmla="val 6000" name="adj"/>
            </a:avLst>
          </a:prstGeom>
          <a:solidFill>
            <a:srgbClr val="0E9C8A">
              <a:alpha val="15999"/>
            </a:srgbClr>
          </a:solidFill>
          <a:ln cap="flat" cmpd="sng" w="7150">
            <a:solidFill>
              <a:srgbClr val="0E9C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3" name="Google Shape;2793;p114"/>
          <p:cNvSpPr/>
          <p:nvPr/>
        </p:nvSpPr>
        <p:spPr>
          <a:xfrm>
            <a:off x="534938" y="3127248"/>
            <a:ext cx="329100" cy="329100"/>
          </a:xfrm>
          <a:prstGeom prst="ellipse">
            <a:avLst/>
          </a:prstGeom>
          <a:solidFill>
            <a:srgbClr val="0E9C8A">
              <a:alpha val="7999"/>
            </a:srgbClr>
          </a:solidFill>
          <a:ln cap="flat" cmpd="sng" w="9525">
            <a:solidFill>
              <a:srgbClr val="0E9C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fr" sz="1100" u="none" cap="none" strike="noStrike">
                <a:solidFill>
                  <a:srgbClr val="0E9C8A"/>
                </a:solidFill>
                <a:latin typeface="Cambria"/>
                <a:ea typeface="Cambria"/>
                <a:cs typeface="Cambria"/>
                <a:sym typeface="Cambria"/>
              </a:rPr>
              <a:t>2</a:t>
            </a:r>
            <a:endParaRPr sz="1100">
              <a:solidFill>
                <a:srgbClr val="0E9C8A"/>
              </a:solidFill>
            </a:endParaRPr>
          </a:p>
        </p:txBody>
      </p:sp>
      <p:sp>
        <p:nvSpPr>
          <p:cNvPr id="2794" name="Google Shape;2794;p114"/>
          <p:cNvSpPr txBox="1"/>
          <p:nvPr/>
        </p:nvSpPr>
        <p:spPr>
          <a:xfrm>
            <a:off x="994437" y="3031236"/>
            <a:ext cx="2400300" cy="3591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0" spcFirstLastPara="1" rIns="0" wrap="square" tIns="190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fr" sz="1100" u="none" cap="none" strike="noStrike">
                <a:solidFill>
                  <a:srgbClr val="DDDEE6"/>
                </a:solidFill>
                <a:latin typeface="Calibri"/>
                <a:ea typeface="Calibri"/>
                <a:cs typeface="Calibri"/>
                <a:sym typeface="Calibri"/>
              </a:rPr>
              <a:t>Phase 2 </a:t>
            </a:r>
            <a:r>
              <a:rPr b="1" lang="fr" sz="1100">
                <a:solidFill>
                  <a:srgbClr val="DDDEE6"/>
                </a:solidFill>
                <a:latin typeface="Calibri"/>
                <a:ea typeface="Calibri"/>
                <a:cs typeface="Calibri"/>
                <a:sym typeface="Calibri"/>
              </a:rPr>
              <a:t>-</a:t>
            </a:r>
            <a:r>
              <a:rPr b="1" i="0" lang="fr" sz="11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1" i="0" lang="fr" sz="1100" u="none" cap="none" strike="noStrike">
                <a:solidFill>
                  <a:srgbClr val="0E9C8A"/>
                </a:solidFill>
                <a:latin typeface="Calibri"/>
                <a:ea typeface="Calibri"/>
                <a:cs typeface="Calibri"/>
                <a:sym typeface="Calibri"/>
              </a:rPr>
              <a:t>Web + API</a:t>
            </a:r>
            <a:endParaRPr sz="1100"/>
          </a:p>
          <a:p>
            <a:pPr indent="0" lvl="0" marL="0" marR="0" rtl="0" algn="l">
              <a:spcBef>
                <a:spcPts val="100"/>
              </a:spcBef>
              <a:spcAft>
                <a:spcPts val="0"/>
              </a:spcAft>
              <a:buNone/>
            </a:pPr>
            <a:r>
              <a:rPr b="0" i="0" lang="fr" sz="9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smolagents + Tavily, API FastAPI SSE</a:t>
            </a:r>
            <a:endParaRPr sz="1100"/>
          </a:p>
        </p:txBody>
      </p:sp>
      <p:sp>
        <p:nvSpPr>
          <p:cNvPr id="2795" name="Google Shape;2795;p114"/>
          <p:cNvSpPr txBox="1"/>
          <p:nvPr/>
        </p:nvSpPr>
        <p:spPr>
          <a:xfrm>
            <a:off x="3429091" y="3031236"/>
            <a:ext cx="960000" cy="19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9050" lIns="0" spcFirstLastPara="1" rIns="0" wrap="square" tIns="1905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fr" sz="1000" u="none" cap="none" strike="noStrike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~3 sem</a:t>
            </a:r>
            <a:endParaRPr sz="1100">
              <a:solidFill>
                <a:srgbClr val="9CA3AF"/>
              </a:solidFill>
            </a:endParaRPr>
          </a:p>
        </p:txBody>
      </p:sp>
      <p:sp>
        <p:nvSpPr>
          <p:cNvPr id="2796" name="Google Shape;2796;p114"/>
          <p:cNvSpPr/>
          <p:nvPr/>
        </p:nvSpPr>
        <p:spPr>
          <a:xfrm>
            <a:off x="377200" y="3710178"/>
            <a:ext cx="4114800" cy="699600"/>
          </a:xfrm>
          <a:prstGeom prst="roundRect">
            <a:avLst>
              <a:gd fmla="val 6000" name="adj"/>
            </a:avLst>
          </a:prstGeom>
          <a:solidFill>
            <a:srgbClr val="0E9C8A">
              <a:alpha val="7999"/>
            </a:srgbClr>
          </a:solidFill>
          <a:ln cap="flat" cmpd="sng" w="7150">
            <a:solidFill>
              <a:srgbClr val="0E9C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7" name="Google Shape;2797;p114"/>
          <p:cNvSpPr/>
          <p:nvPr/>
        </p:nvSpPr>
        <p:spPr>
          <a:xfrm>
            <a:off x="534938" y="3895344"/>
            <a:ext cx="329100" cy="329100"/>
          </a:xfrm>
          <a:prstGeom prst="ellipse">
            <a:avLst/>
          </a:prstGeom>
          <a:solidFill>
            <a:srgbClr val="0E9C8A">
              <a:alpha val="7999"/>
            </a:srgbClr>
          </a:solidFill>
          <a:ln cap="flat" cmpd="sng" w="9525">
            <a:solidFill>
              <a:srgbClr val="0E9C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fr" sz="1100" u="none" cap="none" strike="noStrike">
                <a:solidFill>
                  <a:srgbClr val="0E9C8A"/>
                </a:solidFill>
                <a:latin typeface="Cambria"/>
                <a:ea typeface="Cambria"/>
                <a:cs typeface="Cambria"/>
                <a:sym typeface="Cambria"/>
              </a:rPr>
              <a:t>3</a:t>
            </a:r>
            <a:endParaRPr sz="1100">
              <a:solidFill>
                <a:srgbClr val="0E9C8A"/>
              </a:solidFill>
            </a:endParaRPr>
          </a:p>
        </p:txBody>
      </p:sp>
      <p:sp>
        <p:nvSpPr>
          <p:cNvPr id="2798" name="Google Shape;2798;p114"/>
          <p:cNvSpPr txBox="1"/>
          <p:nvPr/>
        </p:nvSpPr>
        <p:spPr>
          <a:xfrm>
            <a:off x="994437" y="3799332"/>
            <a:ext cx="2400300" cy="3591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0" spcFirstLastPara="1" rIns="0" wrap="square" tIns="190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fr" sz="1100" u="none" cap="none" strike="noStrike">
                <a:solidFill>
                  <a:srgbClr val="DDDEE6"/>
                </a:solidFill>
                <a:latin typeface="Calibri"/>
                <a:ea typeface="Calibri"/>
                <a:cs typeface="Calibri"/>
                <a:sym typeface="Calibri"/>
              </a:rPr>
              <a:t>Phase 3 </a:t>
            </a:r>
            <a:r>
              <a:rPr b="1" lang="fr" sz="1100">
                <a:solidFill>
                  <a:srgbClr val="DDDEE6"/>
                </a:solidFill>
                <a:latin typeface="Calibri"/>
                <a:ea typeface="Calibri"/>
                <a:cs typeface="Calibri"/>
                <a:sym typeface="Calibri"/>
              </a:rPr>
              <a:t>-</a:t>
            </a:r>
            <a:r>
              <a:rPr b="1" i="0" lang="fr" sz="11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1" i="0" lang="fr" sz="1100" u="none" cap="none" strike="noStrike">
                <a:solidFill>
                  <a:srgbClr val="0E9C8A"/>
                </a:solidFill>
                <a:latin typeface="Calibri"/>
                <a:ea typeface="Calibri"/>
                <a:cs typeface="Calibri"/>
                <a:sym typeface="Calibri"/>
              </a:rPr>
              <a:t>Monitoring</a:t>
            </a:r>
            <a:endParaRPr sz="1100"/>
          </a:p>
          <a:p>
            <a:pPr indent="0" lvl="0" marL="0" marR="0" rtl="0" algn="l">
              <a:spcBef>
                <a:spcPts val="100"/>
              </a:spcBef>
              <a:spcAft>
                <a:spcPts val="0"/>
              </a:spcAft>
              <a:buNone/>
            </a:pPr>
            <a:r>
              <a:rPr b="0" i="0" lang="fr" sz="9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Langfuse, métriques, durcissement</a:t>
            </a:r>
            <a:endParaRPr sz="1100"/>
          </a:p>
        </p:txBody>
      </p:sp>
      <p:sp>
        <p:nvSpPr>
          <p:cNvPr id="2799" name="Google Shape;2799;p114"/>
          <p:cNvSpPr txBox="1"/>
          <p:nvPr/>
        </p:nvSpPr>
        <p:spPr>
          <a:xfrm>
            <a:off x="3429091" y="3799332"/>
            <a:ext cx="960000" cy="19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9050" lIns="0" spcFirstLastPara="1" rIns="0" wrap="square" tIns="1905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fr" sz="1000" u="none" cap="none" strike="noStrike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~2 sem</a:t>
            </a:r>
            <a:endParaRPr sz="1100">
              <a:solidFill>
                <a:srgbClr val="9CA3AF"/>
              </a:solidFill>
            </a:endParaRPr>
          </a:p>
        </p:txBody>
      </p:sp>
      <p:sp>
        <p:nvSpPr>
          <p:cNvPr id="2800" name="Google Shape;2800;p114"/>
          <p:cNvSpPr txBox="1"/>
          <p:nvPr/>
        </p:nvSpPr>
        <p:spPr>
          <a:xfrm>
            <a:off x="4766437" y="1028700"/>
            <a:ext cx="4012200" cy="2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0" spcFirstLastPara="1" rIns="0" wrap="square" tIns="190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fr" sz="1200" u="none" cap="none" strike="noStrike">
                <a:solidFill>
                  <a:srgbClr val="DDDEE6"/>
                </a:solidFill>
                <a:latin typeface="Cambria"/>
                <a:ea typeface="Cambria"/>
                <a:cs typeface="Cambria"/>
                <a:sym typeface="Cambria"/>
              </a:rPr>
              <a:t>Budget — estimation</a:t>
            </a:r>
            <a:r>
              <a:rPr b="1" i="0" lang="fr" sz="1200" u="none" cap="none" strike="noStrike">
                <a:solidFill>
                  <a:srgbClr val="4F46E5"/>
                </a:solidFill>
                <a:latin typeface="Cambria"/>
                <a:ea typeface="Cambria"/>
                <a:cs typeface="Cambria"/>
                <a:sym typeface="Cambria"/>
              </a:rPr>
              <a:t> </a:t>
            </a:r>
            <a:r>
              <a:rPr b="1" i="0" lang="fr" sz="1200" u="none" cap="none" strike="noStrike">
                <a:solidFill>
                  <a:srgbClr val="0E9C8A"/>
                </a:solidFill>
                <a:latin typeface="Cambria"/>
                <a:ea typeface="Cambria"/>
                <a:cs typeface="Cambria"/>
                <a:sym typeface="Cambria"/>
              </a:rPr>
              <a:t>~ 160 € / mois</a:t>
            </a:r>
            <a:endParaRPr sz="1100">
              <a:solidFill>
                <a:srgbClr val="0E9C8A"/>
              </a:solidFill>
            </a:endParaRPr>
          </a:p>
        </p:txBody>
      </p:sp>
      <p:sp>
        <p:nvSpPr>
          <p:cNvPr id="2801" name="Google Shape;2801;p114"/>
          <p:cNvSpPr txBox="1"/>
          <p:nvPr/>
        </p:nvSpPr>
        <p:spPr>
          <a:xfrm>
            <a:off x="4766437" y="1316736"/>
            <a:ext cx="40122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0" spcFirstLastPara="1" rIns="0" wrap="square" tIns="190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fr" sz="8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Hyp. : 1 000 req/j · ~4k tokens/req · 20 % via web · Postgres non-HA</a:t>
            </a:r>
            <a:endParaRPr sz="1100"/>
          </a:p>
        </p:txBody>
      </p:sp>
      <p:sp>
        <p:nvSpPr>
          <p:cNvPr id="2802" name="Google Shape;2802;p114"/>
          <p:cNvSpPr/>
          <p:nvPr/>
        </p:nvSpPr>
        <p:spPr>
          <a:xfrm>
            <a:off x="4766437" y="1591056"/>
            <a:ext cx="3998400" cy="384000"/>
          </a:xfrm>
          <a:prstGeom prst="roundRect">
            <a:avLst>
              <a:gd fmla="val 6000" name="adj"/>
            </a:avLst>
          </a:prstGeom>
          <a:solidFill>
            <a:srgbClr val="0E9C8A">
              <a:alpha val="7999"/>
            </a:srgbClr>
          </a:solidFill>
          <a:ln cap="flat" cmpd="sng" w="7150">
            <a:solidFill>
              <a:srgbClr val="0E9C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3" name="Google Shape;2803;p114"/>
          <p:cNvSpPr txBox="1"/>
          <p:nvPr/>
        </p:nvSpPr>
        <p:spPr>
          <a:xfrm>
            <a:off x="4924175" y="1632204"/>
            <a:ext cx="2743200" cy="3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0" spcFirstLastPara="1" rIns="0" wrap="square" tIns="190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fr" sz="900" u="none" cap="none" strike="noStrike">
                <a:solidFill>
                  <a:srgbClr val="DDDEE6"/>
                </a:solidFill>
                <a:latin typeface="Calibri"/>
                <a:ea typeface="Calibri"/>
                <a:cs typeface="Calibri"/>
                <a:sym typeface="Calibri"/>
              </a:rPr>
              <a:t>Mistral — génération</a:t>
            </a:r>
            <a:endParaRPr sz="1100">
              <a:solidFill>
                <a:srgbClr val="DDDEE6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fr" sz="8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mistral-small · 105M in + 15M out</a:t>
            </a:r>
            <a:endParaRPr sz="1100"/>
          </a:p>
        </p:txBody>
      </p:sp>
      <p:sp>
        <p:nvSpPr>
          <p:cNvPr id="2804" name="Google Shape;2804;p114"/>
          <p:cNvSpPr txBox="1"/>
          <p:nvPr/>
        </p:nvSpPr>
        <p:spPr>
          <a:xfrm>
            <a:off x="7544001" y="1632204"/>
            <a:ext cx="1097400" cy="19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9050" lIns="0" spcFirstLastPara="1" rIns="0" wrap="square" tIns="1905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fr" sz="1000" u="none" cap="none" strike="noStrike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~14 €</a:t>
            </a:r>
            <a:endParaRPr sz="1100">
              <a:solidFill>
                <a:srgbClr val="9CA3AF"/>
              </a:solidFill>
            </a:endParaRPr>
          </a:p>
        </p:txBody>
      </p:sp>
      <p:sp>
        <p:nvSpPr>
          <p:cNvPr id="2805" name="Google Shape;2805;p114"/>
          <p:cNvSpPr/>
          <p:nvPr/>
        </p:nvSpPr>
        <p:spPr>
          <a:xfrm>
            <a:off x="4766437" y="2002536"/>
            <a:ext cx="3998400" cy="384000"/>
          </a:xfrm>
          <a:prstGeom prst="roundRect">
            <a:avLst>
              <a:gd fmla="val 6000" name="adj"/>
            </a:avLst>
          </a:prstGeom>
          <a:solidFill>
            <a:srgbClr val="0E9C8A">
              <a:alpha val="7999"/>
            </a:srgbClr>
          </a:solidFill>
          <a:ln cap="flat" cmpd="sng" w="7150">
            <a:solidFill>
              <a:srgbClr val="0E9C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6" name="Google Shape;2806;p114"/>
          <p:cNvSpPr txBox="1"/>
          <p:nvPr/>
        </p:nvSpPr>
        <p:spPr>
          <a:xfrm>
            <a:off x="4924175" y="2043684"/>
            <a:ext cx="2743200" cy="3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0" spcFirstLastPara="1" rIns="0" wrap="square" tIns="190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fr" sz="900" u="none" cap="none" strike="noStrike">
                <a:solidFill>
                  <a:srgbClr val="DDDEE6"/>
                </a:solidFill>
                <a:latin typeface="Calibri"/>
                <a:ea typeface="Calibri"/>
                <a:cs typeface="Calibri"/>
                <a:sym typeface="Calibri"/>
              </a:rPr>
              <a:t>Mistral — embeddings</a:t>
            </a:r>
            <a:endParaRPr sz="1100">
              <a:solidFill>
                <a:srgbClr val="DDDEE6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fr" sz="8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requêtes + ré-indexation</a:t>
            </a:r>
            <a:endParaRPr sz="1100"/>
          </a:p>
        </p:txBody>
      </p:sp>
      <p:sp>
        <p:nvSpPr>
          <p:cNvPr id="2807" name="Google Shape;2807;p114"/>
          <p:cNvSpPr txBox="1"/>
          <p:nvPr/>
        </p:nvSpPr>
        <p:spPr>
          <a:xfrm>
            <a:off x="7544001" y="2043684"/>
            <a:ext cx="1097400" cy="19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9050" lIns="0" spcFirstLastPara="1" rIns="0" wrap="square" tIns="1905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fr" sz="1000" u="none" cap="none" strike="noStrike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~2 €</a:t>
            </a:r>
            <a:endParaRPr sz="1100">
              <a:solidFill>
                <a:srgbClr val="9CA3AF"/>
              </a:solidFill>
            </a:endParaRPr>
          </a:p>
        </p:txBody>
      </p:sp>
      <p:sp>
        <p:nvSpPr>
          <p:cNvPr id="2808" name="Google Shape;2808;p114"/>
          <p:cNvSpPr/>
          <p:nvPr/>
        </p:nvSpPr>
        <p:spPr>
          <a:xfrm>
            <a:off x="4766437" y="2414016"/>
            <a:ext cx="3998400" cy="384000"/>
          </a:xfrm>
          <a:prstGeom prst="roundRect">
            <a:avLst>
              <a:gd fmla="val 6000" name="adj"/>
            </a:avLst>
          </a:prstGeom>
          <a:solidFill>
            <a:srgbClr val="0E9C8A">
              <a:alpha val="7999"/>
            </a:srgbClr>
          </a:solidFill>
          <a:ln cap="flat" cmpd="sng" w="7150">
            <a:solidFill>
              <a:srgbClr val="0E9C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9" name="Google Shape;2809;p114"/>
          <p:cNvSpPr txBox="1"/>
          <p:nvPr/>
        </p:nvSpPr>
        <p:spPr>
          <a:xfrm>
            <a:off x="4924175" y="2455164"/>
            <a:ext cx="2743200" cy="3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0" spcFirstLastPara="1" rIns="0" wrap="square" tIns="190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fr" sz="900" u="none" cap="none" strike="noStrike">
                <a:solidFill>
                  <a:srgbClr val="DDDEE6"/>
                </a:solidFill>
                <a:latin typeface="Calibri"/>
                <a:ea typeface="Calibri"/>
                <a:cs typeface="Calibri"/>
                <a:sym typeface="Calibri"/>
              </a:rPr>
              <a:t>Tavily — recherche web</a:t>
            </a:r>
            <a:endParaRPr sz="1100">
              <a:solidFill>
                <a:srgbClr val="DDDEE6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fr" sz="8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~6 000 recherches / mois</a:t>
            </a:r>
            <a:endParaRPr sz="1100"/>
          </a:p>
        </p:txBody>
      </p:sp>
      <p:sp>
        <p:nvSpPr>
          <p:cNvPr id="2810" name="Google Shape;2810;p114"/>
          <p:cNvSpPr txBox="1"/>
          <p:nvPr/>
        </p:nvSpPr>
        <p:spPr>
          <a:xfrm>
            <a:off x="7544001" y="2455164"/>
            <a:ext cx="1097400" cy="19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9050" lIns="0" spcFirstLastPara="1" rIns="0" wrap="square" tIns="1905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fr" sz="1000" u="none" cap="none" strike="noStrike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~40 €</a:t>
            </a:r>
            <a:endParaRPr sz="1100">
              <a:solidFill>
                <a:srgbClr val="9CA3AF"/>
              </a:solidFill>
            </a:endParaRPr>
          </a:p>
        </p:txBody>
      </p:sp>
      <p:sp>
        <p:nvSpPr>
          <p:cNvPr id="2811" name="Google Shape;2811;p114"/>
          <p:cNvSpPr/>
          <p:nvPr/>
        </p:nvSpPr>
        <p:spPr>
          <a:xfrm>
            <a:off x="4766437" y="2825496"/>
            <a:ext cx="3998400" cy="384000"/>
          </a:xfrm>
          <a:prstGeom prst="roundRect">
            <a:avLst>
              <a:gd fmla="val 6000" name="adj"/>
            </a:avLst>
          </a:prstGeom>
          <a:solidFill>
            <a:srgbClr val="0E9C8A">
              <a:alpha val="7999"/>
            </a:srgbClr>
          </a:solidFill>
          <a:ln cap="flat" cmpd="sng" w="7150">
            <a:solidFill>
              <a:srgbClr val="0E9C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12" name="Google Shape;2812;p114"/>
          <p:cNvSpPr txBox="1"/>
          <p:nvPr/>
        </p:nvSpPr>
        <p:spPr>
          <a:xfrm>
            <a:off x="4924175" y="2866643"/>
            <a:ext cx="2743200" cy="3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0" spcFirstLastPara="1" rIns="0" wrap="square" tIns="190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fr" sz="900" u="none" cap="none" strike="noStrike">
                <a:solidFill>
                  <a:srgbClr val="DDDEE6"/>
                </a:solidFill>
                <a:latin typeface="Calibri"/>
                <a:ea typeface="Calibri"/>
                <a:cs typeface="Calibri"/>
                <a:sym typeface="Calibri"/>
              </a:rPr>
              <a:t>Scaleway — PostgreSQL</a:t>
            </a:r>
            <a:endParaRPr sz="1100">
              <a:solidFill>
                <a:srgbClr val="DDDEE6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fr" sz="8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managé, prod non-HA (PRO2-XXS)</a:t>
            </a:r>
            <a:endParaRPr sz="1100"/>
          </a:p>
        </p:txBody>
      </p:sp>
      <p:sp>
        <p:nvSpPr>
          <p:cNvPr id="2813" name="Google Shape;2813;p114"/>
          <p:cNvSpPr txBox="1"/>
          <p:nvPr/>
        </p:nvSpPr>
        <p:spPr>
          <a:xfrm>
            <a:off x="7544001" y="2866643"/>
            <a:ext cx="1097400" cy="19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9050" lIns="0" spcFirstLastPara="1" rIns="0" wrap="square" tIns="1905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fr" sz="1000" u="none" cap="none" strike="noStrike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~80 €</a:t>
            </a:r>
            <a:endParaRPr sz="1100">
              <a:solidFill>
                <a:srgbClr val="9CA3AF"/>
              </a:solidFill>
            </a:endParaRPr>
          </a:p>
        </p:txBody>
      </p:sp>
      <p:sp>
        <p:nvSpPr>
          <p:cNvPr id="2814" name="Google Shape;2814;p114"/>
          <p:cNvSpPr/>
          <p:nvPr/>
        </p:nvSpPr>
        <p:spPr>
          <a:xfrm>
            <a:off x="4766437" y="3236976"/>
            <a:ext cx="3998400" cy="384000"/>
          </a:xfrm>
          <a:prstGeom prst="roundRect">
            <a:avLst>
              <a:gd fmla="val 6000" name="adj"/>
            </a:avLst>
          </a:prstGeom>
          <a:solidFill>
            <a:srgbClr val="0E9C8A">
              <a:alpha val="7999"/>
            </a:srgbClr>
          </a:solidFill>
          <a:ln cap="flat" cmpd="sng" w="7150">
            <a:solidFill>
              <a:srgbClr val="0E9C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15" name="Google Shape;2815;p114"/>
          <p:cNvSpPr txBox="1"/>
          <p:nvPr/>
        </p:nvSpPr>
        <p:spPr>
          <a:xfrm>
            <a:off x="4924175" y="3278123"/>
            <a:ext cx="2743200" cy="3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0" spcFirstLastPara="1" rIns="0" wrap="square" tIns="190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fr" sz="900" u="none" cap="none" strike="noStrike">
                <a:solidFill>
                  <a:srgbClr val="DDDEE6"/>
                </a:solidFill>
                <a:latin typeface="Calibri"/>
                <a:ea typeface="Calibri"/>
                <a:cs typeface="Calibri"/>
                <a:sym typeface="Calibri"/>
              </a:rPr>
              <a:t>Scaleway — Serverless + Redis</a:t>
            </a:r>
            <a:endParaRPr sz="1100">
              <a:solidFill>
                <a:srgbClr val="DDDEE6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fr" sz="8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conteneurs à l'usage</a:t>
            </a:r>
            <a:endParaRPr sz="1100"/>
          </a:p>
        </p:txBody>
      </p:sp>
      <p:sp>
        <p:nvSpPr>
          <p:cNvPr id="2816" name="Google Shape;2816;p114"/>
          <p:cNvSpPr txBox="1"/>
          <p:nvPr/>
        </p:nvSpPr>
        <p:spPr>
          <a:xfrm>
            <a:off x="7544001" y="3278123"/>
            <a:ext cx="1097400" cy="19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9050" lIns="0" spcFirstLastPara="1" rIns="0" wrap="square" tIns="1905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fr" sz="1000" u="none" cap="none" strike="noStrike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~25 €</a:t>
            </a:r>
            <a:endParaRPr sz="1100">
              <a:solidFill>
                <a:srgbClr val="9CA3AF"/>
              </a:solidFill>
            </a:endParaRPr>
          </a:p>
        </p:txBody>
      </p:sp>
      <p:sp>
        <p:nvSpPr>
          <p:cNvPr id="2817" name="Google Shape;2817;p114"/>
          <p:cNvSpPr/>
          <p:nvPr/>
        </p:nvSpPr>
        <p:spPr>
          <a:xfrm>
            <a:off x="4766437" y="3648455"/>
            <a:ext cx="3998400" cy="384000"/>
          </a:xfrm>
          <a:prstGeom prst="roundRect">
            <a:avLst>
              <a:gd fmla="val 6000" name="adj"/>
            </a:avLst>
          </a:prstGeom>
          <a:solidFill>
            <a:srgbClr val="0E9C8A">
              <a:alpha val="7999"/>
            </a:srgbClr>
          </a:solidFill>
          <a:ln cap="flat" cmpd="sng" w="7150">
            <a:solidFill>
              <a:srgbClr val="0E9C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18" name="Google Shape;2818;p114"/>
          <p:cNvSpPr txBox="1"/>
          <p:nvPr/>
        </p:nvSpPr>
        <p:spPr>
          <a:xfrm>
            <a:off x="4924175" y="3689603"/>
            <a:ext cx="2743200" cy="3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0" spcFirstLastPara="1" rIns="0" wrap="square" tIns="190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fr" sz="900" u="none" cap="none" strike="noStrike">
                <a:solidFill>
                  <a:srgbClr val="DDDEE6"/>
                </a:solidFill>
                <a:latin typeface="Calibri"/>
                <a:ea typeface="Calibri"/>
                <a:cs typeface="Calibri"/>
                <a:sym typeface="Calibri"/>
              </a:rPr>
              <a:t>Langfuse + Cockpit</a:t>
            </a:r>
            <a:endParaRPr sz="1100">
              <a:solidFill>
                <a:srgbClr val="DDDEE6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fr" sz="8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self-host / natif Scaleway</a:t>
            </a:r>
            <a:endParaRPr sz="1100"/>
          </a:p>
        </p:txBody>
      </p:sp>
      <p:sp>
        <p:nvSpPr>
          <p:cNvPr id="2819" name="Google Shape;2819;p114"/>
          <p:cNvSpPr txBox="1"/>
          <p:nvPr/>
        </p:nvSpPr>
        <p:spPr>
          <a:xfrm>
            <a:off x="7544001" y="3689603"/>
            <a:ext cx="1097400" cy="19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9050" lIns="0" spcFirstLastPara="1" rIns="0" wrap="square" tIns="1905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fr" sz="1000" u="none" cap="none" strike="noStrike">
                <a:solidFill>
                  <a:srgbClr val="0E9C8A"/>
                </a:solidFill>
                <a:latin typeface="Calibri"/>
                <a:ea typeface="Calibri"/>
                <a:cs typeface="Calibri"/>
                <a:sym typeface="Calibri"/>
              </a:rPr>
              <a:t>gratuit</a:t>
            </a:r>
            <a:endParaRPr sz="1100"/>
          </a:p>
        </p:txBody>
      </p:sp>
      <p:sp>
        <p:nvSpPr>
          <p:cNvPr id="2820" name="Google Shape;2820;p114"/>
          <p:cNvSpPr/>
          <p:nvPr/>
        </p:nvSpPr>
        <p:spPr>
          <a:xfrm>
            <a:off x="4766437" y="4073651"/>
            <a:ext cx="3998400" cy="342900"/>
          </a:xfrm>
          <a:prstGeom prst="roundRect">
            <a:avLst>
              <a:gd fmla="val 6000" name="adj"/>
            </a:avLst>
          </a:prstGeom>
          <a:solidFill>
            <a:srgbClr val="0E9C8A">
              <a:alpha val="15999"/>
            </a:srgbClr>
          </a:solidFill>
          <a:ln cap="flat" cmpd="sng" w="9525">
            <a:solidFill>
              <a:srgbClr val="0E9C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1" name="Google Shape;2821;p114"/>
          <p:cNvSpPr txBox="1"/>
          <p:nvPr/>
        </p:nvSpPr>
        <p:spPr>
          <a:xfrm>
            <a:off x="4924175" y="4128515"/>
            <a:ext cx="2400300" cy="19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9050" lIns="0" spcFirstLastPara="1" rIns="0" wrap="square" tIns="190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fr" sz="1000" u="none" cap="none" strike="noStrike">
                <a:solidFill>
                  <a:srgbClr val="0B6F62"/>
                </a:solidFill>
                <a:latin typeface="Calibri"/>
                <a:ea typeface="Calibri"/>
                <a:cs typeface="Calibri"/>
                <a:sym typeface="Calibri"/>
              </a:rPr>
              <a:t>Total estimé</a:t>
            </a:r>
            <a:endParaRPr sz="1100"/>
          </a:p>
        </p:txBody>
      </p:sp>
      <p:sp>
        <p:nvSpPr>
          <p:cNvPr id="2822" name="Google Shape;2822;p114"/>
          <p:cNvSpPr txBox="1"/>
          <p:nvPr/>
        </p:nvSpPr>
        <p:spPr>
          <a:xfrm>
            <a:off x="7544001" y="4101083"/>
            <a:ext cx="10974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9050" lIns="0" spcFirstLastPara="1" rIns="0" wrap="square" tIns="1905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fr" sz="1100" u="none" cap="none" strike="noStrike">
                <a:solidFill>
                  <a:srgbClr val="0B6F62"/>
                </a:solidFill>
                <a:latin typeface="Calibri"/>
                <a:ea typeface="Calibri"/>
                <a:cs typeface="Calibri"/>
                <a:sym typeface="Calibri"/>
              </a:rPr>
              <a:t>~160 €</a:t>
            </a:r>
            <a:endParaRPr sz="1100"/>
          </a:p>
        </p:txBody>
      </p:sp>
      <p:sp>
        <p:nvSpPr>
          <p:cNvPr id="2823" name="Google Shape;2823;p114"/>
          <p:cNvSpPr txBox="1"/>
          <p:nvPr/>
        </p:nvSpPr>
        <p:spPr>
          <a:xfrm>
            <a:off x="4766437" y="4485131"/>
            <a:ext cx="4012200" cy="2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0" spcFirstLastPara="1" rIns="0" wrap="square" tIns="190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fr" sz="8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Dominé par l'infra fixe à ce volume — le LLM ne pèse que ~10 % mais scale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fr" sz="8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avec le trafic. HA Postgres double la base. Grilles juin 2026, à valider.</a:t>
            </a:r>
            <a:endParaRPr sz="1100"/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28" name="Shape 28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9" name="Google Shape;2829;p115"/>
          <p:cNvSpPr txBox="1"/>
          <p:nvPr/>
        </p:nvSpPr>
        <p:spPr>
          <a:xfrm>
            <a:off x="377200" y="233175"/>
            <a:ext cx="2286900" cy="45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9050" lIns="0" spcFirstLastPara="1" rIns="0" wrap="square" tIns="190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1800">
                <a:solidFill>
                  <a:srgbClr val="0E9C8A"/>
                </a:solidFill>
                <a:latin typeface="Calibri"/>
                <a:ea typeface="Calibri"/>
                <a:cs typeface="Calibri"/>
                <a:sym typeface="Calibri"/>
              </a:rPr>
              <a:t>Synthèse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0" name="Google Shape;2830;p115"/>
          <p:cNvSpPr txBox="1"/>
          <p:nvPr/>
        </p:nvSpPr>
        <p:spPr>
          <a:xfrm>
            <a:off x="377200" y="675550"/>
            <a:ext cx="23910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9050" lIns="0" spcFirstLastPara="1" rIns="0" wrap="square" tIns="190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1100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Un MVP souverain, justifié défi par défi</a:t>
            </a:r>
            <a:endParaRPr b="1" sz="1100">
              <a:solidFill>
                <a:srgbClr val="9CA3A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1" name="Google Shape;2831;p115"/>
          <p:cNvSpPr txBox="1"/>
          <p:nvPr/>
        </p:nvSpPr>
        <p:spPr>
          <a:xfrm>
            <a:off x="377200" y="4945850"/>
            <a:ext cx="999000" cy="166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700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MVP RAG</a:t>
            </a:r>
            <a:r>
              <a:rPr lang="fr" sz="700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fr" sz="700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Puls-Events</a:t>
            </a:r>
            <a:endParaRPr sz="700">
              <a:solidFill>
                <a:srgbClr val="9CA3A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36" name="Shape 28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7" name="Google Shape;2837;p116"/>
          <p:cNvSpPr txBox="1"/>
          <p:nvPr/>
        </p:nvSpPr>
        <p:spPr>
          <a:xfrm>
            <a:off x="377200" y="233175"/>
            <a:ext cx="2286900" cy="45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9050" lIns="0" spcFirstLastPara="1" rIns="0" wrap="square" tIns="190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1800">
                <a:solidFill>
                  <a:srgbClr val="0E9C8A"/>
                </a:solidFill>
                <a:latin typeface="Calibri"/>
                <a:ea typeface="Calibri"/>
                <a:cs typeface="Calibri"/>
                <a:sym typeface="Calibri"/>
              </a:rPr>
              <a:t>Synthèse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8" name="Google Shape;2838;p116"/>
          <p:cNvSpPr txBox="1"/>
          <p:nvPr/>
        </p:nvSpPr>
        <p:spPr>
          <a:xfrm>
            <a:off x="377200" y="675550"/>
            <a:ext cx="23910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9050" lIns="0" spcFirstLastPara="1" rIns="0" wrap="square" tIns="190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1100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Un MVP souverain, justifié défi par défi</a:t>
            </a:r>
            <a:endParaRPr b="1" sz="1100">
              <a:solidFill>
                <a:srgbClr val="9CA3A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9" name="Google Shape;2839;p116"/>
          <p:cNvSpPr txBox="1"/>
          <p:nvPr/>
        </p:nvSpPr>
        <p:spPr>
          <a:xfrm>
            <a:off x="377200" y="4945850"/>
            <a:ext cx="999000" cy="166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700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MVP RAG Puls-Events</a:t>
            </a:r>
            <a:endParaRPr sz="700">
              <a:solidFill>
                <a:srgbClr val="9CA3A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0" name="Google Shape;2840;p116"/>
          <p:cNvSpPr/>
          <p:nvPr/>
        </p:nvSpPr>
        <p:spPr>
          <a:xfrm>
            <a:off x="651527" y="1830517"/>
            <a:ext cx="123600" cy="123600"/>
          </a:xfrm>
          <a:prstGeom prst="roundRect">
            <a:avLst>
              <a:gd fmla="val 16667" name="adj"/>
            </a:avLst>
          </a:prstGeom>
          <a:solidFill>
            <a:srgbClr val="0E9C8A">
              <a:alpha val="23999"/>
            </a:srgbClr>
          </a:solidFill>
          <a:ln cap="flat" cmpd="sng" w="9525">
            <a:solidFill>
              <a:srgbClr val="0E9C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1" name="Google Shape;2841;p116"/>
          <p:cNvSpPr txBox="1"/>
          <p:nvPr/>
        </p:nvSpPr>
        <p:spPr>
          <a:xfrm>
            <a:off x="925855" y="1769364"/>
            <a:ext cx="7544100" cy="2385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0" spcFirstLastPara="1" rIns="0" wrap="square" tIns="190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fr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 défis couverts </a:t>
            </a:r>
            <a:r>
              <a:rPr b="1" lang="fr" sz="13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-</a:t>
            </a:r>
            <a:r>
              <a:rPr b="1" i="0" lang="fr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0" i="0" lang="fr" sz="12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une techno par défi, chaque choix tracé jusqu'à un besoin</a:t>
            </a:r>
            <a:endParaRPr sz="1100"/>
          </a:p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46" name="Shape 28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7" name="Google Shape;2847;p117"/>
          <p:cNvSpPr txBox="1"/>
          <p:nvPr/>
        </p:nvSpPr>
        <p:spPr>
          <a:xfrm>
            <a:off x="377200" y="233175"/>
            <a:ext cx="2286900" cy="45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9050" lIns="0" spcFirstLastPara="1" rIns="0" wrap="square" tIns="190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1800">
                <a:solidFill>
                  <a:srgbClr val="0E9C8A"/>
                </a:solidFill>
                <a:latin typeface="Calibri"/>
                <a:ea typeface="Calibri"/>
                <a:cs typeface="Calibri"/>
                <a:sym typeface="Calibri"/>
              </a:rPr>
              <a:t>Synthèse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8" name="Google Shape;2848;p117"/>
          <p:cNvSpPr txBox="1"/>
          <p:nvPr/>
        </p:nvSpPr>
        <p:spPr>
          <a:xfrm>
            <a:off x="377200" y="675550"/>
            <a:ext cx="23910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9050" lIns="0" spcFirstLastPara="1" rIns="0" wrap="square" tIns="190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1100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Un MVP souverain, justifié défi par défi</a:t>
            </a:r>
            <a:endParaRPr b="1" sz="1100">
              <a:solidFill>
                <a:srgbClr val="9CA3A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9" name="Google Shape;2849;p117"/>
          <p:cNvSpPr txBox="1"/>
          <p:nvPr/>
        </p:nvSpPr>
        <p:spPr>
          <a:xfrm>
            <a:off x="377200" y="4945850"/>
            <a:ext cx="999000" cy="166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700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MVP RAG Puls-Events</a:t>
            </a:r>
            <a:endParaRPr sz="700">
              <a:solidFill>
                <a:srgbClr val="9CA3A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50" name="Google Shape;2850;p117"/>
          <p:cNvSpPr/>
          <p:nvPr/>
        </p:nvSpPr>
        <p:spPr>
          <a:xfrm>
            <a:off x="651527" y="1830517"/>
            <a:ext cx="123600" cy="123600"/>
          </a:xfrm>
          <a:prstGeom prst="roundRect">
            <a:avLst>
              <a:gd fmla="val 16667" name="adj"/>
            </a:avLst>
          </a:prstGeom>
          <a:solidFill>
            <a:srgbClr val="0E9C8A">
              <a:alpha val="23999"/>
            </a:srgbClr>
          </a:solidFill>
          <a:ln cap="flat" cmpd="sng" w="9525">
            <a:solidFill>
              <a:srgbClr val="0E9C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51" name="Google Shape;2851;p117"/>
          <p:cNvSpPr txBox="1"/>
          <p:nvPr/>
        </p:nvSpPr>
        <p:spPr>
          <a:xfrm>
            <a:off x="925855" y="1769364"/>
            <a:ext cx="7544100" cy="2385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0" spcFirstLastPara="1" rIns="0" wrap="square" tIns="190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fr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 défis couverts </a:t>
            </a:r>
            <a:r>
              <a:rPr b="1" lang="fr" sz="13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-</a:t>
            </a:r>
            <a:r>
              <a:rPr b="1" i="0" lang="fr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0" i="0" lang="fr" sz="12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une techno par défi, chaque choix tracé jusqu'à un besoin</a:t>
            </a:r>
            <a:endParaRPr sz="1100"/>
          </a:p>
        </p:txBody>
      </p:sp>
      <p:sp>
        <p:nvSpPr>
          <p:cNvPr id="2852" name="Google Shape;2852;p117"/>
          <p:cNvSpPr/>
          <p:nvPr/>
        </p:nvSpPr>
        <p:spPr>
          <a:xfrm>
            <a:off x="651527" y="2365441"/>
            <a:ext cx="123600" cy="123600"/>
          </a:xfrm>
          <a:prstGeom prst="roundRect">
            <a:avLst>
              <a:gd fmla="val 16667" name="adj"/>
            </a:avLst>
          </a:prstGeom>
          <a:solidFill>
            <a:srgbClr val="0E9C8A">
              <a:alpha val="23999"/>
            </a:srgbClr>
          </a:solidFill>
          <a:ln cap="flat" cmpd="sng" w="9525">
            <a:solidFill>
              <a:srgbClr val="0E9C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53" name="Google Shape;2853;p117"/>
          <p:cNvSpPr txBox="1"/>
          <p:nvPr/>
        </p:nvSpPr>
        <p:spPr>
          <a:xfrm>
            <a:off x="925855" y="2304288"/>
            <a:ext cx="7544100" cy="2385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0" spcFirstLastPara="1" rIns="0" wrap="square" tIns="190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fr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Stack souveraine </a:t>
            </a:r>
            <a:r>
              <a:rPr b="1" lang="fr" sz="13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-</a:t>
            </a:r>
            <a:r>
              <a:rPr b="1" i="0" lang="fr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0" i="0" lang="fr" sz="12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Scaleway + Mistral, FR / RGPD de bout en bout</a:t>
            </a:r>
            <a:endParaRPr sz="1100"/>
          </a:p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58" name="Shape 28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9" name="Google Shape;2859;p118"/>
          <p:cNvSpPr txBox="1"/>
          <p:nvPr/>
        </p:nvSpPr>
        <p:spPr>
          <a:xfrm>
            <a:off x="377200" y="233175"/>
            <a:ext cx="2286900" cy="45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9050" lIns="0" spcFirstLastPara="1" rIns="0" wrap="square" tIns="190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1800">
                <a:solidFill>
                  <a:srgbClr val="0E9C8A"/>
                </a:solidFill>
                <a:latin typeface="Calibri"/>
                <a:ea typeface="Calibri"/>
                <a:cs typeface="Calibri"/>
                <a:sym typeface="Calibri"/>
              </a:rPr>
              <a:t>Synthèse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60" name="Google Shape;2860;p118"/>
          <p:cNvSpPr txBox="1"/>
          <p:nvPr/>
        </p:nvSpPr>
        <p:spPr>
          <a:xfrm>
            <a:off x="377200" y="675550"/>
            <a:ext cx="23910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9050" lIns="0" spcFirstLastPara="1" rIns="0" wrap="square" tIns="190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1100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Un MVP souverain, justifié défi par défi</a:t>
            </a:r>
            <a:endParaRPr b="1" sz="1100">
              <a:solidFill>
                <a:srgbClr val="9CA3A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61" name="Google Shape;2861;p118"/>
          <p:cNvSpPr txBox="1"/>
          <p:nvPr/>
        </p:nvSpPr>
        <p:spPr>
          <a:xfrm>
            <a:off x="377200" y="4945850"/>
            <a:ext cx="999000" cy="166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700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MVP RAG Puls-Events</a:t>
            </a:r>
            <a:endParaRPr sz="700">
              <a:solidFill>
                <a:srgbClr val="9CA3A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62" name="Google Shape;2862;p118"/>
          <p:cNvSpPr/>
          <p:nvPr/>
        </p:nvSpPr>
        <p:spPr>
          <a:xfrm>
            <a:off x="651527" y="1830517"/>
            <a:ext cx="123600" cy="123600"/>
          </a:xfrm>
          <a:prstGeom prst="roundRect">
            <a:avLst>
              <a:gd fmla="val 16667" name="adj"/>
            </a:avLst>
          </a:prstGeom>
          <a:solidFill>
            <a:srgbClr val="0E9C8A">
              <a:alpha val="23999"/>
            </a:srgbClr>
          </a:solidFill>
          <a:ln cap="flat" cmpd="sng" w="9525">
            <a:solidFill>
              <a:srgbClr val="0E9C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63" name="Google Shape;2863;p118"/>
          <p:cNvSpPr txBox="1"/>
          <p:nvPr/>
        </p:nvSpPr>
        <p:spPr>
          <a:xfrm>
            <a:off x="925855" y="1769364"/>
            <a:ext cx="7544100" cy="2385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0" spcFirstLastPara="1" rIns="0" wrap="square" tIns="190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fr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 défis couverts </a:t>
            </a:r>
            <a:r>
              <a:rPr b="1" lang="fr" sz="13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-</a:t>
            </a:r>
            <a:r>
              <a:rPr b="1" i="0" lang="fr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0" i="0" lang="fr" sz="12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une techno par défi, chaque choix tracé jusqu'à un besoin</a:t>
            </a:r>
            <a:endParaRPr sz="1100"/>
          </a:p>
        </p:txBody>
      </p:sp>
      <p:sp>
        <p:nvSpPr>
          <p:cNvPr id="2864" name="Google Shape;2864;p118"/>
          <p:cNvSpPr/>
          <p:nvPr/>
        </p:nvSpPr>
        <p:spPr>
          <a:xfrm>
            <a:off x="651527" y="2365441"/>
            <a:ext cx="123600" cy="123600"/>
          </a:xfrm>
          <a:prstGeom prst="roundRect">
            <a:avLst>
              <a:gd fmla="val 16667" name="adj"/>
            </a:avLst>
          </a:prstGeom>
          <a:solidFill>
            <a:srgbClr val="0E9C8A">
              <a:alpha val="23999"/>
            </a:srgbClr>
          </a:solidFill>
          <a:ln cap="flat" cmpd="sng" w="9525">
            <a:solidFill>
              <a:srgbClr val="0E9C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65" name="Google Shape;2865;p118"/>
          <p:cNvSpPr txBox="1"/>
          <p:nvPr/>
        </p:nvSpPr>
        <p:spPr>
          <a:xfrm>
            <a:off x="925855" y="2304288"/>
            <a:ext cx="7544100" cy="2385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0" spcFirstLastPara="1" rIns="0" wrap="square" tIns="190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fr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Stack souveraine </a:t>
            </a:r>
            <a:r>
              <a:rPr b="1" lang="fr" sz="13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-</a:t>
            </a:r>
            <a:r>
              <a:rPr b="1" i="0" lang="fr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0" i="0" lang="fr" sz="12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Scaleway + Mistral, FR / RGPD de bout en bout</a:t>
            </a:r>
            <a:endParaRPr sz="1100"/>
          </a:p>
        </p:txBody>
      </p:sp>
      <p:sp>
        <p:nvSpPr>
          <p:cNvPr id="2866" name="Google Shape;2866;p118"/>
          <p:cNvSpPr/>
          <p:nvPr/>
        </p:nvSpPr>
        <p:spPr>
          <a:xfrm>
            <a:off x="651527" y="2900365"/>
            <a:ext cx="123600" cy="123600"/>
          </a:xfrm>
          <a:prstGeom prst="roundRect">
            <a:avLst>
              <a:gd fmla="val 16667" name="adj"/>
            </a:avLst>
          </a:prstGeom>
          <a:solidFill>
            <a:srgbClr val="0E9C8A">
              <a:alpha val="23999"/>
            </a:srgbClr>
          </a:solidFill>
          <a:ln cap="flat" cmpd="sng" w="9525">
            <a:solidFill>
              <a:srgbClr val="0E9C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67" name="Google Shape;2867;p118"/>
          <p:cNvSpPr txBox="1"/>
          <p:nvPr/>
        </p:nvSpPr>
        <p:spPr>
          <a:xfrm>
            <a:off x="925855" y="2839212"/>
            <a:ext cx="7544100" cy="2385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0" spcFirstLastPara="1" rIns="0" wrap="square" tIns="190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fr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pgvector unifie </a:t>
            </a:r>
            <a:r>
              <a:rPr b="1" lang="fr" sz="13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-</a:t>
            </a:r>
            <a:r>
              <a:rPr b="1" i="0" lang="fr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0" i="0" lang="fr" sz="12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vecteurs + géo + relationnel dans une seule base pour le MVP</a:t>
            </a:r>
            <a:endParaRPr sz="1100"/>
          </a:p>
        </p:txBody>
      </p:sp>
    </p:spTree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72" name="Shape 28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3" name="Google Shape;2873;p119"/>
          <p:cNvSpPr txBox="1"/>
          <p:nvPr/>
        </p:nvSpPr>
        <p:spPr>
          <a:xfrm>
            <a:off x="377200" y="233175"/>
            <a:ext cx="2286900" cy="45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9050" lIns="0" spcFirstLastPara="1" rIns="0" wrap="square" tIns="190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1800">
                <a:solidFill>
                  <a:srgbClr val="0E9C8A"/>
                </a:solidFill>
                <a:latin typeface="Calibri"/>
                <a:ea typeface="Calibri"/>
                <a:cs typeface="Calibri"/>
                <a:sym typeface="Calibri"/>
              </a:rPr>
              <a:t>Synthèse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74" name="Google Shape;2874;p119"/>
          <p:cNvSpPr txBox="1"/>
          <p:nvPr/>
        </p:nvSpPr>
        <p:spPr>
          <a:xfrm>
            <a:off x="377200" y="675550"/>
            <a:ext cx="23910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9050" lIns="0" spcFirstLastPara="1" rIns="0" wrap="square" tIns="190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1100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Un MVP souverain, justifié défi par défi</a:t>
            </a:r>
            <a:endParaRPr b="1" sz="1100">
              <a:solidFill>
                <a:srgbClr val="9CA3A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75" name="Google Shape;2875;p119"/>
          <p:cNvSpPr txBox="1"/>
          <p:nvPr/>
        </p:nvSpPr>
        <p:spPr>
          <a:xfrm>
            <a:off x="377200" y="4945850"/>
            <a:ext cx="999000" cy="166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700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MVP RAG Puls-Events</a:t>
            </a:r>
            <a:endParaRPr sz="700">
              <a:solidFill>
                <a:srgbClr val="9CA3A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76" name="Google Shape;2876;p119"/>
          <p:cNvSpPr/>
          <p:nvPr/>
        </p:nvSpPr>
        <p:spPr>
          <a:xfrm>
            <a:off x="651527" y="1830517"/>
            <a:ext cx="123600" cy="123600"/>
          </a:xfrm>
          <a:prstGeom prst="roundRect">
            <a:avLst>
              <a:gd fmla="val 16667" name="adj"/>
            </a:avLst>
          </a:prstGeom>
          <a:solidFill>
            <a:srgbClr val="0E9C8A">
              <a:alpha val="23999"/>
            </a:srgbClr>
          </a:solidFill>
          <a:ln cap="flat" cmpd="sng" w="9525">
            <a:solidFill>
              <a:srgbClr val="0E9C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77" name="Google Shape;2877;p119"/>
          <p:cNvSpPr txBox="1"/>
          <p:nvPr/>
        </p:nvSpPr>
        <p:spPr>
          <a:xfrm>
            <a:off x="925855" y="1769364"/>
            <a:ext cx="7544100" cy="2385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0" spcFirstLastPara="1" rIns="0" wrap="square" tIns="190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fr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 défis couverts </a:t>
            </a:r>
            <a:r>
              <a:rPr b="1" lang="fr" sz="13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-</a:t>
            </a:r>
            <a:r>
              <a:rPr b="1" i="0" lang="fr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0" i="0" lang="fr" sz="12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une techno par défi, chaque choix tracé jusqu'à un besoin</a:t>
            </a:r>
            <a:endParaRPr sz="1100"/>
          </a:p>
        </p:txBody>
      </p:sp>
      <p:sp>
        <p:nvSpPr>
          <p:cNvPr id="2878" name="Google Shape;2878;p119"/>
          <p:cNvSpPr/>
          <p:nvPr/>
        </p:nvSpPr>
        <p:spPr>
          <a:xfrm>
            <a:off x="651527" y="2365441"/>
            <a:ext cx="123600" cy="123600"/>
          </a:xfrm>
          <a:prstGeom prst="roundRect">
            <a:avLst>
              <a:gd fmla="val 16667" name="adj"/>
            </a:avLst>
          </a:prstGeom>
          <a:solidFill>
            <a:srgbClr val="0E9C8A">
              <a:alpha val="23999"/>
            </a:srgbClr>
          </a:solidFill>
          <a:ln cap="flat" cmpd="sng" w="9525">
            <a:solidFill>
              <a:srgbClr val="0E9C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79" name="Google Shape;2879;p119"/>
          <p:cNvSpPr txBox="1"/>
          <p:nvPr/>
        </p:nvSpPr>
        <p:spPr>
          <a:xfrm>
            <a:off x="925855" y="2304288"/>
            <a:ext cx="7544100" cy="2385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0" spcFirstLastPara="1" rIns="0" wrap="square" tIns="190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fr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Stack souveraine </a:t>
            </a:r>
            <a:r>
              <a:rPr b="1" lang="fr" sz="13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-</a:t>
            </a:r>
            <a:r>
              <a:rPr b="1" i="0" lang="fr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0" i="0" lang="fr" sz="12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Scaleway + Mistral, FR / RGPD de bout en bout</a:t>
            </a:r>
            <a:endParaRPr sz="1100"/>
          </a:p>
        </p:txBody>
      </p:sp>
      <p:sp>
        <p:nvSpPr>
          <p:cNvPr id="2880" name="Google Shape;2880;p119"/>
          <p:cNvSpPr/>
          <p:nvPr/>
        </p:nvSpPr>
        <p:spPr>
          <a:xfrm>
            <a:off x="651527" y="2900365"/>
            <a:ext cx="123600" cy="123600"/>
          </a:xfrm>
          <a:prstGeom prst="roundRect">
            <a:avLst>
              <a:gd fmla="val 16667" name="adj"/>
            </a:avLst>
          </a:prstGeom>
          <a:solidFill>
            <a:srgbClr val="0E9C8A">
              <a:alpha val="23999"/>
            </a:srgbClr>
          </a:solidFill>
          <a:ln cap="flat" cmpd="sng" w="9525">
            <a:solidFill>
              <a:srgbClr val="0E9C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1" name="Google Shape;2881;p119"/>
          <p:cNvSpPr txBox="1"/>
          <p:nvPr/>
        </p:nvSpPr>
        <p:spPr>
          <a:xfrm>
            <a:off x="925855" y="2839212"/>
            <a:ext cx="7544100" cy="2385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0" spcFirstLastPara="1" rIns="0" wrap="square" tIns="190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fr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pgvector unifie </a:t>
            </a:r>
            <a:r>
              <a:rPr b="1" lang="fr" sz="13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-</a:t>
            </a:r>
            <a:r>
              <a:rPr b="1" i="0" lang="fr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0" i="0" lang="fr" sz="12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vecteurs + géo + relationnel dans une seule base pour le MVP</a:t>
            </a:r>
            <a:endParaRPr sz="1100"/>
          </a:p>
        </p:txBody>
      </p:sp>
      <p:sp>
        <p:nvSpPr>
          <p:cNvPr id="2882" name="Google Shape;2882;p119"/>
          <p:cNvSpPr/>
          <p:nvPr/>
        </p:nvSpPr>
        <p:spPr>
          <a:xfrm>
            <a:off x="651527" y="3435289"/>
            <a:ext cx="123600" cy="123600"/>
          </a:xfrm>
          <a:prstGeom prst="roundRect">
            <a:avLst>
              <a:gd fmla="val 16667" name="adj"/>
            </a:avLst>
          </a:prstGeom>
          <a:solidFill>
            <a:srgbClr val="0E9C8A">
              <a:alpha val="23999"/>
            </a:srgbClr>
          </a:solidFill>
          <a:ln cap="flat" cmpd="sng" w="9525">
            <a:solidFill>
              <a:srgbClr val="0E9C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3" name="Google Shape;2883;p119"/>
          <p:cNvSpPr txBox="1"/>
          <p:nvPr/>
        </p:nvSpPr>
        <p:spPr>
          <a:xfrm>
            <a:off x="925855" y="3374136"/>
            <a:ext cx="7544100" cy="2385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0" spcFirstLastPara="1" rIns="0" wrap="square" tIns="190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fr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Socle réutilisé </a:t>
            </a:r>
            <a:r>
              <a:rPr b="1" lang="fr" sz="13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-</a:t>
            </a:r>
            <a:r>
              <a:rPr b="1" i="0" lang="fr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0" i="0" lang="fr" sz="12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LangChain + RAG hybride du POC </a:t>
            </a:r>
            <a:r>
              <a:rPr lang="fr" sz="1200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Puls-Events</a:t>
            </a:r>
            <a:r>
              <a:rPr b="0" i="0" lang="fr" sz="12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, on ne réinvente pas</a:t>
            </a:r>
            <a:endParaRPr sz="1100"/>
          </a:p>
        </p:txBody>
      </p:sp>
    </p:spTree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88" name="Shape 28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9" name="Google Shape;2889;p120"/>
          <p:cNvSpPr txBox="1"/>
          <p:nvPr/>
        </p:nvSpPr>
        <p:spPr>
          <a:xfrm>
            <a:off x="377200" y="233175"/>
            <a:ext cx="2286900" cy="45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9050" lIns="0" spcFirstLastPara="1" rIns="0" wrap="square" tIns="190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1800">
                <a:solidFill>
                  <a:srgbClr val="0E9C8A"/>
                </a:solidFill>
                <a:latin typeface="Calibri"/>
                <a:ea typeface="Calibri"/>
                <a:cs typeface="Calibri"/>
                <a:sym typeface="Calibri"/>
              </a:rPr>
              <a:t>Synthèse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90" name="Google Shape;2890;p120"/>
          <p:cNvSpPr txBox="1"/>
          <p:nvPr/>
        </p:nvSpPr>
        <p:spPr>
          <a:xfrm>
            <a:off x="377200" y="675550"/>
            <a:ext cx="23910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9050" lIns="0" spcFirstLastPara="1" rIns="0" wrap="square" tIns="190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1100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Un MVP souverain, justifié défi par défi</a:t>
            </a:r>
            <a:endParaRPr b="1" sz="1100">
              <a:solidFill>
                <a:srgbClr val="9CA3A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91" name="Google Shape;2891;p120"/>
          <p:cNvSpPr txBox="1"/>
          <p:nvPr/>
        </p:nvSpPr>
        <p:spPr>
          <a:xfrm>
            <a:off x="377200" y="4945850"/>
            <a:ext cx="999000" cy="166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700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MVP RAG Puls-Events</a:t>
            </a:r>
            <a:endParaRPr sz="700">
              <a:solidFill>
                <a:srgbClr val="9CA3A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92" name="Google Shape;2892;p120"/>
          <p:cNvSpPr/>
          <p:nvPr/>
        </p:nvSpPr>
        <p:spPr>
          <a:xfrm>
            <a:off x="651527" y="1830517"/>
            <a:ext cx="123600" cy="123600"/>
          </a:xfrm>
          <a:prstGeom prst="roundRect">
            <a:avLst>
              <a:gd fmla="val 16667" name="adj"/>
            </a:avLst>
          </a:prstGeom>
          <a:solidFill>
            <a:srgbClr val="0E9C8A">
              <a:alpha val="23999"/>
            </a:srgbClr>
          </a:solidFill>
          <a:ln cap="flat" cmpd="sng" w="9525">
            <a:solidFill>
              <a:srgbClr val="0E9C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93" name="Google Shape;2893;p120"/>
          <p:cNvSpPr txBox="1"/>
          <p:nvPr/>
        </p:nvSpPr>
        <p:spPr>
          <a:xfrm>
            <a:off x="925855" y="1769364"/>
            <a:ext cx="7544100" cy="2385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0" spcFirstLastPara="1" rIns="0" wrap="square" tIns="190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fr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 défis couverts </a:t>
            </a:r>
            <a:r>
              <a:rPr b="1" lang="fr" sz="13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-</a:t>
            </a:r>
            <a:r>
              <a:rPr b="1" i="0" lang="fr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0" i="0" lang="fr" sz="12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une techno par défi, chaque choix tracé jusqu'à un besoin</a:t>
            </a:r>
            <a:endParaRPr sz="1100"/>
          </a:p>
        </p:txBody>
      </p:sp>
      <p:sp>
        <p:nvSpPr>
          <p:cNvPr id="2894" name="Google Shape;2894;p120"/>
          <p:cNvSpPr/>
          <p:nvPr/>
        </p:nvSpPr>
        <p:spPr>
          <a:xfrm>
            <a:off x="651527" y="2365441"/>
            <a:ext cx="123600" cy="123600"/>
          </a:xfrm>
          <a:prstGeom prst="roundRect">
            <a:avLst>
              <a:gd fmla="val 16667" name="adj"/>
            </a:avLst>
          </a:prstGeom>
          <a:solidFill>
            <a:srgbClr val="0E9C8A">
              <a:alpha val="23999"/>
            </a:srgbClr>
          </a:solidFill>
          <a:ln cap="flat" cmpd="sng" w="9525">
            <a:solidFill>
              <a:srgbClr val="0E9C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95" name="Google Shape;2895;p120"/>
          <p:cNvSpPr txBox="1"/>
          <p:nvPr/>
        </p:nvSpPr>
        <p:spPr>
          <a:xfrm>
            <a:off x="925855" y="2304288"/>
            <a:ext cx="7544100" cy="2385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0" spcFirstLastPara="1" rIns="0" wrap="square" tIns="190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fr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Stack souveraine </a:t>
            </a:r>
            <a:r>
              <a:rPr b="1" lang="fr" sz="13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-</a:t>
            </a:r>
            <a:r>
              <a:rPr b="1" i="0" lang="fr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0" i="0" lang="fr" sz="12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Scaleway + Mistral, FR / RGPD de bout en bout</a:t>
            </a:r>
            <a:endParaRPr sz="1100"/>
          </a:p>
        </p:txBody>
      </p:sp>
      <p:sp>
        <p:nvSpPr>
          <p:cNvPr id="2896" name="Google Shape;2896;p120"/>
          <p:cNvSpPr/>
          <p:nvPr/>
        </p:nvSpPr>
        <p:spPr>
          <a:xfrm>
            <a:off x="651527" y="2900365"/>
            <a:ext cx="123600" cy="123600"/>
          </a:xfrm>
          <a:prstGeom prst="roundRect">
            <a:avLst>
              <a:gd fmla="val 16667" name="adj"/>
            </a:avLst>
          </a:prstGeom>
          <a:solidFill>
            <a:srgbClr val="0E9C8A">
              <a:alpha val="23999"/>
            </a:srgbClr>
          </a:solidFill>
          <a:ln cap="flat" cmpd="sng" w="9525">
            <a:solidFill>
              <a:srgbClr val="0E9C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97" name="Google Shape;2897;p120"/>
          <p:cNvSpPr txBox="1"/>
          <p:nvPr/>
        </p:nvSpPr>
        <p:spPr>
          <a:xfrm>
            <a:off x="925855" y="2839212"/>
            <a:ext cx="7544100" cy="2385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0" spcFirstLastPara="1" rIns="0" wrap="square" tIns="190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fr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pgvector unifie </a:t>
            </a:r>
            <a:r>
              <a:rPr b="1" lang="fr" sz="13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-</a:t>
            </a:r>
            <a:r>
              <a:rPr b="1" i="0" lang="fr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0" i="0" lang="fr" sz="12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vecteurs + géo + relationnel dans une seule base pour le MVP</a:t>
            </a:r>
            <a:endParaRPr sz="1100"/>
          </a:p>
        </p:txBody>
      </p:sp>
      <p:sp>
        <p:nvSpPr>
          <p:cNvPr id="2898" name="Google Shape;2898;p120"/>
          <p:cNvSpPr/>
          <p:nvPr/>
        </p:nvSpPr>
        <p:spPr>
          <a:xfrm>
            <a:off x="651527" y="3435289"/>
            <a:ext cx="123600" cy="123600"/>
          </a:xfrm>
          <a:prstGeom prst="roundRect">
            <a:avLst>
              <a:gd fmla="val 16667" name="adj"/>
            </a:avLst>
          </a:prstGeom>
          <a:solidFill>
            <a:srgbClr val="0E9C8A">
              <a:alpha val="23999"/>
            </a:srgbClr>
          </a:solidFill>
          <a:ln cap="flat" cmpd="sng" w="9525">
            <a:solidFill>
              <a:srgbClr val="0E9C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99" name="Google Shape;2899;p120"/>
          <p:cNvSpPr txBox="1"/>
          <p:nvPr/>
        </p:nvSpPr>
        <p:spPr>
          <a:xfrm>
            <a:off x="925855" y="3374136"/>
            <a:ext cx="7544100" cy="2385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0" spcFirstLastPara="1" rIns="0" wrap="square" tIns="190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fr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Socle réutilisé </a:t>
            </a:r>
            <a:r>
              <a:rPr b="1" lang="fr" sz="13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-</a:t>
            </a:r>
            <a:r>
              <a:rPr b="1" i="0" lang="fr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0" i="0" lang="fr" sz="12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LangChain + RAG hybride du POC </a:t>
            </a:r>
            <a:r>
              <a:rPr lang="fr" sz="1200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Puls-Events</a:t>
            </a:r>
            <a:r>
              <a:rPr b="0" i="0" lang="fr" sz="12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, on ne réinvente pas</a:t>
            </a:r>
            <a:endParaRPr sz="1100"/>
          </a:p>
        </p:txBody>
      </p:sp>
      <p:sp>
        <p:nvSpPr>
          <p:cNvPr id="2900" name="Google Shape;2900;p120"/>
          <p:cNvSpPr/>
          <p:nvPr/>
        </p:nvSpPr>
        <p:spPr>
          <a:xfrm>
            <a:off x="381600" y="3998225"/>
            <a:ext cx="8380800" cy="630900"/>
          </a:xfrm>
          <a:prstGeom prst="roundRect">
            <a:avLst>
              <a:gd fmla="val 6000" name="adj"/>
            </a:avLst>
          </a:prstGeom>
          <a:solidFill>
            <a:srgbClr val="4F46E5">
              <a:alpha val="7999"/>
            </a:srgbClr>
          </a:solidFill>
          <a:ln cap="flat" cmpd="sng" w="9525">
            <a:solidFill>
              <a:srgbClr val="4F46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1100">
                <a:solidFill>
                  <a:srgbClr val="4F46E5"/>
                </a:solidFill>
                <a:latin typeface="Calibri"/>
                <a:ea typeface="Calibri"/>
                <a:cs typeface="Calibri"/>
                <a:sym typeface="Calibri"/>
              </a:rPr>
              <a:t>Prochaine étape</a:t>
            </a:r>
            <a:r>
              <a:rPr b="1" lang="fr" sz="1100">
                <a:solidFill>
                  <a:srgbClr val="0E9C8A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1" lang="fr" sz="1100">
                <a:solidFill>
                  <a:srgbClr val="DDDEE6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fr" sz="1100">
                <a:solidFill>
                  <a:srgbClr val="DDDEE6"/>
                </a:solidFill>
                <a:latin typeface="Calibri"/>
                <a:ea typeface="Calibri"/>
                <a:cs typeface="Calibri"/>
                <a:sym typeface="Calibri"/>
              </a:rPr>
              <a:t>→  valider les hypothèses de budget, puis lancer la Phase 0 (socle &amp; infra)</a:t>
            </a:r>
            <a:endParaRPr sz="1100">
              <a:solidFill>
                <a:srgbClr val="DDDEE6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